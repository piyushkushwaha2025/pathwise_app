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string manipulation. We will focus specifically on methods, parsing techniques, and the format operator. These tools are essential for processing text data efficiently in real-world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CO3 requires us to implement data structures, which we do by manipulating lists and dictionaries of strings. CO4 focuses on analyzing and manipulating files and strings, which is the core of our parsing and formatting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various string methods and apply them correctly. You will learn to parse complex strings to extract specific data points. Finally, you will master the format operator to create professional, structured output for reports.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string methods as tools in a toolbox that belong to the string itself. When you call upper(), the original string remains unchanged, but a new uppercase version is returned. This immutability is a key concept in Python that prevents accidental data loss during processing.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Parsing is the process of breaking down raw text into usable data. If you have a CSV line like 'Name,Age,25', split() separates it into a list. You can then use find() to locate specific markers and extract data between them programmatically.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split() works for simple delimiters, regular expressions handle complex patterns. For instance, extracting an email address from a log file requires matching specific character sequences. This method is essential for parsing unstructured data where delimiters are inconsistent.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format operator is your primary tool for dynamic string construction. You define a template with empty slots, and the format method fills them with your data. This is far superior to concatenation for readability and error prevention in complex strings.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control exactly how your data looks using specifications. If you need a number to always take up ten characters, you specify the width. Precision controls decimal places, ensuring financial data is displayed consistently without unnecessary trailing zeros.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We have a student named Alice with a score of 95.5. Using the format operator with a precision specifier, we ensure the score always shows one decimal place. This creates a clean, professional report line without manual string joining.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Parsing is prone to errors if you assume data is perfectly clean. A common pitfall is splitting on a delimiter that appears within the data itself. Always validate your input and handle cases where the expected substring might be missing to avoid runtime crashes.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formatting, a mismatch between placeholders and arguments is a frequent error. If you have two braces but only one value, Python will raise an exception. Also, remember that curly braces are special characters, so you must escape them if you want to print them literally.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techniques are not isolated; they work best when integrated with data structures. You can loop through a list of strings, parse each one, and format the results for storage. This modular approach is key to implementing efficient data processing pipelines in Python.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strings are immutable and methods return new objects. Parsing is essential for extracting data, while formatting ensures it looks correct. Finally, always validate your data to avoid common pitfalls in your engineering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textbooks listed here. Mark Lutz's book offers deep insights into Python internals. Tony Gaddis provides excellent practical examples, while Liang and the team at Chandigarh University offer structured approaches to data structures and programming.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Methods; Parsing; Format operator</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Program: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string methods to modify text data effectively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parsing techniques to extract specific substrings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Utilize the format operator for structured data output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common pitfalls in string manipulation logic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proficiency in handling mixed data types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String Methods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String methods are functions attached to string objects for manipulation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Methods like upper() and lower() change case without altering original</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strip() removes leading and trailing whitespace characters automatically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split() divides a string into a list based on a delimiter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join() combines a list of strings into a single string result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Methods return new strings rather than modifying the original in place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return values is crucial for chaining multiple operations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Parsing with split and find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'A,B,C'.split(',') returns ['A', 'B', 'C'] list</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Parsing extracts specific data segments from a larger text string</a:t>
            </a:r>
          </a:p>
          <a:p>
            <a:pPr algn="l">
              <a:lnSpc>
                <a:spcPct val="135000"/>
              </a:lnSpc>
            </a:pPr>
            <a:r>
              <a:rPr sz="1300">
                <a:solidFill>
                  <a:srgbClr val="1A1A1A"/>
                </a:solidFill>
                <a:latin typeface="Calibri"/>
              </a:rPr>
              <a:t>•  split() breaks text into a list using a specified separator character</a:t>
            </a:r>
          </a:p>
          <a:p>
            <a:pPr algn="l">
              <a:lnSpc>
                <a:spcPct val="135000"/>
              </a:lnSpc>
            </a:pPr>
            <a:r>
              <a:rPr sz="1300">
                <a:solidFill>
                  <a:srgbClr val="1A1A1A"/>
                </a:solidFill>
                <a:latin typeface="Calibri"/>
              </a:rPr>
              <a:t>•  find() locates the index of the first occurrence of a substring</a:t>
            </a:r>
          </a:p>
          <a:p>
            <a:pPr algn="l">
              <a:lnSpc>
                <a:spcPct val="135000"/>
              </a:lnSpc>
            </a:pPr>
            <a:r>
              <a:rPr sz="1300">
                <a:solidFill>
                  <a:srgbClr val="1A1A1A"/>
                </a:solidFill>
                <a:latin typeface="Calibri"/>
              </a:rPr>
              <a:t>•  rfind() locates the index of the last occurrence of a substring</a:t>
            </a:r>
          </a:p>
          <a:p>
            <a:pPr algn="l">
              <a:lnSpc>
                <a:spcPct val="135000"/>
              </a:lnSpc>
            </a:pPr>
            <a:r>
              <a:rPr sz="1300">
                <a:solidFill>
                  <a:srgbClr val="1A1A1A"/>
                </a:solidFill>
                <a:latin typeface="Calibri"/>
              </a:rPr>
              <a:t>•  Parsing allows conversion of raw text into structured list data</a:t>
            </a:r>
          </a:p>
          <a:p>
            <a:pPr algn="l">
              <a:lnSpc>
                <a:spcPct val="135000"/>
              </a:lnSpc>
            </a:pPr>
            <a:r>
              <a:rPr sz="1300">
                <a:solidFill>
                  <a:srgbClr val="1A1A1A"/>
                </a:solidFill>
                <a:latin typeface="Calibri"/>
              </a:rPr>
              <a:t>•  Using indices from find() allows precise extraction of substrings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Parsing with Regular Expressions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Regular expressions define complex patterns for string matching and parsing</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 module provides functions like search() and match() for parsing</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Patterns use special characters like dots and asterisks for flexibility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Parsing with regex handles unstructured data better than simple split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Example pattern r'd+' matches one or more consecutive digits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Extracting emails or phone numbers requires specific regex pattern logic</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Regex parsing is powerful but requires careful pattern construction</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emailregex.com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Format Operator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'Hello {}' .format('World') results in 'Hello World'</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format operator inserts variables into a string template</a:t>
            </a:r>
          </a:p>
          <a:p>
            <a:pPr algn="l">
              <a:lnSpc>
                <a:spcPct val="135000"/>
              </a:lnSpc>
            </a:pPr>
            <a:r>
              <a:rPr sz="1300">
                <a:solidFill>
                  <a:srgbClr val="1A1A1A"/>
                </a:solidFill>
                <a:latin typeface="Calibri"/>
              </a:rPr>
              <a:t>•  Syntax uses curly braces {} as placeholders for variable values</a:t>
            </a:r>
          </a:p>
          <a:p>
            <a:pPr algn="l">
              <a:lnSpc>
                <a:spcPct val="135000"/>
              </a:lnSpc>
            </a:pPr>
            <a:r>
              <a:rPr sz="1300">
                <a:solidFill>
                  <a:srgbClr val="1A1A1A"/>
                </a:solidFill>
                <a:latin typeface="Calibri"/>
              </a:rPr>
              <a:t>•  The format() method replaces placeholders with provided argument values</a:t>
            </a:r>
          </a:p>
          <a:p>
            <a:pPr algn="l">
              <a:lnSpc>
                <a:spcPct val="135000"/>
              </a:lnSpc>
            </a:pPr>
            <a:r>
              <a:rPr sz="1300">
                <a:solidFill>
                  <a:srgbClr val="1A1A1A"/>
                </a:solidFill>
                <a:latin typeface="Calibri"/>
              </a:rPr>
              <a:t>•  Placeholders can be numbered to control the order of insertion</a:t>
            </a:r>
          </a:p>
          <a:p>
            <a:pPr algn="l">
              <a:lnSpc>
                <a:spcPct val="135000"/>
              </a:lnSpc>
            </a:pPr>
            <a:r>
              <a:rPr sz="1300">
                <a:solidFill>
                  <a:srgbClr val="1A1A1A"/>
                </a:solidFill>
                <a:latin typeface="Calibri"/>
              </a:rPr>
              <a:t>•  Format strings allow mixing text and dynamic data seamlessly</a:t>
            </a:r>
          </a:p>
          <a:p>
            <a:pPr algn="l">
              <a:lnSpc>
                <a:spcPct val="135000"/>
              </a:lnSpc>
            </a:pPr>
            <a:r>
              <a:rPr sz="1300">
                <a:solidFill>
                  <a:srgbClr val="1A1A1A"/>
                </a:solidFill>
                <a:latin typeface="Calibri"/>
              </a:rPr>
              <a:t>•  This operator is fundamental for generating dynamic reports and logs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www.codewithc.com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Format Operator Specifications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'{:&gt;10}'.format(42) produces '        42' with padding</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Specifiers control alignment, width, and precision of formatted output</a:t>
            </a:r>
          </a:p>
          <a:p>
            <a:pPr algn="l">
              <a:lnSpc>
                <a:spcPct val="135000"/>
              </a:lnSpc>
            </a:pPr>
            <a:r>
              <a:rPr sz="1300">
                <a:solidFill>
                  <a:srgbClr val="1A1A1A"/>
                </a:solidFill>
                <a:latin typeface="Calibri"/>
              </a:rPr>
              <a:t>•  Syntax {value:width.precision} allows precise control over display</a:t>
            </a:r>
          </a:p>
          <a:p>
            <a:pPr algn="l">
              <a:lnSpc>
                <a:spcPct val="135000"/>
              </a:lnSpc>
            </a:pPr>
            <a:r>
              <a:rPr sz="1300">
                <a:solidFill>
                  <a:srgbClr val="1A1A1A"/>
                </a:solidFill>
                <a:latin typeface="Calibri"/>
              </a:rPr>
              <a:t>•  Left alignment uses , center uses ^</a:t>
            </a:r>
          </a:p>
          <a:p>
            <a:pPr algn="l">
              <a:lnSpc>
                <a:spcPct val="135000"/>
              </a:lnSpc>
            </a:pPr>
            <a:r>
              <a:rPr sz="1300">
                <a:solidFill>
                  <a:srgbClr val="1A1A1A"/>
                </a:solidFill>
                <a:latin typeface="Calibri"/>
              </a:rPr>
              <a:t>•  Precision .2f limits floating point numbers to two decimal places</a:t>
            </a:r>
          </a:p>
          <a:p>
            <a:pPr algn="l">
              <a:lnSpc>
                <a:spcPct val="135000"/>
              </a:lnSpc>
            </a:pPr>
            <a:r>
              <a:rPr sz="1300">
                <a:solidFill>
                  <a:srgbClr val="1A1A1A"/>
                </a:solidFill>
                <a:latin typeface="Calibri"/>
              </a:rPr>
              <a:t>•  Specifiers ensure consistent column widths in tabular data output</a:t>
            </a:r>
          </a:p>
          <a:p>
            <a:pPr algn="l">
              <a:lnSpc>
                <a:spcPct val="135000"/>
              </a:lnSpc>
            </a:pPr>
            <a:r>
              <a:rPr sz="1300">
                <a:solidFill>
                  <a:srgbClr val="1A1A1A"/>
                </a:solidFill>
                <a:latin typeface="Calibri"/>
              </a:rPr>
              <a:t>•  Misusing specifiers can lead to truncated or misaligned data display</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d8it4huxumps7.cloudfront.net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Formatting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Data: name='Alice', grade=95.5, max_score=100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TASK</a:t>
            </a:r>
          </a:p>
          <a:p>
            <a:pPr algn="l">
              <a:lnSpc>
                <a:spcPct val="135000"/>
              </a:lnSpc>
            </a:pPr>
            <a:r>
              <a:rPr sz="1300">
                <a:solidFill>
                  <a:srgbClr val="1A1A1A"/>
                </a:solidFill>
                <a:latin typeface="Calibri"/>
              </a:rPr>
              <a:t>Format student name and grade into a standardized report string</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CODE</a:t>
            </a:r>
          </a:p>
          <a:p>
            <a:pPr algn="l">
              <a:lnSpc>
                <a:spcPct val="135000"/>
              </a:lnSpc>
            </a:pPr>
            <a:r>
              <a:rPr sz="1300">
                <a:solidFill>
                  <a:srgbClr val="1A1A1A"/>
                </a:solidFill>
                <a:latin typeface="Calibri"/>
              </a:rPr>
              <a:t>f'Report: {name}, Score: {grade:.1f}/100' produces output</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'Report: Alice, Score: 95.5/100' with one decimal place</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Using f-strings or format() ensures consistent decimal precision</a:t>
            </a:r>
          </a:p>
          <a:p>
            <a:pPr algn="l">
              <a:lnSpc>
                <a:spcPct val="135000"/>
              </a:lnSpc>
            </a:pPr>
            <a:r>
              <a:rPr sz="1300">
                <a:solidFill>
                  <a:srgbClr val="1A1A1A"/>
                </a:solidFill>
                <a:latin typeface="Calibri"/>
              </a:rPr>
              <a:t>•  This approach prevents manual string concatenation errors</a:t>
            </a:r>
          </a:p>
          <a:p>
            <a:pPr algn="l">
              <a:lnSpc>
                <a:spcPct val="135000"/>
              </a:lnSpc>
            </a:pPr>
            <a:r>
              <a:rPr sz="1300">
                <a:solidFill>
                  <a:srgbClr val="1A1A1A"/>
                </a:solidFill>
                <a:latin typeface="Calibri"/>
              </a:rPr>
              <a:t>•  Output is ready for printing or writing to a file directly</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files.realpython.com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Parsing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Splitting on wrong delimiter causes incorrect list segmentation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Empty strings in lists can cause index errors during processing</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Case sensitivity in find() leads to missed substring matches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fixed-width parsing fails with variable length data</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handling exceptions when parsing malformed input data</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whitespace characters in string comparison operations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Parsing logic must account for edge cases in real-world data</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storage.googleapis.com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Formatting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Mismatched placeholder count causes ValueError exceptions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wrong type specifier results in unexpected string output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escape curly braces in literal text output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Exceeding precision limits truncates data unexpectedly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Mixing positional and keyword arguments creates confusion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specifying width can lead to misaligned column output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test format strings with edge case values 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Integration with Data Structures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Methods allow processing lists of strings efficiently in loops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Parsing converts file lines into dictionaries for structured storage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Formatting prepares data for writing to output files or logs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Combining split and format creates robust data processing pipelines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Iterating over a list allows applying methods to every element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integration supports the implementation of efficient data structures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Data handling operations become modular and reusable with these tools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String methods modify text and return new immutable string objects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Parsing techniques like split and regex extract specific data segments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Format operator provides precise control over string output appearance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validate input data to prevent parsing and formatting errors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Integration with loops and data structures enables complex data handling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Methods; Parsing; Format operator</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