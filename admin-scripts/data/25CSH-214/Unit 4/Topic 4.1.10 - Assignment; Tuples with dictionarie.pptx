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everyone to today's session on Python data structures. We will focus specifically on the powerful combination of tuples and dictionaries within loop structures. This assignment will solidify your understanding of immutable keys and efficient data retrieval.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Today's lecture directly addresses three specific course outcomes. You will apply modular development principles while implementing complex data structures. Furthermore, you will analyze how to manipulate these structures for efficient data handling operations.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By the end of this session, you will be able to analyze why tuples are preferred for dictionary keys. You will apply nested loops to traverse complex data and evaluate common pitfalls like modifying dictionaries during iteration. Finally, you will construct robust assignment logic using tuple unpacking.</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Why do we use tuples? Because dictionaries need immutable keys. If you try to use a list, Python raises a TypeError. A tuple like (1, 2) is hashable, allowing us to create unique composite keys. This is crucial for maintaining data integrity during assignments.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When looping, always use the items() method to get both keys and values. You can unpack these directly into variables like key and value. This approach is cleaner than accessing the dictionary repeatedly inside the loop. It makes your code more readable and efficient.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Assignment logic involves updating values associated with specific tuple keys. You use the standard syntax dict[key] = value. Always check if the key exists first to avoid accidental overwrites. The get() method is useful for providing default values when keys are missing.</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student records system where keys are (student_id, course_code). We assign grades like 85 or 90 to these tuple keys. We then loop through to calculate the average grade for a specific course. This ensures no duplicate entries for the same student in the same course.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trace the calculation logic. We initialize sum and counter to zero. Inside the loop, we check if the course is 'CS'. If true, we add the grade to the sum and increment the counter. Finally, we divide the sum by the counter to get the average. This handles the data processing efficiently.</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critical pitfall is modifying the dictionary while iterating over it. This raises a RuntimeError because the size changes. To fix this, create a list of keys to modify or iterate over a copy of the items. This ensures your program remains stable and does not crash.</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Another common error is using a list as a key. This causes a TypeError because lists are mutable. You must convert lists to tuples before using them as keys. Also, ensure all elements inside the tuple are hashable. Nested lists will also cause errors, so validate your input data types.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complex data, use nested loops to process multi-dimensional structures. The outer loop might iterate over departments, while the inner loop handles employees. You can combine tuple keys to represent these hierarchical relationships. This allows you to accumulate totals across multiple levels of the data hierarchy effectively.</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Always wrap dictionary access in try-except blocks for safety. Catch KeyError exceptions when a tuple key is missing. You should also catch TypeError exceptions for incorrect data types. Provide user-friendly error messages and log errors to a file for later analysis. This ensures the program continues running smoothly.</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summarize, remember that tuples are immutable and serve as valid dictionary keys. Use the items() method with tuple unpacking for efficient looping. Never modify a dictionary while iterating over it directly. Convert lists to tuples to avoid unhashable type errors. Finally, implement exception handling to manage missing or invalid keys.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four books provide comprehensive coverage of Python programming and data structures. Mark Lutz's book offers deep insights into Python internals. Tony Gaddis provides excellent beginner-friendly examples. Y. Daniel Liang and the team at Chandigarh University offer practical approaches to data handling.</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jpg"/><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jpg"/><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jpg"/><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5.png"/><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6.jpg"/><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274320"/>
            <a:ext cx="1097280" cy="548640"/>
          </a:xfrm>
          <a:prstGeom prst="rect">
            <a:avLst/>
          </a:prstGeom>
        </p:spPr>
      </p:pic>
      <p:sp>
        <p:nvSpPr>
          <p:cNvPr id="3" name="TextBox 2"/>
          <p:cNvSpPr txBox="1"/>
          <p:nvPr/>
        </p:nvSpPr>
        <p:spPr>
          <a:xfrm>
            <a:off x="457200" y="1783080"/>
            <a:ext cx="11274552" cy="2194560"/>
          </a:xfrm>
          <a:prstGeom prst="rect">
            <a:avLst/>
          </a:prstGeom>
          <a:noFill/>
        </p:spPr>
        <p:txBody>
          <a:bodyPr wrap="square">
            <a:normAutofit/>
          </a:bodyPr>
          <a:lstStyle/>
          <a:p>
            <a:pPr algn="ctr"/>
            <a:r>
              <a:rPr b="1" sz="4000">
                <a:solidFill>
                  <a:srgbClr val="1A1A2E"/>
                </a:solidFill>
                <a:latin typeface="Calibri"/>
              </a:rPr>
              <a:t>Assignment; Tuples with dictionaries; Looping</a:t>
            </a:r>
          </a:p>
        </p:txBody>
      </p:sp>
      <p:sp>
        <p:nvSpPr>
          <p:cNvPr id="4" name="TextBox 3"/>
          <p:cNvSpPr txBox="1"/>
          <p:nvPr/>
        </p:nvSpPr>
        <p:spPr>
          <a:xfrm>
            <a:off x="457200" y="4069080"/>
            <a:ext cx="11274552" cy="777240"/>
          </a:xfrm>
          <a:prstGeom prst="rect">
            <a:avLst/>
          </a:prstGeom>
          <a:noFill/>
        </p:spPr>
        <p:txBody>
          <a:bodyPr wrap="square">
            <a:normAutofit/>
          </a:bodyPr>
          <a:lstStyle/>
          <a:p>
            <a:pPr algn="ctr"/>
            <a:r>
              <a:rPr sz="1500" i="1">
                <a:solidFill>
                  <a:srgbClr val="C8102E"/>
                </a:solidFill>
                <a:latin typeface="Calibri"/>
              </a:rPr>
              <a:t>Python Programming | Loops, string, files, list, dictionaries and tuples</a:t>
            </a:r>
          </a:p>
        </p:txBody>
      </p:sp>
      <p:sp>
        <p:nvSpPr>
          <p:cNvPr id="5" name="TextBox 4"/>
          <p:cNvSpPr txBox="1"/>
          <p:nvPr/>
        </p:nvSpPr>
        <p:spPr>
          <a:xfrm>
            <a:off x="457200" y="5212080"/>
            <a:ext cx="11274552" cy="411480"/>
          </a:xfrm>
          <a:prstGeom prst="rect">
            <a:avLst/>
          </a:prstGeom>
          <a:noFill/>
        </p:spPr>
        <p:txBody>
          <a:bodyPr wrap="square">
            <a:spAutoFit/>
          </a:bodyPr>
          <a:lstStyle/>
          <a:p>
            <a:pPr algn="ctr"/>
            <a:r>
              <a:rPr sz="1100" i="1">
                <a:solidFill>
                  <a:srgbClr val="666666"/>
                </a:solidFill>
                <a:latin typeface="Calibri"/>
              </a:rPr>
              <a:t>Course: Python Programming   |   Chapter: Loops, string, files, list, dictionaries and tuples   |   Program: Bachelor of Computer Science and Engineering</a:t>
            </a:r>
          </a:p>
        </p:txBody>
      </p:sp>
      <p:sp>
        <p:nvSpPr>
          <p:cNvPr id="6" name="TextBox 5"/>
          <p:cNvSpPr txBox="1"/>
          <p:nvPr/>
        </p:nvSpPr>
        <p:spPr>
          <a:xfrm>
            <a:off x="8074152" y="6217920"/>
            <a:ext cx="3840480" cy="457200"/>
          </a:xfrm>
          <a:prstGeom prst="rect">
            <a:avLst/>
          </a:prstGeom>
          <a:noFill/>
        </p:spPr>
        <p:txBody>
          <a:bodyPr wrap="none">
            <a:spAutoFit/>
          </a:bodyPr>
          <a:lstStyle/>
          <a:p>
            <a:pPr algn="r"/>
            <a:r>
              <a:rPr sz="1200" b="1">
                <a:solidFill>
                  <a:srgbClr val="C8102E"/>
                </a:solidFill>
                <a:latin typeface="Calibri"/>
              </a:rPr>
              <a:t>DISCOVER  ·  LEARN  ·  EMPOWER</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Course Outcomes</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2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339634"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2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Course Outcome</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3" name="Table 12"/>
          <p:cNvGraphicFramePr>
            <a:graphicFrameLocks noGrp="1"/>
          </p:cNvGraphicFramePr>
          <p:nvPr/>
        </p:nvGraphicFramePr>
        <p:xfrm>
          <a:off x="502920" y="1625600"/>
          <a:ext cx="11183112" cy="4656328"/>
        </p:xfrm>
        <a:graphic>
          <a:graphicData uri="http://schemas.openxmlformats.org/drawingml/2006/table">
            <a:tbl>
              <a:tblPr firstRow="1" bandRow="1">
                <a:tableStyleId>{5C22544A-7EE6-4342-B048-85BDC9FD1C3A}</a:tableStyleId>
              </a:tblPr>
              <a:tblGrid>
                <a:gridCol w="1565635"/>
                <a:gridCol w="1565635"/>
                <a:gridCol w="8051842"/>
              </a:tblGrid>
              <a:tr h="776054">
                <a:tc>
                  <a:txBody>
                    <a:bodyPr/>
                    <a:lstStyle/>
                    <a:p>
                      <a:r>
                        <a:rPr b="1" sz="1100">
                          <a:solidFill>
                            <a:srgbClr val="FFFFFF"/>
                          </a:solidFill>
                          <a:latin typeface="Calibri"/>
                        </a:rPr>
                        <a:t>CO</a:t>
                      </a:r>
                    </a:p>
                  </a:txBody>
                  <a:tcPr marL="109728" marR="109728">
                    <a:solidFill>
                      <a:srgbClr val="C8102E"/>
                    </a:solidFill>
                  </a:tcPr>
                </a:tc>
                <a:tc>
                  <a:txBody>
                    <a:bodyPr/>
                    <a:lstStyle/>
                    <a:p>
                      <a:r>
                        <a:rPr b="1" sz="1100">
                          <a:solidFill>
                            <a:srgbClr val="FFFFFF"/>
                          </a:solidFill>
                          <a:latin typeface="Calibri"/>
                        </a:rPr>
                        <a:t>BT LEVEL</a:t>
                      </a:r>
                    </a:p>
                  </a:txBody>
                  <a:tcPr marL="109728" marR="109728">
                    <a:solidFill>
                      <a:srgbClr val="C8102E"/>
                    </a:solidFill>
                  </a:tcPr>
                </a:tc>
                <a:tc>
                  <a:txBody>
                    <a:bodyPr/>
                    <a:lstStyle/>
                    <a:p>
                      <a:r>
                        <a:rPr b="1" sz="1100">
                          <a:solidFill>
                            <a:srgbClr val="FFFFFF"/>
                          </a:solidFill>
                          <a:latin typeface="Calibri"/>
                        </a:rPr>
                        <a:t>DESCRIPTION</a:t>
                      </a:r>
                    </a:p>
                  </a:txBody>
                  <a:tcPr marL="109728" marR="109728">
                    <a:solidFill>
                      <a:srgbClr val="C8102E"/>
                    </a:solidFill>
                  </a:tcPr>
                </a:tc>
              </a:tr>
              <a:tr h="776054">
                <a:tc>
                  <a:txBody>
                    <a:bodyPr/>
                    <a:lstStyle/>
                    <a:p>
                      <a:pPr algn="ctr"/>
                      <a:r>
                        <a:rPr sz="1100" b="1">
                          <a:solidFill>
                            <a:srgbClr val="8B0000"/>
                          </a:solidFill>
                          <a:latin typeface="Calibri"/>
                        </a:rPr>
                        <a:t>CO1</a:t>
                      </a:r>
                    </a:p>
                  </a:txBody>
                  <a:tcPr marL="109728" marR="109728">
                    <a:solidFill>
                      <a:srgbClr val="FFE4E1"/>
                    </a:solidFill>
                  </a:tcPr>
                </a:tc>
                <a:tc>
                  <a:txBody>
                    <a:bodyPr/>
                    <a:lstStyle/>
                    <a:p>
                      <a:pPr algn="ctr"/>
                      <a:r>
                        <a:rPr sz="1100" b="1">
                          <a:solidFill>
                            <a:srgbClr val="1565C0"/>
                          </a:solidFill>
                          <a:latin typeface="Calibri"/>
                        </a:rPr>
                        <a:t>BT1</a:t>
                      </a:r>
                    </a:p>
                  </a:txBody>
                  <a:tcPr marL="109728" marR="109728">
                    <a:solidFill>
                      <a:srgbClr val="E3F2FD"/>
                    </a:solidFill>
                  </a:tcPr>
                </a:tc>
                <a:tc>
                  <a:txBody>
                    <a:bodyPr/>
                    <a:lstStyle/>
                    <a:p>
                      <a:pPr algn="l"/>
                      <a:r>
                        <a:rPr sz="1200" b="0">
                          <a:solidFill>
                            <a:srgbClr val="1A1A1A"/>
                          </a:solidFill>
                          <a:latin typeface="Calibri"/>
                        </a:rPr>
                        <a:t>Understand the syntax, control structures, and basic constructs of Python programming language</a:t>
                      </a:r>
                    </a:p>
                  </a:txBody>
                  <a:tcPr marL="109728" marR="109728">
                    <a:solidFill>
                      <a:srgbClr val="FFFFFF"/>
                    </a:solidFill>
                  </a:tcPr>
                </a:tc>
              </a:tr>
              <a:tr h="776054">
                <a:tc>
                  <a:txBody>
                    <a:bodyPr/>
                    <a:lstStyle/>
                    <a:p>
                      <a:pPr algn="ctr"/>
                      <a:r>
                        <a:rPr sz="1100" b="1">
                          <a:solidFill>
                            <a:srgbClr val="8B0000"/>
                          </a:solidFill>
                          <a:latin typeface="Calibri"/>
                        </a:rPr>
                        <a:t>CO2</a:t>
                      </a:r>
                    </a:p>
                  </a:txBody>
                  <a:tcPr marL="109728" marR="109728">
                    <a:solidFill>
                      <a:srgbClr val="FFE4E1"/>
                    </a:solidFill>
                  </a:tcPr>
                </a:tc>
                <a:tc>
                  <a:txBody>
                    <a:bodyPr/>
                    <a:lstStyle/>
                    <a:p>
                      <a:pPr algn="ctr"/>
                      <a:r>
                        <a:rPr sz="1100" b="1">
                          <a:solidFill>
                            <a:srgbClr val="E65100"/>
                          </a:solidFill>
                          <a:latin typeface="Calibri"/>
                        </a:rPr>
                        <a:t>BT3</a:t>
                      </a:r>
                    </a:p>
                  </a:txBody>
                  <a:tcPr marL="109728" marR="109728">
                    <a:solidFill>
                      <a:srgbClr val="FFF3E0"/>
                    </a:solidFill>
                  </a:tcPr>
                </a:tc>
                <a:tc>
                  <a:txBody>
                    <a:bodyPr/>
                    <a:lstStyle/>
                    <a:p>
                      <a:pPr algn="l"/>
                      <a:r>
                        <a:rPr sz="1200" b="0">
                          <a:solidFill>
                            <a:srgbClr val="1A1A1A"/>
                          </a:solidFill>
                          <a:latin typeface="Calibri"/>
                        </a:rPr>
                        <a:t>Apply functions, modules, and exception handling for modular program development</a:t>
                      </a:r>
                    </a:p>
                  </a:txBody>
                  <a:tcPr marL="109728" marR="109728">
                    <a:solidFill>
                      <a:srgbClr val="F5F5F5"/>
                    </a:solidFill>
                  </a:tcPr>
                </a:tc>
              </a:tr>
              <a:tr h="776054">
                <a:tc>
                  <a:txBody>
                    <a:bodyPr/>
                    <a:lstStyle/>
                    <a:p>
                      <a:pPr algn="ctr"/>
                      <a:r>
                        <a:rPr sz="1100" b="1">
                          <a:solidFill>
                            <a:srgbClr val="8B0000"/>
                          </a:solidFill>
                          <a:latin typeface="Calibri"/>
                        </a:rPr>
                        <a:t>CO3</a:t>
                      </a:r>
                    </a:p>
                  </a:txBody>
                  <a:tcPr marL="109728" marR="109728">
                    <a:solidFill>
                      <a:srgbClr val="FFE4E1"/>
                    </a:solidFill>
                  </a:tcPr>
                </a:tc>
                <a:tc>
                  <a:txBody>
                    <a:bodyPr/>
                    <a:lstStyle/>
                    <a:p>
                      <a:pPr algn="ctr"/>
                      <a:r>
                        <a:rPr sz="1100" b="1">
                          <a:solidFill>
                            <a:srgbClr val="E65100"/>
                          </a:solidFill>
                          <a:latin typeface="Calibri"/>
                        </a:rPr>
                        <a:t>BT3</a:t>
                      </a:r>
                    </a:p>
                  </a:txBody>
                  <a:tcPr marL="109728" marR="109728">
                    <a:solidFill>
                      <a:srgbClr val="FFF3E0"/>
                    </a:solidFill>
                  </a:tcPr>
                </a:tc>
                <a:tc>
                  <a:txBody>
                    <a:bodyPr/>
                    <a:lstStyle/>
                    <a:p>
                      <a:pPr algn="l"/>
                      <a:r>
                        <a:rPr sz="1200" b="0">
                          <a:solidFill>
                            <a:srgbClr val="1A1A1A"/>
                          </a:solidFill>
                          <a:latin typeface="Calibri"/>
                        </a:rPr>
                        <a:t>Implement data structures including lists, tuples, dictionaries, and sets for efficient data processing</a:t>
                      </a:r>
                    </a:p>
                  </a:txBody>
                  <a:tcPr marL="109728" marR="109728">
                    <a:solidFill>
                      <a:srgbClr val="FFFFFF"/>
                    </a:solidFill>
                  </a:tcPr>
                </a:tc>
              </a:tr>
              <a:tr h="776054">
                <a:tc>
                  <a:txBody>
                    <a:bodyPr/>
                    <a:lstStyle/>
                    <a:p>
                      <a:pPr algn="ctr"/>
                      <a:r>
                        <a:rPr sz="1100" b="1">
                          <a:solidFill>
                            <a:srgbClr val="8B0000"/>
                          </a:solidFill>
                          <a:latin typeface="Calibri"/>
                        </a:rPr>
                        <a:t>CO4</a:t>
                      </a:r>
                    </a:p>
                  </a:txBody>
                  <a:tcPr marL="109728" marR="109728">
                    <a:solidFill>
                      <a:srgbClr val="FFE4E1"/>
                    </a:solidFill>
                  </a:tcPr>
                </a:tc>
                <a:tc>
                  <a:txBody>
                    <a:bodyPr/>
                    <a:lstStyle/>
                    <a:p>
                      <a:pPr algn="ctr"/>
                      <a:r>
                        <a:rPr sz="1100" b="1">
                          <a:solidFill>
                            <a:srgbClr val="6A1B9A"/>
                          </a:solidFill>
                          <a:latin typeface="Calibri"/>
                        </a:rPr>
                        <a:t>BT4</a:t>
                      </a:r>
                    </a:p>
                  </a:txBody>
                  <a:tcPr marL="109728" marR="109728">
                    <a:solidFill>
                      <a:srgbClr val="F3E5F5"/>
                    </a:solidFill>
                  </a:tcPr>
                </a:tc>
                <a:tc>
                  <a:txBody>
                    <a:bodyPr/>
                    <a:lstStyle/>
                    <a:p>
                      <a:pPr algn="l"/>
                      <a:r>
                        <a:rPr sz="1200" b="0">
                          <a:solidFill>
                            <a:srgbClr val="1A1A1A"/>
                          </a:solidFill>
                          <a:latin typeface="Calibri"/>
                        </a:rPr>
                        <a:t>Analyze and manipulate files, strings, and perform data handling operations</a:t>
                      </a:r>
                    </a:p>
                  </a:txBody>
                  <a:tcPr marL="109728" marR="109728">
                    <a:solidFill>
                      <a:srgbClr val="F5F5F5"/>
                    </a:solidFill>
                  </a:tcPr>
                </a:tc>
              </a:tr>
              <a:tr h="776058">
                <a:tc>
                  <a:txBody>
                    <a:bodyPr/>
                    <a:lstStyle/>
                    <a:p>
                      <a:pPr algn="ctr"/>
                      <a:r>
                        <a:rPr sz="1100" b="1">
                          <a:solidFill>
                            <a:srgbClr val="8B0000"/>
                          </a:solidFill>
                          <a:latin typeface="Calibri"/>
                        </a:rPr>
                        <a:t>CO5</a:t>
                      </a:r>
                    </a:p>
                  </a:txBody>
                  <a:tcPr marL="109728" marR="109728">
                    <a:solidFill>
                      <a:srgbClr val="FFE4E1"/>
                    </a:solidFill>
                  </a:tcPr>
                </a:tc>
                <a:tc>
                  <a:txBody>
                    <a:bodyPr/>
                    <a:lstStyle/>
                    <a:p>
                      <a:pPr algn="ctr"/>
                      <a:r>
                        <a:rPr sz="1100" b="1">
                          <a:solidFill>
                            <a:srgbClr val="00838F"/>
                          </a:solidFill>
                          <a:latin typeface="Calibri"/>
                        </a:rPr>
                        <a:t>BT5</a:t>
                      </a:r>
                    </a:p>
                  </a:txBody>
                  <a:tcPr marL="109728" marR="109728">
                    <a:solidFill>
                      <a:srgbClr val="E0F7FA"/>
                    </a:solidFill>
                  </a:tcPr>
                </a:tc>
                <a:tc>
                  <a:txBody>
                    <a:bodyPr/>
                    <a:lstStyle/>
                    <a:p>
                      <a:pPr algn="l"/>
                      <a:r>
                        <a:rPr sz="1200" b="0">
                          <a:solidFill>
                            <a:srgbClr val="1A1A1A"/>
                          </a:solidFill>
                          <a:latin typeface="Calibri"/>
                        </a:rPr>
                        <a:t>Design and develop real-world applications integrating multiple Python concepts</a:t>
                      </a:r>
                    </a:p>
                  </a:txBody>
                  <a:tcPr marL="109728" marR="109728">
                    <a:solidFill>
                      <a:srgbClr val="FFFFFF"/>
                    </a:solidFill>
                  </a:tcPr>
                </a:tc>
              </a:tr>
            </a:tbl>
          </a:graphicData>
        </a:graphic>
      </p:graphicFrame>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Learning Objectives</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3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509451"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3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Learning Outcomes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Analyze the role of tuples as immutable dictionary keys in Python</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Apply nested loops to traverse complex dictionary structures efficiently</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Evaluate common pitfalls when modifying dictionary values during iteration</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Construct robust assignment logic using tuple unpacking within loops</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Demonstrate error handling for invalid data types in dictionary lookups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4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679268"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4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Tuples as Dictionary Keys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1</a:t>
            </a:r>
          </a:p>
        </p:txBody>
      </p:sp>
      <p:sp>
        <p:nvSpPr>
          <p:cNvPr id="14" name="TextBox 13"/>
          <p:cNvSpPr txBox="1"/>
          <p:nvPr/>
        </p:nvSpPr>
        <p:spPr>
          <a:xfrm>
            <a:off x="1051560" y="162560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Dictionaries require keys to be hashable and immutable objects</a:t>
            </a:r>
          </a:p>
        </p:txBody>
      </p:sp>
      <p:sp>
        <p:nvSpPr>
          <p:cNvPr id="15" name="Oval 14"/>
          <p:cNvSpPr/>
          <p:nvPr/>
        </p:nvSpPr>
        <p:spPr>
          <a:xfrm>
            <a:off x="502920" y="231169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2</a:t>
            </a:r>
          </a:p>
        </p:txBody>
      </p:sp>
      <p:sp>
        <p:nvSpPr>
          <p:cNvPr id="16" name="TextBox 15"/>
          <p:cNvSpPr txBox="1"/>
          <p:nvPr/>
        </p:nvSpPr>
        <p:spPr>
          <a:xfrm>
            <a:off x="1051560" y="231169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Tuples are immutable sequences that satisfy the hashable requirement</a:t>
            </a:r>
          </a:p>
        </p:txBody>
      </p:sp>
      <p:sp>
        <p:nvSpPr>
          <p:cNvPr id="17" name="Oval 16"/>
          <p:cNvSpPr/>
          <p:nvPr/>
        </p:nvSpPr>
        <p:spPr>
          <a:xfrm>
            <a:off x="502920" y="299778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3</a:t>
            </a:r>
          </a:p>
        </p:txBody>
      </p:sp>
      <p:sp>
        <p:nvSpPr>
          <p:cNvPr id="18" name="TextBox 17"/>
          <p:cNvSpPr txBox="1"/>
          <p:nvPr/>
        </p:nvSpPr>
        <p:spPr>
          <a:xfrm>
            <a:off x="1051560" y="299778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Lists cannot serve as keys because they are mutable and unhashable</a:t>
            </a:r>
          </a:p>
        </p:txBody>
      </p:sp>
      <p:sp>
        <p:nvSpPr>
          <p:cNvPr id="19" name="Oval 18"/>
          <p:cNvSpPr/>
          <p:nvPr/>
        </p:nvSpPr>
        <p:spPr>
          <a:xfrm>
            <a:off x="502920" y="368387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4</a:t>
            </a:r>
          </a:p>
        </p:txBody>
      </p:sp>
      <p:sp>
        <p:nvSpPr>
          <p:cNvPr id="20" name="TextBox 19"/>
          <p:cNvSpPr txBox="1"/>
          <p:nvPr/>
        </p:nvSpPr>
        <p:spPr>
          <a:xfrm>
            <a:off x="1051560" y="368387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Nested tuples like (1, 2) create unique composite keys for data</a:t>
            </a:r>
          </a:p>
        </p:txBody>
      </p:sp>
      <p:sp>
        <p:nvSpPr>
          <p:cNvPr id="21" name="Oval 20"/>
          <p:cNvSpPr/>
          <p:nvPr/>
        </p:nvSpPr>
        <p:spPr>
          <a:xfrm>
            <a:off x="502920" y="436996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5</a:t>
            </a:r>
          </a:p>
        </p:txBody>
      </p:sp>
      <p:sp>
        <p:nvSpPr>
          <p:cNvPr id="22" name="TextBox 21"/>
          <p:cNvSpPr txBox="1"/>
          <p:nvPr/>
        </p:nvSpPr>
        <p:spPr>
          <a:xfrm>
            <a:off x="1051560" y="4369961"/>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Hashing a tuple depends on the hash values of its elements</a:t>
            </a:r>
          </a:p>
        </p:txBody>
      </p:sp>
      <p:sp>
        <p:nvSpPr>
          <p:cNvPr id="23" name="Oval 22"/>
          <p:cNvSpPr/>
          <p:nvPr/>
        </p:nvSpPr>
        <p:spPr>
          <a:xfrm>
            <a:off x="502920" y="505605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6</a:t>
            </a:r>
          </a:p>
        </p:txBody>
      </p:sp>
      <p:sp>
        <p:nvSpPr>
          <p:cNvPr id="24" name="TextBox 23"/>
          <p:cNvSpPr txBox="1"/>
          <p:nvPr/>
        </p:nvSpPr>
        <p:spPr>
          <a:xfrm>
            <a:off x="1051560" y="5056051"/>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Using tuples allows grouping multiple attributes into a single unique ID</a:t>
            </a:r>
          </a:p>
        </p:txBody>
      </p:sp>
      <p:sp>
        <p:nvSpPr>
          <p:cNvPr id="25" name="Oval 24"/>
          <p:cNvSpPr/>
          <p:nvPr/>
        </p:nvSpPr>
        <p:spPr>
          <a:xfrm>
            <a:off x="502920" y="574214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7</a:t>
            </a:r>
          </a:p>
        </p:txBody>
      </p:sp>
      <p:sp>
        <p:nvSpPr>
          <p:cNvPr id="26" name="TextBox 25"/>
          <p:cNvSpPr txBox="1"/>
          <p:nvPr/>
        </p:nvSpPr>
        <p:spPr>
          <a:xfrm>
            <a:off x="1051560" y="5742141"/>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Immutable keys prevent accidental modification of the dictionary structure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5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849085"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5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Looping Through Dictionary Items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2920" y="1625600"/>
            <a:ext cx="2983915" cy="465632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02920" y="1625600"/>
            <a:ext cx="50800" cy="465632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6600" y="1744472"/>
            <a:ext cx="2567355" cy="4418584"/>
          </a:xfrm>
          <a:prstGeom prst="rect">
            <a:avLst/>
          </a:prstGeom>
          <a:noFill/>
        </p:spPr>
        <p:txBody>
          <a:bodyPr wrap="square" lIns="0" rIns="0" tIns="0" bIns="0">
            <a:spAutoFit/>
          </a:bodyPr>
          <a:lstStyle/>
          <a:p>
            <a:pPr algn="l">
              <a:spcAft>
                <a:spcPts val="400"/>
              </a:spcAft>
            </a:pPr>
            <a:r>
              <a:rPr b="1" sz="1100">
                <a:solidFill>
                  <a:srgbClr val="C8102E"/>
                </a:solidFill>
                <a:latin typeface="Calibri"/>
              </a:rPr>
              <a:t>SYNTAX</a:t>
            </a:r>
          </a:p>
          <a:p>
            <a:pPr algn="l">
              <a:lnSpc>
                <a:spcPct val="135000"/>
              </a:lnSpc>
            </a:pPr>
            <a:r>
              <a:rPr sz="1300">
                <a:solidFill>
                  <a:srgbClr val="1A1A1A"/>
                </a:solidFill>
                <a:latin typeface="Calibri"/>
              </a:rPr>
              <a:t>for key, value in my_dict.items() works efficiently</a:t>
            </a:r>
          </a:p>
        </p:txBody>
      </p:sp>
      <p:sp>
        <p:nvSpPr>
          <p:cNvPr id="16" name="Rectangle 15"/>
          <p:cNvSpPr/>
          <p:nvPr/>
        </p:nvSpPr>
        <p:spPr>
          <a:xfrm>
            <a:off x="3669715" y="1625600"/>
            <a:ext cx="2983915" cy="465632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669715" y="1625600"/>
            <a:ext cx="50800" cy="465632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903395" y="1744472"/>
            <a:ext cx="2567355" cy="4418584"/>
          </a:xfrm>
          <a:prstGeom prst="rect">
            <a:avLst/>
          </a:prstGeom>
          <a:noFill/>
        </p:spPr>
        <p:txBody>
          <a:bodyPr wrap="square" lIns="0" rIns="0" tIns="0" bIns="0">
            <a:spAutoFit/>
          </a:bodyPr>
          <a:lstStyle/>
          <a:p>
            <a:pPr algn="l">
              <a:lnSpc>
                <a:spcPct val="135000"/>
              </a:lnSpc>
            </a:pPr>
            <a:r>
              <a:rPr sz="1300">
                <a:solidFill>
                  <a:srgbClr val="1A1A1A"/>
                </a:solidFill>
                <a:latin typeface="Calibri"/>
              </a:rPr>
              <a:t>•  The items() method returns a view of key-value pairs</a:t>
            </a:r>
          </a:p>
          <a:p>
            <a:pPr algn="l">
              <a:lnSpc>
                <a:spcPct val="135000"/>
              </a:lnSpc>
            </a:pPr>
            <a:r>
              <a:rPr sz="1300">
                <a:solidFill>
                  <a:srgbClr val="1A1A1A"/>
                </a:solidFill>
                <a:latin typeface="Calibri"/>
              </a:rPr>
              <a:t>•  Tuple unpacking extracts keys and values directly in the loop</a:t>
            </a:r>
          </a:p>
          <a:p>
            <a:pPr algn="l">
              <a:lnSpc>
                <a:spcPct val="135000"/>
              </a:lnSpc>
            </a:pPr>
            <a:r>
              <a:rPr sz="1300">
                <a:solidFill>
                  <a:srgbClr val="1A1A1A"/>
                </a:solidFill>
                <a:latin typeface="Calibri"/>
              </a:rPr>
              <a:t>•  Iterating by keys only requires the keys() method for access</a:t>
            </a:r>
          </a:p>
          <a:p>
            <a:pPr algn="l">
              <a:lnSpc>
                <a:spcPct val="135000"/>
              </a:lnSpc>
            </a:pPr>
            <a:r>
              <a:rPr sz="1300">
                <a:solidFill>
                  <a:srgbClr val="1A1A1A"/>
                </a:solidFill>
                <a:latin typeface="Calibri"/>
              </a:rPr>
              <a:t>•  Iterating by values only requires the values() method for access</a:t>
            </a:r>
          </a:p>
          <a:p>
            <a:pPr algn="l">
              <a:lnSpc>
                <a:spcPct val="135000"/>
              </a:lnSpc>
            </a:pPr>
            <a:r>
              <a:rPr sz="1300">
                <a:solidFill>
                  <a:srgbClr val="1A1A1A"/>
                </a:solidFill>
                <a:latin typeface="Calibri"/>
              </a:rPr>
              <a:t>•  Direct iteration over the dictionary yields only the keys</a:t>
            </a:r>
          </a:p>
          <a:p>
            <a:pPr algn="l">
              <a:lnSpc>
                <a:spcPct val="135000"/>
              </a:lnSpc>
            </a:pPr>
            <a:r>
              <a:rPr sz="1300">
                <a:solidFill>
                  <a:srgbClr val="1A1A1A"/>
                </a:solidFill>
                <a:latin typeface="Calibri"/>
              </a:rPr>
              <a:t>•  Unpacking reduces code verbosity and improves readability significantly</a:t>
            </a:r>
          </a:p>
        </p:txBody>
      </p:sp>
      <p:pic>
        <p:nvPicPr>
          <p:cNvPr id="19" name="Picture 18" descr="image.jp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0" name="TextBox 19"/>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Source: cdn.educba.com</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6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018902"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6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Assignment Logic with Tuples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2920" y="1625600"/>
            <a:ext cx="6150711" cy="1005840"/>
          </a:xfrm>
          <a:prstGeom prst="rect">
            <a:avLst/>
          </a:prstGeom>
          <a:solidFill>
            <a:srgbClr val="FAFAFA"/>
          </a:solidFill>
          <a:ln w="19050">
            <a:solidFill>
              <a:srgbClr val="C8102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1698752"/>
            <a:ext cx="5784951" cy="256032"/>
          </a:xfrm>
          <a:prstGeom prst="rect">
            <a:avLst/>
          </a:prstGeom>
          <a:noFill/>
        </p:spPr>
        <p:txBody>
          <a:bodyPr wrap="none">
            <a:spAutoFit/>
          </a:bodyPr>
          <a:lstStyle/>
          <a:p>
            <a:pPr algn="ctr"/>
            <a:r>
              <a:rPr b="1" sz="1000">
                <a:solidFill>
                  <a:srgbClr val="C8102E"/>
                </a:solidFill>
                <a:latin typeface="Calibri"/>
              </a:rPr>
              <a:t>GOVERNING EQUATION</a:t>
            </a:r>
          </a:p>
        </p:txBody>
      </p:sp>
      <p:sp>
        <p:nvSpPr>
          <p:cNvPr id="15" name="TextBox 14"/>
          <p:cNvSpPr txBox="1"/>
          <p:nvPr/>
        </p:nvSpPr>
        <p:spPr>
          <a:xfrm>
            <a:off x="685800" y="1991360"/>
            <a:ext cx="5784951" cy="548640"/>
          </a:xfrm>
          <a:prstGeom prst="rect">
            <a:avLst/>
          </a:prstGeom>
          <a:noFill/>
        </p:spPr>
        <p:txBody>
          <a:bodyPr wrap="square">
            <a:spAutoFit/>
          </a:bodyPr>
          <a:lstStyle/>
          <a:p>
            <a:pPr algn="ctr"/>
            <a:r>
              <a:rPr b="1" sz="1800">
                <a:solidFill>
                  <a:srgbClr val="1A1A1A"/>
                </a:solidFill>
                <a:latin typeface="Cambria Math"/>
              </a:rPr>
              <a:t>Use the syntax dict[tuple_key] = new_value for updates</a:t>
            </a:r>
          </a:p>
        </p:txBody>
      </p:sp>
      <p:sp>
        <p:nvSpPr>
          <p:cNvPr id="16" name="Oval 15"/>
          <p:cNvSpPr/>
          <p:nvPr/>
        </p:nvSpPr>
        <p:spPr>
          <a:xfrm>
            <a:off x="502920" y="2796032"/>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1</a:t>
            </a:r>
          </a:p>
        </p:txBody>
      </p:sp>
      <p:sp>
        <p:nvSpPr>
          <p:cNvPr id="17" name="TextBox 16"/>
          <p:cNvSpPr txBox="1"/>
          <p:nvPr/>
        </p:nvSpPr>
        <p:spPr>
          <a:xfrm>
            <a:off x="1051560" y="2796032"/>
            <a:ext cx="5602071" cy="459062"/>
          </a:xfrm>
          <a:prstGeom prst="rect">
            <a:avLst/>
          </a:prstGeom>
          <a:noFill/>
        </p:spPr>
        <p:txBody>
          <a:bodyPr wrap="square" tIns="0" lIns="0" rIns="0" bIns="0">
            <a:spAutoFit/>
          </a:bodyPr>
          <a:lstStyle/>
          <a:p>
            <a:pPr algn="l">
              <a:lnSpc>
                <a:spcPct val="130000"/>
              </a:lnSpc>
            </a:pPr>
            <a:r>
              <a:rPr sz="1500">
                <a:solidFill>
                  <a:srgbClr val="1A1A1A"/>
                </a:solidFill>
                <a:latin typeface="Calibri"/>
              </a:rPr>
              <a:t>Assignments update values associated with specific tuple keys</a:t>
            </a:r>
          </a:p>
        </p:txBody>
      </p:sp>
      <p:sp>
        <p:nvSpPr>
          <p:cNvPr id="18" name="Oval 17"/>
          <p:cNvSpPr/>
          <p:nvPr/>
        </p:nvSpPr>
        <p:spPr>
          <a:xfrm>
            <a:off x="502920" y="3401398"/>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2</a:t>
            </a:r>
          </a:p>
        </p:txBody>
      </p:sp>
      <p:sp>
        <p:nvSpPr>
          <p:cNvPr id="19" name="TextBox 18"/>
          <p:cNvSpPr txBox="1"/>
          <p:nvPr/>
        </p:nvSpPr>
        <p:spPr>
          <a:xfrm>
            <a:off x="1051560" y="3401398"/>
            <a:ext cx="5602071" cy="459062"/>
          </a:xfrm>
          <a:prstGeom prst="rect">
            <a:avLst/>
          </a:prstGeom>
          <a:noFill/>
        </p:spPr>
        <p:txBody>
          <a:bodyPr wrap="square" tIns="0" lIns="0" rIns="0" bIns="0">
            <a:spAutoFit/>
          </a:bodyPr>
          <a:lstStyle/>
          <a:p>
            <a:pPr algn="l">
              <a:lnSpc>
                <a:spcPct val="130000"/>
              </a:lnSpc>
            </a:pPr>
            <a:r>
              <a:rPr sz="1500">
                <a:solidFill>
                  <a:srgbClr val="1A1A1A"/>
                </a:solidFill>
                <a:latin typeface="Calibri"/>
              </a:rPr>
              <a:t>Check if a key exists before assignment to avoid overwriting</a:t>
            </a:r>
          </a:p>
        </p:txBody>
      </p:sp>
      <p:sp>
        <p:nvSpPr>
          <p:cNvPr id="20" name="Oval 19"/>
          <p:cNvSpPr/>
          <p:nvPr/>
        </p:nvSpPr>
        <p:spPr>
          <a:xfrm>
            <a:off x="502920" y="4006765"/>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3</a:t>
            </a:r>
          </a:p>
        </p:txBody>
      </p:sp>
      <p:sp>
        <p:nvSpPr>
          <p:cNvPr id="21" name="TextBox 20"/>
          <p:cNvSpPr txBox="1"/>
          <p:nvPr/>
        </p:nvSpPr>
        <p:spPr>
          <a:xfrm>
            <a:off x="1051560" y="4006765"/>
            <a:ext cx="5602071" cy="459062"/>
          </a:xfrm>
          <a:prstGeom prst="rect">
            <a:avLst/>
          </a:prstGeom>
          <a:noFill/>
        </p:spPr>
        <p:txBody>
          <a:bodyPr wrap="square" tIns="0" lIns="0" rIns="0" bIns="0">
            <a:spAutoFit/>
          </a:bodyPr>
          <a:lstStyle/>
          <a:p>
            <a:pPr algn="l">
              <a:lnSpc>
                <a:spcPct val="130000"/>
              </a:lnSpc>
            </a:pPr>
            <a:r>
              <a:rPr sz="1500">
                <a:solidFill>
                  <a:srgbClr val="1A1A1A"/>
                </a:solidFill>
                <a:latin typeface="Calibri"/>
              </a:rPr>
              <a:t>The get() method provides a default value for missing keys</a:t>
            </a:r>
          </a:p>
        </p:txBody>
      </p:sp>
      <p:sp>
        <p:nvSpPr>
          <p:cNvPr id="22" name="Oval 21"/>
          <p:cNvSpPr/>
          <p:nvPr/>
        </p:nvSpPr>
        <p:spPr>
          <a:xfrm>
            <a:off x="502920" y="4612132"/>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4</a:t>
            </a:r>
          </a:p>
        </p:txBody>
      </p:sp>
      <p:sp>
        <p:nvSpPr>
          <p:cNvPr id="23" name="TextBox 22"/>
          <p:cNvSpPr txBox="1"/>
          <p:nvPr/>
        </p:nvSpPr>
        <p:spPr>
          <a:xfrm>
            <a:off x="1051560" y="4612132"/>
            <a:ext cx="5602071" cy="459062"/>
          </a:xfrm>
          <a:prstGeom prst="rect">
            <a:avLst/>
          </a:prstGeom>
          <a:noFill/>
        </p:spPr>
        <p:txBody>
          <a:bodyPr wrap="square" tIns="0" lIns="0" rIns="0" bIns="0">
            <a:spAutoFit/>
          </a:bodyPr>
          <a:lstStyle/>
          <a:p>
            <a:pPr algn="l">
              <a:lnSpc>
                <a:spcPct val="130000"/>
              </a:lnSpc>
            </a:pPr>
            <a:r>
              <a:rPr sz="1500">
                <a:solidFill>
                  <a:srgbClr val="1A1A1A"/>
                </a:solidFill>
                <a:latin typeface="Calibri"/>
              </a:rPr>
              <a:t>Assignment logic must handle type errors for invalid tuple formats</a:t>
            </a:r>
          </a:p>
        </p:txBody>
      </p:sp>
      <p:sp>
        <p:nvSpPr>
          <p:cNvPr id="24" name="Oval 23"/>
          <p:cNvSpPr/>
          <p:nvPr/>
        </p:nvSpPr>
        <p:spPr>
          <a:xfrm>
            <a:off x="502920" y="5217498"/>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5</a:t>
            </a:r>
          </a:p>
        </p:txBody>
      </p:sp>
      <p:sp>
        <p:nvSpPr>
          <p:cNvPr id="25" name="TextBox 24"/>
          <p:cNvSpPr txBox="1"/>
          <p:nvPr/>
        </p:nvSpPr>
        <p:spPr>
          <a:xfrm>
            <a:off x="1051560" y="5217498"/>
            <a:ext cx="5602071" cy="459062"/>
          </a:xfrm>
          <a:prstGeom prst="rect">
            <a:avLst/>
          </a:prstGeom>
          <a:noFill/>
        </p:spPr>
        <p:txBody>
          <a:bodyPr wrap="square" tIns="0" lIns="0" rIns="0" bIns="0">
            <a:spAutoFit/>
          </a:bodyPr>
          <a:lstStyle/>
          <a:p>
            <a:pPr algn="l">
              <a:lnSpc>
                <a:spcPct val="130000"/>
              </a:lnSpc>
            </a:pPr>
            <a:r>
              <a:rPr sz="1500">
                <a:solidFill>
                  <a:srgbClr val="1A1A1A"/>
                </a:solidFill>
                <a:latin typeface="Calibri"/>
              </a:rPr>
              <a:t>Complex assignments can involve arithmetic on existing tuple values</a:t>
            </a:r>
          </a:p>
        </p:txBody>
      </p:sp>
      <p:sp>
        <p:nvSpPr>
          <p:cNvPr id="26" name="Oval 25"/>
          <p:cNvSpPr/>
          <p:nvPr/>
        </p:nvSpPr>
        <p:spPr>
          <a:xfrm>
            <a:off x="502920" y="5822865"/>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6</a:t>
            </a:r>
          </a:p>
        </p:txBody>
      </p:sp>
      <p:sp>
        <p:nvSpPr>
          <p:cNvPr id="27" name="TextBox 26"/>
          <p:cNvSpPr txBox="1"/>
          <p:nvPr/>
        </p:nvSpPr>
        <p:spPr>
          <a:xfrm>
            <a:off x="1051560" y="5822865"/>
            <a:ext cx="5602071" cy="459062"/>
          </a:xfrm>
          <a:prstGeom prst="rect">
            <a:avLst/>
          </a:prstGeom>
          <a:noFill/>
        </p:spPr>
        <p:txBody>
          <a:bodyPr wrap="square" tIns="0" lIns="0" rIns="0" bIns="0">
            <a:spAutoFit/>
          </a:bodyPr>
          <a:lstStyle/>
          <a:p>
            <a:pPr algn="l">
              <a:lnSpc>
                <a:spcPct val="130000"/>
              </a:lnSpc>
            </a:pPr>
            <a:r>
              <a:rPr sz="1500">
                <a:solidFill>
                  <a:srgbClr val="1A1A1A"/>
                </a:solidFill>
                <a:latin typeface="Calibri"/>
              </a:rPr>
              <a:t>Immutable keys ensure the dictionary structure remains stable during updates</a:t>
            </a:r>
          </a:p>
        </p:txBody>
      </p:sp>
      <p:pic>
        <p:nvPicPr>
          <p:cNvPr id="28" name="Picture 27" descr="image.jp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9" name="TextBox 28"/>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Source: cdn.educba.com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Worked Example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7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188720"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7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Student Records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2920" y="1625600"/>
            <a:ext cx="6150711" cy="1005840"/>
          </a:xfrm>
          <a:prstGeom prst="rect">
            <a:avLst/>
          </a:prstGeom>
          <a:solidFill>
            <a:srgbClr val="FAFAFA"/>
          </a:solidFill>
          <a:ln w="19050">
            <a:solidFill>
              <a:srgbClr val="C8102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1698752"/>
            <a:ext cx="5784951" cy="256032"/>
          </a:xfrm>
          <a:prstGeom prst="rect">
            <a:avLst/>
          </a:prstGeom>
          <a:noFill/>
        </p:spPr>
        <p:txBody>
          <a:bodyPr wrap="none">
            <a:spAutoFit/>
          </a:bodyPr>
          <a:lstStyle/>
          <a:p>
            <a:pPr algn="ctr"/>
            <a:r>
              <a:rPr b="1" sz="1000">
                <a:solidFill>
                  <a:srgbClr val="C8102E"/>
                </a:solidFill>
                <a:latin typeface="Calibri"/>
              </a:rPr>
              <a:t>GOVERNING EQUATION</a:t>
            </a:r>
          </a:p>
        </p:txBody>
      </p:sp>
      <p:sp>
        <p:nvSpPr>
          <p:cNvPr id="15" name="TextBox 14"/>
          <p:cNvSpPr txBox="1"/>
          <p:nvPr/>
        </p:nvSpPr>
        <p:spPr>
          <a:xfrm>
            <a:off x="685800" y="1991360"/>
            <a:ext cx="5784951" cy="548640"/>
          </a:xfrm>
          <a:prstGeom prst="rect">
            <a:avLst/>
          </a:prstGeom>
          <a:noFill/>
        </p:spPr>
        <p:txBody>
          <a:bodyPr wrap="square">
            <a:spAutoFit/>
          </a:bodyPr>
          <a:lstStyle/>
          <a:p>
            <a:pPr algn="ctr"/>
            <a:r>
              <a:rPr b="1" sz="1800">
                <a:solidFill>
                  <a:srgbClr val="1A1A1A"/>
                </a:solidFill>
                <a:latin typeface="Cambria Math"/>
              </a:rPr>
              <a:t>Example: grades = {(101, 'CS'): 85, (102, 'CS'): 90}</a:t>
            </a:r>
          </a:p>
        </p:txBody>
      </p:sp>
      <p:sp>
        <p:nvSpPr>
          <p:cNvPr id="16" name="Oval 15"/>
          <p:cNvSpPr/>
          <p:nvPr/>
        </p:nvSpPr>
        <p:spPr>
          <a:xfrm>
            <a:off x="502920" y="2796032"/>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1</a:t>
            </a:r>
          </a:p>
        </p:txBody>
      </p:sp>
      <p:sp>
        <p:nvSpPr>
          <p:cNvPr id="17" name="TextBox 16"/>
          <p:cNvSpPr txBox="1"/>
          <p:nvPr/>
        </p:nvSpPr>
        <p:spPr>
          <a:xfrm>
            <a:off x="1051560" y="2796032"/>
            <a:ext cx="5602071" cy="459062"/>
          </a:xfrm>
          <a:prstGeom prst="rect">
            <a:avLst/>
          </a:prstGeom>
          <a:noFill/>
        </p:spPr>
        <p:txBody>
          <a:bodyPr wrap="square" tIns="0" lIns="0" rIns="0" bIns="0">
            <a:spAutoFit/>
          </a:bodyPr>
          <a:lstStyle/>
          <a:p>
            <a:pPr algn="l">
              <a:lnSpc>
                <a:spcPct val="130000"/>
              </a:lnSpc>
            </a:pPr>
            <a:r>
              <a:rPr sz="1500">
                <a:solidFill>
                  <a:srgbClr val="1A1A1A"/>
                </a:solidFill>
                <a:latin typeface="Calibri"/>
              </a:rPr>
              <a:t>Create a dictionary with tuple keys (student_id, course_code)</a:t>
            </a:r>
          </a:p>
        </p:txBody>
      </p:sp>
      <p:sp>
        <p:nvSpPr>
          <p:cNvPr id="18" name="Oval 17"/>
          <p:cNvSpPr/>
          <p:nvPr/>
        </p:nvSpPr>
        <p:spPr>
          <a:xfrm>
            <a:off x="502920" y="3401398"/>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2</a:t>
            </a:r>
          </a:p>
        </p:txBody>
      </p:sp>
      <p:sp>
        <p:nvSpPr>
          <p:cNvPr id="19" name="TextBox 18"/>
          <p:cNvSpPr txBox="1"/>
          <p:nvPr/>
        </p:nvSpPr>
        <p:spPr>
          <a:xfrm>
            <a:off x="1051560" y="3401398"/>
            <a:ext cx="5602071" cy="459062"/>
          </a:xfrm>
          <a:prstGeom prst="rect">
            <a:avLst/>
          </a:prstGeom>
          <a:noFill/>
        </p:spPr>
        <p:txBody>
          <a:bodyPr wrap="square" tIns="0" lIns="0" rIns="0" bIns="0">
            <a:spAutoFit/>
          </a:bodyPr>
          <a:lstStyle/>
          <a:p>
            <a:pPr algn="l">
              <a:lnSpc>
                <a:spcPct val="130000"/>
              </a:lnSpc>
            </a:pPr>
            <a:r>
              <a:rPr sz="1500">
                <a:solidFill>
                  <a:srgbClr val="1A1A1A"/>
                </a:solidFill>
                <a:latin typeface="Calibri"/>
              </a:rPr>
              <a:t>Assign grades to specific student-course combinations using tuples</a:t>
            </a:r>
          </a:p>
        </p:txBody>
      </p:sp>
      <p:sp>
        <p:nvSpPr>
          <p:cNvPr id="20" name="Oval 19"/>
          <p:cNvSpPr/>
          <p:nvPr/>
        </p:nvSpPr>
        <p:spPr>
          <a:xfrm>
            <a:off x="502920" y="4006765"/>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3</a:t>
            </a:r>
          </a:p>
        </p:txBody>
      </p:sp>
      <p:sp>
        <p:nvSpPr>
          <p:cNvPr id="21" name="TextBox 20"/>
          <p:cNvSpPr txBox="1"/>
          <p:nvPr/>
        </p:nvSpPr>
        <p:spPr>
          <a:xfrm>
            <a:off x="1051560" y="4006765"/>
            <a:ext cx="5602071" cy="459062"/>
          </a:xfrm>
          <a:prstGeom prst="rect">
            <a:avLst/>
          </a:prstGeom>
          <a:noFill/>
        </p:spPr>
        <p:txBody>
          <a:bodyPr wrap="square" tIns="0" lIns="0" rIns="0" bIns="0">
            <a:spAutoFit/>
          </a:bodyPr>
          <a:lstStyle/>
          <a:p>
            <a:pPr algn="l">
              <a:lnSpc>
                <a:spcPct val="130000"/>
              </a:lnSpc>
            </a:pPr>
            <a:r>
              <a:rPr sz="1500">
                <a:solidFill>
                  <a:srgbClr val="1A1A1A"/>
                </a:solidFill>
                <a:latin typeface="Calibri"/>
              </a:rPr>
              <a:t>Loop through items to calculate the average grade for a course</a:t>
            </a:r>
          </a:p>
        </p:txBody>
      </p:sp>
      <p:sp>
        <p:nvSpPr>
          <p:cNvPr id="22" name="Oval 21"/>
          <p:cNvSpPr/>
          <p:nvPr/>
        </p:nvSpPr>
        <p:spPr>
          <a:xfrm>
            <a:off x="502920" y="4612132"/>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4</a:t>
            </a:r>
          </a:p>
        </p:txBody>
      </p:sp>
      <p:sp>
        <p:nvSpPr>
          <p:cNvPr id="23" name="TextBox 22"/>
          <p:cNvSpPr txBox="1"/>
          <p:nvPr/>
        </p:nvSpPr>
        <p:spPr>
          <a:xfrm>
            <a:off x="1051560" y="4612132"/>
            <a:ext cx="5602071" cy="459062"/>
          </a:xfrm>
          <a:prstGeom prst="rect">
            <a:avLst/>
          </a:prstGeom>
          <a:noFill/>
        </p:spPr>
        <p:txBody>
          <a:bodyPr wrap="square" tIns="0" lIns="0" rIns="0" bIns="0">
            <a:spAutoFit/>
          </a:bodyPr>
          <a:lstStyle/>
          <a:p>
            <a:pPr algn="l">
              <a:lnSpc>
                <a:spcPct val="130000"/>
              </a:lnSpc>
            </a:pPr>
            <a:r>
              <a:rPr sz="1500">
                <a:solidFill>
                  <a:srgbClr val="1A1A1A"/>
                </a:solidFill>
                <a:latin typeface="Calibri"/>
              </a:rPr>
              <a:t>Sum all grades and divide by the count of students enrolled</a:t>
            </a:r>
          </a:p>
        </p:txBody>
      </p:sp>
      <p:sp>
        <p:nvSpPr>
          <p:cNvPr id="24" name="Oval 23"/>
          <p:cNvSpPr/>
          <p:nvPr/>
        </p:nvSpPr>
        <p:spPr>
          <a:xfrm>
            <a:off x="502920" y="5217498"/>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5</a:t>
            </a:r>
          </a:p>
        </p:txBody>
      </p:sp>
      <p:sp>
        <p:nvSpPr>
          <p:cNvPr id="25" name="TextBox 24"/>
          <p:cNvSpPr txBox="1"/>
          <p:nvPr/>
        </p:nvSpPr>
        <p:spPr>
          <a:xfrm>
            <a:off x="1051560" y="5217498"/>
            <a:ext cx="5602071" cy="459062"/>
          </a:xfrm>
          <a:prstGeom prst="rect">
            <a:avLst/>
          </a:prstGeom>
          <a:noFill/>
        </p:spPr>
        <p:txBody>
          <a:bodyPr wrap="square" tIns="0" lIns="0" rIns="0" bIns="0">
            <a:spAutoFit/>
          </a:bodyPr>
          <a:lstStyle/>
          <a:p>
            <a:pPr algn="l">
              <a:lnSpc>
                <a:spcPct val="130000"/>
              </a:lnSpc>
            </a:pPr>
            <a:r>
              <a:rPr sz="1500">
                <a:solidFill>
                  <a:srgbClr val="1A1A1A"/>
                </a:solidFill>
                <a:latin typeface="Calibri"/>
              </a:rPr>
              <a:t>Output the result formatted to two decimal places for clarity</a:t>
            </a:r>
          </a:p>
        </p:txBody>
      </p:sp>
      <p:sp>
        <p:nvSpPr>
          <p:cNvPr id="26" name="Oval 25"/>
          <p:cNvSpPr/>
          <p:nvPr/>
        </p:nvSpPr>
        <p:spPr>
          <a:xfrm>
            <a:off x="502920" y="5822865"/>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6</a:t>
            </a:r>
          </a:p>
        </p:txBody>
      </p:sp>
      <p:sp>
        <p:nvSpPr>
          <p:cNvPr id="27" name="TextBox 26"/>
          <p:cNvSpPr txBox="1"/>
          <p:nvPr/>
        </p:nvSpPr>
        <p:spPr>
          <a:xfrm>
            <a:off x="1051560" y="5822865"/>
            <a:ext cx="5602071" cy="459062"/>
          </a:xfrm>
          <a:prstGeom prst="rect">
            <a:avLst/>
          </a:prstGeom>
          <a:noFill/>
        </p:spPr>
        <p:txBody>
          <a:bodyPr wrap="square" tIns="0" lIns="0" rIns="0" bIns="0">
            <a:spAutoFit/>
          </a:bodyPr>
          <a:lstStyle/>
          <a:p>
            <a:pPr algn="l">
              <a:lnSpc>
                <a:spcPct val="130000"/>
              </a:lnSpc>
            </a:pPr>
            <a:r>
              <a:rPr sz="1500">
                <a:solidFill>
                  <a:srgbClr val="1A1A1A"/>
                </a:solidFill>
                <a:latin typeface="Calibri"/>
              </a:rPr>
              <a:t>This structure prevents duplicate entries for the same student-course pair</a:t>
            </a:r>
          </a:p>
        </p:txBody>
      </p:sp>
      <p:pic>
        <p:nvPicPr>
          <p:cNvPr id="28" name="Picture 27" descr="image.jp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9" name="TextBox 28"/>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Source: www.slidegeeks.com</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Worked Example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8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358537"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8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Calculation Logic</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2920" y="1625600"/>
            <a:ext cx="6150711" cy="1005840"/>
          </a:xfrm>
          <a:prstGeom prst="rect">
            <a:avLst/>
          </a:prstGeom>
          <a:solidFill>
            <a:srgbClr val="FAFAFA"/>
          </a:solidFill>
          <a:ln w="19050">
            <a:solidFill>
              <a:srgbClr val="C8102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1698752"/>
            <a:ext cx="5784951" cy="256032"/>
          </a:xfrm>
          <a:prstGeom prst="rect">
            <a:avLst/>
          </a:prstGeom>
          <a:noFill/>
        </p:spPr>
        <p:txBody>
          <a:bodyPr wrap="none">
            <a:spAutoFit/>
          </a:bodyPr>
          <a:lstStyle/>
          <a:p>
            <a:pPr algn="ctr"/>
            <a:r>
              <a:rPr b="1" sz="1000">
                <a:solidFill>
                  <a:srgbClr val="C8102E"/>
                </a:solidFill>
                <a:latin typeface="Calibri"/>
              </a:rPr>
              <a:t>GOVERNING EQUATION</a:t>
            </a:r>
          </a:p>
        </p:txBody>
      </p:sp>
      <p:sp>
        <p:nvSpPr>
          <p:cNvPr id="15" name="TextBox 14"/>
          <p:cNvSpPr txBox="1"/>
          <p:nvPr/>
        </p:nvSpPr>
        <p:spPr>
          <a:xfrm>
            <a:off x="685800" y="1991360"/>
            <a:ext cx="5784951" cy="548640"/>
          </a:xfrm>
          <a:prstGeom prst="rect">
            <a:avLst/>
          </a:prstGeom>
          <a:noFill/>
        </p:spPr>
        <p:txBody>
          <a:bodyPr wrap="square">
            <a:spAutoFit/>
          </a:bodyPr>
          <a:lstStyle/>
          <a:p>
            <a:pPr algn="ctr"/>
            <a:r>
              <a:rPr b="1" sz="1800">
                <a:solidFill>
                  <a:srgbClr val="1A1A1A"/>
                </a:solidFill>
                <a:latin typeface="Cambria Math"/>
              </a:rPr>
              <a:t>Calculate average: average = sum / counter if counter &gt; 0</a:t>
            </a:r>
          </a:p>
        </p:txBody>
      </p:sp>
      <p:sp>
        <p:nvSpPr>
          <p:cNvPr id="16" name="Rectangle 15"/>
          <p:cNvSpPr/>
          <p:nvPr/>
        </p:nvSpPr>
        <p:spPr>
          <a:xfrm>
            <a:off x="502920" y="2796032"/>
            <a:ext cx="2983915" cy="165150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02920" y="2796032"/>
            <a:ext cx="50800" cy="165150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36600" y="2914904"/>
            <a:ext cx="2567355" cy="1413764"/>
          </a:xfrm>
          <a:prstGeom prst="rect">
            <a:avLst/>
          </a:prstGeom>
          <a:noFill/>
        </p:spPr>
        <p:txBody>
          <a:bodyPr wrap="square" lIns="0" rIns="0" tIns="0" bIns="0">
            <a:spAutoFit/>
          </a:bodyPr>
          <a:lstStyle/>
          <a:p>
            <a:pPr algn="l">
              <a:spcAft>
                <a:spcPts val="400"/>
              </a:spcAft>
            </a:pPr>
            <a:r>
              <a:rPr b="1" sz="1100">
                <a:solidFill>
                  <a:srgbClr val="C8102E"/>
                </a:solidFill>
                <a:latin typeface="Calibri"/>
              </a:rPr>
              <a:t>LOOP</a:t>
            </a:r>
          </a:p>
          <a:p>
            <a:pPr algn="l">
              <a:lnSpc>
                <a:spcPct val="135000"/>
              </a:lnSpc>
            </a:pPr>
            <a:r>
              <a:rPr sz="1300">
                <a:solidFill>
                  <a:srgbClr val="1A1A1A"/>
                </a:solidFill>
                <a:latin typeface="Calibri"/>
              </a:rPr>
              <a:t>for (sid, course), grade in records.items():</a:t>
            </a:r>
          </a:p>
        </p:txBody>
      </p:sp>
      <p:sp>
        <p:nvSpPr>
          <p:cNvPr id="19" name="Rectangle 18"/>
          <p:cNvSpPr/>
          <p:nvPr/>
        </p:nvSpPr>
        <p:spPr>
          <a:xfrm>
            <a:off x="3669715" y="2796032"/>
            <a:ext cx="2983915" cy="165150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3669715" y="2796032"/>
            <a:ext cx="50800" cy="165150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903395" y="2914904"/>
            <a:ext cx="2567355" cy="1413764"/>
          </a:xfrm>
          <a:prstGeom prst="rect">
            <a:avLst/>
          </a:prstGeom>
          <a:noFill/>
        </p:spPr>
        <p:txBody>
          <a:bodyPr wrap="square" lIns="0" rIns="0" tIns="0" bIns="0">
            <a:spAutoFit/>
          </a:bodyPr>
          <a:lstStyle/>
          <a:p>
            <a:pPr algn="l">
              <a:spcAft>
                <a:spcPts val="400"/>
              </a:spcAft>
            </a:pPr>
            <a:r>
              <a:rPr b="1" sz="1100">
                <a:solidFill>
                  <a:srgbClr val="C8102E"/>
                </a:solidFill>
                <a:latin typeface="Calibri"/>
              </a:rPr>
              <a:t>PRINT THE RESULT</a:t>
            </a:r>
          </a:p>
          <a:p>
            <a:pPr algn="l">
              <a:lnSpc>
                <a:spcPct val="135000"/>
              </a:lnSpc>
            </a:pPr>
            <a:r>
              <a:rPr sz="1300">
                <a:solidFill>
                  <a:srgbClr val="1A1A1A"/>
                </a:solidFill>
                <a:latin typeface="Calibri"/>
              </a:rPr>
              <a:t>Average grade for CS is 87.50</a:t>
            </a:r>
          </a:p>
        </p:txBody>
      </p:sp>
      <p:sp>
        <p:nvSpPr>
          <p:cNvPr id="22" name="Rectangle 21"/>
          <p:cNvSpPr/>
          <p:nvPr/>
        </p:nvSpPr>
        <p:spPr>
          <a:xfrm>
            <a:off x="502920" y="4630420"/>
            <a:ext cx="2983915" cy="165150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02920" y="4630420"/>
            <a:ext cx="50800" cy="165150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36600" y="4749292"/>
            <a:ext cx="2567355" cy="1413764"/>
          </a:xfrm>
          <a:prstGeom prst="rect">
            <a:avLst/>
          </a:prstGeom>
          <a:noFill/>
        </p:spPr>
        <p:txBody>
          <a:bodyPr wrap="square" lIns="0" rIns="0" tIns="0" bIns="0">
            <a:spAutoFit/>
          </a:bodyPr>
          <a:lstStyle/>
          <a:p>
            <a:pPr algn="l">
              <a:lnSpc>
                <a:spcPct val="135000"/>
              </a:lnSpc>
            </a:pPr>
            <a:r>
              <a:rPr sz="1300">
                <a:solidFill>
                  <a:srgbClr val="1A1A1A"/>
                </a:solidFill>
                <a:latin typeface="Calibri"/>
              </a:rPr>
              <a:t>•  Initialize a sum variable to zero before starting the loop</a:t>
            </a:r>
          </a:p>
          <a:p>
            <a:pPr algn="l">
              <a:lnSpc>
                <a:spcPct val="135000"/>
              </a:lnSpc>
            </a:pPr>
            <a:r>
              <a:rPr sz="1300">
                <a:solidFill>
                  <a:srgbClr val="1A1A1A"/>
                </a:solidFill>
                <a:latin typeface="Calibri"/>
              </a:rPr>
              <a:t>•  Initialize a counter variable to track the number of entries</a:t>
            </a:r>
          </a:p>
          <a:p>
            <a:pPr algn="l">
              <a:lnSpc>
                <a:spcPct val="135000"/>
              </a:lnSpc>
            </a:pPr>
            <a:r>
              <a:rPr sz="1300">
                <a:solidFill>
                  <a:srgbClr val="1A1A1A"/>
                </a:solidFill>
                <a:latin typeface="Calibri"/>
              </a:rPr>
              <a:t>•  If course equals 'CS', add grade to sum and increment counter</a:t>
            </a:r>
          </a:p>
          <a:p>
            <a:pPr algn="l">
              <a:lnSpc>
                <a:spcPct val="135000"/>
              </a:lnSpc>
            </a:pPr>
            <a:r>
              <a:rPr sz="1300">
                <a:solidFill>
                  <a:srgbClr val="1A1A1A"/>
                </a:solidFill>
                <a:latin typeface="Calibri"/>
              </a:rPr>
              <a:t>•  Handle division by zero if no students are enrolled in the course</a:t>
            </a:r>
          </a:p>
        </p:txBody>
      </p:sp>
      <p:pic>
        <p:nvPicPr>
          <p:cNvPr id="25" name="Picture 24" descr="image.pn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6" name="TextBox 25"/>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Source: static.takeuforward.org</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Common Pitfall</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9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528354"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9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Modifying During Loop</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1</a:t>
            </a:r>
          </a:p>
        </p:txBody>
      </p:sp>
      <p:sp>
        <p:nvSpPr>
          <p:cNvPr id="14" name="TextBox 13"/>
          <p:cNvSpPr txBox="1"/>
          <p:nvPr/>
        </p:nvSpPr>
        <p:spPr>
          <a:xfrm>
            <a:off x="1051560" y="162560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Do not add or remove keys while iterating over the dictionary</a:t>
            </a:r>
          </a:p>
        </p:txBody>
      </p:sp>
      <p:sp>
        <p:nvSpPr>
          <p:cNvPr id="15" name="Oval 14"/>
          <p:cNvSpPr/>
          <p:nvPr/>
        </p:nvSpPr>
        <p:spPr>
          <a:xfrm>
            <a:off x="502920" y="231169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2</a:t>
            </a:r>
          </a:p>
        </p:txBody>
      </p:sp>
      <p:sp>
        <p:nvSpPr>
          <p:cNvPr id="16" name="TextBox 15"/>
          <p:cNvSpPr txBox="1"/>
          <p:nvPr/>
        </p:nvSpPr>
        <p:spPr>
          <a:xfrm>
            <a:off x="1051560" y="231169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Modifying the dictionary size raises a RuntimeError during iteration</a:t>
            </a:r>
          </a:p>
        </p:txBody>
      </p:sp>
      <p:sp>
        <p:nvSpPr>
          <p:cNvPr id="17" name="Oval 16"/>
          <p:cNvSpPr/>
          <p:nvPr/>
        </p:nvSpPr>
        <p:spPr>
          <a:xfrm>
            <a:off x="502920" y="299778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3</a:t>
            </a:r>
          </a:p>
        </p:txBody>
      </p:sp>
      <p:sp>
        <p:nvSpPr>
          <p:cNvPr id="18" name="TextBox 17"/>
          <p:cNvSpPr txBox="1"/>
          <p:nvPr/>
        </p:nvSpPr>
        <p:spPr>
          <a:xfrm>
            <a:off x="1051560" y="299778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Create a list of keys to modify safely outside the loop</a:t>
            </a:r>
          </a:p>
        </p:txBody>
      </p:sp>
      <p:sp>
        <p:nvSpPr>
          <p:cNvPr id="19" name="Oval 18"/>
          <p:cNvSpPr/>
          <p:nvPr/>
        </p:nvSpPr>
        <p:spPr>
          <a:xfrm>
            <a:off x="502920" y="368387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4</a:t>
            </a:r>
          </a:p>
        </p:txBody>
      </p:sp>
      <p:sp>
        <p:nvSpPr>
          <p:cNvPr id="20" name="TextBox 19"/>
          <p:cNvSpPr txBox="1"/>
          <p:nvPr/>
        </p:nvSpPr>
        <p:spPr>
          <a:xfrm>
            <a:off x="1051560" y="368387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Use list comprehension to filter or transform keys before updating</a:t>
            </a:r>
          </a:p>
        </p:txBody>
      </p:sp>
      <p:sp>
        <p:nvSpPr>
          <p:cNvPr id="21" name="Oval 20"/>
          <p:cNvSpPr/>
          <p:nvPr/>
        </p:nvSpPr>
        <p:spPr>
          <a:xfrm>
            <a:off x="502920" y="436996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5</a:t>
            </a:r>
          </a:p>
        </p:txBody>
      </p:sp>
      <p:sp>
        <p:nvSpPr>
          <p:cNvPr id="22" name="TextBox 21"/>
          <p:cNvSpPr txBox="1"/>
          <p:nvPr/>
        </p:nvSpPr>
        <p:spPr>
          <a:xfrm>
            <a:off x="1051560" y="4369961"/>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Iterating over a copy of items() prevents runtime errors</a:t>
            </a:r>
          </a:p>
        </p:txBody>
      </p:sp>
      <p:sp>
        <p:nvSpPr>
          <p:cNvPr id="23" name="Oval 22"/>
          <p:cNvSpPr/>
          <p:nvPr/>
        </p:nvSpPr>
        <p:spPr>
          <a:xfrm>
            <a:off x="502920" y="505605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6</a:t>
            </a:r>
          </a:p>
        </p:txBody>
      </p:sp>
      <p:sp>
        <p:nvSpPr>
          <p:cNvPr id="24" name="TextBox 23"/>
          <p:cNvSpPr txBox="1"/>
          <p:nvPr/>
        </p:nvSpPr>
        <p:spPr>
          <a:xfrm>
            <a:off x="1051560" y="5056051"/>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Safe modification ensures the program does not crash unexpectedly</a:t>
            </a:r>
          </a:p>
        </p:txBody>
      </p:sp>
      <p:sp>
        <p:nvSpPr>
          <p:cNvPr id="25" name="Oval 24"/>
          <p:cNvSpPr/>
          <p:nvPr/>
        </p:nvSpPr>
        <p:spPr>
          <a:xfrm>
            <a:off x="502920" y="574214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7</a:t>
            </a:r>
          </a:p>
        </p:txBody>
      </p:sp>
      <p:sp>
        <p:nvSpPr>
          <p:cNvPr id="26" name="TextBox 25"/>
          <p:cNvSpPr txBox="1"/>
          <p:nvPr/>
        </p:nvSpPr>
        <p:spPr>
          <a:xfrm>
            <a:off x="1051560" y="5742141"/>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Always validate data integrity before performing structural changes</a:t>
            </a:r>
          </a:p>
        </p:txBody>
      </p:sp>
      <p:pic>
        <p:nvPicPr>
          <p:cNvPr id="27" name="Picture 26" descr="image.jp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8" name="TextBox 27"/>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Source: static.vecteezy.com</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Common Pitfall</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10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698171"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10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Unhashable Types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1</a:t>
            </a:r>
          </a:p>
        </p:txBody>
      </p:sp>
      <p:sp>
        <p:nvSpPr>
          <p:cNvPr id="14" name="TextBox 13"/>
          <p:cNvSpPr txBox="1"/>
          <p:nvPr/>
        </p:nvSpPr>
        <p:spPr>
          <a:xfrm>
            <a:off x="1051560" y="162560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Using a list as a dictionary key causes a TypeError immediately</a:t>
            </a:r>
          </a:p>
        </p:txBody>
      </p:sp>
      <p:sp>
        <p:nvSpPr>
          <p:cNvPr id="15" name="Oval 14"/>
          <p:cNvSpPr/>
          <p:nvPr/>
        </p:nvSpPr>
        <p:spPr>
          <a:xfrm>
            <a:off x="502920" y="231169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2</a:t>
            </a:r>
          </a:p>
        </p:txBody>
      </p:sp>
      <p:sp>
        <p:nvSpPr>
          <p:cNvPr id="16" name="TextBox 15"/>
          <p:cNvSpPr txBox="1"/>
          <p:nvPr/>
        </p:nvSpPr>
        <p:spPr>
          <a:xfrm>
            <a:off x="1051560" y="231169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Lists are mutable and therefore cannot be hashed for dictionary keys</a:t>
            </a:r>
          </a:p>
        </p:txBody>
      </p:sp>
      <p:sp>
        <p:nvSpPr>
          <p:cNvPr id="17" name="Oval 16"/>
          <p:cNvSpPr/>
          <p:nvPr/>
        </p:nvSpPr>
        <p:spPr>
          <a:xfrm>
            <a:off x="502920" y="299778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3</a:t>
            </a:r>
          </a:p>
        </p:txBody>
      </p:sp>
      <p:sp>
        <p:nvSpPr>
          <p:cNvPr id="18" name="TextBox 17"/>
          <p:cNvSpPr txBox="1"/>
          <p:nvPr/>
        </p:nvSpPr>
        <p:spPr>
          <a:xfrm>
            <a:off x="1051560" y="299778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Convert lists to tuples before using them as dictionary keys</a:t>
            </a:r>
          </a:p>
        </p:txBody>
      </p:sp>
      <p:sp>
        <p:nvSpPr>
          <p:cNvPr id="19" name="Oval 18"/>
          <p:cNvSpPr/>
          <p:nvPr/>
        </p:nvSpPr>
        <p:spPr>
          <a:xfrm>
            <a:off x="502920" y="368387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4</a:t>
            </a:r>
          </a:p>
        </p:txBody>
      </p:sp>
      <p:sp>
        <p:nvSpPr>
          <p:cNvPr id="20" name="TextBox 19"/>
          <p:cNvSpPr txBox="1"/>
          <p:nvPr/>
        </p:nvSpPr>
        <p:spPr>
          <a:xfrm>
            <a:off x="1051560" y="3683870"/>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Ensure all elements within the tuple are also hashable types</a:t>
            </a:r>
          </a:p>
        </p:txBody>
      </p:sp>
      <p:sp>
        <p:nvSpPr>
          <p:cNvPr id="21" name="Oval 20"/>
          <p:cNvSpPr/>
          <p:nvPr/>
        </p:nvSpPr>
        <p:spPr>
          <a:xfrm>
            <a:off x="502920" y="436996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5</a:t>
            </a:r>
          </a:p>
        </p:txBody>
      </p:sp>
      <p:sp>
        <p:nvSpPr>
          <p:cNvPr id="22" name="TextBox 21"/>
          <p:cNvSpPr txBox="1"/>
          <p:nvPr/>
        </p:nvSpPr>
        <p:spPr>
          <a:xfrm>
            <a:off x="1051560" y="4369961"/>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Nested lists inside tuples will also cause hashing errors</a:t>
            </a:r>
          </a:p>
        </p:txBody>
      </p:sp>
      <p:sp>
        <p:nvSpPr>
          <p:cNvPr id="23" name="Oval 22"/>
          <p:cNvSpPr/>
          <p:nvPr/>
        </p:nvSpPr>
        <p:spPr>
          <a:xfrm>
            <a:off x="502920" y="505605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6</a:t>
            </a:r>
          </a:p>
        </p:txBody>
      </p:sp>
      <p:sp>
        <p:nvSpPr>
          <p:cNvPr id="24" name="TextBox 23"/>
          <p:cNvSpPr txBox="1"/>
          <p:nvPr/>
        </p:nvSpPr>
        <p:spPr>
          <a:xfrm>
            <a:off x="1051560" y="5056051"/>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Validate input data types before constructing the dictionary structure</a:t>
            </a:r>
          </a:p>
        </p:txBody>
      </p:sp>
      <p:sp>
        <p:nvSpPr>
          <p:cNvPr id="25" name="Oval 24"/>
          <p:cNvSpPr/>
          <p:nvPr/>
        </p:nvSpPr>
        <p:spPr>
          <a:xfrm>
            <a:off x="502920" y="574214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7</a:t>
            </a:r>
          </a:p>
        </p:txBody>
      </p:sp>
      <p:sp>
        <p:nvSpPr>
          <p:cNvPr id="26" name="TextBox 25"/>
          <p:cNvSpPr txBox="1"/>
          <p:nvPr/>
        </p:nvSpPr>
        <p:spPr>
          <a:xfrm>
            <a:off x="1051560" y="5742141"/>
            <a:ext cx="5602071"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Use isinstance checks to verify tuple types before assignment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11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867988"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11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Nested Loops for Complex Data</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1</a:t>
            </a:r>
          </a:p>
        </p:txBody>
      </p:sp>
      <p:sp>
        <p:nvSpPr>
          <p:cNvPr id="14" name="TextBox 13"/>
          <p:cNvSpPr txBox="1"/>
          <p:nvPr/>
        </p:nvSpPr>
        <p:spPr>
          <a:xfrm>
            <a:off x="1051560" y="1625600"/>
            <a:ext cx="10634472"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Use nested loops to process multi-dimensional dictionary structures</a:t>
            </a:r>
          </a:p>
        </p:txBody>
      </p:sp>
      <p:sp>
        <p:nvSpPr>
          <p:cNvPr id="15" name="Oval 14"/>
          <p:cNvSpPr/>
          <p:nvPr/>
        </p:nvSpPr>
        <p:spPr>
          <a:xfrm>
            <a:off x="502920" y="231169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2</a:t>
            </a:r>
          </a:p>
        </p:txBody>
      </p:sp>
      <p:sp>
        <p:nvSpPr>
          <p:cNvPr id="16" name="TextBox 15"/>
          <p:cNvSpPr txBox="1"/>
          <p:nvPr/>
        </p:nvSpPr>
        <p:spPr>
          <a:xfrm>
            <a:off x="1051560" y="2311690"/>
            <a:ext cx="10634472"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Outer loop iterates over primary keys like department IDs</a:t>
            </a:r>
          </a:p>
        </p:txBody>
      </p:sp>
      <p:sp>
        <p:nvSpPr>
          <p:cNvPr id="17" name="Oval 16"/>
          <p:cNvSpPr/>
          <p:nvPr/>
        </p:nvSpPr>
        <p:spPr>
          <a:xfrm>
            <a:off x="502920" y="299778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3</a:t>
            </a:r>
          </a:p>
        </p:txBody>
      </p:sp>
      <p:sp>
        <p:nvSpPr>
          <p:cNvPr id="18" name="TextBox 17"/>
          <p:cNvSpPr txBox="1"/>
          <p:nvPr/>
        </p:nvSpPr>
        <p:spPr>
          <a:xfrm>
            <a:off x="1051560" y="2997780"/>
            <a:ext cx="10634472"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Inner loop iterates over secondary keys like employee IDs</a:t>
            </a:r>
          </a:p>
        </p:txBody>
      </p:sp>
      <p:sp>
        <p:nvSpPr>
          <p:cNvPr id="19" name="Oval 18"/>
          <p:cNvSpPr/>
          <p:nvPr/>
        </p:nvSpPr>
        <p:spPr>
          <a:xfrm>
            <a:off x="502920" y="368387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4</a:t>
            </a:r>
          </a:p>
        </p:txBody>
      </p:sp>
      <p:sp>
        <p:nvSpPr>
          <p:cNvPr id="20" name="TextBox 19"/>
          <p:cNvSpPr txBox="1"/>
          <p:nvPr/>
        </p:nvSpPr>
        <p:spPr>
          <a:xfrm>
            <a:off x="1051560" y="3683870"/>
            <a:ext cx="10634472"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Combine tuple keys to represent hierarchical data relationships</a:t>
            </a:r>
          </a:p>
        </p:txBody>
      </p:sp>
      <p:sp>
        <p:nvSpPr>
          <p:cNvPr id="21" name="Oval 20"/>
          <p:cNvSpPr/>
          <p:nvPr/>
        </p:nvSpPr>
        <p:spPr>
          <a:xfrm>
            <a:off x="502920" y="436996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5</a:t>
            </a:r>
          </a:p>
        </p:txBody>
      </p:sp>
      <p:sp>
        <p:nvSpPr>
          <p:cNvPr id="22" name="TextBox 21"/>
          <p:cNvSpPr txBox="1"/>
          <p:nvPr/>
        </p:nvSpPr>
        <p:spPr>
          <a:xfrm>
            <a:off x="1051560" y="4369961"/>
            <a:ext cx="10634472"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Accumulate totals across multiple levels of the data hierarchy</a:t>
            </a:r>
          </a:p>
        </p:txBody>
      </p:sp>
      <p:sp>
        <p:nvSpPr>
          <p:cNvPr id="23" name="Oval 22"/>
          <p:cNvSpPr/>
          <p:nvPr/>
        </p:nvSpPr>
        <p:spPr>
          <a:xfrm>
            <a:off x="502920" y="505605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6</a:t>
            </a:r>
          </a:p>
        </p:txBody>
      </p:sp>
      <p:sp>
        <p:nvSpPr>
          <p:cNvPr id="24" name="TextBox 23"/>
          <p:cNvSpPr txBox="1"/>
          <p:nvPr/>
        </p:nvSpPr>
        <p:spPr>
          <a:xfrm>
            <a:off x="1051560" y="5056051"/>
            <a:ext cx="10634472"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Break out of loops early if a specific condition is met</a:t>
            </a:r>
          </a:p>
        </p:txBody>
      </p:sp>
      <p:sp>
        <p:nvSpPr>
          <p:cNvPr id="25" name="Oval 24"/>
          <p:cNvSpPr/>
          <p:nvPr/>
        </p:nvSpPr>
        <p:spPr>
          <a:xfrm>
            <a:off x="502920" y="574214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7</a:t>
            </a:r>
          </a:p>
        </p:txBody>
      </p:sp>
      <p:sp>
        <p:nvSpPr>
          <p:cNvPr id="26" name="TextBox 25"/>
          <p:cNvSpPr txBox="1"/>
          <p:nvPr/>
        </p:nvSpPr>
        <p:spPr>
          <a:xfrm>
            <a:off x="1051560" y="5742141"/>
            <a:ext cx="10634472"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Use flags to control the flow of nested iteration logic</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12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2037805"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12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Exception Handling in Loops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1</a:t>
            </a:r>
          </a:p>
        </p:txBody>
      </p:sp>
      <p:sp>
        <p:nvSpPr>
          <p:cNvPr id="14" name="TextBox 13"/>
          <p:cNvSpPr txBox="1"/>
          <p:nvPr/>
        </p:nvSpPr>
        <p:spPr>
          <a:xfrm>
            <a:off x="1051560" y="1625600"/>
            <a:ext cx="10634472"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Wrap dictionary access in try-except blocks for safety</a:t>
            </a:r>
          </a:p>
        </p:txBody>
      </p:sp>
      <p:sp>
        <p:nvSpPr>
          <p:cNvPr id="15" name="Oval 14"/>
          <p:cNvSpPr/>
          <p:nvPr/>
        </p:nvSpPr>
        <p:spPr>
          <a:xfrm>
            <a:off x="502920" y="231169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2</a:t>
            </a:r>
          </a:p>
        </p:txBody>
      </p:sp>
      <p:sp>
        <p:nvSpPr>
          <p:cNvPr id="16" name="TextBox 15"/>
          <p:cNvSpPr txBox="1"/>
          <p:nvPr/>
        </p:nvSpPr>
        <p:spPr>
          <a:xfrm>
            <a:off x="1051560" y="2311690"/>
            <a:ext cx="10634472"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Catch KeyError exceptions when a tuple key is missing</a:t>
            </a:r>
          </a:p>
        </p:txBody>
      </p:sp>
      <p:sp>
        <p:nvSpPr>
          <p:cNvPr id="17" name="Oval 16"/>
          <p:cNvSpPr/>
          <p:nvPr/>
        </p:nvSpPr>
        <p:spPr>
          <a:xfrm>
            <a:off x="502920" y="299778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3</a:t>
            </a:r>
          </a:p>
        </p:txBody>
      </p:sp>
      <p:sp>
        <p:nvSpPr>
          <p:cNvPr id="18" name="TextBox 17"/>
          <p:cNvSpPr txBox="1"/>
          <p:nvPr/>
        </p:nvSpPr>
        <p:spPr>
          <a:xfrm>
            <a:off x="1051560" y="2997780"/>
            <a:ext cx="10634472"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Catch TypeError exceptions when data types are incorrect</a:t>
            </a:r>
          </a:p>
        </p:txBody>
      </p:sp>
      <p:sp>
        <p:nvSpPr>
          <p:cNvPr id="19" name="Oval 18"/>
          <p:cNvSpPr/>
          <p:nvPr/>
        </p:nvSpPr>
        <p:spPr>
          <a:xfrm>
            <a:off x="502920" y="3683870"/>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4</a:t>
            </a:r>
          </a:p>
        </p:txBody>
      </p:sp>
      <p:sp>
        <p:nvSpPr>
          <p:cNvPr id="20" name="TextBox 19"/>
          <p:cNvSpPr txBox="1"/>
          <p:nvPr/>
        </p:nvSpPr>
        <p:spPr>
          <a:xfrm>
            <a:off x="1051560" y="3683870"/>
            <a:ext cx="10634472"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Provide user-friendly error messages for debugging purposes</a:t>
            </a:r>
          </a:p>
        </p:txBody>
      </p:sp>
      <p:sp>
        <p:nvSpPr>
          <p:cNvPr id="21" name="Oval 20"/>
          <p:cNvSpPr/>
          <p:nvPr/>
        </p:nvSpPr>
        <p:spPr>
          <a:xfrm>
            <a:off x="502920" y="436996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5</a:t>
            </a:r>
          </a:p>
        </p:txBody>
      </p:sp>
      <p:sp>
        <p:nvSpPr>
          <p:cNvPr id="22" name="TextBox 21"/>
          <p:cNvSpPr txBox="1"/>
          <p:nvPr/>
        </p:nvSpPr>
        <p:spPr>
          <a:xfrm>
            <a:off x="1051560" y="4369961"/>
            <a:ext cx="10634472"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Use the else clause to execute code if no exception occurs</a:t>
            </a:r>
          </a:p>
        </p:txBody>
      </p:sp>
      <p:sp>
        <p:nvSpPr>
          <p:cNvPr id="23" name="Oval 22"/>
          <p:cNvSpPr/>
          <p:nvPr/>
        </p:nvSpPr>
        <p:spPr>
          <a:xfrm>
            <a:off x="502920" y="505605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6</a:t>
            </a:r>
          </a:p>
        </p:txBody>
      </p:sp>
      <p:sp>
        <p:nvSpPr>
          <p:cNvPr id="24" name="TextBox 23"/>
          <p:cNvSpPr txBox="1"/>
          <p:nvPr/>
        </p:nvSpPr>
        <p:spPr>
          <a:xfrm>
            <a:off x="1051560" y="5056051"/>
            <a:ext cx="10634472"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Log errors to a file for later analysis and troubleshooting</a:t>
            </a:r>
          </a:p>
        </p:txBody>
      </p:sp>
      <p:sp>
        <p:nvSpPr>
          <p:cNvPr id="25" name="Oval 24"/>
          <p:cNvSpPr/>
          <p:nvPr/>
        </p:nvSpPr>
        <p:spPr>
          <a:xfrm>
            <a:off x="502920" y="5742141"/>
            <a:ext cx="384048" cy="384048"/>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300">
                <a:solidFill>
                  <a:srgbClr val="FFFFFF"/>
                </a:solidFill>
                <a:latin typeface="Calibri"/>
              </a:rPr>
              <a:t>7</a:t>
            </a:r>
          </a:p>
        </p:txBody>
      </p:sp>
      <p:sp>
        <p:nvSpPr>
          <p:cNvPr id="26" name="TextBox 25"/>
          <p:cNvSpPr txBox="1"/>
          <p:nvPr/>
        </p:nvSpPr>
        <p:spPr>
          <a:xfrm>
            <a:off x="1051560" y="5742141"/>
            <a:ext cx="10634472" cy="539786"/>
          </a:xfrm>
          <a:prstGeom prst="rect">
            <a:avLst/>
          </a:prstGeom>
          <a:noFill/>
        </p:spPr>
        <p:txBody>
          <a:bodyPr wrap="square" tIns="0" lIns="0" rIns="0" bIns="0">
            <a:spAutoFit/>
          </a:bodyPr>
          <a:lstStyle/>
          <a:p>
            <a:pPr algn="l">
              <a:lnSpc>
                <a:spcPct val="130000"/>
              </a:lnSpc>
            </a:pPr>
            <a:r>
              <a:rPr sz="1500">
                <a:solidFill>
                  <a:srgbClr val="1A1A1A"/>
                </a:solidFill>
                <a:latin typeface="Calibri"/>
              </a:rPr>
              <a:t>Ensure the program continues running after handling exceptions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13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2207622"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13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Key Takeaways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Tuples are immutable and serve as valid dictionary keys</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Use items() method with tuple unpacking for efficient looping</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Never modify a dictionary while iterating over it directly</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Convert lists to tuples to avoid unhashable type errors</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Implement exception handling to manage missing or invalid keys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14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2377440"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14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References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2920" y="1625600"/>
            <a:ext cx="5500116" cy="465632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02920" y="1625600"/>
            <a:ext cx="50800" cy="465632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6600" y="1744472"/>
            <a:ext cx="5083556" cy="4418584"/>
          </a:xfrm>
          <a:prstGeom prst="rect">
            <a:avLst/>
          </a:prstGeom>
          <a:noFill/>
        </p:spPr>
        <p:txBody>
          <a:bodyPr wrap="square" lIns="0" rIns="0" tIns="0" bIns="0">
            <a:spAutoFit/>
          </a:bodyPr>
          <a:lstStyle/>
          <a:p>
            <a:pPr algn="l">
              <a:spcAft>
                <a:spcPts val="400"/>
              </a:spcAft>
            </a:pPr>
            <a:r>
              <a:rPr b="1" sz="1100">
                <a:solidFill>
                  <a:srgbClr val="C8102E"/>
                </a:solidFill>
                <a:latin typeface="Calibri"/>
              </a:rPr>
              <a:t>PYTHON</a:t>
            </a:r>
          </a:p>
          <a:p>
            <a:pPr algn="l">
              <a:lnSpc>
                <a:spcPct val="135000"/>
              </a:lnSpc>
            </a:pPr>
            <a:r>
              <a:rPr sz="1300">
                <a:solidFill>
                  <a:srgbClr val="1A1A1A"/>
                </a:solidFill>
                <a:latin typeface="Calibri"/>
              </a:rPr>
              <a:t>A Practical Learning Approach, 1st Edition — T.S. Murugesh, Shriram K. Vasudevan, Sini Raj Pulari</a:t>
            </a:r>
          </a:p>
        </p:txBody>
      </p:sp>
      <p:sp>
        <p:nvSpPr>
          <p:cNvPr id="16" name="Rectangle 15"/>
          <p:cNvSpPr/>
          <p:nvPr/>
        </p:nvSpPr>
        <p:spPr>
          <a:xfrm>
            <a:off x="6185916" y="1625600"/>
            <a:ext cx="5500116" cy="465632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185916" y="1625600"/>
            <a:ext cx="50800" cy="465632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19596" y="1744472"/>
            <a:ext cx="5083556" cy="4418584"/>
          </a:xfrm>
          <a:prstGeom prst="rect">
            <a:avLst/>
          </a:prstGeom>
          <a:noFill/>
        </p:spPr>
        <p:txBody>
          <a:bodyPr wrap="square" lIns="0" rIns="0" tIns="0" bIns="0">
            <a:spAutoFit/>
          </a:bodyPr>
          <a:lstStyle/>
          <a:p>
            <a:pPr algn="l">
              <a:lnSpc>
                <a:spcPct val="135000"/>
              </a:lnSpc>
            </a:pPr>
            <a:r>
              <a:rPr sz="1300">
                <a:solidFill>
                  <a:srgbClr val="1A1A1A"/>
                </a:solidFill>
                <a:latin typeface="Calibri"/>
              </a:rPr>
              <a:t>•  Learning Python, 6th Edition — Mark Lutz</a:t>
            </a:r>
          </a:p>
          <a:p>
            <a:pPr algn="l">
              <a:lnSpc>
                <a:spcPct val="135000"/>
              </a:lnSpc>
            </a:pPr>
            <a:r>
              <a:rPr sz="1300">
                <a:solidFill>
                  <a:srgbClr val="1A1A1A"/>
                </a:solidFill>
                <a:latin typeface="Calibri"/>
              </a:rPr>
              <a:t>•  Starting Out with Python, Global Edition, 6th Edition — Tony Gaddis</a:t>
            </a:r>
          </a:p>
          <a:p>
            <a:pPr algn="l">
              <a:lnSpc>
                <a:spcPct val="135000"/>
              </a:lnSpc>
            </a:pPr>
            <a:r>
              <a:rPr sz="1300">
                <a:solidFill>
                  <a:srgbClr val="1A1A1A"/>
                </a:solidFill>
                <a:latin typeface="Calibri"/>
              </a:rPr>
              <a:t>•  Introduction to Python Programming and Data Structures, 3rd Edition — Y. Daniel Liang</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Assignment; Tuples with dictionaries; Looping</dc:title>
  <dc:subject>AI-generated lecture — Chandigarh University</dc:subject>
  <dc:creator>CU AI Lesson Builder</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