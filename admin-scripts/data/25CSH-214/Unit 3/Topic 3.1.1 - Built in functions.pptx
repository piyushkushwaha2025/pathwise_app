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Python Programming. We are focusing on the chapter regarding Built in and user-defined functions. As Chandigarh University students, you are here to Discover, Learn, and Empower yourself with these essential coding skills.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supports our Course Outcomes. CO3 requires you to implement data structures efficiently, which built-in functions facilitate. CO4 focuses on analyzing and manipulating files and strings, a core strength of Python's built-in toolkit.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built-in functions and distinguish them from user-defined ones. We will apply common functions like len and type to real data. You will also analyze why using these pre-written tools is more efficient than writing code from scratch.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Built-in functions are pre-defined routines available directly in the Python interpreter. They reside in the built-in namespace, meaning you do not need to import any modules to use them. For instance, the print function is always available to display output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difference lies in origin and purpose. Built-in functions are provided by Python for general-purpose tasks like calculating absolute values. In contrast, user-defined functions are created by you to handle specific logic unique to your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type() function returns the data type of any given object, which is vital for debugging. For example, calling type(42) returns , confirming the data is an integer. The isinstance() function further checks if an object belongs to a specific class for validation.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operations are handled by functions like len() and range(). The len() function returns the number of items in a sequence, while range() generates numbers for loops. The sorted() function returns a new sorted list, eliminating the need for manual sorting logic.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Mathematical functions like abs() and round() are essential for numerical processing. The abs() function returns the absolute value, while round() handles standard rounding. For example, round(3.7) returns 4, providing immediate numerical results without importing external modules.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String manipulation is streamlined with functions like str(), upper(), and split(). The str() function converts other data types into string format. For instance, 'hello'.upper() returns 'HELLO', demonstrating how easily text case can be changed.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 handling relies on the open() function to create a file object. The read() method retrieves content, while write() stores data. These functions are fundamental for persistent storage, and you must always close files to prevent data corruption.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calculate the average of a list using built-in functions. For data [10, 20, 30, 40, 50], the sum is 150 and the count is 5. The average is 150 divided by 5, which equals 30.0. This is faster than writing a manual loop.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pitfall is overwriting built-in names like 'list' with your own variables. This breaks the original function. Another issue is ignoring return values; for example, sorted() creates a new list rather than modifying the original one in place.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built-in functions are pre-defined tools available without imports. They enhance code efficiency and reduce errors. Functions like len, type, and range are essential for data handling. Always distinguish between built-in functions and your own custom logic.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standard textbooks listed here. Mark Lutz's 'Learning Python' and Tony Gaddis's 'Starting Out with Python' are excellent resources. We also recommend works by Y. Daniel Liang and the team at Chandigarh University for practical approaches.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Built in functions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Python Programming | Built in function and user define function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Python Programming   |   Chapter: Built in function and user define function   |   Bachelor of Computer Science and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the syntax, control structures, and basic constructs of Python programming language</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functions, modules, and exception handling for modular program development</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data structures including lists, tuples, dictionaries, and sets for efficient data processing</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and manipulate files, strings, and perform data handling operations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Design and develop real-world applications integrating multiple Python concepts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built-in functions and their role in the Python standard library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built-in functions and user-defined functions clearly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common built-in functions like len, type, and range to data</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efficiency benefits of using built-in functions over custom code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appropriate built-in functions for specific data manipulation tasks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and Scope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Built-in functions are pre-defined routines available in the Python interpreter</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They reside in the built-in namespace and require no import statements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They provide essential operations for data types like strings, lists, and numbers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them reduces code redundancy and minimizes potential implementation errors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Examples include print, input, abs, and round for immediate data handling</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They form the foundation of the Python standard library for developers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Accessing them is immediate without needing external module dependencies</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Python Namespace &amp; Variable Scope Explained (+Code Examples)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Built-in vs User-defined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Built-in functions are provided by Python for general-purpose tasks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User-defined functions are created by the programmer for specific logic</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Built-in functions are optimized for performance and memory efficiency</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User-defined functions allow customization but require manual implementation effort</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Built-in functions handle edge cases like empty lists automatically</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Mixing both allows for modular and efficient program architecture design</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Built-in functions cannot be modified, ensuring consistent behavior across runs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bimstudies.com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Data Type Inspection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type(42) returns  for integer verification</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The type() function returns the data type of any given object</a:t>
            </a:r>
          </a:p>
          <a:p>
            <a:pPr algn="l">
              <a:lnSpc>
                <a:spcPct val="135000"/>
              </a:lnSpc>
            </a:pPr>
            <a:r>
              <a:rPr sz="1300">
                <a:solidFill>
                  <a:srgbClr val="1A1A1A"/>
                </a:solidFill>
                <a:latin typeface="Calibri"/>
              </a:rPr>
              <a:t>•  The isinstance() function checks if an object belongs to a class</a:t>
            </a:r>
          </a:p>
          <a:p>
            <a:pPr algn="l">
              <a:lnSpc>
                <a:spcPct val="135000"/>
              </a:lnSpc>
            </a:pPr>
            <a:r>
              <a:rPr sz="1300">
                <a:solidFill>
                  <a:srgbClr val="1A1A1A"/>
                </a:solidFill>
                <a:latin typeface="Calibri"/>
              </a:rPr>
              <a:t>•  These functions are critical for debugging and type validation logic</a:t>
            </a:r>
          </a:p>
          <a:p>
            <a:pPr algn="l">
              <a:lnSpc>
                <a:spcPct val="135000"/>
              </a:lnSpc>
            </a:pPr>
            <a:r>
              <a:rPr sz="1300">
                <a:solidFill>
                  <a:srgbClr val="1A1A1A"/>
                </a:solidFill>
                <a:latin typeface="Calibri"/>
              </a:rPr>
              <a:t>•  They prevent runtime errors by verifying data before processing operations</a:t>
            </a:r>
          </a:p>
          <a:p>
            <a:pPr algn="l">
              <a:lnSpc>
                <a:spcPct val="135000"/>
              </a:lnSpc>
            </a:pPr>
            <a:r>
              <a:rPr sz="1300">
                <a:solidFill>
                  <a:srgbClr val="1A1A1A"/>
                </a:solidFill>
                <a:latin typeface="Calibri"/>
              </a:rPr>
              <a:t>•  Use them to ensure inputs match expected data structures for safety</a:t>
            </a:r>
          </a:p>
          <a:p>
            <a:pPr algn="l">
              <a:lnSpc>
                <a:spcPct val="135000"/>
              </a:lnSpc>
            </a:pPr>
            <a:r>
              <a:rPr sz="1300">
                <a:solidFill>
                  <a:srgbClr val="1A1A1A"/>
                </a:solidFill>
                <a:latin typeface="Calibri"/>
              </a:rPr>
              <a:t>•  They help in dynamic programming where data types may vary</a:t>
            </a:r>
          </a:p>
        </p:txBody>
      </p:sp>
      <p:pic>
        <p:nvPicPr>
          <p:cNvPr id="19" name="Picture 18"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files.realpython.com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Sequence Operations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len() function returns the number of items in a sequence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range() function generates a sequence of numbers for loops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sorted() function returns a new sorted list from any iterable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reversed() function returns an iterator over a sequence in reverse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These functions handle lists, tuples, and strings uniformly and efficiently</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They eliminate the need for manual loop counters and sorting logic</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range() simplifies iteration over specific numeric intervals effectively</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d2cvjmix0699s1.cloudfront.net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Mathematical Functions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round(3.7) returns 4 for standard rounding behavior</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The abs() function returns the absolute value of a number</a:t>
            </a:r>
          </a:p>
          <a:p>
            <a:pPr algn="l">
              <a:lnSpc>
                <a:spcPct val="135000"/>
              </a:lnSpc>
            </a:pPr>
            <a:r>
              <a:rPr sz="1300">
                <a:solidFill>
                  <a:srgbClr val="1A1A1A"/>
                </a:solidFill>
                <a:latin typeface="Calibri"/>
              </a:rPr>
              <a:t>•  The round() function rounds a number to the nearest integer</a:t>
            </a:r>
          </a:p>
          <a:p>
            <a:pPr algn="l">
              <a:lnSpc>
                <a:spcPct val="135000"/>
              </a:lnSpc>
            </a:pPr>
            <a:r>
              <a:rPr sz="1300">
                <a:solidFill>
                  <a:srgbClr val="1A1A1A"/>
                </a:solidFill>
                <a:latin typeface="Calibri"/>
              </a:rPr>
              <a:t>•  The pow() function calculates the power of a base number</a:t>
            </a:r>
          </a:p>
          <a:p>
            <a:pPr algn="l">
              <a:lnSpc>
                <a:spcPct val="135000"/>
              </a:lnSpc>
            </a:pPr>
            <a:r>
              <a:rPr sz="1300">
                <a:solidFill>
                  <a:srgbClr val="1A1A1A"/>
                </a:solidFill>
                <a:latin typeface="Calibri"/>
              </a:rPr>
              <a:t>•  The min() and max() functions find the smallest and largest values</a:t>
            </a:r>
          </a:p>
          <a:p>
            <a:pPr algn="l">
              <a:lnSpc>
                <a:spcPct val="135000"/>
              </a:lnSpc>
            </a:pPr>
            <a:r>
              <a:rPr sz="1300">
                <a:solidFill>
                  <a:srgbClr val="1A1A1A"/>
                </a:solidFill>
                <a:latin typeface="Calibri"/>
              </a:rPr>
              <a:t>•  These functions operate on integers and floating-point numbers seamlessly</a:t>
            </a:r>
          </a:p>
          <a:p>
            <a:pPr algn="l">
              <a:lnSpc>
                <a:spcPct val="135000"/>
              </a:lnSpc>
            </a:pPr>
            <a:r>
              <a:rPr sz="1300">
                <a:solidFill>
                  <a:srgbClr val="1A1A1A"/>
                </a:solidFill>
                <a:latin typeface="Calibri"/>
              </a:rPr>
              <a:t>•  They provide optimized mathematical operations without importing math modules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String Manipulation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'hello'.upper() returns 'HELLO' for case conversion</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The str() function converts other data types into string format</a:t>
            </a:r>
          </a:p>
          <a:p>
            <a:pPr algn="l">
              <a:lnSpc>
                <a:spcPct val="135000"/>
              </a:lnSpc>
            </a:pPr>
            <a:r>
              <a:rPr sz="1300">
                <a:solidFill>
                  <a:srgbClr val="1A1A1A"/>
                </a:solidFill>
                <a:latin typeface="Calibri"/>
              </a:rPr>
              <a:t>•  The upper() and lower() functions change case of string characters</a:t>
            </a:r>
          </a:p>
          <a:p>
            <a:pPr algn="l">
              <a:lnSpc>
                <a:spcPct val="135000"/>
              </a:lnSpc>
            </a:pPr>
            <a:r>
              <a:rPr sz="1300">
                <a:solidFill>
                  <a:srgbClr val="1A1A1A"/>
                </a:solidFill>
                <a:latin typeface="Calibri"/>
              </a:rPr>
              <a:t>•  The split() function divides a string into a list of substrings</a:t>
            </a:r>
          </a:p>
          <a:p>
            <a:pPr algn="l">
              <a:lnSpc>
                <a:spcPct val="135000"/>
              </a:lnSpc>
            </a:pPr>
            <a:r>
              <a:rPr sz="1300">
                <a:solidFill>
                  <a:srgbClr val="1A1A1A"/>
                </a:solidFill>
                <a:latin typeface="Calibri"/>
              </a:rPr>
              <a:t>•  The join() function concatenates a list of strings into one string</a:t>
            </a:r>
          </a:p>
          <a:p>
            <a:pPr algn="l">
              <a:lnSpc>
                <a:spcPct val="135000"/>
              </a:lnSpc>
            </a:pPr>
            <a:r>
              <a:rPr sz="1300">
                <a:solidFill>
                  <a:srgbClr val="1A1A1A"/>
                </a:solidFill>
                <a:latin typeface="Calibri"/>
              </a:rPr>
              <a:t>•  These functions are optimized for text processing and data extraction</a:t>
            </a:r>
          </a:p>
          <a:p>
            <a:pPr algn="l">
              <a:lnSpc>
                <a:spcPct val="135000"/>
              </a:lnSpc>
            </a:pPr>
            <a:r>
              <a:rPr sz="1300">
                <a:solidFill>
                  <a:srgbClr val="1A1A1A"/>
                </a:solidFill>
                <a:latin typeface="Calibri"/>
              </a:rPr>
              <a:t>•  They handle encoding and decoding of text data automatically</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yardsale8.github.io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File Handling Basics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open() function creates a file object for reading or writing</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read() method reads the entire content of an open file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write() method writes data to an open file object</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close() method releases the system resources associated with the file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These functions are fundamental for persistent data storage and retrieval</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They support various modes like 'r', 'w', and 'a' for flexibility</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Always close files to prevent data loss or corruption issues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Worked Numerical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11183112"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10817352"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10817352" cy="548640"/>
          </a:xfrm>
          <a:prstGeom prst="rect">
            <a:avLst/>
          </a:prstGeom>
          <a:noFill/>
        </p:spPr>
        <p:txBody>
          <a:bodyPr wrap="square">
            <a:spAutoFit/>
          </a:bodyPr>
          <a:lstStyle/>
          <a:p>
            <a:pPr algn="ctr"/>
            <a:r>
              <a:rPr b="1" sz="1800">
                <a:solidFill>
                  <a:srgbClr val="1A1A1A"/>
                </a:solidFill>
                <a:latin typeface="Cambria Math"/>
              </a:rPr>
              <a:t>Average calculation: 150 / 5 = 30.0 using built-in math</a:t>
            </a:r>
          </a:p>
        </p:txBody>
      </p:sp>
      <p:sp>
        <p:nvSpPr>
          <p:cNvPr id="16" name="Rectangle 15"/>
          <p:cNvSpPr/>
          <p:nvPr/>
        </p:nvSpPr>
        <p:spPr>
          <a:xfrm>
            <a:off x="502920" y="2796032"/>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5083556"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a:t>
            </a:r>
          </a:p>
          <a:p>
            <a:pPr algn="l">
              <a:lnSpc>
                <a:spcPct val="135000"/>
              </a:lnSpc>
            </a:pPr>
            <a:r>
              <a:rPr sz="1300">
                <a:solidFill>
                  <a:srgbClr val="1A1A1A"/>
                </a:solidFill>
                <a:latin typeface="Calibri"/>
              </a:rPr>
              <a:t>[10, 20, 30, 40, 50] with sum equal to 150</a:t>
            </a:r>
          </a:p>
        </p:txBody>
      </p:sp>
      <p:sp>
        <p:nvSpPr>
          <p:cNvPr id="19" name="Rectangle 18"/>
          <p:cNvSpPr/>
          <p:nvPr/>
        </p:nvSpPr>
        <p:spPr>
          <a:xfrm>
            <a:off x="6185916" y="2796032"/>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5916"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596" y="2914904"/>
            <a:ext cx="5083556"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CODE</a:t>
            </a:r>
          </a:p>
          <a:p>
            <a:pPr algn="l">
              <a:lnSpc>
                <a:spcPct val="135000"/>
              </a:lnSpc>
            </a:pPr>
            <a:r>
              <a:rPr sz="1300">
                <a:solidFill>
                  <a:srgbClr val="1A1A1A"/>
                </a:solidFill>
                <a:latin typeface="Calibri"/>
              </a:rPr>
              <a:t>average = sum(data) / len(data) for efficiency</a:t>
            </a:r>
          </a:p>
        </p:txBody>
      </p:sp>
      <p:sp>
        <p:nvSpPr>
          <p:cNvPr id="22" name="Rectangle 21"/>
          <p:cNvSpPr/>
          <p:nvPr/>
        </p:nvSpPr>
        <p:spPr>
          <a:xfrm>
            <a:off x="502920" y="4630420"/>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5083556"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Calculate average of a list using sum() and len() functions</a:t>
            </a:r>
          </a:p>
          <a:p>
            <a:pPr algn="l">
              <a:lnSpc>
                <a:spcPct val="135000"/>
              </a:lnSpc>
            </a:pPr>
            <a:r>
              <a:rPr sz="1300">
                <a:solidFill>
                  <a:srgbClr val="1A1A1A"/>
                </a:solidFill>
                <a:latin typeface="Calibri"/>
              </a:rPr>
              <a:t>•  Total items count is 5 using the len() function</a:t>
            </a:r>
          </a:p>
          <a:p>
            <a:pPr algn="l">
              <a:lnSpc>
                <a:spcPct val="135000"/>
              </a:lnSpc>
            </a:pPr>
            <a:r>
              <a:rPr sz="1300">
                <a:solidFill>
                  <a:srgbClr val="1A1A1A"/>
                </a:solidFill>
                <a:latin typeface="Calibri"/>
              </a:rPr>
              <a:t>•  This approach is faster than writing a manual loop for sum</a:t>
            </a:r>
          </a:p>
          <a:p>
            <a:pPr algn="l">
              <a:lnSpc>
                <a:spcPct val="135000"/>
              </a:lnSpc>
            </a:pPr>
            <a:r>
              <a:rPr sz="1300">
                <a:solidFill>
                  <a:srgbClr val="1A1A1A"/>
                </a:solidFill>
                <a:latin typeface="Calibri"/>
              </a:rPr>
              <a:t>•  Result demonstrates the power of combining multiple built-in functions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Calling a built-in function with a variable of the same name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Overwriting built-in names like 'list' or 'str' with variables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return values when functions like sorted() create new lists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mutable default arguments in user-defined function definitions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all built-in functions return the same data type always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Forgetting to close files after opening them in a script</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Misunderstanding the difference between in-place and return operations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Built-in functions are pre-defined tools available without imports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They enhance code efficiency and reduce implementation errors significantly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Functions like len, type, and range are essential for data handling</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Distinguish between built-in functions and user-defined custom logic</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Always verify return types to avoid unexpected data structure issues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PYTHON</a:t>
            </a:r>
          </a:p>
          <a:p>
            <a:pPr algn="l">
              <a:lnSpc>
                <a:spcPct val="135000"/>
              </a:lnSpc>
            </a:pPr>
            <a:r>
              <a:rPr sz="1300">
                <a:solidFill>
                  <a:srgbClr val="1A1A1A"/>
                </a:solidFill>
                <a:latin typeface="Calibri"/>
              </a:rPr>
              <a:t>A Practical Learning Approach, 1st Edition — T.S. Murugesh, Shriram K. Vasudevan, Sini Raj Pulari</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Learning Python, 6th Edition — Mark Lutz</a:t>
            </a:r>
          </a:p>
          <a:p>
            <a:pPr algn="l">
              <a:lnSpc>
                <a:spcPct val="135000"/>
              </a:lnSpc>
            </a:pPr>
            <a:r>
              <a:rPr sz="1300">
                <a:solidFill>
                  <a:srgbClr val="1A1A1A"/>
                </a:solidFill>
                <a:latin typeface="Calibri"/>
              </a:rPr>
              <a:t>•  Starting Out with Python, Global Edition, 6th Edition — Tony Gaddis</a:t>
            </a:r>
          </a:p>
          <a:p>
            <a:pPr algn="l">
              <a:lnSpc>
                <a:spcPct val="135000"/>
              </a:lnSpc>
            </a:pPr>
            <a:r>
              <a:rPr sz="1300">
                <a:solidFill>
                  <a:srgbClr val="1A1A1A"/>
                </a:solidFill>
                <a:latin typeface="Calibri"/>
              </a:rPr>
              <a:t>•  Introduction to Python Programming and Data Structures, 3rd Edition — Y. Daniel Liang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Built in functions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