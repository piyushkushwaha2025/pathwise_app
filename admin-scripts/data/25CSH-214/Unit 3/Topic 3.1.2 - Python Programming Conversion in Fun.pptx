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Programming. We are focusing specifically on the topic of Conversion within the context of built-in and user-defined functions. This session is designed for our Bachelor of Engineering students to master data type manipulation. Remember, our motto is Discover. Learn. Empower, and today we will empower you with conversion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CO3 requires you to implement data structures efficiently, which relies heavily on correct data type conversions. Second, CO4 focuses on analyzing and manipulating strings and files, where conversion is a fundamental prerequisite for data handling. Mastering these outcomes ensures you can process complex data without errors.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why Python requires specific types for operations. You will evaluate the distinct behaviors of implicit versus explicit conversion. We will apply built-in functions to transform data types and design your own functions for custom needs. Finally, you will identify and avoid common errors that occur during these processes.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Implicit conversion happens automatically when Python detects a potential loss of precision. For instance, adding an integer 5 to a float 2.5 results in 7.5 without you writing any code. The interpreter promotes the integer to a float to maintain accuracy. This is crucial for preventing data loss in your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automatic conversion isn't enough, you must use explicit conversion. You manually call functions like int() or float() to force a change. For example, converting the float 3.9 to an integer results in 3, effectively truncating the decimal part. This gives you precise control over how data is stored and processed.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provides a suite of built-in functions for converting data types. The int() function truncates decimals, while float() adds decimal points. The str() function is essential for displaying data, and bool() determines truthiness. Collection converters like list() and tuple() allow you to reshape data structures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Converting strings to numbers is common but requires care. A string like '123' converts cleanly to the integer 123. However, '12.5' cannot be converted directly to an integer; it must first become a float. If the string contains letters, Python raises a ValueError. Always validate your input strings to ensure they contain valid numeric characters.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need to display numbers or write them to files, you must convert them to strings. The str() function handles this seamlessly. For example, the integer 42 becomes the string '42', which can be concatenated with other text. This is vital for formatting output and handling file I/O operations.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practical calculation. We have a price of 19.99 and a quantity of 5. We convert the quantity to a float to ensure precision in multiplication. The subtotal becomes 99.95, and the tax is 7.996. Finally, we round and convert the tax to a string for display. This shows how conversion functions manage mixed types in real-world logic.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built-in functions, you can write your own conversion logic. For instance, a function to parse currency strings removes the dollar sign before converting to a float. This encapsulates complex rules and makes your code reusable. By defining these functions, you abstract the details and improve the readability of your programs.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pitfalls to avoid when converting types. Converting a float to an integer truncates the decimal, which can be dangerous in financial calculations. Non-numeric strings cause ValueErrors, and empty strings are also invalid. Boolean conversion is case-sensitive, so 'true' will fail. Always use error handling to manage these potential issues gracefully.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Conversion is vital for manipulating data structures. Converting a list to a set removes duplicates, which is useful for data cleaning. Converting to a tuple makes the data immutable, ensuring safety. These transformations optimize memory and ensure data integrity. Mastering these conversions is essential for efficient data processing in your programs.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implicit conversion handles simple cases automatically, but explicit conversion gives you control. Remember that string to number conversion requires valid characters. You can create user-defined functions for complex needs. Finally, always handle potential errors to ensure your program runs smoothly.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four textbooks listed on this slide. Mark Lutz's 'Learning Python' offers deep insights into the language. Tony Gaddis provides excellent introductory material. Y. Daniel Liang's book covers data structures well, and the text by Murugesh et al. offers a practical approach. These resources will support your continued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Python Programming: Conversion in Functions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Built in function and user define function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Built in function and user define function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necessity of type conversion in mixed-type arithmetic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differences between implicit and explicit conversion mechanisms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built-in conversion functions like int(), float(), and str() correctly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user-defined functions to handle custom data type transformations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runtime errors caused by improper conversion attempts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Implicit Type Conversion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 + 2.5 results in 7.5 automatically without user intervention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Python automatically converts smaller data types to larger ones during operations</a:t>
            </a:r>
          </a:p>
          <a:p>
            <a:pPr algn="l">
              <a:lnSpc>
                <a:spcPct val="135000"/>
              </a:lnSpc>
            </a:pPr>
            <a:r>
              <a:rPr sz="1300">
                <a:solidFill>
                  <a:srgbClr val="1A1A1A"/>
                </a:solidFill>
                <a:latin typeface="Calibri"/>
              </a:rPr>
              <a:t>•  Integer addition with float results in a float without explicit code</a:t>
            </a:r>
          </a:p>
          <a:p>
            <a:pPr algn="l">
              <a:lnSpc>
                <a:spcPct val="135000"/>
              </a:lnSpc>
            </a:pPr>
            <a:r>
              <a:rPr sz="1300">
                <a:solidFill>
                  <a:srgbClr val="1A1A1A"/>
                </a:solidFill>
                <a:latin typeface="Calibri"/>
              </a:rPr>
              <a:t>•  This process prevents data loss during arithmetic calculations between types</a:t>
            </a:r>
          </a:p>
          <a:p>
            <a:pPr algn="l">
              <a:lnSpc>
                <a:spcPct val="135000"/>
              </a:lnSpc>
            </a:pPr>
            <a:r>
              <a:rPr sz="1300">
                <a:solidFill>
                  <a:srgbClr val="1A1A1A"/>
                </a:solidFill>
                <a:latin typeface="Calibri"/>
              </a:rPr>
              <a:t>•  The interpreter handles the conversion silently before the operation executes</a:t>
            </a:r>
          </a:p>
          <a:p>
            <a:pPr algn="l">
              <a:lnSpc>
                <a:spcPct val="135000"/>
              </a:lnSpc>
            </a:pPr>
            <a:r>
              <a:rPr sz="1300">
                <a:solidFill>
                  <a:srgbClr val="1A1A1A"/>
                </a:solidFill>
                <a:latin typeface="Calibri"/>
              </a:rPr>
              <a:t>•  Implicit conversion ensures type safety in mixed arithmetic expressions</a:t>
            </a:r>
          </a:p>
          <a:p>
            <a:pPr algn="l">
              <a:lnSpc>
                <a:spcPct val="135000"/>
              </a:lnSpc>
            </a:pPr>
            <a:r>
              <a:rPr sz="1300">
                <a:solidFill>
                  <a:srgbClr val="1A1A1A"/>
                </a:solidFill>
                <a:latin typeface="Calibri"/>
              </a:rPr>
              <a:t>•  No function call is required for the interpreter to perform this task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Explicit Type Conversion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int(3.9) converts the float 3.9 to the integer 3 by truncation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Explicit conversion requires the programmer to manually specify the target type</a:t>
            </a:r>
          </a:p>
          <a:p>
            <a:pPr algn="l">
              <a:lnSpc>
                <a:spcPct val="135000"/>
              </a:lnSpc>
            </a:pPr>
            <a:r>
              <a:rPr sz="1300">
                <a:solidFill>
                  <a:srgbClr val="1A1A1A"/>
                </a:solidFill>
                <a:latin typeface="Calibri"/>
              </a:rPr>
              <a:t>•  Functions like int(), float(), and str() force a specific data type change</a:t>
            </a:r>
          </a:p>
          <a:p>
            <a:pPr algn="l">
              <a:lnSpc>
                <a:spcPct val="135000"/>
              </a:lnSpc>
            </a:pPr>
            <a:r>
              <a:rPr sz="1300">
                <a:solidFill>
                  <a:srgbClr val="1A1A1A"/>
                </a:solidFill>
                <a:latin typeface="Calibri"/>
              </a:rPr>
              <a:t>•  This method is necessary when implicit conversion is not possible or desired</a:t>
            </a:r>
          </a:p>
          <a:p>
            <a:pPr algn="l">
              <a:lnSpc>
                <a:spcPct val="135000"/>
              </a:lnSpc>
            </a:pPr>
            <a:r>
              <a:rPr sz="1300">
                <a:solidFill>
                  <a:srgbClr val="1A1A1A"/>
                </a:solidFill>
                <a:latin typeface="Calibri"/>
              </a:rPr>
              <a:t>•  Using explicit conversion makes the code intent clear to other developers</a:t>
            </a:r>
          </a:p>
          <a:p>
            <a:pPr algn="l">
              <a:lnSpc>
                <a:spcPct val="135000"/>
              </a:lnSpc>
            </a:pPr>
            <a:r>
              <a:rPr sz="1300">
                <a:solidFill>
                  <a:srgbClr val="1A1A1A"/>
                </a:solidFill>
                <a:latin typeface="Calibri"/>
              </a:rPr>
              <a:t>•  Explicit conversion allows precise control over data representation in memory</a:t>
            </a:r>
          </a:p>
          <a:p>
            <a:pPr algn="l">
              <a:lnSpc>
                <a:spcPct val="135000"/>
              </a:lnSpc>
            </a:pPr>
            <a:r>
              <a:rPr sz="1300">
                <a:solidFill>
                  <a:srgbClr val="1A1A1A"/>
                </a:solidFill>
                <a:latin typeface="Calibri"/>
              </a:rPr>
              <a:t>•  It prevents unexpected type errors in user-defined function arguments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Conversion Functions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 converts strings or floats to integer values by truncating decimals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float() converts integers or strings into floating-point numbers with decimals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str() converts any data type into a string representation for display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bool() converts values to True or False based on their truthiness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 tuple(), and set() convert iterables into specific collection types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function returns a new object of the target type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functions are built-in and available without importing any modules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String to Number Conversion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int('123') successfully returns the integer 123</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Converting a numeric string to int requires the string to contain only digits</a:t>
            </a:r>
          </a:p>
          <a:p>
            <a:pPr algn="l">
              <a:lnSpc>
                <a:spcPct val="135000"/>
              </a:lnSpc>
            </a:pPr>
            <a:r>
              <a:rPr sz="1300">
                <a:solidFill>
                  <a:srgbClr val="1A1A1A"/>
                </a:solidFill>
                <a:latin typeface="Calibri"/>
              </a:rPr>
              <a:t>•  Leading or trailing whitespace is automatically stripped before conversion</a:t>
            </a:r>
          </a:p>
          <a:p>
            <a:pPr algn="l">
              <a:lnSpc>
                <a:spcPct val="135000"/>
              </a:lnSpc>
            </a:pPr>
            <a:r>
              <a:rPr sz="1300">
                <a:solidFill>
                  <a:srgbClr val="1A1A1A"/>
                </a:solidFill>
                <a:latin typeface="Calibri"/>
              </a:rPr>
              <a:t>•  Converting '12.5' to int fails because the string represents a float</a:t>
            </a:r>
          </a:p>
          <a:p>
            <a:pPr algn="l">
              <a:lnSpc>
                <a:spcPct val="135000"/>
              </a:lnSpc>
            </a:pPr>
            <a:r>
              <a:rPr sz="1300">
                <a:solidFill>
                  <a:srgbClr val="1A1A1A"/>
                </a:solidFill>
                <a:latin typeface="Calibri"/>
              </a:rPr>
              <a:t>•  You must convert to float first if the string contains a decimal point</a:t>
            </a:r>
          </a:p>
          <a:p>
            <a:pPr algn="l">
              <a:lnSpc>
                <a:spcPct val="135000"/>
              </a:lnSpc>
            </a:pPr>
            <a:r>
              <a:rPr sz="1300">
                <a:solidFill>
                  <a:srgbClr val="1A1A1A"/>
                </a:solidFill>
                <a:latin typeface="Calibri"/>
              </a:rPr>
              <a:t>•  Invalid characters like letters cause a ValueError exception during conversion</a:t>
            </a:r>
          </a:p>
          <a:p>
            <a:pPr algn="l">
              <a:lnSpc>
                <a:spcPct val="135000"/>
              </a:lnSpc>
            </a:pPr>
            <a:r>
              <a:rPr sz="1300">
                <a:solidFill>
                  <a:srgbClr val="1A1A1A"/>
                </a:solidFill>
                <a:latin typeface="Calibri"/>
              </a:rPr>
              <a:t>•  Always validate string content before attempting numeric conversion in functions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discussion.forum.ircam.fr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Number to String Conversion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str(42) results in the string '42' ready for concatenation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Converting numbers to strings is essential for file writing and display</a:t>
            </a:r>
          </a:p>
          <a:p>
            <a:pPr algn="l">
              <a:lnSpc>
                <a:spcPct val="135000"/>
              </a:lnSpc>
            </a:pPr>
            <a:r>
              <a:rPr sz="1300">
                <a:solidFill>
                  <a:srgbClr val="1A1A1A"/>
                </a:solidFill>
                <a:latin typeface="Calibri"/>
              </a:rPr>
              <a:t>•  The str() function converts any number to its textual representation</a:t>
            </a:r>
          </a:p>
          <a:p>
            <a:pPr algn="l">
              <a:lnSpc>
                <a:spcPct val="135000"/>
              </a:lnSpc>
            </a:pPr>
            <a:r>
              <a:rPr sz="1300">
                <a:solidFill>
                  <a:srgbClr val="1A1A1A"/>
                </a:solidFill>
                <a:latin typeface="Calibri"/>
              </a:rPr>
              <a:t>•  Floating point numbers retain their decimal representation in the string</a:t>
            </a:r>
          </a:p>
          <a:p>
            <a:pPr algn="l">
              <a:lnSpc>
                <a:spcPct val="135000"/>
              </a:lnSpc>
            </a:pPr>
            <a:r>
              <a:rPr sz="1300">
                <a:solidFill>
                  <a:srgbClr val="1A1A1A"/>
                </a:solidFill>
                <a:latin typeface="Calibri"/>
              </a:rPr>
              <a:t>•  This conversion allows mixing numbers with text in print statements</a:t>
            </a:r>
          </a:p>
          <a:p>
            <a:pPr algn="l">
              <a:lnSpc>
                <a:spcPct val="135000"/>
              </a:lnSpc>
            </a:pPr>
            <a:r>
              <a:rPr sz="1300">
                <a:solidFill>
                  <a:srgbClr val="1A1A1A"/>
                </a:solidFill>
                <a:latin typeface="Calibri"/>
              </a:rPr>
              <a:t>•  It is required when writing numeric data to text files</a:t>
            </a:r>
          </a:p>
          <a:p>
            <a:pPr algn="l">
              <a:lnSpc>
                <a:spcPct val="135000"/>
              </a:lnSpc>
            </a:pPr>
            <a:r>
              <a:rPr sz="1300">
                <a:solidFill>
                  <a:srgbClr val="1A1A1A"/>
                </a:solidFill>
                <a:latin typeface="Calibri"/>
              </a:rPr>
              <a:t>•  The resulting string can be manipulated using string methods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Calculate total price: price = 19.99, quantity = 5, tax_rate = 0.08</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CONVERT QUANTITY TO FLOAT</a:t>
            </a:r>
          </a:p>
          <a:p>
            <a:pPr algn="l">
              <a:lnSpc>
                <a:spcPct val="135000"/>
              </a:lnSpc>
            </a:pPr>
            <a:r>
              <a:rPr sz="1300">
                <a:solidFill>
                  <a:srgbClr val="1A1A1A"/>
                </a:solidFill>
                <a:latin typeface="Calibri"/>
              </a:rPr>
              <a:t>float_qty = float('5') to ensure precision</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CALCULATE SUBTOTAL</a:t>
            </a:r>
          </a:p>
          <a:p>
            <a:pPr algn="l">
              <a:lnSpc>
                <a:spcPct val="135000"/>
              </a:lnSpc>
            </a:pPr>
            <a:r>
              <a:rPr sz="1300">
                <a:solidFill>
                  <a:srgbClr val="1A1A1A"/>
                </a:solidFill>
                <a:latin typeface="Calibri"/>
              </a:rPr>
              <a:t>subtotal = price × float_qty resulting in 99.95</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CALCULATE TAX</a:t>
            </a:r>
          </a:p>
          <a:p>
            <a:pPr algn="l">
              <a:lnSpc>
                <a:spcPct val="135000"/>
              </a:lnSpc>
            </a:pPr>
            <a:r>
              <a:rPr sz="1300">
                <a:solidFill>
                  <a:srgbClr val="1A1A1A"/>
                </a:solidFill>
                <a:latin typeface="Calibri"/>
              </a:rPr>
              <a:t>tax = subtotal × tax_rate resulting in 7.996</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CONVERT TAX TO STRING FOR DISPLAY</a:t>
            </a:r>
          </a:p>
          <a:p>
            <a:pPr algn="l">
              <a:lnSpc>
                <a:spcPct val="135000"/>
              </a:lnSpc>
            </a:pPr>
            <a:r>
              <a:rPr sz="1300">
                <a:solidFill>
                  <a:srgbClr val="1A1A1A"/>
                </a:solidFill>
                <a:latin typeface="Calibri"/>
              </a:rPr>
              <a:t>str_tax = str(round(tax, 2))</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OUTPUT</a:t>
            </a:r>
          </a:p>
          <a:p>
            <a:pPr algn="l">
              <a:lnSpc>
                <a:spcPct val="135000"/>
              </a:lnSpc>
            </a:pPr>
            <a:r>
              <a:rPr sz="1300">
                <a:solidFill>
                  <a:srgbClr val="1A1A1A"/>
                </a:solidFill>
                <a:latin typeface="Calibri"/>
              </a:rPr>
              <a:t>'Total with tax: 107.95' using string concatenation</a:t>
            </a:r>
          </a:p>
        </p:txBody>
      </p:sp>
      <p:sp>
        <p:nvSpPr>
          <p:cNvPr id="31" name="Rectangle 30"/>
          <p:cNvSpPr/>
          <p:nvPr/>
        </p:nvSpPr>
        <p:spPr>
          <a:xfrm>
            <a:off x="3669715"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9715"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03395" y="5360754"/>
            <a:ext cx="2567355"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This sequence demonstrates mixed type handling in a real scenario</a:t>
            </a:r>
          </a:p>
        </p:txBody>
      </p:sp>
      <p:pic>
        <p:nvPicPr>
          <p:cNvPr id="34" name="Picture 3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5" name="TextBox 3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www.invensislearning.com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User-Defined Conversion Functions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def parse_price(s): return float(s.replace('$', ''))</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You can create custom functions to handle specific conversion logic</a:t>
            </a:r>
          </a:p>
          <a:p>
            <a:pPr algn="l">
              <a:lnSpc>
                <a:spcPct val="135000"/>
              </a:lnSpc>
            </a:pPr>
            <a:r>
              <a:rPr sz="1300">
                <a:solidFill>
                  <a:srgbClr val="1A1A1A"/>
                </a:solidFill>
                <a:latin typeface="Calibri"/>
              </a:rPr>
              <a:t>•  Define a function that accepts a string and returns a formatted number</a:t>
            </a:r>
          </a:p>
          <a:p>
            <a:pPr algn="l">
              <a:lnSpc>
                <a:spcPct val="135000"/>
              </a:lnSpc>
            </a:pPr>
            <a:r>
              <a:rPr sz="1300">
                <a:solidFill>
                  <a:srgbClr val="1A1A1A"/>
                </a:solidFill>
                <a:latin typeface="Calibri"/>
              </a:rPr>
              <a:t>•  This allows handling currency symbols before numeric conversion</a:t>
            </a:r>
          </a:p>
          <a:p>
            <a:pPr algn="l">
              <a:lnSpc>
                <a:spcPct val="135000"/>
              </a:lnSpc>
            </a:pPr>
            <a:r>
              <a:rPr sz="1300">
                <a:solidFill>
                  <a:srgbClr val="1A1A1A"/>
                </a:solidFill>
                <a:latin typeface="Calibri"/>
              </a:rPr>
              <a:t>•  User-defined functions encapsulate complex conversion rules for reuse</a:t>
            </a:r>
          </a:p>
          <a:p>
            <a:pPr algn="l">
              <a:lnSpc>
                <a:spcPct val="135000"/>
              </a:lnSpc>
            </a:pPr>
            <a:r>
              <a:rPr sz="1300">
                <a:solidFill>
                  <a:srgbClr val="1A1A1A"/>
                </a:solidFill>
                <a:latin typeface="Calibri"/>
              </a:rPr>
              <a:t>•  They improve code readability by abstracting conversion details</a:t>
            </a:r>
          </a:p>
          <a:p>
            <a:pPr algn="l">
              <a:lnSpc>
                <a:spcPct val="135000"/>
              </a:lnSpc>
            </a:pPr>
            <a:r>
              <a:rPr sz="1300">
                <a:solidFill>
                  <a:srgbClr val="1A1A1A"/>
                </a:solidFill>
                <a:latin typeface="Calibri"/>
              </a:rPr>
              <a:t>•  These functions can include error handling for invalid inputs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CASE SENSITIVITY IN BOOLEAN CONVERSION</a:t>
            </a:r>
          </a:p>
          <a:p>
            <a:pPr algn="l">
              <a:lnSpc>
                <a:spcPct val="135000"/>
              </a:lnSpc>
            </a:pPr>
            <a:r>
              <a:rPr sz="1300">
                <a:solidFill>
                  <a:srgbClr val="1A1A1A"/>
                </a:solidFill>
                <a:latin typeface="Calibri"/>
              </a:rPr>
              <a:t>'True' works but 'true' fails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Attempting to convert non-numeric strings to numbers raises ValueError</a:t>
            </a:r>
          </a:p>
          <a:p>
            <a:pPr algn="l">
              <a:lnSpc>
                <a:spcPct val="135000"/>
              </a:lnSpc>
            </a:pPr>
            <a:r>
              <a:rPr sz="1300">
                <a:solidFill>
                  <a:srgbClr val="1A1A1A"/>
                </a:solidFill>
                <a:latin typeface="Calibri"/>
              </a:rPr>
              <a:t>•  Converting a float to int truncates the decimal part without rounding</a:t>
            </a:r>
          </a:p>
          <a:p>
            <a:pPr algn="l">
              <a:lnSpc>
                <a:spcPct val="135000"/>
              </a:lnSpc>
            </a:pPr>
            <a:r>
              <a:rPr sz="1300">
                <a:solidFill>
                  <a:srgbClr val="1A1A1A"/>
                </a:solidFill>
                <a:latin typeface="Calibri"/>
              </a:rPr>
              <a:t>•  Implicit conversion fails when types are incompatible like list and int</a:t>
            </a:r>
          </a:p>
          <a:p>
            <a:pPr algn="l">
              <a:lnSpc>
                <a:spcPct val="135000"/>
              </a:lnSpc>
            </a:pPr>
            <a:r>
              <a:rPr sz="1300">
                <a:solidFill>
                  <a:srgbClr val="1A1A1A"/>
                </a:solidFill>
                <a:latin typeface="Calibri"/>
              </a:rPr>
              <a:t>•  Empty strings cannot be converted to numbers and cause exceptions</a:t>
            </a:r>
          </a:p>
          <a:p>
            <a:pPr algn="l">
              <a:lnSpc>
                <a:spcPct val="135000"/>
              </a:lnSpc>
            </a:pPr>
            <a:r>
              <a:rPr sz="1300">
                <a:solidFill>
                  <a:srgbClr val="1A1A1A"/>
                </a:solidFill>
                <a:latin typeface="Calibri"/>
              </a:rPr>
              <a:t>•  Always use try-except blocks to handle potential conversion failures</a:t>
            </a:r>
          </a:p>
          <a:p>
            <a:pPr algn="l">
              <a:lnSpc>
                <a:spcPct val="135000"/>
              </a:lnSpc>
            </a:pPr>
            <a:r>
              <a:rPr sz="1300">
                <a:solidFill>
                  <a:srgbClr val="1A1A1A"/>
                </a:solidFill>
                <a:latin typeface="Calibri"/>
              </a:rPr>
              <a:t>•  Understanding data loss during truncation is critical for financial apps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Conversion in Data Structures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set([1, 2, 2, 3]) results in {1, 2, 3} removing duplicates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Converting lists to tuples creates immutable data structures for safety</a:t>
            </a:r>
          </a:p>
          <a:p>
            <a:pPr algn="l">
              <a:lnSpc>
                <a:spcPct val="135000"/>
              </a:lnSpc>
            </a:pPr>
            <a:r>
              <a:rPr sz="1300">
                <a:solidFill>
                  <a:srgbClr val="1A1A1A"/>
                </a:solidFill>
                <a:latin typeface="Calibri"/>
              </a:rPr>
              <a:t>•  Set conversion removes duplicate elements from a list automatically</a:t>
            </a:r>
          </a:p>
          <a:p>
            <a:pPr algn="l">
              <a:lnSpc>
                <a:spcPct val="135000"/>
              </a:lnSpc>
            </a:pPr>
            <a:r>
              <a:rPr sz="1300">
                <a:solidFill>
                  <a:srgbClr val="1A1A1A"/>
                </a:solidFill>
                <a:latin typeface="Calibri"/>
              </a:rPr>
              <a:t>•  Dictionary conversion requires pairs of keys and values to be valid</a:t>
            </a:r>
          </a:p>
          <a:p>
            <a:pPr algn="l">
              <a:lnSpc>
                <a:spcPct val="135000"/>
              </a:lnSpc>
            </a:pPr>
            <a:r>
              <a:rPr sz="1300">
                <a:solidFill>
                  <a:srgbClr val="1A1A1A"/>
                </a:solidFill>
                <a:latin typeface="Calibri"/>
              </a:rPr>
              <a:t>•  Nested structures require recursive conversion logic for full transformation</a:t>
            </a:r>
          </a:p>
          <a:p>
            <a:pPr algn="l">
              <a:lnSpc>
                <a:spcPct val="135000"/>
              </a:lnSpc>
            </a:pPr>
            <a:r>
              <a:rPr sz="1300">
                <a:solidFill>
                  <a:srgbClr val="1A1A1A"/>
                </a:solidFill>
                <a:latin typeface="Calibri"/>
              </a:rPr>
              <a:t>•  These conversions optimize memory usage and data integrity in processing</a:t>
            </a:r>
          </a:p>
          <a:p>
            <a:pPr algn="l">
              <a:lnSpc>
                <a:spcPct val="135000"/>
              </a:lnSpc>
            </a:pPr>
            <a:r>
              <a:rPr sz="1300">
                <a:solidFill>
                  <a:srgbClr val="1A1A1A"/>
                </a:solidFill>
                <a:latin typeface="Calibri"/>
              </a:rPr>
              <a:t>•  Understanding these transformations is key to efficient data handling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Implicit conversion handles simple type promotion automatically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Explicit conversion using functions like int() and str() is mandatory for control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 to number conversion requires valid numeric characters only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User-defined functions allow custom logic for complex conversion needs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handle potential ValueError exceptions during type conversion operations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Conversion in Functions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