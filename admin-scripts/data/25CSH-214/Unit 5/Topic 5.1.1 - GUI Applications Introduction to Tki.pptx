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today's lecture on building Graphical User Interfaces in Python. We will focus specifically on the Tkinter module, which is the standard library for creating desktop applications. By the end of this session, you will understand how to construct the foundational elements of any GUI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directly addresses our Course Outcomes. CO1 is met as we apply Python syntax and control structures to instantiate GUI objects. CO4 is relevant because GUI applications often serve as the interface for manipulating and displaying data from files and strings.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goal is to move beyond simple scripts to building interactive applications. You will learn to analyze why Tkinter is essential and evaluate how the root window acts as the backbone of your interface. We will construct and differentiate between the main window and internal frames.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Tkinter as the bridge between your Python code and the operating system's graphical capabilities. It is event-driven, meaning the program waits for user actions like clicks or key presses. For example, a button click triggers a specific function, unlike linear scripts that run from top to bottom.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root window is the foundation of your GUI. You create it using the Tk() constructor, and it acts as the parent for everything else. Without the root window, there is no application. Remember, calling root.mainloop() starts the event loop that keeps the window open and responsive.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the root window is the main container, frames are the internal organizers. Imagine a frame as a box within the main window where you place specific controls. This modularity makes your code cleaner and your interface easier to manage. You can nest frames inside frames to create complex, multi-layered layouts.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pack manager is like stacking boxes on a shelf. You tell it to place a button at the top, and it does so automatically. For example, if you pack a label with side=TOP, it sits at the top of the frame. It is ideal for simple vertical or horizontal arrangements.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place manager gives you pixel-perfect control. You specify exactly where a widget goes, like placing a button at x=100 and y=50. However, this rigidity means your layout might break if the user resizes the window. Use it sparingly for elements that must stay in a fixed spot.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grid manager is like a spreadsheet. You place a label in row 0, column 0, and an entry box in row 0, column 1. It is perfect for login forms where you need strict alignment. Unlike pack, it handles resizing gracefully by expanding columns as the window grows.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concrete example. We create a root window and set its title to 'My First App'. We then create a frame with a light blue background. Inside that frame, we place a label. Finally, we pack the frame into the root and start the main loop. This sequence creates a visible, interactive window.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create a split-screen layout. We define two frames and place different widgets in each. By using the grid manager, we place the left frame in column 0 and the right frame in column 1. This allows us to organize complex interfaces where different sections have distinct functions.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common mistakes students make. Never mix pack and grid in the same container; it will crash your app. Always remember to call mainloop() at the end of your script. Also, avoid creating multiple root windows, as Tkinter expects exactly one main window per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Tkinter is your tool for building interfaces. The root window is the foundation, and frames help you organize your content. Remember that geometry managers dictate how your widgets are arranged. Finally, always keep the event loop running to ensure your application remains responsive.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I recommend the textbooks listed here. Mark Lutz's 'Learning Python' offers deep insights into the language. Tony Gaddis provides excellent practical examples. Y. Daniel Liang's book covers data structures well, and the book by Murugesh et al. offers a practical approach to Python programming.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2600">
                <a:solidFill>
                  <a:srgbClr val="1A1A2E"/>
                </a:solidFill>
                <a:latin typeface="Calibri"/>
              </a:rPr>
              <a:t>GUI Applications: Introduction to Tkinter module; Creating windows and frames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Python Programming | GUI Applications</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Python Programming   |   Chapter: GUI Applications   |   Bachelor of Computer Science and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the syntax, control structures, and basic constructs of Python programming language</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functions, modules, and exception handling for modular program development</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data structures including lists, tuples, dictionaries, and sets for efficient data processing</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and manipulate files, strings, and perform data handling operations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Design and develop real-world applications integrating multiple Python concepts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role of the Tkinter module as the standard GUI toolkit for Python.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necessity of the root window as the primary container for all widgets.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 a functional application window using the Tk() class and geometry managers.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the root window and frame containers for organizing complex layouts.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Synthesize a basic GUI structure that integrates windows and frames effectively.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Introduction to Tkinter Module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Tkinter is the standard Python interface to the Tk GUI toolkit.</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provides a set of widgets like buttons, labels, and entry fields.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module is included in the standard Python distribution by default.</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Tkinter uses an event-driven programming model for user interactions.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supports cross-platform compatibility across Windows, macOS, and Linux.</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Widgets are organized hierarchically within parent containers called windows or frames.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module name is 'tkinter' in Python 3 and 'Tkinter' in Python 2.</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TkDocs Tutorial - Tk Concepts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The Root Window Concept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root window is the main application window created by the Tk() class.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serves as the parent container for all other widgets in the application.</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Only one root window can exist per application instance at a time.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root window manages the main event loop via the mainloop() method.</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Properties like title and geometry are set directly on the root object.</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Destroying the root window terminates the entire GUI application immediately.</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root window handles system-level events like minimizing or closing the app.</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Ex: Multi-Screen Strategy Demo – wikiPython (source: www.wikipython.com)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Creating Windows and Frames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Frames are rectangular containers used to group related widgets together visually.</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Frames allow for modular design by isolating sections of the interface.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 frame can be placed inside the root window or inside another frame.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Frames do not have a visible border by default unless configured explicitly.</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They help organize complex layouts by dividing the screen into logical zones.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Frame class is imported from the tkinter module for instantiation.</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Frames are essential for creating tabbed interfaces or split-screen layouts.</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Ex: Multi-Screen Strategy Demo – wikiPython (source: www.wikipython.com)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Geometry Management</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pack()</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pack() manager arranges widgets in blocks, typically top or bottom.</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automatically calculates the size of the widget based on its content.</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fill parameter allows widgets to expand to fill available space.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side parameter determines the alignment: left, right, top, or bottom.</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Pack is the simplest geometry manager for linear and basic layouts.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handles spacing automatically using the padx and pady options.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Nested pack calls can lead to layout conflicts if not managed carefully.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Geometry Management</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place()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place() manager positions widgets at absolute x and y coordinates.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requires explicit width and height specifications for precise control.</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 place() when exact pixel positioning is critical for the design.</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ignores the natural size of the widget unless dimensions are set.</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relx and rely parameters allow relative positioning based on container size.</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Absolute positioning can break layouts when the window is resized.</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is less flexible than pack() for dynamic or responsive interfaces.</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s3-us-west-2.amazonaws.com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Geometry Management</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grid()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grid() manager arranges widgets in a row-column matrix structure.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is ideal for forms, tables, and complex data entry interfaces.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Widgets are placed using row and column indices starting from zero.</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sticky parameter controls alignment within the grid cell.</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handles resizing automatically by distributing space among columns and rows.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Grid is often the most robust choice for structured GUI layouts.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You can merge cells using the columnspan and rowspan parameters.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www.pythonguis.com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Basic Window</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11183112"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10817352"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10817352" cy="548640"/>
          </a:xfrm>
          <a:prstGeom prst="rect">
            <a:avLst/>
          </a:prstGeom>
          <a:noFill/>
        </p:spPr>
        <p:txBody>
          <a:bodyPr wrap="square">
            <a:spAutoFit/>
          </a:bodyPr>
          <a:lstStyle/>
          <a:p>
            <a:pPr algn="ctr"/>
            <a:r>
              <a:rPr b="1" sz="1800">
                <a:solidFill>
                  <a:srgbClr val="1A1A1A"/>
                </a:solidFill>
                <a:latin typeface="Cambria Math"/>
              </a:rPr>
              <a:t>Create a root window: root = Tk(); root.title('My First App')</a:t>
            </a:r>
          </a:p>
        </p:txBody>
      </p:sp>
      <p:sp>
        <p:nvSpPr>
          <p:cNvPr id="16" name="Rectangle 15"/>
          <p:cNvSpPr/>
          <p:nvPr/>
        </p:nvSpPr>
        <p:spPr>
          <a:xfrm>
            <a:off x="502920" y="2796032"/>
            <a:ext cx="5500116"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5083556"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SET WINDOW SIZE</a:t>
            </a:r>
          </a:p>
          <a:p>
            <a:pPr algn="l">
              <a:lnSpc>
                <a:spcPct val="135000"/>
              </a:lnSpc>
            </a:pPr>
            <a:r>
              <a:rPr sz="1300">
                <a:solidFill>
                  <a:srgbClr val="1A1A1A"/>
                </a:solidFill>
                <a:latin typeface="Calibri"/>
              </a:rPr>
              <a:t>root.geometry('400x300+100+100').</a:t>
            </a:r>
          </a:p>
        </p:txBody>
      </p:sp>
      <p:sp>
        <p:nvSpPr>
          <p:cNvPr id="19" name="Rectangle 18"/>
          <p:cNvSpPr/>
          <p:nvPr/>
        </p:nvSpPr>
        <p:spPr>
          <a:xfrm>
            <a:off x="6185916" y="2796032"/>
            <a:ext cx="5500116"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5916" y="279603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9596" y="2914904"/>
            <a:ext cx="5083556"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ADD A FRAME</a:t>
            </a:r>
          </a:p>
          <a:p>
            <a:pPr algn="l">
              <a:lnSpc>
                <a:spcPct val="135000"/>
              </a:lnSpc>
            </a:pPr>
            <a:r>
              <a:rPr sz="1300">
                <a:solidFill>
                  <a:srgbClr val="1A1A1A"/>
                </a:solidFill>
                <a:latin typeface="Calibri"/>
              </a:rPr>
              <a:t>frame = Frame(root, bg='lightblue', width=200, height=100).</a:t>
            </a:r>
          </a:p>
        </p:txBody>
      </p:sp>
      <p:sp>
        <p:nvSpPr>
          <p:cNvPr id="22" name="Rectangle 21"/>
          <p:cNvSpPr/>
          <p:nvPr/>
        </p:nvSpPr>
        <p:spPr>
          <a:xfrm>
            <a:off x="502920" y="4018957"/>
            <a:ext cx="5500116"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018957"/>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137829"/>
            <a:ext cx="5083556"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PLACE A LABEL</a:t>
            </a:r>
          </a:p>
          <a:p>
            <a:pPr algn="l">
              <a:lnSpc>
                <a:spcPct val="135000"/>
              </a:lnSpc>
            </a:pPr>
            <a:r>
              <a:rPr sz="1300">
                <a:solidFill>
                  <a:srgbClr val="1A1A1A"/>
                </a:solidFill>
                <a:latin typeface="Calibri"/>
              </a:rPr>
              <a:t>Label(frame, text='Hello Tkinter').pack().</a:t>
            </a:r>
          </a:p>
        </p:txBody>
      </p:sp>
      <p:sp>
        <p:nvSpPr>
          <p:cNvPr id="25" name="Rectangle 24"/>
          <p:cNvSpPr/>
          <p:nvPr/>
        </p:nvSpPr>
        <p:spPr>
          <a:xfrm>
            <a:off x="6185916" y="4018957"/>
            <a:ext cx="5500116"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85916" y="4018957"/>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19596" y="4137829"/>
            <a:ext cx="5083556"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PACK THE FRAME</a:t>
            </a:r>
          </a:p>
          <a:p>
            <a:pPr algn="l">
              <a:lnSpc>
                <a:spcPct val="135000"/>
              </a:lnSpc>
            </a:pPr>
            <a:r>
              <a:rPr sz="1300">
                <a:solidFill>
                  <a:srgbClr val="1A1A1A"/>
                </a:solidFill>
                <a:latin typeface="Calibri"/>
              </a:rPr>
              <a:t>frame.pack(padx=20, pady=20).</a:t>
            </a:r>
          </a:p>
        </p:txBody>
      </p:sp>
      <p:sp>
        <p:nvSpPr>
          <p:cNvPr id="28" name="Rectangle 27"/>
          <p:cNvSpPr/>
          <p:nvPr/>
        </p:nvSpPr>
        <p:spPr>
          <a:xfrm>
            <a:off x="502920" y="5241882"/>
            <a:ext cx="5500116"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524188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6600" y="5360754"/>
            <a:ext cx="5083556"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START THE LOOP</a:t>
            </a:r>
          </a:p>
          <a:p>
            <a:pPr algn="l">
              <a:lnSpc>
                <a:spcPct val="135000"/>
              </a:lnSpc>
            </a:pPr>
            <a:r>
              <a:rPr sz="1300">
                <a:solidFill>
                  <a:srgbClr val="1A1A1A"/>
                </a:solidFill>
                <a:latin typeface="Calibri"/>
              </a:rPr>
              <a:t>root.mainloop().</a:t>
            </a:r>
          </a:p>
        </p:txBody>
      </p:sp>
      <p:sp>
        <p:nvSpPr>
          <p:cNvPr id="31" name="Rectangle 30"/>
          <p:cNvSpPr/>
          <p:nvPr/>
        </p:nvSpPr>
        <p:spPr>
          <a:xfrm>
            <a:off x="6185916" y="5241882"/>
            <a:ext cx="5500116"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85916" y="524188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19596" y="5360754"/>
            <a:ext cx="5083556" cy="802301"/>
          </a:xfrm>
          <a:prstGeom prst="rect">
            <a:avLst/>
          </a:prstGeom>
          <a:noFill/>
        </p:spPr>
        <p:txBody>
          <a:bodyPr wrap="square" lIns="0" rIns="0" tIns="0" bIns="0">
            <a:spAutoFit/>
          </a:bodyPr>
          <a:lstStyle/>
          <a:p>
            <a:pPr algn="l">
              <a:lnSpc>
                <a:spcPct val="135000"/>
              </a:lnSpc>
            </a:pPr>
            <a:r>
              <a:rPr sz="1300">
                <a:solidFill>
                  <a:srgbClr val="1A1A1A"/>
                </a:solidFill>
                <a:latin typeface="Calibri"/>
              </a:rPr>
              <a:t>•  This code creates a blue frame with a centered label inside.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Frame Layout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Place a button in the left frame: Button(left_frame, text='Click').pack()</a:t>
            </a:r>
          </a:p>
        </p:txBody>
      </p:sp>
      <p:sp>
        <p:nvSpPr>
          <p:cNvPr id="16" name="Rectangle 15"/>
          <p:cNvSpPr/>
          <p:nvPr/>
        </p:nvSpPr>
        <p:spPr>
          <a:xfrm>
            <a:off x="502920" y="2796032"/>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DEFINE TWO FRAMES</a:t>
            </a:r>
          </a:p>
          <a:p>
            <a:pPr algn="l">
              <a:lnSpc>
                <a:spcPct val="135000"/>
              </a:lnSpc>
            </a:pPr>
            <a:r>
              <a:rPr sz="1300">
                <a:solidFill>
                  <a:srgbClr val="1A1A1A"/>
                </a:solidFill>
                <a:latin typeface="Calibri"/>
              </a:rPr>
              <a:t>left_frame and right_frame inside the root.</a:t>
            </a:r>
          </a:p>
        </p:txBody>
      </p:sp>
      <p:sp>
        <p:nvSpPr>
          <p:cNvPr id="19" name="Rectangle 18"/>
          <p:cNvSpPr/>
          <p:nvPr/>
        </p:nvSpPr>
        <p:spPr>
          <a:xfrm>
            <a:off x="3669715" y="2796032"/>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PLACE A LABEL IN THE RIGHT FRAME</a:t>
            </a:r>
          </a:p>
          <a:p>
            <a:pPr algn="l">
              <a:lnSpc>
                <a:spcPct val="135000"/>
              </a:lnSpc>
            </a:pPr>
            <a:r>
              <a:rPr sz="1300">
                <a:solidFill>
                  <a:srgbClr val="1A1A1A"/>
                </a:solidFill>
                <a:latin typeface="Calibri"/>
              </a:rPr>
              <a:t>Label(right_frame, text='Info').pack().</a:t>
            </a:r>
          </a:p>
        </p:txBody>
      </p:sp>
      <p:sp>
        <p:nvSpPr>
          <p:cNvPr id="22" name="Rectangle 21"/>
          <p:cNvSpPr/>
          <p:nvPr/>
        </p:nvSpPr>
        <p:spPr>
          <a:xfrm>
            <a:off x="502920" y="4018957"/>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018957"/>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137829"/>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USE GRID TO ARRANGE FRAMES</a:t>
            </a:r>
          </a:p>
          <a:p>
            <a:pPr algn="l">
              <a:lnSpc>
                <a:spcPct val="135000"/>
              </a:lnSpc>
            </a:pPr>
            <a:r>
              <a:rPr sz="1300">
                <a:solidFill>
                  <a:srgbClr val="1A1A1A"/>
                </a:solidFill>
                <a:latin typeface="Calibri"/>
              </a:rPr>
              <a:t>left_frame.grid(row=0, column=0).</a:t>
            </a:r>
          </a:p>
        </p:txBody>
      </p:sp>
      <p:sp>
        <p:nvSpPr>
          <p:cNvPr id="25" name="Rectangle 24"/>
          <p:cNvSpPr/>
          <p:nvPr/>
        </p:nvSpPr>
        <p:spPr>
          <a:xfrm>
            <a:off x="3669715" y="4018957"/>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69715" y="4018957"/>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03395" y="4137829"/>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USE GRID TO ARRANGE FRAMES</a:t>
            </a:r>
          </a:p>
          <a:p>
            <a:pPr algn="l">
              <a:lnSpc>
                <a:spcPct val="135000"/>
              </a:lnSpc>
            </a:pPr>
            <a:r>
              <a:rPr sz="1300">
                <a:solidFill>
                  <a:srgbClr val="1A1A1A"/>
                </a:solidFill>
                <a:latin typeface="Calibri"/>
              </a:rPr>
              <a:t>right_frame.grid(row=0, column=1).</a:t>
            </a:r>
          </a:p>
        </p:txBody>
      </p:sp>
      <p:sp>
        <p:nvSpPr>
          <p:cNvPr id="28" name="Rectangle 27"/>
          <p:cNvSpPr/>
          <p:nvPr/>
        </p:nvSpPr>
        <p:spPr>
          <a:xfrm>
            <a:off x="502920" y="5241882"/>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524188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6600" y="5360754"/>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CONFIGURE COLUMN WEIGHTS</a:t>
            </a:r>
          </a:p>
          <a:p>
            <a:pPr algn="l">
              <a:lnSpc>
                <a:spcPct val="135000"/>
              </a:lnSpc>
            </a:pPr>
            <a:r>
              <a:rPr sz="1300">
                <a:solidFill>
                  <a:srgbClr val="1A1A1A"/>
                </a:solidFill>
                <a:latin typeface="Calibri"/>
              </a:rPr>
              <a:t>root.columnconfigure(0, weight=1).</a:t>
            </a:r>
          </a:p>
        </p:txBody>
      </p:sp>
      <p:sp>
        <p:nvSpPr>
          <p:cNvPr id="31" name="Rectangle 30"/>
          <p:cNvSpPr/>
          <p:nvPr/>
        </p:nvSpPr>
        <p:spPr>
          <a:xfrm>
            <a:off x="3669715" y="5241882"/>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69715" y="524188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903395" y="5360754"/>
            <a:ext cx="2567355" cy="802301"/>
          </a:xfrm>
          <a:prstGeom prst="rect">
            <a:avLst/>
          </a:prstGeom>
          <a:noFill/>
        </p:spPr>
        <p:txBody>
          <a:bodyPr wrap="square" lIns="0" rIns="0" tIns="0" bIns="0">
            <a:spAutoFit/>
          </a:bodyPr>
          <a:lstStyle/>
          <a:p>
            <a:pPr algn="l">
              <a:lnSpc>
                <a:spcPct val="135000"/>
              </a:lnSpc>
            </a:pPr>
            <a:r>
              <a:rPr sz="1300">
                <a:solidFill>
                  <a:srgbClr val="1A1A1A"/>
                </a:solidFill>
                <a:latin typeface="Calibri"/>
              </a:rPr>
              <a:t>•  This creates a split-screen layout with interactive elements on both sides.</a:t>
            </a:r>
          </a:p>
        </p:txBody>
      </p:sp>
      <p:pic>
        <p:nvPicPr>
          <p:cNvPr id="34" name="Picture 33"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35" name="TextBox 34"/>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libroediting.com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Tkinter</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Mixing pack() and grid() managers in the same parent container causes errors.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Forgetting to call mainloop() results in a window that closes instantly.</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Creating multiple root windows leads to unpredictable application behavior.</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Not configuring geometry managers can result in widgets being hidden.</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absolute coordinates with place() breaks layouts on different screen sizes.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the event loop can cause the GUI to freeze during processing.</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Overusing nested frames can make the code difficult to read and maintain.</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Create First GUI Application using Python-Tkinter - GeeksforGeeks (source: media.geeksforgeeks.org)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Tkinter is the standard library for building cross-platform GUI applications.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root window is the essential parent container for all GUI elements.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Frames provide modular containers for organizing widgets into logical groups.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Geometry managers (pack, grid, place) control the layout and positioning of widgets.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Event-driven programming allows the application to respond to user interactions.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PYTHON</a:t>
            </a:r>
          </a:p>
          <a:p>
            <a:pPr algn="l">
              <a:lnSpc>
                <a:spcPct val="135000"/>
              </a:lnSpc>
            </a:pPr>
            <a:r>
              <a:rPr sz="1300">
                <a:solidFill>
                  <a:srgbClr val="1A1A1A"/>
                </a:solidFill>
                <a:latin typeface="Calibri"/>
              </a:rPr>
              <a:t>A Practical Learning Approach, 1st Edition — T.S. Murugesh, Shriram K. Vasudevan, Sini Raj Pulari</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Learning Python, 6th Edition — Mark Lutz</a:t>
            </a:r>
          </a:p>
          <a:p>
            <a:pPr algn="l">
              <a:lnSpc>
                <a:spcPct val="135000"/>
              </a:lnSpc>
            </a:pPr>
            <a:r>
              <a:rPr sz="1300">
                <a:solidFill>
                  <a:srgbClr val="1A1A1A"/>
                </a:solidFill>
                <a:latin typeface="Calibri"/>
              </a:rPr>
              <a:t>•  Starting Out with Python, Global Edition, 6th Edition — Tony Gaddis</a:t>
            </a:r>
          </a:p>
          <a:p>
            <a:pPr algn="l">
              <a:lnSpc>
                <a:spcPct val="135000"/>
              </a:lnSpc>
            </a:pPr>
            <a:r>
              <a:rPr sz="1300">
                <a:solidFill>
                  <a:srgbClr val="1A1A1A"/>
                </a:solidFill>
                <a:latin typeface="Calibri"/>
              </a:rPr>
              <a:t>•  Introduction to Python Programming and Data Structures, 3rd Edition — Y. Daniel Liang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GUI Applications: Introduction to Tkinter module; Creating windows and frames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