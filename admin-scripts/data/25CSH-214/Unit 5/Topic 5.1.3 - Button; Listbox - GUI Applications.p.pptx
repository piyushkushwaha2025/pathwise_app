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GUI Applications. We will focus specifically on two fundamental widgets: Buttons and Listboxes. These components are the backbone of user interaction in any Python application. Remember, our motto at Chandigarh University is to Discover, Learn, and Empower through technology.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two specific Course Outcomes. First, CO4 requires us to analyze and manipulate files, strings, and perform data handling operations, which we will see when populating listboxes. Second, CO5 focuses on designing and developing real-world applications integrating multiple Python concepts, which is the essence of building a GUI.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define the specific roles of these widgets. We will analyze how the event loop processes a button click. You will also learn to construct a Listbox that dynamically displays data. Finally, we will evaluate common pitfalls to ensure your code is robust.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Button as a physical switch in your software. When you click it, it sends a signal to execute a specific function. For example, a 'Submit' button triggers a validation function. Without the command parameter, the button is just a static image with no interactivity.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Listbox is like a digital menu where users can pick one or more options. You can add items dynamically, which is crucial for handling variable data. For instance, a list of student names can be loaded from a file. The selectmode parameter determines if a user can pick just one name or multiple names.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magic happens in the event loop. When you click a button, the system pauses the loop, runs your function, and then resumes. This is why your function must not block the loop. If you put a long calculation inside a button command without threading, the GUI will freeze.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concrete example. Suppose we have two entry fields for numbers 10 and 20. When the user clicks 'Add', the button calls a function. This function retrieves the strings, converts them to integers, adds them to get 30, and updates a label. This demonstrates the core interaction pattern.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we populate a listbox. We start with a Python list of names. We loop through this list and insert each name into the widget. If the list grows to 100 items, the listbox automatically handles the display. This is essential for CO4, as we are manipulating data structures to update the UI.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very common mistake is adding parentheses to the command argument. If you write command=func(), the function runs immediately when the line is executed, not when you click the button. This often crashes the app because the window isn't ready yet. Always pass the function name without parentheses.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Another frequent issue is the IndexError. If a user clicks a button to get a selected item but hasn't selected anything, the code will crash. You must check if the selection list is empty before calling get. This is critical for robust application design as per CO5.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combine them. Imagine a list of products and a 'Buy' button. The user selects a product from the listbox and clicks the button. The button's command function reads the selection and processes the purchase. This integration is the core of many real-world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Listboxes are powerful for data handling. You can retrieve all items, process them, or delete specific entries. For example, you might have a list of files and a button to delete a selected file. This directly supports the requirement to analyze and manipulate data structures within our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remember that buttons need the command parameter without parentheses. Listboxes are great for dynamic data display. The event loop is the heart of the GUI. Always check for empty selections to avoid crashes. Finally, combining these widgets allows you to build powerful, real-world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textbooks listed here. Mark Lutz's book is excellent for deep Python knowledge. Tony Gaddis provides a great introduction. Y. Daniel Liang covers data structures well. Finally, the practical approach book by Murugesh et al. offers specific insights for engineering students.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jp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Button; Listbox - GUI Applications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Python Programming | GUI Applications</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Python Programming   |   Chapter: GUI Applications   |   Bachelor of Computer Science and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the syntax, control structures, and basic constructs of Python programming language</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functions, modules, and exception handling for modular program development</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data structures including lists, tuples, dictionaries, and sets for efficient data processing</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and manipulate files, strings, and perform data handling operations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Design and develop real-world applications integrating multiple Python concepts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functional role of Button and Listbox widgets in GUIs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event-driven mechanism behind button click actions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a Listbox to display dynamic data from a list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common pitfalls when binding commands to interactive widgets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Develop a sample interface integrating both widgets for user input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Button Widget Fundamentals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Button is a clickable widget that triggers a specific action or command</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requires a parent container, typically a Tkinter root window or frame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command parameter links the button to a Python function for execution</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Text displayed on the button is defined by the text argument in code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Buttons support various states like normal, active, disabled, and pressed</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Visual appearance is customized using font, background color, and padding options</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Basics of a Tkinter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Listbox Widget Fundamentals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Listbox displays a scrollable list of items for user selection</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supports single selection or multiple selection modes via selectmode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Items are added dynamically using the insert method with index positions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get method retrieves specific items based on their index or selection</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Listboxes can be bound to events like double-click or listbox selection</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Scrollbars are often paired with Listboxes to handle long content lists</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VB.Net - ListBox Control (source: www.tutorialspoint.com)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Event Handling Mechanism</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GUI applications rely on an event loop to listen for user interactions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mainloop() function keeps the application window open and responsive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Clicking a button generates a Button-1 event processed by the callback</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Selection changes in a Listbox generate ListboxSelect events for handling</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Callbacks must be defined as functions that accept no arguments or self</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event loop runs continuously until the user closes the application window</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Button Logic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Create a button with command=calculate_sum to trigger the addition logic</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a function calculate_sum that adds two numbers from entry fields</a:t>
            </a:r>
          </a:p>
        </p:txBody>
      </p:sp>
      <p:sp>
        <p:nvSpPr>
          <p:cNvPr id="18" name="Oval 17"/>
          <p:cNvSpPr/>
          <p:nvPr/>
        </p:nvSpPr>
        <p:spPr>
          <a:xfrm>
            <a:off x="502920" y="352247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52247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Retrieve values using entry.get() and convert them to integers for math</a:t>
            </a:r>
          </a:p>
        </p:txBody>
      </p:sp>
      <p:sp>
        <p:nvSpPr>
          <p:cNvPr id="20" name="Oval 19"/>
          <p:cNvSpPr/>
          <p:nvPr/>
        </p:nvSpPr>
        <p:spPr>
          <a:xfrm>
            <a:off x="502920" y="424891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24891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Display the result in a label widget after the calculation completes</a:t>
            </a:r>
          </a:p>
        </p:txBody>
      </p:sp>
      <p:sp>
        <p:nvSpPr>
          <p:cNvPr id="22" name="Oval 21"/>
          <p:cNvSpPr/>
          <p:nvPr/>
        </p:nvSpPr>
        <p:spPr>
          <a:xfrm>
            <a:off x="502920" y="49753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497535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Handle ValueError exceptions to prevent crashes if user enters non-numbers</a:t>
            </a:r>
          </a:p>
        </p:txBody>
      </p:sp>
      <p:sp>
        <p:nvSpPr>
          <p:cNvPr id="24" name="Oval 23"/>
          <p:cNvSpPr/>
          <p:nvPr/>
        </p:nvSpPr>
        <p:spPr>
          <a:xfrm>
            <a:off x="502920" y="570179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5" name="TextBox 24"/>
          <p:cNvSpPr txBox="1"/>
          <p:nvPr/>
        </p:nvSpPr>
        <p:spPr>
          <a:xfrm>
            <a:off x="1078992" y="570179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The button acts as the bridge between user input and calculation logic</a:t>
            </a:r>
          </a:p>
        </p:txBody>
      </p:sp>
      <p:pic>
        <p:nvPicPr>
          <p:cNvPr id="26" name="Picture 25"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7" name="TextBox 26"/>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arduinotogo.com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Listbox Population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Initialize a list of strings containing names like 'Alice', 'Bob', 'Charlie'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Create a Listbox widget and iterate through the list to insert items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Use listbox.insert(END, item) to append each name to the bottom</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Bind a double-click event to print the selected name to the console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Use listbox.curselection() to get the index of the currently selected item</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approach allows dynamic data display without hardcoding every list item</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VB.Net - ListBox Control (source: www.tutorialspoint.com)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Command Binding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Writing command=func() executes the function immediately instead of on click</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Do not include parentheses after the function name in the command argument</a:t>
            </a:r>
          </a:p>
        </p:txBody>
      </p:sp>
      <p:sp>
        <p:nvSpPr>
          <p:cNvPr id="18" name="Oval 17"/>
          <p:cNvSpPr/>
          <p:nvPr/>
        </p:nvSpPr>
        <p:spPr>
          <a:xfrm>
            <a:off x="502920" y="352247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52247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The correct syntax is command=func to pass the function reference only</a:t>
            </a:r>
          </a:p>
        </p:txBody>
      </p:sp>
      <p:sp>
        <p:nvSpPr>
          <p:cNvPr id="20" name="Oval 19"/>
          <p:cNvSpPr/>
          <p:nvPr/>
        </p:nvSpPr>
        <p:spPr>
          <a:xfrm>
            <a:off x="502920" y="424891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24891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Incorrect binding causes the function to run before the GUI is fully ready</a:t>
            </a:r>
          </a:p>
        </p:txBody>
      </p:sp>
      <p:sp>
        <p:nvSpPr>
          <p:cNvPr id="22" name="Oval 21"/>
          <p:cNvSpPr/>
          <p:nvPr/>
        </p:nvSpPr>
        <p:spPr>
          <a:xfrm>
            <a:off x="502920" y="49753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497535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This error often leads to a blank interface or immediate program termination</a:t>
            </a:r>
          </a:p>
        </p:txBody>
      </p:sp>
      <p:sp>
        <p:nvSpPr>
          <p:cNvPr id="24" name="Oval 23"/>
          <p:cNvSpPr/>
          <p:nvPr/>
        </p:nvSpPr>
        <p:spPr>
          <a:xfrm>
            <a:off x="502920" y="570179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5" name="TextBox 24"/>
          <p:cNvSpPr txBox="1"/>
          <p:nvPr/>
        </p:nvSpPr>
        <p:spPr>
          <a:xfrm>
            <a:off x="1078992" y="570179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Always verify that the function signature matches the expected callback format</a:t>
            </a:r>
          </a:p>
        </p:txBody>
      </p:sp>
      <p:pic>
        <p:nvPicPr>
          <p:cNvPr id="26" name="Picture 25"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7" name="TextBox 26"/>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richardkilleen.co.uk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Index Errors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Accessing a Listbox item at an index that does not exist raises an error</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get method requires a valid index or a selection tuple from curselection</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Always check if the selection is empty before trying to retrieve an item</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Use try-except blocks to handle cases where no item is selected by user</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Attempting to get index 5 when only 3 items exist causes an IndexError</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Validating user input prevents runtime crashes during data retrieval operations</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www.w3resource.com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Integration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Combining Widgets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Place a Listbox and a Button side-by-side within a single frame container</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button can trigger a function that reads the current Listbox selection</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integration allows users to select an item and perform an action</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Use grid or pack geometry managers to align widgets neatly on the screen</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button acts as the trigger to process the data currently in the list</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pattern is common in forms where users select an option and submit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Data Handling with Listbox</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Retrieve all items from a Listbox using the get method with range indices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Iterate through the selected items to perform bulk data processing operations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Delete specific items from the listbox using the delete method with indices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Clear the entire listbox content using the delete method with range 0 to END</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capability supports file handling operations required by Course Outcome CO4</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Dynamic updates allow the GUI to reflect changes in underlying data structures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Buttons trigger actions via the command parameter without parentheses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Listboxes display dynamic data and support single or multiple selections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Event loops manage user interactions and keep the GUI responsive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Always validate selections to prevent IndexError exceptions in code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Integration of widgets enables complex data handling and user workflows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www.slideteam.net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PYTHON</a:t>
            </a:r>
          </a:p>
          <a:p>
            <a:pPr algn="l">
              <a:lnSpc>
                <a:spcPct val="135000"/>
              </a:lnSpc>
            </a:pPr>
            <a:r>
              <a:rPr sz="1300">
                <a:solidFill>
                  <a:srgbClr val="1A1A1A"/>
                </a:solidFill>
                <a:latin typeface="Calibri"/>
              </a:rPr>
              <a:t>A Practical Learning Approach, 1st Edition — T.S. Murugesh, Shriram K. Vasudevan, Sini Raj Pulari</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Learning Python, 6th Edition — Mark Lutz</a:t>
            </a:r>
          </a:p>
          <a:p>
            <a:pPr algn="l">
              <a:lnSpc>
                <a:spcPct val="135000"/>
              </a:lnSpc>
            </a:pPr>
            <a:r>
              <a:rPr sz="1300">
                <a:solidFill>
                  <a:srgbClr val="1A1A1A"/>
                </a:solidFill>
                <a:latin typeface="Calibri"/>
              </a:rPr>
              <a:t>•  Starting Out with Python, Global Edition, 6th Edition — Tony Gaddis</a:t>
            </a:r>
          </a:p>
          <a:p>
            <a:pPr algn="l">
              <a:lnSpc>
                <a:spcPct val="135000"/>
              </a:lnSpc>
            </a:pPr>
            <a:r>
              <a:rPr sz="1300">
                <a:solidFill>
                  <a:srgbClr val="1A1A1A"/>
                </a:solidFill>
                <a:latin typeface="Calibri"/>
              </a:rPr>
              <a:t>•  Introduction to Python Programming and Data Structures, 3rd Edition — Y. Daniel Liang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Button; Listbox - GUI Applications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