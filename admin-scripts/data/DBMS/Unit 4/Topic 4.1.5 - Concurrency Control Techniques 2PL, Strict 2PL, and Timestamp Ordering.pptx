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today's lecture on Concurrency Control. We are diving deep into the mechanisms that ensure data integrity when multiple transactions run simultaneously. Our focus today is strictly on Two-Phase Locking, Strict 2PL, and Timestamp Ordering. These are the pillars of reliable transaction scheduling in modern database systems.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session directly addresses our Course Outcomes. CO3 ensures you understand schema design, but CO4 is our primary focus here. We will analyze how specific concurrency control mechanisms determine if a schedule is serializable and correct. This analysis is crucial for building robust database applications.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lecture, you will be able to analyze how 2PL prevents conflicts. You will evaluate why Strict 2PL is often preferred over basic 2PL for recoverability. We will also apply timestamp ordering to resolve conflicts without locks. Finally, you will identify common pitfalls like deadlocks that can stall your system.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Concurrency control is essential to maintain consistency when transactions overlap. We aim for conflict serializability, meaning the concurrent schedule looks like a serial one. If a transaction reads uncommitted data, we risk a dirty read. Our techniques must prevent this while maximizing parallelism for performance.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2PL as having two distinct phases for every transaction. First, you gather all your keys (locks) before you start using them. Once you drop a key, you cannot pick up another one. This strict rule guarantees that the resulting schedule is conflict serializable, which is a huge win for correctness.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Strict 2PL, we hold onto exclusive locks until the very end. This means if Transaction A is modifying a row, Transaction B cannot read it until A commits. This eliminates cascading rollbacks entirely. While it reduces concurrency slightly, it makes recovery much simpler and safer.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a concrete example. T1 and T2 both read X. T1 wants to write X, so it gets an exclusive lock. T2 must wait. T1 commits, releasing the lock. Now T2 can write. Notice T2 never read T1's uncommitted data. This is a clean, recoverable schedule.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major pitfall of locking is the deadlock. Imagine T1 holds resource A and wants B, while T2 holds B and wants A. They are stuck forever. We detect this using wait-for graphs. The solution is usually to abort one transaction, sacrificing it to save the system.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switch to Timestamp Ordering. Here, every transaction gets a unique ID, like a birth time. We execute them in that order. If a transaction tries to write data that a newer transaction has already read, we have a conflict. We simply abort the older transaction and restart 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rules are strict. If T1 wants to read X, but a newer T2 has already read X, T1 must abort. Similarly for writes. If T1 tries to write X, but T2 has already read it, T1 is too late. We abort T1 and restart it with a new timestamp. This keeps the order consistent.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trace this. T1 writes X at time 10. T2 reads X at time 20. Since 20 is greater than 10, T2 is allowed to read. T3 writes at 30. Since 30 is greater than the read time 20, T3 is allowed. The order is preserved perfectly without any waiting.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which is better? Locking allows waiting but risks deadlocks. Timestamp ordering avoids deadlocks but forces restarts. If you have hot data with high contention, locking might be better. For read-heavy workloads with low contention, timestamp ordering shines. The choice depends on your specific workload.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2PL guarantees serializability through strict phases. Strict 2PL adds recoverability by holding locks until the end. Timestamp ordering offers a lock-free alternative that avoids deadlocks. Both are vital for ensuring your database remains consistent and reliable under load.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further reading, please refer to the standard texts by Elmasri, Silberschatz, and Ramakrishnan. These books provide deep dives into the theory and implementation of these protocols. The Oracle documentation is also excellent for practical implementation details. Thank you for your attention.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jp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3200">
                <a:solidFill>
                  <a:srgbClr val="1A1A2E"/>
                </a:solidFill>
                <a:latin typeface="Calibri"/>
              </a:rPr>
              <a:t>Concurrency Control Techniques: 2PL, Strict 2PL, and Timestamp Ordering</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800" i="1">
                <a:solidFill>
                  <a:srgbClr val="C8102E"/>
                </a:solidFill>
                <a:latin typeface="Calibri"/>
              </a:rPr>
              <a:t>Database Management System | Transaction Management and Scheduling</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Database Management System (DBMS)   |   Chapter: Transaction Management and Scheduling   |   Program: B.TECH-CSE, B.TECH CSE - CYBER SECURITY, B.TECH CSE - DATA</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33963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2E7D32"/>
                          </a:solidFill>
                          <a:latin typeface="Calibri"/>
                        </a:rPr>
                        <a:t>BT2</a:t>
                      </a:r>
                    </a:p>
                  </a:txBody>
                  <a:tcPr marL="109728" marR="109728">
                    <a:solidFill>
                      <a:srgbClr val="E8F5E9"/>
                    </a:solidFill>
                  </a:tcPr>
                </a:tc>
                <a:tc>
                  <a:txBody>
                    <a:bodyPr/>
                    <a:lstStyle/>
                    <a:p>
                      <a:pPr algn="l"/>
                      <a:r>
                        <a:rPr sz="1200" b="0">
                          <a:solidFill>
                            <a:srgbClr val="1A1A1A"/>
                          </a:solidFill>
                          <a:latin typeface="Calibri"/>
                        </a:rPr>
                        <a:t>Explain database architecture, relational model concepts and formal query language foundations including relational algebra and relational calculus.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Apply relational algebra, relational calculus and SQL constructs to formulate correct and efficient database queries.</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functional dependencies and design normalized relational schemas up to 5NF ensuring lossless join and dependency preservation.</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transaction schedules and concurrency control mechanisms to determine serializability, recoverability and correctness.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Evaluate storage structures, indexing strategies and query optimization techniques for performance, scalability and reliability.</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50945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fundamental principles of Two-Phase Locking (2PL) protocols.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the differences between basic 2PL and Strict 2PL mechanisms.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Apply the Timestamp Ordering protocol to resolve conflicting transaction requests.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Determine the serializability and recoverability of various transaction schedules.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Identify common pitfalls like deadlocks and cascading rollbacks in concurrency.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67926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Concurrency Control and Serializability</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Concurrency control ensures database consistency when multiple transactions execute simultaneously.</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 schedule is serializable if its outcome is equivalent to some serial execution.</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Conflict serializability checks if swapping non-conflicting operations preserves the result.</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Recoverability ensures no transaction commits data that might later be rolled back.</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Without control, lost updates and dirty reads can corrupt the database state.</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goal is to allow parallelism while maintaining ACID properties strictly.</a:t>
            </a:r>
          </a:p>
        </p:txBody>
      </p:sp>
      <p:pic>
        <p:nvPicPr>
          <p:cNvPr id="25" name="Picture 24"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Equivalent Serial Schedule of Conflict Serializable Schedule in DBMS -  GeeksforGeeks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84908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Two-Phase Locking (2PL) Protocol</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GROWING PHASE</a:t>
            </a:r>
          </a:p>
          <a:p>
            <a:pPr algn="l">
              <a:lnSpc>
                <a:spcPct val="135000"/>
              </a:lnSpc>
            </a:pPr>
            <a:r>
              <a:rPr sz="1300">
                <a:solidFill>
                  <a:srgbClr val="1A1A1A"/>
                </a:solidFill>
                <a:latin typeface="Calibri"/>
              </a:rPr>
              <a:t>Transaction acquires all necessary locks before releasing any.</a:t>
            </a:r>
          </a:p>
        </p:txBody>
      </p:sp>
      <p:sp>
        <p:nvSpPr>
          <p:cNvPr id="16" name="Rectangle 15"/>
          <p:cNvSpPr/>
          <p:nvPr/>
        </p:nvSpPr>
        <p:spPr>
          <a:xfrm>
            <a:off x="3669715" y="1625600"/>
            <a:ext cx="2983915"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SHRINKING PHASE</a:t>
            </a:r>
          </a:p>
          <a:p>
            <a:pPr algn="l">
              <a:lnSpc>
                <a:spcPct val="135000"/>
              </a:lnSpc>
            </a:pPr>
            <a:r>
              <a:rPr sz="1300">
                <a:solidFill>
                  <a:srgbClr val="1A1A1A"/>
                </a:solidFill>
                <a:latin typeface="Calibri"/>
              </a:rPr>
              <a:t>Transaction releases locks but cannot acquire new ones.</a:t>
            </a:r>
          </a:p>
        </p:txBody>
      </p:sp>
      <p:sp>
        <p:nvSpPr>
          <p:cNvPr id="19" name="Rectangle 18"/>
          <p:cNvSpPr/>
          <p:nvPr/>
        </p:nvSpPr>
        <p:spPr>
          <a:xfrm>
            <a:off x="502920" y="4045204"/>
            <a:ext cx="2983915"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4045204"/>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6600" y="4164076"/>
            <a:ext cx="2567355" cy="1998980"/>
          </a:xfrm>
          <a:prstGeom prst="rect">
            <a:avLst/>
          </a:prstGeom>
          <a:noFill/>
        </p:spPr>
        <p:txBody>
          <a:bodyPr wrap="square" lIns="0" rIns="0" tIns="0" bIns="0">
            <a:spAutoFit/>
          </a:bodyPr>
          <a:lstStyle/>
          <a:p>
            <a:pPr algn="l">
              <a:lnSpc>
                <a:spcPct val="135000"/>
              </a:lnSpc>
            </a:pPr>
            <a:r>
              <a:rPr sz="1300">
                <a:solidFill>
                  <a:srgbClr val="1A1A1A"/>
                </a:solidFill>
                <a:latin typeface="Calibri"/>
              </a:rPr>
              <a:t>•  2PL divides transaction execution into a growing phase and a shrinking phase.</a:t>
            </a:r>
          </a:p>
          <a:p>
            <a:pPr algn="l">
              <a:lnSpc>
                <a:spcPct val="135000"/>
              </a:lnSpc>
            </a:pPr>
            <a:r>
              <a:rPr sz="1300">
                <a:solidFill>
                  <a:srgbClr val="1A1A1A"/>
                </a:solidFill>
                <a:latin typeface="Calibri"/>
              </a:rPr>
              <a:t>•  Once a lock is released, no new locks can be requested by the transaction.</a:t>
            </a:r>
          </a:p>
          <a:p>
            <a:pPr algn="l">
              <a:lnSpc>
                <a:spcPct val="135000"/>
              </a:lnSpc>
            </a:pPr>
            <a:r>
              <a:rPr sz="1300">
                <a:solidFill>
                  <a:srgbClr val="1A1A1A"/>
                </a:solidFill>
                <a:latin typeface="Calibri"/>
              </a:rPr>
              <a:t>•  2PL guarantees conflict serializability for all schedules generated by the protocol.</a:t>
            </a:r>
          </a:p>
          <a:p>
            <a:pPr algn="l">
              <a:lnSpc>
                <a:spcPct val="135000"/>
              </a:lnSpc>
            </a:pPr>
            <a:r>
              <a:rPr sz="1300">
                <a:solidFill>
                  <a:srgbClr val="1A1A1A"/>
                </a:solidFill>
                <a:latin typeface="Calibri"/>
              </a:rPr>
              <a:t>•  The protocol prevents cascading rollbacks if combined with strict locking rules.</a:t>
            </a:r>
          </a:p>
        </p:txBody>
      </p:sp>
      <p:pic>
        <p:nvPicPr>
          <p:cNvPr id="22" name="Picture 21"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3" name="TextBox 22"/>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public.flourish.studio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01890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Strict Two-Phase Locking (Strict 2PL)</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Strict 2PL holds all exclusive locks until the transaction commits or aborts.</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Shared locks can be released early, but exclusive locks are held to the end.</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This prevents cascading rollbacks because no transaction reads uncommitted data.</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If a transaction fails, its locks are released, forcing others to wait.</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Strict 2PL is the most common implementation in commercial database systems.</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It trades some concurrency for guaranteed recoverability and simplicity.</a:t>
            </a:r>
          </a:p>
        </p:txBody>
      </p:sp>
      <p:pic>
        <p:nvPicPr>
          <p:cNvPr id="25" name="Picture 24"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media.geeksforgeeks.org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Strict 2PL Schedule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SCHEDULE</a:t>
            </a:r>
          </a:p>
          <a:p>
            <a:pPr algn="l">
              <a:lnSpc>
                <a:spcPct val="135000"/>
              </a:lnSpc>
            </a:pPr>
            <a:r>
              <a:rPr sz="1300">
                <a:solidFill>
                  <a:srgbClr val="1A1A1A"/>
                </a:solidFill>
                <a:latin typeface="Calibri"/>
              </a:rPr>
              <a:t>R1(X), R2(X), W1(X), Commit1, W2(X), Commit2.</a:t>
            </a:r>
          </a:p>
        </p:txBody>
      </p:sp>
      <p:sp>
        <p:nvSpPr>
          <p:cNvPr id="16" name="Rectangle 15"/>
          <p:cNvSpPr/>
          <p:nvPr/>
        </p:nvSpPr>
        <p:spPr>
          <a:xfrm>
            <a:off x="3669715"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T1 reads X (Shared Lock), T2 reads X (Shared Lock), T1 writes X.</a:t>
            </a:r>
          </a:p>
          <a:p>
            <a:pPr algn="l">
              <a:lnSpc>
                <a:spcPct val="135000"/>
              </a:lnSpc>
            </a:pPr>
            <a:r>
              <a:rPr sz="1300">
                <a:solidFill>
                  <a:srgbClr val="1A1A1A"/>
                </a:solidFill>
                <a:latin typeface="Calibri"/>
              </a:rPr>
              <a:t>•  T2 must wait for T1 to release its exclusive lock before writing X.</a:t>
            </a:r>
          </a:p>
          <a:p>
            <a:pPr algn="l">
              <a:lnSpc>
                <a:spcPct val="135000"/>
              </a:lnSpc>
            </a:pPr>
            <a:r>
              <a:rPr sz="1300">
                <a:solidFill>
                  <a:srgbClr val="1A1A1A"/>
                </a:solidFill>
                <a:latin typeface="Calibri"/>
              </a:rPr>
              <a:t>•  T1 commits, releasing all locks, allowing T2 to proceed with its write.</a:t>
            </a:r>
          </a:p>
          <a:p>
            <a:pPr algn="l">
              <a:lnSpc>
                <a:spcPct val="135000"/>
              </a:lnSpc>
            </a:pPr>
            <a:r>
              <a:rPr sz="1300">
                <a:solidFill>
                  <a:srgbClr val="1A1A1A"/>
                </a:solidFill>
                <a:latin typeface="Calibri"/>
              </a:rPr>
              <a:t>•  This schedule is conflict serializable and strictly recoverable.</a:t>
            </a:r>
          </a:p>
          <a:p>
            <a:pPr algn="l">
              <a:lnSpc>
                <a:spcPct val="135000"/>
              </a:lnSpc>
            </a:pPr>
            <a:r>
              <a:rPr sz="1300">
                <a:solidFill>
                  <a:srgbClr val="1A1A1A"/>
                </a:solidFill>
                <a:latin typeface="Calibri"/>
              </a:rPr>
              <a:t>•  T2 never reads uncommitted data from T1, ensuring data integrity.</a:t>
            </a:r>
          </a:p>
        </p:txBody>
      </p:sp>
      <p:pic>
        <p:nvPicPr>
          <p:cNvPr id="19" name="Picture 18"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0" name="TextBox 19"/>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cdnb.ganttpro.com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Pitfalls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358537"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Deadlocks in Locking Protocols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EXAMPLE</a:t>
            </a:r>
          </a:p>
          <a:p>
            <a:pPr algn="l">
              <a:lnSpc>
                <a:spcPct val="135000"/>
              </a:lnSpc>
            </a:pPr>
            <a:r>
              <a:rPr sz="1300">
                <a:solidFill>
                  <a:srgbClr val="1A1A1A"/>
                </a:solidFill>
                <a:latin typeface="Calibri"/>
              </a:rPr>
              <a:t>T1 holds Lock A, waits for Lock B; T2 holds Lock B, waits for Lock A.</a:t>
            </a:r>
          </a:p>
        </p:txBody>
      </p:sp>
      <p:sp>
        <p:nvSpPr>
          <p:cNvPr id="16" name="Rectangle 15"/>
          <p:cNvSpPr/>
          <p:nvPr/>
        </p:nvSpPr>
        <p:spPr>
          <a:xfrm>
            <a:off x="3669715"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Deadlock occurs when two transactions wait for each other to release locks.</a:t>
            </a:r>
          </a:p>
          <a:p>
            <a:pPr algn="l">
              <a:lnSpc>
                <a:spcPct val="135000"/>
              </a:lnSpc>
            </a:pPr>
            <a:r>
              <a:rPr sz="1300">
                <a:solidFill>
                  <a:srgbClr val="1A1A1A"/>
                </a:solidFill>
                <a:latin typeface="Calibri"/>
              </a:rPr>
              <a:t>•  The system enters a state where no progress can be made without intervention.</a:t>
            </a:r>
          </a:p>
          <a:p>
            <a:pPr algn="l">
              <a:lnSpc>
                <a:spcPct val="135000"/>
              </a:lnSpc>
            </a:pPr>
            <a:r>
              <a:rPr sz="1300">
                <a:solidFill>
                  <a:srgbClr val="1A1A1A"/>
                </a:solidFill>
                <a:latin typeface="Calibri"/>
              </a:rPr>
              <a:t>•  Detection methods include wait-for graphs and timeout mechanisms.</a:t>
            </a:r>
          </a:p>
          <a:p>
            <a:pPr algn="l">
              <a:lnSpc>
                <a:spcPct val="135000"/>
              </a:lnSpc>
            </a:pPr>
            <a:r>
              <a:rPr sz="1300">
                <a:solidFill>
                  <a:srgbClr val="1A1A1A"/>
                </a:solidFill>
                <a:latin typeface="Calibri"/>
              </a:rPr>
              <a:t>•  Resolution involves aborting one transaction to break the circular wait.</a:t>
            </a:r>
          </a:p>
          <a:p>
            <a:pPr algn="l">
              <a:lnSpc>
                <a:spcPct val="135000"/>
              </a:lnSpc>
            </a:pPr>
            <a:r>
              <a:rPr sz="1300">
                <a:solidFill>
                  <a:srgbClr val="1A1A1A"/>
                </a:solidFill>
                <a:latin typeface="Calibri"/>
              </a:rPr>
              <a:t>•  Prevention strategies include ordering lock acquisition or using timestamp ordering.</a:t>
            </a:r>
          </a:p>
        </p:txBody>
      </p:sp>
      <p:pic>
        <p:nvPicPr>
          <p:cNvPr id="19" name="Picture 18"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0" name="TextBox 19"/>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substackcdn.com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52835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Timestamp Ordering Protocol Overview</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Each transaction is assigned a unique timestamp upon entry to the system.</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Read and Write operations are validated against existing timestamps of data items.</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If a transaction is older, it proceeds; if newer, it may be rolled back.</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This protocol ensures serializability without using locks or waiting.</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It is a non-blocking approach that avoids deadlocks entirely.</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Transactions are executed in the order of their assigned timestamps.</a:t>
            </a:r>
          </a:p>
        </p:txBody>
      </p:sp>
      <p:pic>
        <p:nvPicPr>
          <p:cNvPr id="25" name="Picture 24"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media.geeksforgeeks.org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Timestamp Ordering</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9817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Read and Write Rules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READ RULE</a:t>
            </a:r>
          </a:p>
          <a:p>
            <a:pPr algn="l">
              <a:lnSpc>
                <a:spcPct val="135000"/>
              </a:lnSpc>
            </a:pPr>
            <a:r>
              <a:rPr sz="1300">
                <a:solidFill>
                  <a:srgbClr val="1A1A1A"/>
                </a:solidFill>
                <a:latin typeface="Calibri"/>
              </a:rPr>
              <a:t>If TS(T) &lt; Read_TS(X), abort T and restart.</a:t>
            </a:r>
          </a:p>
        </p:txBody>
      </p:sp>
      <p:sp>
        <p:nvSpPr>
          <p:cNvPr id="16" name="Rectangle 15"/>
          <p:cNvSpPr/>
          <p:nvPr/>
        </p:nvSpPr>
        <p:spPr>
          <a:xfrm>
            <a:off x="3669715" y="1625600"/>
            <a:ext cx="2983915"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WRITE RULE</a:t>
            </a:r>
          </a:p>
          <a:p>
            <a:pPr algn="l">
              <a:lnSpc>
                <a:spcPct val="135000"/>
              </a:lnSpc>
            </a:pPr>
            <a:r>
              <a:rPr sz="1300">
                <a:solidFill>
                  <a:srgbClr val="1A1A1A"/>
                </a:solidFill>
                <a:latin typeface="Calibri"/>
              </a:rPr>
              <a:t>If TS(T) &lt; Read_TS(X) or TS(T) &lt; Write_TS(X), abort T.</a:t>
            </a:r>
          </a:p>
        </p:txBody>
      </p:sp>
      <p:sp>
        <p:nvSpPr>
          <p:cNvPr id="19" name="Rectangle 18"/>
          <p:cNvSpPr/>
          <p:nvPr/>
        </p:nvSpPr>
        <p:spPr>
          <a:xfrm>
            <a:off x="502920" y="4045204"/>
            <a:ext cx="2983915"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4045204"/>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6600" y="4164076"/>
            <a:ext cx="2567355" cy="1998980"/>
          </a:xfrm>
          <a:prstGeom prst="rect">
            <a:avLst/>
          </a:prstGeom>
          <a:noFill/>
        </p:spPr>
        <p:txBody>
          <a:bodyPr wrap="square" lIns="0" rIns="0" tIns="0" bIns="0">
            <a:spAutoFit/>
          </a:bodyPr>
          <a:lstStyle/>
          <a:p>
            <a:pPr algn="l">
              <a:lnSpc>
                <a:spcPct val="135000"/>
              </a:lnSpc>
            </a:pPr>
            <a:r>
              <a:rPr sz="1300">
                <a:solidFill>
                  <a:srgbClr val="1A1A1A"/>
                </a:solidFill>
                <a:latin typeface="Calibri"/>
              </a:rPr>
              <a:t>•  If valid, update Write_TS(X) to max(Write_TS(X), TS(T)).</a:t>
            </a:r>
          </a:p>
          <a:p>
            <a:pPr algn="l">
              <a:lnSpc>
                <a:spcPct val="135000"/>
              </a:lnSpc>
            </a:pPr>
            <a:r>
              <a:rPr sz="1300">
                <a:solidFill>
                  <a:srgbClr val="1A1A1A"/>
                </a:solidFill>
                <a:latin typeface="Calibri"/>
              </a:rPr>
              <a:t>•  These rules ensure that older transactions appear to execute first.</a:t>
            </a:r>
          </a:p>
          <a:p>
            <a:pPr algn="l">
              <a:lnSpc>
                <a:spcPct val="135000"/>
              </a:lnSpc>
            </a:pPr>
            <a:r>
              <a:rPr sz="1300">
                <a:solidFill>
                  <a:srgbClr val="1A1A1A"/>
                </a:solidFill>
                <a:latin typeface="Calibri"/>
              </a:rPr>
              <a:t>•  A transaction is only allowed to proceed if it does not violate order.</a:t>
            </a:r>
          </a:p>
          <a:p>
            <a:pPr algn="l">
              <a:lnSpc>
                <a:spcPct val="135000"/>
              </a:lnSpc>
            </a:pPr>
            <a:r>
              <a:rPr sz="1300">
                <a:solidFill>
                  <a:srgbClr val="1A1A1A"/>
                </a:solidFill>
                <a:latin typeface="Calibri"/>
              </a:rPr>
              <a:t>•  The protocol maintains a consistent global order of execution.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11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8679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11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Timestamp Ordering</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11183112"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10817352"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10817352" cy="548640"/>
          </a:xfrm>
          <a:prstGeom prst="rect">
            <a:avLst/>
          </a:prstGeom>
          <a:noFill/>
        </p:spPr>
        <p:txBody>
          <a:bodyPr wrap="square">
            <a:spAutoFit/>
          </a:bodyPr>
          <a:lstStyle/>
          <a:p>
            <a:pPr algn="ctr"/>
            <a:r>
              <a:rPr b="1" sz="1800">
                <a:solidFill>
                  <a:srgbClr val="1A1A1A"/>
                </a:solidFill>
                <a:latin typeface="Cambria Math"/>
              </a:rPr>
              <a:t>T1 (TS=10) writes X, T2 (TS=20) reads X, T3 (TS=30) writes X</a:t>
            </a:r>
          </a:p>
        </p:txBody>
      </p:sp>
      <p:sp>
        <p:nvSpPr>
          <p:cNvPr id="16" name="Oval 15"/>
          <p:cNvSpPr/>
          <p:nvPr/>
        </p:nvSpPr>
        <p:spPr>
          <a:xfrm>
            <a:off x="502920" y="279603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7" name="TextBox 16"/>
          <p:cNvSpPr txBox="1"/>
          <p:nvPr/>
        </p:nvSpPr>
        <p:spPr>
          <a:xfrm>
            <a:off x="1078992" y="2796032"/>
            <a:ext cx="10607040" cy="580136"/>
          </a:xfrm>
          <a:prstGeom prst="rect">
            <a:avLst/>
          </a:prstGeom>
          <a:noFill/>
        </p:spPr>
        <p:txBody>
          <a:bodyPr wrap="square" tIns="0" lIns="0" rIns="0" bIns="0">
            <a:spAutoFit/>
          </a:bodyPr>
          <a:lstStyle/>
          <a:p>
            <a:pPr algn="l">
              <a:lnSpc>
                <a:spcPct val="130000"/>
              </a:lnSpc>
            </a:pPr>
            <a:r>
              <a:rPr sz="1600">
                <a:solidFill>
                  <a:srgbClr val="1A1A1A"/>
                </a:solidFill>
                <a:latin typeface="Calibri"/>
              </a:rPr>
              <a:t>T1 writes X: Write_TS(X) becomes 10. Success.</a:t>
            </a:r>
          </a:p>
        </p:txBody>
      </p:sp>
      <p:sp>
        <p:nvSpPr>
          <p:cNvPr id="18" name="Oval 17"/>
          <p:cNvSpPr/>
          <p:nvPr/>
        </p:nvSpPr>
        <p:spPr>
          <a:xfrm>
            <a:off x="502920" y="352247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9" name="TextBox 18"/>
          <p:cNvSpPr txBox="1"/>
          <p:nvPr/>
        </p:nvSpPr>
        <p:spPr>
          <a:xfrm>
            <a:off x="1078992" y="3522472"/>
            <a:ext cx="10607040" cy="580136"/>
          </a:xfrm>
          <a:prstGeom prst="rect">
            <a:avLst/>
          </a:prstGeom>
          <a:noFill/>
        </p:spPr>
        <p:txBody>
          <a:bodyPr wrap="square" tIns="0" lIns="0" rIns="0" bIns="0">
            <a:spAutoFit/>
          </a:bodyPr>
          <a:lstStyle/>
          <a:p>
            <a:pPr algn="l">
              <a:lnSpc>
                <a:spcPct val="130000"/>
              </a:lnSpc>
            </a:pPr>
            <a:r>
              <a:rPr sz="1600">
                <a:solidFill>
                  <a:srgbClr val="1A1A1A"/>
                </a:solidFill>
                <a:latin typeface="Calibri"/>
              </a:rPr>
              <a:t>T2 reads X: TS(20) &gt; Read_TS(X)=10. Success. Read_TS(X) becomes 20.</a:t>
            </a:r>
          </a:p>
        </p:txBody>
      </p:sp>
      <p:sp>
        <p:nvSpPr>
          <p:cNvPr id="20" name="Oval 19"/>
          <p:cNvSpPr/>
          <p:nvPr/>
        </p:nvSpPr>
        <p:spPr>
          <a:xfrm>
            <a:off x="502920" y="424891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21" name="TextBox 20"/>
          <p:cNvSpPr txBox="1"/>
          <p:nvPr/>
        </p:nvSpPr>
        <p:spPr>
          <a:xfrm>
            <a:off x="1078992" y="4248912"/>
            <a:ext cx="10607040" cy="580136"/>
          </a:xfrm>
          <a:prstGeom prst="rect">
            <a:avLst/>
          </a:prstGeom>
          <a:noFill/>
        </p:spPr>
        <p:txBody>
          <a:bodyPr wrap="square" tIns="0" lIns="0" rIns="0" bIns="0">
            <a:spAutoFit/>
          </a:bodyPr>
          <a:lstStyle/>
          <a:p>
            <a:pPr algn="l">
              <a:lnSpc>
                <a:spcPct val="130000"/>
              </a:lnSpc>
            </a:pPr>
            <a:r>
              <a:rPr sz="1600">
                <a:solidFill>
                  <a:srgbClr val="1A1A1A"/>
                </a:solidFill>
                <a:latin typeface="Calibri"/>
              </a:rPr>
              <a:t>T3 writes X: TS(30) &gt; Read_TS(X)=20. Success. Write_TS(X) becomes 30.</a:t>
            </a:r>
          </a:p>
        </p:txBody>
      </p:sp>
      <p:sp>
        <p:nvSpPr>
          <p:cNvPr id="22" name="Oval 21"/>
          <p:cNvSpPr/>
          <p:nvPr/>
        </p:nvSpPr>
        <p:spPr>
          <a:xfrm>
            <a:off x="502920" y="49753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3" name="TextBox 22"/>
          <p:cNvSpPr txBox="1"/>
          <p:nvPr/>
        </p:nvSpPr>
        <p:spPr>
          <a:xfrm>
            <a:off x="1078992" y="4975352"/>
            <a:ext cx="10607040" cy="580136"/>
          </a:xfrm>
          <a:prstGeom prst="rect">
            <a:avLst/>
          </a:prstGeom>
          <a:noFill/>
        </p:spPr>
        <p:txBody>
          <a:bodyPr wrap="square" tIns="0" lIns="0" rIns="0" bIns="0">
            <a:spAutoFit/>
          </a:bodyPr>
          <a:lstStyle/>
          <a:p>
            <a:pPr algn="l">
              <a:lnSpc>
                <a:spcPct val="130000"/>
              </a:lnSpc>
            </a:pPr>
            <a:r>
              <a:rPr sz="1600">
                <a:solidFill>
                  <a:srgbClr val="1A1A1A"/>
                </a:solidFill>
                <a:latin typeface="Calibri"/>
              </a:rPr>
              <a:t>Schedule is serializable as T1 -&gt; T2 -&gt; T3.</a:t>
            </a:r>
          </a:p>
        </p:txBody>
      </p:sp>
      <p:sp>
        <p:nvSpPr>
          <p:cNvPr id="24" name="Oval 23"/>
          <p:cNvSpPr/>
          <p:nvPr/>
        </p:nvSpPr>
        <p:spPr>
          <a:xfrm>
            <a:off x="502920" y="570179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5" name="TextBox 24"/>
          <p:cNvSpPr txBox="1"/>
          <p:nvPr/>
        </p:nvSpPr>
        <p:spPr>
          <a:xfrm>
            <a:off x="1078992" y="5701792"/>
            <a:ext cx="10607040" cy="580136"/>
          </a:xfrm>
          <a:prstGeom prst="rect">
            <a:avLst/>
          </a:prstGeom>
          <a:noFill/>
        </p:spPr>
        <p:txBody>
          <a:bodyPr wrap="square" tIns="0" lIns="0" rIns="0" bIns="0">
            <a:spAutoFit/>
          </a:bodyPr>
          <a:lstStyle/>
          <a:p>
            <a:pPr algn="l">
              <a:lnSpc>
                <a:spcPct val="130000"/>
              </a:lnSpc>
            </a:pPr>
            <a:r>
              <a:rPr sz="1600">
                <a:solidFill>
                  <a:srgbClr val="1A1A1A"/>
                </a:solidFill>
                <a:latin typeface="Calibri"/>
              </a:rPr>
              <a:t>No deadlocks occurred as no transaction waited for another.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Comparison</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03780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Locking vs. Timestamp Ordering</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Locking (2PL) allows waiting but risks deadlocks and starvation.</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Timestamp Ordering avoids deadlocks but causes frequent transaction aborts.</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Locking is better for high contention on hot data items.</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Timestamp Ordering is better for low contention and read-heavy workloads.</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Strict 2PL ensures recoverability; Timestamp Ordering requires restart logic.</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Choice depends on the specific workload and database access patterns.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20762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Two-Phase Locking guarantees serializability by separating lock acquisition and release.</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Strict 2PL prevents cascading rollbacks by holding exclusive locks until commit.</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Timestamp Ordering ensures serializability without locks by enforcing a global order.</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Deadlocks are a risk in locking protocols but are avoided in timestamp ordering.</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Both techniques are essential for maintaining ACID properties in concurrent systems.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Fundamentals of Database Systems — Ramez Elmasri &amp; Shamkant B. Navathe</a:t>
            </a:r>
          </a:p>
        </p:txBody>
      </p:sp>
      <p:sp>
        <p:nvSpPr>
          <p:cNvPr id="15" name="Oval 14"/>
          <p:cNvSpPr/>
          <p:nvPr/>
        </p:nvSpPr>
        <p:spPr>
          <a:xfrm>
            <a:off x="502920" y="2640584"/>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640584"/>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Database System Concepts — Silberschatz, Korth &amp; Sudarshan</a:t>
            </a:r>
          </a:p>
        </p:txBody>
      </p:sp>
      <p:sp>
        <p:nvSpPr>
          <p:cNvPr id="17" name="Oval 16"/>
          <p:cNvSpPr/>
          <p:nvPr/>
        </p:nvSpPr>
        <p:spPr>
          <a:xfrm>
            <a:off x="502920" y="3655568"/>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655568"/>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Database Management Systems — Raghu Ramakrishnan &amp; Johannes Gehrke</a:t>
            </a:r>
          </a:p>
        </p:txBody>
      </p:sp>
      <p:sp>
        <p:nvSpPr>
          <p:cNvPr id="19" name="Oval 18"/>
          <p:cNvSpPr/>
          <p:nvPr/>
        </p:nvSpPr>
        <p:spPr>
          <a:xfrm>
            <a:off x="502920" y="46705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670552"/>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Oracle/MySQL Documentation — Oracle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Concurrency Control Techniques: 2PL, Strict 2PL, and Timestamp Ordering</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