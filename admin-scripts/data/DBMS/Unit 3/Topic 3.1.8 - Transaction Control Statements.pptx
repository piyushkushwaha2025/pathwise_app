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Transaction Control Statements. We are diving deep into the SQL and Advanced Query Formulation chapter. As engineers, mastering these statements is crucial for ensuring data integrity in real-world applications. Let us begin our journey to Discover, Learn, and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CO4 and CO5. We will analyze how transaction schedules ensure correctness and recoverability. You will also evaluate how these statements impact performance and scalability. Understanding these outcomes is key to your engineering success.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atomicity and consistency deeply. You will evaluate how COMMIT and ROLLBACK affect the final database state. We will also determine the correct usage of SAVEPOINT for partial recovery. Finally, you will assess isolation levels for concurrency control.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Transaction control statements manage the logical grouping of SQL operations to ensure data integrity. They are the guardians of the ACID properties: Atomicity, Consistency, Isolation, and Durability. Without these statements, partial updates can corrupt the database state significantly. They define the precise boundaries where a group of actions becomes permanent.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COMMIT statement makes all changes made in the current transaction permanent. It releases all locks held by the transaction on data objects immediately. Once committed, the changes cannot be undone by a ROLLBACK command ever. It signals the successful completion of a logical unit of work for the user.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ROLLBACK undoes all changes made in the current transaction completely. It restores the database to the state before the transaction began. It is used when an error occurs or business logic fails during execution. It ensures atomicity by treating the transaction as if it never happened.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SAVEPOINT creates a marker within a transaction for partial rollback capabilities. It allows rolling back to a specific point without losing all previous work. It is useful for complex transactions with multiple logical sub-steps. Syntax involves defining named checkpoints to allow flexible error recovery.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scenario where we transfer 500 from Account A to Account B. Step 1 updates Account A, and Step 2 updates Account B. If Step 2 fails, ROLLBACK restores Account A to its original value. Success means both steps succeed, and COMMIT makes the transfer permanent. This ensures atomicity where either both accounts update or neither does.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numbers. Initial Balance A is 2000 and Balance B is 1500. After Step 1, Balance A becomes 1500. If an error occurs before Step 2, the system triggers an implicit ROLLBACK. The final state shows Balance A is 2000 and Balance B is 1500. This net change of zero demonstrates perfect recovery from failure.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clients enable auto-commit by default for every single statement. This prevents grouping multiple statements into a single logical transaction. A failure in the second statement leaves the first permanently committed. Developers must explicitly disable auto-commit for multi-step operations to ensure safety.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Long-running transactions hold locks for extended periods unnecessarily. This causes blocking and reduces concurrency for other users significantly. Deadlocks can occur when two transactions wait for each other's locks. Keep transactions short by performing only essential database operations to maintain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Savepoints can be nested, but rollback logic can become complex. Rolling back to an outer savepoint undoes all inner savepoints completely. Naming conflicts can occur if markers are not unique per transaction. Overuse of savepoints can degrade performance due to log overhead. Use savepoints only when partial recovery is strictly required.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COMMIT permanently saves changes and releases locks immediately. ROLLBACK undoes all changes and restores the previous database state. SAVEPOINT allows partial rollback within a long transaction sequence. Always disable auto-commit for multi-step logical operations. Keep transactions short to maximize concurrency and prevent deadlocks.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Fundamentals of Database Systems by Elmasri and Navathe. You should also consult Database System Concepts by Silberschatz, Korth, and Sudarshan. The Database Management Systems book by Ramakrishnan and Gehrke is also essential. Finally, check the Oracle and MySQL documentation for specific syntax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Transaction Control Statements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SQL and Advanced Query Formulation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atomicity and consistency properties of transaction control statements.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COMMIT and ROLLBACK on database state.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Determine the correct usage of SAVEPOINT for partial recovery scenarios.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role of transaction isolation levels in concurrency control.</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robust SQL scripts handling complex multi-step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Transaction Control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THEY ENSURE THE ACID PROPERTIES</a:t>
            </a:r>
          </a:p>
          <a:p>
            <a:pPr algn="l">
              <a:lnSpc>
                <a:spcPct val="135000"/>
              </a:lnSpc>
            </a:pPr>
            <a:r>
              <a:rPr sz="1300">
                <a:solidFill>
                  <a:srgbClr val="1A1A1A"/>
                </a:solidFill>
                <a:latin typeface="Calibri"/>
              </a:rPr>
              <a:t>Atomicity, Consistency, Isolation, Durability.</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Transaction control statements manage the logical grouping of SQL operations.</a:t>
            </a:r>
          </a:p>
          <a:p>
            <a:pPr algn="l">
              <a:lnSpc>
                <a:spcPct val="135000"/>
              </a:lnSpc>
            </a:pPr>
            <a:r>
              <a:rPr sz="1300">
                <a:solidFill>
                  <a:srgbClr val="1A1A1A"/>
                </a:solidFill>
                <a:latin typeface="Calibri"/>
              </a:rPr>
              <a:t>•  Without these statements, partial updates can corrupt the database state.</a:t>
            </a:r>
          </a:p>
          <a:p>
            <a:pPr algn="l">
              <a:lnSpc>
                <a:spcPct val="135000"/>
              </a:lnSpc>
            </a:pPr>
            <a:r>
              <a:rPr sz="1300">
                <a:solidFill>
                  <a:srgbClr val="1A1A1A"/>
                </a:solidFill>
                <a:latin typeface="Calibri"/>
              </a:rPr>
              <a:t>•  They define the boundaries where a group of actions becomes permanent.</a:t>
            </a:r>
          </a:p>
          <a:p>
            <a:pPr algn="l">
              <a:lnSpc>
                <a:spcPct val="135000"/>
              </a:lnSpc>
            </a:pPr>
            <a:r>
              <a:rPr sz="1300">
                <a:solidFill>
                  <a:srgbClr val="1A1A1A"/>
                </a:solidFill>
                <a:latin typeface="Calibri"/>
              </a:rPr>
              <a:t>•  These statements are essential for maintaining data integrity in concurrent systems.</a:t>
            </a:r>
          </a:p>
          <a:p>
            <a:pPr algn="l">
              <a:lnSpc>
                <a:spcPct val="135000"/>
              </a:lnSpc>
            </a:pPr>
            <a:r>
              <a:rPr sz="1300">
                <a:solidFill>
                  <a:srgbClr val="1A1A1A"/>
                </a:solidFill>
                <a:latin typeface="Calibri"/>
              </a:rPr>
              <a:t>•  They allow developers to explicitly control the start and end of transactions.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COMMIT Statement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COMMIT makes all changes made in the current transaction permanent.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releases all locks held by the transaction on data objects.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Once committed, the changes cannot be undone by a ROLLBACK command.</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signals the successful completion of a logical unit of work.</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Implicit commits occur after DDL statements in many database systems.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Explicit commits are required for DML operations to persist data.</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sqlbak.com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ROLLBACK Statement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ROLLBACK undoes all changes made in the current transaction.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restores the database to the state before the transaction began.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used when an error occurs or business logic fails.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releases all locks held by the transaction on data objects.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ensures atomicity by treating the transaction as if it never happened.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can be issued explicitly by the user or implicitly by the system.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SAVEPOINT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SYNTAX</a:t>
            </a:r>
          </a:p>
          <a:p>
            <a:pPr algn="l">
              <a:lnSpc>
                <a:spcPct val="135000"/>
              </a:lnSpc>
            </a:pPr>
            <a:r>
              <a:rPr sz="1300">
                <a:solidFill>
                  <a:srgbClr val="1A1A1A"/>
                </a:solidFill>
                <a:latin typeface="Calibri"/>
              </a:rPr>
              <a:t>SAVEPOINT marker_name; allows defining named checkpoints.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SAVEPOINT creates a marker within a transaction for partial rollback.</a:t>
            </a:r>
          </a:p>
          <a:p>
            <a:pPr algn="l">
              <a:lnSpc>
                <a:spcPct val="135000"/>
              </a:lnSpc>
            </a:pPr>
            <a:r>
              <a:rPr sz="1300">
                <a:solidFill>
                  <a:srgbClr val="1A1A1A"/>
                </a:solidFill>
                <a:latin typeface="Calibri"/>
              </a:rPr>
              <a:t>•  It allows rolling back to a specific point without losing all work.</a:t>
            </a:r>
          </a:p>
          <a:p>
            <a:pPr algn="l">
              <a:lnSpc>
                <a:spcPct val="135000"/>
              </a:lnSpc>
            </a:pPr>
            <a:r>
              <a:rPr sz="1300">
                <a:solidFill>
                  <a:srgbClr val="1A1A1A"/>
                </a:solidFill>
                <a:latin typeface="Calibri"/>
              </a:rPr>
              <a:t>•  It is useful for complex transactions with multiple logical sub-steps.</a:t>
            </a:r>
          </a:p>
          <a:p>
            <a:pPr algn="l">
              <a:lnSpc>
                <a:spcPct val="135000"/>
              </a:lnSpc>
            </a:pPr>
            <a:r>
              <a:rPr sz="1300">
                <a:solidFill>
                  <a:srgbClr val="1A1A1A"/>
                </a:solidFill>
                <a:latin typeface="Calibri"/>
              </a:rPr>
              <a:t>•  ROLLBACK TO marker_name reverts changes made after the savepoint.</a:t>
            </a:r>
          </a:p>
          <a:p>
            <a:pPr algn="l">
              <a:lnSpc>
                <a:spcPct val="135000"/>
              </a:lnSpc>
            </a:pPr>
            <a:r>
              <a:rPr sz="1300">
                <a:solidFill>
                  <a:srgbClr val="1A1A1A"/>
                </a:solidFill>
                <a:latin typeface="Calibri"/>
              </a:rPr>
              <a:t>•  It improves user experience by allowing error recovery without full restart.</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d2vlcm61l7u1fs.cloudfront.net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Transfer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Step 1: UPDATE accounts SET balance = balance - 500 WHERE id = A</a:t>
            </a:r>
          </a:p>
        </p:txBody>
      </p:sp>
      <p:sp>
        <p:nvSpPr>
          <p:cNvPr id="16" name="Rectangle 15"/>
          <p:cNvSpPr/>
          <p:nvPr/>
        </p:nvSpPr>
        <p:spPr>
          <a:xfrm>
            <a:off x="502920"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Transfer 500 from Account A to Account B.</a:t>
            </a:r>
          </a:p>
        </p:txBody>
      </p:sp>
      <p:sp>
        <p:nvSpPr>
          <p:cNvPr id="19" name="Rectangle 18"/>
          <p:cNvSpPr/>
          <p:nvPr/>
        </p:nvSpPr>
        <p:spPr>
          <a:xfrm>
            <a:off x="3669715"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2</a:t>
            </a:r>
          </a:p>
          <a:p>
            <a:pPr algn="l">
              <a:lnSpc>
                <a:spcPct val="135000"/>
              </a:lnSpc>
            </a:pPr>
            <a:r>
              <a:rPr sz="1300">
                <a:solidFill>
                  <a:srgbClr val="1A1A1A"/>
                </a:solidFill>
                <a:latin typeface="Calibri"/>
              </a:rPr>
              <a:t>UPDATE accounts SET balance = balance + 500 WHERE id = B.</a:t>
            </a:r>
          </a:p>
        </p:txBody>
      </p:sp>
      <p:sp>
        <p:nvSpPr>
          <p:cNvPr id="22" name="Rectangle 21"/>
          <p:cNvSpPr/>
          <p:nvPr/>
        </p:nvSpPr>
        <p:spPr>
          <a:xfrm>
            <a:off x="502920"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ERROR</a:t>
            </a:r>
          </a:p>
          <a:p>
            <a:pPr algn="l">
              <a:lnSpc>
                <a:spcPct val="135000"/>
              </a:lnSpc>
            </a:pPr>
            <a:r>
              <a:rPr sz="1300">
                <a:solidFill>
                  <a:srgbClr val="1A1A1A"/>
                </a:solidFill>
                <a:latin typeface="Calibri"/>
              </a:rPr>
              <a:t>If Step 2 fails, ROLLBACK restores Account A to original value.</a:t>
            </a:r>
          </a:p>
        </p:txBody>
      </p:sp>
      <p:sp>
        <p:nvSpPr>
          <p:cNvPr id="25" name="Rectangle 24"/>
          <p:cNvSpPr/>
          <p:nvPr/>
        </p:nvSpPr>
        <p:spPr>
          <a:xfrm>
            <a:off x="3669715"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SUCCESS</a:t>
            </a:r>
          </a:p>
          <a:p>
            <a:pPr algn="l">
              <a:lnSpc>
                <a:spcPct val="135000"/>
              </a:lnSpc>
            </a:pPr>
            <a:r>
              <a:rPr sz="1300">
                <a:solidFill>
                  <a:srgbClr val="1A1A1A"/>
                </a:solidFill>
                <a:latin typeface="Calibri"/>
              </a:rPr>
              <a:t>If both steps succeed, COMMIT makes the transfer permanent.</a:t>
            </a:r>
          </a:p>
        </p:txBody>
      </p:sp>
      <p:sp>
        <p:nvSpPr>
          <p:cNvPr id="28" name="Rectangle 27"/>
          <p:cNvSpPr/>
          <p:nvPr/>
        </p:nvSpPr>
        <p:spPr>
          <a:xfrm>
            <a:off x="502920"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Atomicity ensures either both accounts update or neither does.</a:t>
            </a:r>
          </a:p>
        </p:txBody>
      </p:sp>
      <p:pic>
        <p:nvPicPr>
          <p:cNvPr id="31" name="Picture 3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2" name="TextBox 3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www.projectmanager.com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Numerical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INITIAL BALANCE A</a:t>
            </a:r>
          </a:p>
          <a:p>
            <a:pPr algn="l">
              <a:lnSpc>
                <a:spcPct val="135000"/>
              </a:lnSpc>
            </a:pPr>
            <a:r>
              <a:rPr sz="1300">
                <a:solidFill>
                  <a:srgbClr val="1A1A1A"/>
                </a:solidFill>
                <a:latin typeface="Calibri"/>
              </a:rPr>
              <a:t>2000, Initial Balance B: 1500.</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TRANSACTION STARTS</a:t>
            </a:r>
          </a:p>
          <a:p>
            <a:pPr algn="l">
              <a:lnSpc>
                <a:spcPct val="135000"/>
              </a:lnSpc>
            </a:pPr>
            <a:r>
              <a:rPr sz="1300">
                <a:solidFill>
                  <a:srgbClr val="1A1A1A"/>
                </a:solidFill>
                <a:latin typeface="Calibri"/>
              </a:rPr>
              <a:t>BEGIN TRANSACTION.</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STATE</a:t>
            </a:r>
          </a:p>
          <a:p>
            <a:pPr algn="l">
              <a:lnSpc>
                <a:spcPct val="135000"/>
              </a:lnSpc>
            </a:pPr>
            <a:r>
              <a:rPr sz="1300">
                <a:solidFill>
                  <a:srgbClr val="1A1A1A"/>
                </a:solidFill>
                <a:latin typeface="Calibri"/>
              </a:rPr>
              <a:t>Balance A is 2000, Balance B is 1500.</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NET CHANGE</a:t>
            </a:r>
          </a:p>
          <a:p>
            <a:pPr algn="l">
              <a:lnSpc>
                <a:spcPct val="135000"/>
              </a:lnSpc>
            </a:pPr>
            <a:r>
              <a:rPr sz="1300">
                <a:solidFill>
                  <a:srgbClr val="1A1A1A"/>
                </a:solidFill>
                <a:latin typeface="Calibri"/>
              </a:rPr>
              <a:t>Zero, demonstrating perfect recovery from failure.</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lnSpc>
                <a:spcPct val="135000"/>
              </a:lnSpc>
            </a:pPr>
            <a:r>
              <a:rPr sz="1300">
                <a:solidFill>
                  <a:srgbClr val="1A1A1A"/>
                </a:solidFill>
                <a:latin typeface="Calibri"/>
              </a:rPr>
              <a:t>•  After Step 1: Balance A becomes 1500 (2000 - 500).</a:t>
            </a:r>
          </a:p>
          <a:p>
            <a:pPr algn="l">
              <a:lnSpc>
                <a:spcPct val="135000"/>
              </a:lnSpc>
            </a:pPr>
            <a:r>
              <a:rPr sz="1300">
                <a:solidFill>
                  <a:srgbClr val="1A1A1A"/>
                </a:solidFill>
                <a:latin typeface="Calibri"/>
              </a:rPr>
              <a:t>•  Error occurs before Step 2: System triggers implicit ROLLBACK.</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Auto-Commit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Many clients enable auto-commit by default for every single statement.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prevents grouping multiple statements into a single logical transaction.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failure in the second statement leaves the first permanently committed.</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Developers must explicitly disable auto-commit for multi-step operations.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verify the connection settings before writing transaction logic.</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Implicit commits can occur after DDL statements like CREATE or DROP.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Long Transactions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Long-running transactions hold locks for extended periods unnecessarily.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causes blocking and reduces concurrency for other users significantly.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Deadlocks can occur when two transactions wait for each other's locks.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Keep transactions short by performing only essential database operations.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Move complex calculations to the application layer before committing.</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Optimize query performance to reduce the time locks are held.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Nested Savepoints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Savepoints can be nested, but rollback logic can become complex.</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Rolling back to an outer savepoint undoes all inner savepoints.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Naming conflicts can occur if markers are not unique per transaction.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Overuse of savepoints can degrade performance due to log overhead.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Use savepoints only when partial recovery is strictly required.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release savepoints after use to free system resources.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COMMIT permanently saves changes and releases locks immediately.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ROLLBACK undoes all changes and restores the previous database state.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SAVEPOINT allows partial rollback within a long transaction sequence.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disable auto-commit for multi-step logical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Keep transactions short to maximize concurrency and prevent deadlocks.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Control Statements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