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advanced session on SQL query formulation. We will dive deep into the core clauses that define how we extract and manipulate data. Our goal is to move beyond basic syntax to understanding the logic behind complex queries. Remember, mastering these clauses is essential for the 'Discover. Learn. Empower.' philosophy of our engineering program.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CO1 by reinforcing the formal foundations of relational algebra through SQL syntax. It also supports CO5 because understanding query structure is the first step in evaluating optimization strategies. We will see how the order of clauses impacts the execution plan and overall system performance. These outcomes ensure you can both explain and evaluate database behaviors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why SQL executes in a specific logical order. You will learn to construct queries that filter groups of data, not just individual rows. We will differentiate clearly between row-level and group-level filtering to avoid common logical errors. Finally, you will synthesize these skills to solve complex data analysis problems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students write queries in the order they think, but the database executes them differently. The engine first identifies the tables, then filters rows, then groups them, and finally sorts the results. For example, if you try to filter on an aggregate function in the WHERE clause, the query will fail because that column doesn't exist yet. Always remember: filtering happens before grouping, and sorting happens after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WHERE clause as a sieve that removes unwanted rows before they are processed further. It operates on individual records, so you cannot use it to check if a group average meets a criteria. For instance, you can filter for employees earning more than 50,000, but you cannot filter for departments with an average salary above 50,000 using WHERE. This distinction is crucial for writing correct and efficient queries.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GROUP BY clause is the engine of data summarization in SQL. It takes a large set of rows and collapses them into groups based on a key column. For example, if you group by department, you get one row per department with aggregated data. Remember, if you select a column that is not in the GROUP BY clause, it must be inside an aggregate function, or the query will fail. This rule ensures data consistency in your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WHERE filters rows, HAVING filters groups. This is the critical difference you must master. You use HAVING when you need to check a condition on an aggregate value, such as finding departments where the average salary exceeds a certain threshold. If you try to use an aggregate function in a WHERE clause, the database will throw an error because the aggregation hasn't happened yet. Always place HAVING after GROUP BY in your logical flow.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concrete example to see this in action. Imagine we have a Sales table with thousands of transactions. We want to find departments that are performing well, defined by total sales over 100,000 and an average sale above 5,000. The database first groups the data by department, calculates the totals, and then applies the HAVING clause to filter the results. This ensures we only see the high-performing departments in our final report.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your data is filtered and aggregated, ORDER BY arranges it for human readability. You can sort by any column in your result set, including calculated aggregates. By default, the sort is ascending, but you can explicitly request descending order using the DESC keyword. Remember, this is the very last step in the logical execution order, so it does not influence which rows are selected, only how they appear.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mistake students make is trying to filter on an aggregate function using the WHERE clause. For example, writing WHERE AVG(salary) &gt; 50000 will fail because the average doesn't exist yet. You must move that condition to the HAVING clause. Another pitfall is selecting a column that isn't in the GROUP BY clause without aggregating it. Always check your logical flow to ensure you are filtering at the right stage of execution.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performance perspective, the order in which you write your query matters less than the logical flow the optimizer follows. However, using WHERE to filter early is always better than filtering late. If you filter 90% of the rows before grouping, the aggregation step becomes much faster. This aligns with our course outcome on evaluating optimization techniques. Always consider how your query structure impacts the database engine's workload.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a simple GROUP BY is not enough. You might need to compare a department's average salary against the company-wide average. This requires a subquery to calculate the global average first. The outer query then groups by department and uses HAVING to compare each group against that global value. This technique allows for sophisticated comparative analysis, which is a key skill in advanced query formulation.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always remember the logical execution order of SQL clauses. This order dictates where you can use specific filters and functions. Use WHERE for row-level filtering and HAVING for group-level filtering. Finally, ORDER BY is your tool for presenting the final data in a useful way. Mastering these distinctions is the foundation of advanced SQL query formulation.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deeper understanding of these concepts, please refer to the standard textbooks listed here. Elmasri and Navathe provide excellent coverage of relational algebra foundations. Silberschatz offers a comprehensive view of database systems, while Ramakrishnan provides practical insights into query processing. Finally, the Oracle and MySQL documentation are invaluable resources for specific syntax and optimization features.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Query formulation using SELECT, WHERE, GROUP BY, HAVING and ORDER BY</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SQL and Advanced Query Formulation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logical execution order of SQL clauses versus their syntactic writing order.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complex queries using GROUP BY and HAVING to filter aggregated results.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WHERE and HAVING filters based on the timing of execution.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ORDER BY on result set presentation and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multi-clause queries to solve real-world data analysis problems efficiently.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Logical Execution Order of SQL Clauses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LOGICAL SEQUENCE IS</a:t>
            </a:r>
          </a:p>
          <a:p>
            <a:pPr algn="l">
              <a:lnSpc>
                <a:spcPct val="135000"/>
              </a:lnSpc>
            </a:pPr>
            <a:r>
              <a:rPr sz="1300">
                <a:solidFill>
                  <a:srgbClr val="1A1A1A"/>
                </a:solidFill>
                <a:latin typeface="Calibri"/>
              </a:rPr>
              <a:t>FROM → WHERE → GROUP BY → HAVING → SELECT → ORDER BY.</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SQL is written in one order but executed in a specific logical sequence.</a:t>
            </a:r>
          </a:p>
          <a:p>
            <a:pPr algn="l">
              <a:lnSpc>
                <a:spcPct val="135000"/>
              </a:lnSpc>
            </a:pPr>
            <a:r>
              <a:rPr sz="1300">
                <a:solidFill>
                  <a:srgbClr val="1A1A1A"/>
                </a:solidFill>
                <a:latin typeface="Calibri"/>
              </a:rPr>
              <a:t>•  The database engine processes FROM and JOIN before any filtering occurs.</a:t>
            </a:r>
          </a:p>
          <a:p>
            <a:pPr algn="l">
              <a:lnSpc>
                <a:spcPct val="135000"/>
              </a:lnSpc>
            </a:pPr>
            <a:r>
              <a:rPr sz="1300">
                <a:solidFill>
                  <a:srgbClr val="1A1A1A"/>
                </a:solidFill>
                <a:latin typeface="Calibri"/>
              </a:rPr>
              <a:t>•  WHERE filters rows before grouping, while HAVING filters groups after aggregation.</a:t>
            </a:r>
          </a:p>
          <a:p>
            <a:pPr algn="l">
              <a:lnSpc>
                <a:spcPct val="135000"/>
              </a:lnSpc>
            </a:pPr>
            <a:r>
              <a:rPr sz="1300">
                <a:solidFill>
                  <a:srgbClr val="1A1A1A"/>
                </a:solidFill>
                <a:latin typeface="Calibri"/>
              </a:rPr>
              <a:t>•  GROUP BY aggregates rows into summary groups based on specified columns.</a:t>
            </a:r>
          </a:p>
          <a:p>
            <a:pPr algn="l">
              <a:lnSpc>
                <a:spcPct val="135000"/>
              </a:lnSpc>
            </a:pPr>
            <a:r>
              <a:rPr sz="1300">
                <a:solidFill>
                  <a:srgbClr val="1A1A1A"/>
                </a:solidFill>
                <a:latin typeface="Calibri"/>
              </a:rPr>
              <a:t>•  SELECT and ORDER BY are processed last to format the final output.</a:t>
            </a:r>
          </a:p>
          <a:p>
            <a:pPr algn="l">
              <a:lnSpc>
                <a:spcPct val="135000"/>
              </a:lnSpc>
            </a:pPr>
            <a:r>
              <a:rPr sz="1300">
                <a:solidFill>
                  <a:srgbClr val="1A1A1A"/>
                </a:solidFill>
                <a:latin typeface="Calibri"/>
              </a:rPr>
              <a:t>•  Understanding this order prevents logical errors in complex query formulation.</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Linear Diagram Represents Six Stage Process Flow Chart Template Powerpoint  Slides | Graphics Presentation | Background for PowerPoint | PPT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WHERE Clause for Row-Level Filtering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WHERE salary &gt; 50000 selects only high-earning employees immediately.</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WHERE clause filters individual rows before any aggregation or grouping occurs.</a:t>
            </a:r>
          </a:p>
          <a:p>
            <a:pPr algn="l">
              <a:lnSpc>
                <a:spcPct val="135000"/>
              </a:lnSpc>
            </a:pPr>
            <a:r>
              <a:rPr sz="1300">
                <a:solidFill>
                  <a:srgbClr val="1A1A1A"/>
                </a:solidFill>
                <a:latin typeface="Calibri"/>
              </a:rPr>
              <a:t>•  It uses conditions like equality, comparison, or logical operators to select rows.</a:t>
            </a:r>
          </a:p>
          <a:p>
            <a:pPr algn="l">
              <a:lnSpc>
                <a:spcPct val="135000"/>
              </a:lnSpc>
            </a:pPr>
            <a:r>
              <a:rPr sz="1300">
                <a:solidFill>
                  <a:srgbClr val="1A1A1A"/>
                </a:solidFill>
                <a:latin typeface="Calibri"/>
              </a:rPr>
              <a:t>•  Conditions in WHERE must reference existing column values, not aggregate functions.</a:t>
            </a:r>
          </a:p>
          <a:p>
            <a:pPr algn="l">
              <a:lnSpc>
                <a:spcPct val="135000"/>
              </a:lnSpc>
            </a:pPr>
            <a:r>
              <a:rPr sz="1300">
                <a:solidFill>
                  <a:srgbClr val="1A1A1A"/>
                </a:solidFill>
                <a:latin typeface="Calibri"/>
              </a:rPr>
              <a:t>•  Using WHERE reduces the dataset size early, improving query performance significantly.</a:t>
            </a:r>
          </a:p>
          <a:p>
            <a:pPr algn="l">
              <a:lnSpc>
                <a:spcPct val="135000"/>
              </a:lnSpc>
            </a:pPr>
            <a:r>
              <a:rPr sz="1300">
                <a:solidFill>
                  <a:srgbClr val="1A1A1A"/>
                </a:solidFill>
                <a:latin typeface="Calibri"/>
              </a:rPr>
              <a:t>•  It cannot be used to filter results based on calculated group totals.</a:t>
            </a:r>
          </a:p>
          <a:p>
            <a:pPr algn="l">
              <a:lnSpc>
                <a:spcPct val="135000"/>
              </a:lnSpc>
            </a:pPr>
            <a:r>
              <a:rPr sz="1300">
                <a:solidFill>
                  <a:srgbClr val="1A1A1A"/>
                </a:solidFill>
                <a:latin typeface="Calibri"/>
              </a:rPr>
              <a:t>•  The database evaluates the WHERE condition for every row in the source table.</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engnovatewebsitestorage.blob.core.windows.net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GROUP BY Clause for Aggregation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GROUP BY department_id creates one row for each unique department.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GROUP BY organizes rows into groups based on unique values in specified columns.</a:t>
            </a:r>
          </a:p>
          <a:p>
            <a:pPr algn="l">
              <a:lnSpc>
                <a:spcPct val="135000"/>
              </a:lnSpc>
            </a:pPr>
            <a:r>
              <a:rPr sz="1300">
                <a:solidFill>
                  <a:srgbClr val="1A1A1A"/>
                </a:solidFill>
                <a:latin typeface="Calibri"/>
              </a:rPr>
              <a:t>•  It enables the use of aggregate functions like SUM, AVG, COUNT, MAX, and MIN.</a:t>
            </a:r>
          </a:p>
          <a:p>
            <a:pPr algn="l">
              <a:lnSpc>
                <a:spcPct val="135000"/>
              </a:lnSpc>
            </a:pPr>
            <a:r>
              <a:rPr sz="1300">
                <a:solidFill>
                  <a:srgbClr val="1A1A1A"/>
                </a:solidFill>
                <a:latin typeface="Calibri"/>
              </a:rPr>
              <a:t>•  Every column in the SELECT list must be either aggregated or in GROUP BY.</a:t>
            </a:r>
          </a:p>
          <a:p>
            <a:pPr algn="l">
              <a:lnSpc>
                <a:spcPct val="135000"/>
              </a:lnSpc>
            </a:pPr>
            <a:r>
              <a:rPr sz="1300">
                <a:solidFill>
                  <a:srgbClr val="1A1A1A"/>
                </a:solidFill>
                <a:latin typeface="Calibri"/>
              </a:rPr>
              <a:t>•  The clause collapses multiple rows into a single summary row per group.</a:t>
            </a:r>
          </a:p>
          <a:p>
            <a:pPr algn="l">
              <a:lnSpc>
                <a:spcPct val="135000"/>
              </a:lnSpc>
            </a:pPr>
            <a:r>
              <a:rPr sz="1300">
                <a:solidFill>
                  <a:srgbClr val="1A1A1A"/>
                </a:solidFill>
                <a:latin typeface="Calibri"/>
              </a:rPr>
              <a:t>•  It transforms a flat table into a summarized view for analytical reporting.</a:t>
            </a:r>
          </a:p>
          <a:p>
            <a:pPr algn="l">
              <a:lnSpc>
                <a:spcPct val="135000"/>
              </a:lnSpc>
            </a:pPr>
            <a:r>
              <a:rPr sz="1300">
                <a:solidFill>
                  <a:srgbClr val="1A1A1A"/>
                </a:solidFill>
                <a:latin typeface="Calibri"/>
              </a:rPr>
              <a:t>•  The order of columns in GROUP BY determines the grouping hierarchy.</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chartexpo.com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HAVING Clause for Group Filtering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HAVING COUNT(*) &gt; 5 selects departments with more than five employees.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HAVING clause filters groups after the GROUP BY aggregation is complete.</a:t>
            </a:r>
          </a:p>
          <a:p>
            <a:pPr algn="l">
              <a:lnSpc>
                <a:spcPct val="135000"/>
              </a:lnSpc>
            </a:pPr>
            <a:r>
              <a:rPr sz="1300">
                <a:solidFill>
                  <a:srgbClr val="1A1A1A"/>
                </a:solidFill>
                <a:latin typeface="Calibri"/>
              </a:rPr>
              <a:t>•  It allows conditions on aggregate functions like AVG(salary) &gt; 50000.</a:t>
            </a:r>
          </a:p>
          <a:p>
            <a:pPr algn="l">
              <a:lnSpc>
                <a:spcPct val="135000"/>
              </a:lnSpc>
            </a:pPr>
            <a:r>
              <a:rPr sz="1300">
                <a:solidFill>
                  <a:srgbClr val="1A1A1A"/>
                </a:solidFill>
                <a:latin typeface="Calibri"/>
              </a:rPr>
              <a:t>•  HAVING is the only place to filter based on calculated group totals.</a:t>
            </a:r>
          </a:p>
          <a:p>
            <a:pPr algn="l">
              <a:lnSpc>
                <a:spcPct val="135000"/>
              </a:lnSpc>
            </a:pPr>
            <a:r>
              <a:rPr sz="1300">
                <a:solidFill>
                  <a:srgbClr val="1A1A1A"/>
                </a:solidFill>
                <a:latin typeface="Calibri"/>
              </a:rPr>
              <a:t>•  It works similarly to WHERE but operates on the result of grouping.</a:t>
            </a:r>
          </a:p>
          <a:p>
            <a:pPr algn="l">
              <a:lnSpc>
                <a:spcPct val="135000"/>
              </a:lnSpc>
            </a:pPr>
            <a:r>
              <a:rPr sz="1300">
                <a:solidFill>
                  <a:srgbClr val="1A1A1A"/>
                </a:solidFill>
                <a:latin typeface="Calibri"/>
              </a:rPr>
              <a:t>•  Using HAVING without GROUP BY treats the entire table as a single group.</a:t>
            </a:r>
          </a:p>
          <a:p>
            <a:pPr algn="l">
              <a:lnSpc>
                <a:spcPct val="135000"/>
              </a:lnSpc>
            </a:pPr>
            <a:r>
              <a:rPr sz="1300">
                <a:solidFill>
                  <a:srgbClr val="1A1A1A"/>
                </a:solidFill>
                <a:latin typeface="Calibri"/>
              </a:rPr>
              <a:t>•  It is essential for finding groups that meet specific statistical criteria.</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static-assets.codecademy.com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Sales Analysis Query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Find departments with total sales over 100,000 and average sales &gt; 5,000.</a:t>
            </a:r>
          </a:p>
        </p:txBody>
      </p:sp>
      <p:sp>
        <p:nvSpPr>
          <p:cNvPr id="16" name="Rectangle 15"/>
          <p:cNvSpPr/>
          <p:nvPr/>
        </p:nvSpPr>
        <p:spPr>
          <a:xfrm>
            <a:off x="3669715" y="1625600"/>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a:t>
            </a:r>
          </a:p>
          <a:p>
            <a:pPr algn="l">
              <a:lnSpc>
                <a:spcPct val="135000"/>
              </a:lnSpc>
            </a:pPr>
            <a:r>
              <a:rPr sz="1300">
                <a:solidFill>
                  <a:srgbClr val="1A1A1A"/>
                </a:solidFill>
                <a:latin typeface="Calibri"/>
              </a:rPr>
              <a:t>SELECT dept, SUM(sales), AVG(sales) FROM Sales GROUP BY dept HAVING SUM(sales) &gt; 100000 AND AVG(sales) &gt; 5000.</a:t>
            </a:r>
          </a:p>
        </p:txBody>
      </p:sp>
      <p:sp>
        <p:nvSpPr>
          <p:cNvPr id="19" name="Rectangle 18"/>
          <p:cNvSpPr/>
          <p:nvPr/>
        </p:nvSpPr>
        <p:spPr>
          <a:xfrm>
            <a:off x="502920" y="2835402"/>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835402"/>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2954274"/>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FROM identifies the Sales table as the source of data.</a:t>
            </a:r>
          </a:p>
        </p:txBody>
      </p:sp>
      <p:sp>
        <p:nvSpPr>
          <p:cNvPr id="22" name="Rectangle 21"/>
          <p:cNvSpPr/>
          <p:nvPr/>
        </p:nvSpPr>
        <p:spPr>
          <a:xfrm>
            <a:off x="3669715" y="2835402"/>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2835402"/>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2954274"/>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GROUP BY organizes rows by unique department identifiers.</a:t>
            </a:r>
          </a:p>
        </p:txBody>
      </p:sp>
      <p:sp>
        <p:nvSpPr>
          <p:cNvPr id="25" name="Rectangle 24"/>
          <p:cNvSpPr/>
          <p:nvPr/>
        </p:nvSpPr>
        <p:spPr>
          <a:xfrm>
            <a:off x="502920" y="4045204"/>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045204"/>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164076"/>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3</a:t>
            </a:r>
          </a:p>
          <a:p>
            <a:pPr algn="l">
              <a:lnSpc>
                <a:spcPct val="135000"/>
              </a:lnSpc>
            </a:pPr>
            <a:r>
              <a:rPr sz="1300">
                <a:solidFill>
                  <a:srgbClr val="1A1A1A"/>
                </a:solidFill>
                <a:latin typeface="Calibri"/>
              </a:rPr>
              <a:t>Aggregates calculate SUM and AVG for each department group.</a:t>
            </a:r>
          </a:p>
        </p:txBody>
      </p:sp>
      <p:sp>
        <p:nvSpPr>
          <p:cNvPr id="28" name="Rectangle 27"/>
          <p:cNvSpPr/>
          <p:nvPr/>
        </p:nvSpPr>
        <p:spPr>
          <a:xfrm>
            <a:off x="3669715" y="4045204"/>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69715" y="4045204"/>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03395" y="4164076"/>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4</a:t>
            </a:r>
          </a:p>
          <a:p>
            <a:pPr algn="l">
              <a:lnSpc>
                <a:spcPct val="135000"/>
              </a:lnSpc>
            </a:pPr>
            <a:r>
              <a:rPr sz="1300">
                <a:solidFill>
                  <a:srgbClr val="1A1A1A"/>
                </a:solidFill>
                <a:latin typeface="Calibri"/>
              </a:rPr>
              <a:t>HAVING filters out departments failing the total or average criteria.</a:t>
            </a:r>
          </a:p>
        </p:txBody>
      </p:sp>
      <p:sp>
        <p:nvSpPr>
          <p:cNvPr id="31" name="Rectangle 30"/>
          <p:cNvSpPr/>
          <p:nvPr/>
        </p:nvSpPr>
        <p:spPr>
          <a:xfrm>
            <a:off x="502920" y="5255006"/>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255006"/>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6600" y="5373878"/>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5</a:t>
            </a:r>
          </a:p>
          <a:p>
            <a:pPr algn="l">
              <a:lnSpc>
                <a:spcPct val="135000"/>
              </a:lnSpc>
            </a:pPr>
            <a:r>
              <a:rPr sz="1300">
                <a:solidFill>
                  <a:srgbClr val="1A1A1A"/>
                </a:solidFill>
                <a:latin typeface="Calibri"/>
              </a:rPr>
              <a:t>SELECT formats the final output showing only qualifying departments.</a:t>
            </a:r>
          </a:p>
        </p:txBody>
      </p:sp>
      <p:pic>
        <p:nvPicPr>
          <p:cNvPr id="34" name="Picture 3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5" name="TextBox 3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www.sc-best-practices.org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ORDER BY Clause for Result Sorting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ORDER BY total_sales DESC lists departments from highest to lowest sales.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ORDER BY sorts the final result set based on one or more columns.</a:t>
            </a:r>
          </a:p>
          <a:p>
            <a:pPr algn="l">
              <a:lnSpc>
                <a:spcPct val="135000"/>
              </a:lnSpc>
            </a:pPr>
            <a:r>
              <a:rPr sz="1300">
                <a:solidFill>
                  <a:srgbClr val="1A1A1A"/>
                </a:solidFill>
                <a:latin typeface="Calibri"/>
              </a:rPr>
              <a:t>•  It can sort by column names, aliases, or positional numbers (1, 2, etc.).</a:t>
            </a:r>
          </a:p>
          <a:p>
            <a:pPr algn="l">
              <a:lnSpc>
                <a:spcPct val="135000"/>
              </a:lnSpc>
            </a:pPr>
            <a:r>
              <a:rPr sz="1300">
                <a:solidFill>
                  <a:srgbClr val="1A1A1A"/>
                </a:solidFill>
                <a:latin typeface="Calibri"/>
              </a:rPr>
              <a:t>•  Default sort order is ascending (ASC); use DESC for descending order.</a:t>
            </a:r>
          </a:p>
          <a:p>
            <a:pPr algn="l">
              <a:lnSpc>
                <a:spcPct val="135000"/>
              </a:lnSpc>
            </a:pPr>
            <a:r>
              <a:rPr sz="1300">
                <a:solidFill>
                  <a:srgbClr val="1A1A1A"/>
                </a:solidFill>
                <a:latin typeface="Calibri"/>
              </a:rPr>
              <a:t>•  ORDER BY is processed after all filtering and grouping is complete.</a:t>
            </a:r>
          </a:p>
          <a:p>
            <a:pPr algn="l">
              <a:lnSpc>
                <a:spcPct val="135000"/>
              </a:lnSpc>
            </a:pPr>
            <a:r>
              <a:rPr sz="1300">
                <a:solidFill>
                  <a:srgbClr val="1A1A1A"/>
                </a:solidFill>
                <a:latin typeface="Calibri"/>
              </a:rPr>
              <a:t>•  It does not affect the logical grouping but changes the visual presentation.</a:t>
            </a:r>
          </a:p>
          <a:p>
            <a:pPr algn="l">
              <a:lnSpc>
                <a:spcPct val="135000"/>
              </a:lnSpc>
            </a:pPr>
            <a:r>
              <a:rPr sz="1300">
                <a:solidFill>
                  <a:srgbClr val="1A1A1A"/>
                </a:solidFill>
                <a:latin typeface="Calibri"/>
              </a:rPr>
              <a:t>•  Excessive sorting on large datasets can impact query performance significantly.</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bunny-wp-pullzone-lcnorhfy96.b-cdn.net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WHERE vs HAVING Confusion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ERROR</a:t>
            </a:r>
          </a:p>
          <a:p>
            <a:pPr algn="l">
              <a:lnSpc>
                <a:spcPct val="135000"/>
              </a:lnSpc>
            </a:pPr>
            <a:r>
              <a:rPr sz="1300">
                <a:solidFill>
                  <a:srgbClr val="1A1A1A"/>
                </a:solidFill>
                <a:latin typeface="Calibri"/>
              </a:rPr>
              <a:t>Using WHERE with aggregate functions causes a syntax or logical error.</a:t>
            </a:r>
          </a:p>
        </p:txBody>
      </p:sp>
      <p:sp>
        <p:nvSpPr>
          <p:cNvPr id="16" name="Rectangle 15"/>
          <p:cNvSpPr/>
          <p:nvPr/>
        </p:nvSpPr>
        <p:spPr>
          <a:xfrm>
            <a:off x="3669715" y="1625600"/>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ERROR</a:t>
            </a:r>
          </a:p>
          <a:p>
            <a:pPr algn="l">
              <a:lnSpc>
                <a:spcPct val="135000"/>
              </a:lnSpc>
            </a:pPr>
            <a:r>
              <a:rPr sz="1300">
                <a:solidFill>
                  <a:srgbClr val="1A1A1A"/>
                </a:solidFill>
                <a:latin typeface="Calibri"/>
              </a:rPr>
              <a:t>Using HAVING without GROUP BY filters the entire table as one group.</a:t>
            </a:r>
          </a:p>
        </p:txBody>
      </p:sp>
      <p:sp>
        <p:nvSpPr>
          <p:cNvPr id="19" name="Rectangle 18"/>
          <p:cNvSpPr/>
          <p:nvPr/>
        </p:nvSpPr>
        <p:spPr>
          <a:xfrm>
            <a:off x="502920" y="2835402"/>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835402"/>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2954274"/>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ERROR</a:t>
            </a:r>
          </a:p>
          <a:p>
            <a:pPr algn="l">
              <a:lnSpc>
                <a:spcPct val="135000"/>
              </a:lnSpc>
            </a:pPr>
            <a:r>
              <a:rPr sz="1300">
                <a:solidFill>
                  <a:srgbClr val="1A1A1A"/>
                </a:solidFill>
                <a:latin typeface="Calibri"/>
              </a:rPr>
              <a:t>Selecting non-aggregated columns not in GROUP BY violates SQL standards.</a:t>
            </a:r>
          </a:p>
        </p:txBody>
      </p:sp>
      <p:sp>
        <p:nvSpPr>
          <p:cNvPr id="22" name="Rectangle 21"/>
          <p:cNvSpPr/>
          <p:nvPr/>
        </p:nvSpPr>
        <p:spPr>
          <a:xfrm>
            <a:off x="3669715" y="2835402"/>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2835402"/>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2954274"/>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PITFALL</a:t>
            </a:r>
          </a:p>
          <a:p>
            <a:pPr algn="l">
              <a:lnSpc>
                <a:spcPct val="135000"/>
              </a:lnSpc>
            </a:pPr>
            <a:r>
              <a:rPr sz="1300">
                <a:solidFill>
                  <a:srgbClr val="1A1A1A"/>
                </a:solidFill>
                <a:latin typeface="Calibri"/>
              </a:rPr>
              <a:t>Filtering on an alias defined in SELECT often fails in older SQL versions.</a:t>
            </a:r>
          </a:p>
        </p:txBody>
      </p:sp>
      <p:sp>
        <p:nvSpPr>
          <p:cNvPr id="25" name="Rectangle 24"/>
          <p:cNvSpPr/>
          <p:nvPr/>
        </p:nvSpPr>
        <p:spPr>
          <a:xfrm>
            <a:off x="502920" y="4045204"/>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045204"/>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164076"/>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CORRECTION</a:t>
            </a:r>
          </a:p>
          <a:p>
            <a:pPr algn="l">
              <a:lnSpc>
                <a:spcPct val="135000"/>
              </a:lnSpc>
            </a:pPr>
            <a:r>
              <a:rPr sz="1300">
                <a:solidFill>
                  <a:srgbClr val="1A1A1A"/>
                </a:solidFill>
                <a:latin typeface="Calibri"/>
              </a:rPr>
              <a:t>Move aggregate conditions from WHERE to HAVING for correct logic.</a:t>
            </a:r>
          </a:p>
        </p:txBody>
      </p:sp>
      <p:sp>
        <p:nvSpPr>
          <p:cNvPr id="28" name="Rectangle 27"/>
          <p:cNvSpPr/>
          <p:nvPr/>
        </p:nvSpPr>
        <p:spPr>
          <a:xfrm>
            <a:off x="3669715" y="4045204"/>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69715" y="4045204"/>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03395" y="4164076"/>
            <a:ext cx="2567355"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CORRECTION</a:t>
            </a:r>
          </a:p>
          <a:p>
            <a:pPr algn="l">
              <a:lnSpc>
                <a:spcPct val="135000"/>
              </a:lnSpc>
            </a:pPr>
            <a:r>
              <a:rPr sz="1300">
                <a:solidFill>
                  <a:srgbClr val="1A1A1A"/>
                </a:solidFill>
                <a:latin typeface="Calibri"/>
              </a:rPr>
              <a:t>Ensure all non-aggregated columns are included in the GROUP BY clause.</a:t>
            </a:r>
          </a:p>
        </p:txBody>
      </p:sp>
      <p:sp>
        <p:nvSpPr>
          <p:cNvPr id="31" name="Rectangle 30"/>
          <p:cNvSpPr/>
          <p:nvPr/>
        </p:nvSpPr>
        <p:spPr>
          <a:xfrm>
            <a:off x="502920" y="5255006"/>
            <a:ext cx="2983915"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255006"/>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6600" y="5373878"/>
            <a:ext cx="2567355" cy="789178"/>
          </a:xfrm>
          <a:prstGeom prst="rect">
            <a:avLst/>
          </a:prstGeom>
          <a:noFill/>
        </p:spPr>
        <p:txBody>
          <a:bodyPr wrap="square" lIns="0" rIns="0" tIns="0" bIns="0">
            <a:spAutoFit/>
          </a:bodyPr>
          <a:lstStyle/>
          <a:p>
            <a:pPr algn="l">
              <a:lnSpc>
                <a:spcPct val="135000"/>
              </a:lnSpc>
            </a:pPr>
            <a:r>
              <a:rPr sz="1300">
                <a:solidFill>
                  <a:srgbClr val="1A1A1A"/>
                </a:solidFill>
                <a:latin typeface="Calibri"/>
              </a:rPr>
              <a:t>•  Understanding the execution order prevents these frequent formulation mistakes.</a:t>
            </a:r>
          </a:p>
        </p:txBody>
      </p:sp>
      <p:pic>
        <p:nvPicPr>
          <p:cNvPr id="34" name="Picture 3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5" name="TextBox 3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Implications of Clause Order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Early filtering with WHERE reduces the dataset size before expensive grouping.</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Indexing columns in WHERE and GROUP BY clauses improves query speed.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Sorting large result sets with ORDER BY can be computationally expensive.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database optimizer reorders clauses internally for the most efficient execution.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Writing clear logic helps the optimizer generate better execution plans.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Avoid unnecessary sorting if the result order does not matter for the user.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 clause usage aligns with CO5 goals of performance and scalability.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Advanced</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Nested Aggregates and Subqueries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Find departments where average salary exceeds the company-wide average.</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Complex queries may require nested GROUP BY or subqueries for multi-level analysis.</a:t>
            </a:r>
          </a:p>
          <a:p>
            <a:pPr algn="l">
              <a:lnSpc>
                <a:spcPct val="135000"/>
              </a:lnSpc>
            </a:pPr>
            <a:r>
              <a:rPr sz="1300">
                <a:solidFill>
                  <a:srgbClr val="1A1A1A"/>
                </a:solidFill>
                <a:latin typeface="Calibri"/>
              </a:rPr>
              <a:t>•  Subqueries can provide dynamic values for HAVING conditions in outer queries.</a:t>
            </a:r>
          </a:p>
          <a:p>
            <a:pPr algn="l">
              <a:lnSpc>
                <a:spcPct val="135000"/>
              </a:lnSpc>
            </a:pPr>
            <a:r>
              <a:rPr sz="1300">
                <a:solidFill>
                  <a:srgbClr val="1A1A1A"/>
                </a:solidFill>
                <a:latin typeface="Calibri"/>
              </a:rPr>
              <a:t>•  The inner query calculates the global average, while the outer query filters groups.</a:t>
            </a:r>
          </a:p>
          <a:p>
            <a:pPr algn="l">
              <a:lnSpc>
                <a:spcPct val="135000"/>
              </a:lnSpc>
            </a:pPr>
            <a:r>
              <a:rPr sz="1300">
                <a:solidFill>
                  <a:srgbClr val="1A1A1A"/>
                </a:solidFill>
                <a:latin typeface="Calibri"/>
              </a:rPr>
              <a:t>•  Nested aggregates require careful handling of column aliases and scopes.</a:t>
            </a:r>
          </a:p>
          <a:p>
            <a:pPr algn="l">
              <a:lnSpc>
                <a:spcPct val="135000"/>
              </a:lnSpc>
            </a:pPr>
            <a:r>
              <a:rPr sz="1300">
                <a:solidFill>
                  <a:srgbClr val="1A1A1A"/>
                </a:solidFill>
                <a:latin typeface="Calibri"/>
              </a:rPr>
              <a:t>•  This approach allows for comparative analysis across different data hierarchies.</a:t>
            </a:r>
          </a:p>
          <a:p>
            <a:pPr algn="l">
              <a:lnSpc>
                <a:spcPct val="135000"/>
              </a:lnSpc>
            </a:pPr>
            <a:r>
              <a:rPr sz="1300">
                <a:solidFill>
                  <a:srgbClr val="1A1A1A"/>
                </a:solidFill>
                <a:latin typeface="Calibri"/>
              </a:rPr>
              <a:t>•  Ensure subqueries return a single value when used in HAVING conditions.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SQL EXECUTES IN A SPECIFIC LOGICAL ORDER</a:t>
            </a:r>
          </a:p>
          <a:p>
            <a:pPr algn="l">
              <a:lnSpc>
                <a:spcPct val="135000"/>
              </a:lnSpc>
            </a:pPr>
            <a:r>
              <a:rPr sz="1300">
                <a:solidFill>
                  <a:srgbClr val="1A1A1A"/>
                </a:solidFill>
                <a:latin typeface="Calibri"/>
              </a:rPr>
              <a:t>FROM → WHERE → GROUP BY → HAVING → SELECT → ORDER BY.</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WHERE filters individual rows before grouping, while HAVING filters groups after aggregation.</a:t>
            </a:r>
          </a:p>
          <a:p>
            <a:pPr algn="l">
              <a:lnSpc>
                <a:spcPct val="135000"/>
              </a:lnSpc>
            </a:pPr>
            <a:r>
              <a:rPr sz="1300">
                <a:solidFill>
                  <a:srgbClr val="1A1A1A"/>
                </a:solidFill>
                <a:latin typeface="Calibri"/>
              </a:rPr>
              <a:t>•  Aggregate functions like SUM and AVG can only be filtered using the HAVING clause.</a:t>
            </a:r>
          </a:p>
          <a:p>
            <a:pPr algn="l">
              <a:lnSpc>
                <a:spcPct val="135000"/>
              </a:lnSpc>
            </a:pPr>
            <a:r>
              <a:rPr sz="1300">
                <a:solidFill>
                  <a:srgbClr val="1A1A1A"/>
                </a:solidFill>
                <a:latin typeface="Calibri"/>
              </a:rPr>
              <a:t>•  ORDER BY sorts the final result set and is processed last in the logical sequence.</a:t>
            </a:r>
          </a:p>
          <a:p>
            <a:pPr algn="l">
              <a:lnSpc>
                <a:spcPct val="135000"/>
              </a:lnSpc>
            </a:pPr>
            <a:r>
              <a:rPr sz="1300">
                <a:solidFill>
                  <a:srgbClr val="1A1A1A"/>
                </a:solidFill>
                <a:latin typeface="Calibri"/>
              </a:rPr>
              <a:t>•  Understanding clause interactions prevents logical errors and improves query performance.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 formulation using SELECT, WHERE, GROUP BY, HAVING and ORDER BY</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