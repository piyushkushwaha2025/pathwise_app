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this lecture on Data Manipulation Commands. We are focusing specifically on how to modify data within our relational schemas. Remember, our motto at Chandigarh University is to Discover, Learn, and Empower through technical mastery. Today we will move from theory to practical application of SQL commands.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supports our Course Outcomes. CO3 ensures that when we insert or update data, we maintain the integrity of our normalized schemas. CO4 is critical because every update or delete is a transaction that must be serializable and recoverable. We will see how these commands impact the overall system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these commands alter the database state. We will evaluate the specific syntax required for each operation. You will learn to differentiate between deleting a single row and clearing an entire table. Finally, we will assess the risks involved in these powerful operations.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INSERT command is the primary way to populate a database. Think of it as adding a new student record to a class roster. You must provide values for every column that does not allow nulls. If you try to insert a string into a number column, the database will reject the operation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We are inserting a student with ID 101 named Rahul. Notice that 'Rahul' is in single quotes because it is text. If we omit the Age column and it has a default of 18, the system fills it automatically. This flexibility helps reduce the amount of code we need to write.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UPDATE command is like editing a student's grade in the roster. You must use the SET clause to define the new value. Crucially, you must include a WHERE clause to avoid changing every student's grade. Without it, you accidentally update the entire table, which is a common and costly error.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update Rahul's age to 21. The WHERE clause ensures only ID 101 is changed. We can also perform arithmetic, like incrementing the age by one year. The database will return a message saying '1 row affected'. If the ID did not exist, it would say '0 rows affected'.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DELETE command removes data permanently, unlike a logical flag. It is crucial to understand that the table structure remains intact. If you have foreign keys, the database might block the deletion to preserve referential integrity. Always verify your WHERE clause before executing to prevent accidental data loss.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delete the student with ID 101. If we wanted to remove all students under 18, we would use the second example. The database will return the count of rows removed. This is a destructive operation, so it is often wrapped in a transaction to allow rollback if an error occurs.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pitfall is forgetting the WHERE clause. This turns a targeted update into a table-wide wipe. Another issue is data type mismatches, like trying to insert text into a date column. Always test your queries on a small subset or use a transaction to ensure safety before committing changes.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INSERT, UPDATE, or DELETE is a transaction. If a power failure occurs mid-operation, the database uses the transaction log to roll back changes. This ensures the database remains consistent. We use COMMIT to save changes permanently and ROLLBACK to undo them if something goes wrong. This is vital for maintaining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CO3, which focuses on normalized schemas. When we insert data, we must ensure we are not creating anomalies. Updating a non-key attribute in a normalized table is safer than in a denormalized one. However, we must handle cascading deletes carefully to maintain referential integrity across related tables.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the distinct purpose of each command. The most critical rule is to always verify your WHERE clause. Treat every modification as a transaction to protect your data. Finally, respect the constraints of your normalized schema to ensure the database remains consistent and reliable.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texts we recommend for further study. Elmasri and Navathe provide a deep theoretical foundation. Silberschatz offers excellent practical examples. Ramakrishnan covers the implementation details, and Oracle documentation provides specific syntax for the database systems you will use. Please refer to these for advanced topics.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Data manipulation commands including INSERT, UPDATE and DELETE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SQL and Advanced Query Formulation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syntax and execution flow of the INSERT command for data entry.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UPDATE statements on existing relational data rows.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DELETE and TRUNCATE operations regarding transaction logs.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WHERE clauses to target specific records for modification safely.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risks of accidental data loss during manipulation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INSERT Command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adds new rows to a specified table without modifying existing data.</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Syntax requires specifying the table name and a list of column values.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command must provide values for all NOT NULL columns explicitly.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Data types in the value list must match the column definitions strictly.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 rows can be inserted in a single statement for efficiency.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Primary key constraints prevent duplicate entries for unique identifier columns.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Table Block] Improve existing table icons · Issue #32556 ·  WordPress/gutenberg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 Syntax and Worked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BASIC SYNTAX</a:t>
            </a:r>
          </a:p>
          <a:p>
            <a:pPr algn="l">
              <a:lnSpc>
                <a:spcPct val="135000"/>
              </a:lnSpc>
            </a:pPr>
            <a:r>
              <a:rPr sz="1300">
                <a:solidFill>
                  <a:srgbClr val="1A1A1A"/>
                </a:solidFill>
                <a:latin typeface="Calibri"/>
              </a:rPr>
              <a:t>INSERT INTO table_name (col1, col2) VALUES (val1, val2).</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INSERT INTO Students (ID, Name, Age) VALUES (101, 'Rahul', 20).</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The value list order must correspond exactly to the column list order.</a:t>
            </a:r>
          </a:p>
          <a:p>
            <a:pPr algn="l">
              <a:lnSpc>
                <a:spcPct val="135000"/>
              </a:lnSpc>
            </a:pPr>
            <a:r>
              <a:rPr sz="1300">
                <a:solidFill>
                  <a:srgbClr val="1A1A1A"/>
                </a:solidFill>
                <a:latin typeface="Calibri"/>
              </a:rPr>
              <a:t>•  String values must be enclosed in single quotes to distinguish from identifiers.</a:t>
            </a:r>
          </a:p>
          <a:p>
            <a:pPr algn="l">
              <a:lnSpc>
                <a:spcPct val="135000"/>
              </a:lnSpc>
            </a:pPr>
            <a:r>
              <a:rPr sz="1300">
                <a:solidFill>
                  <a:srgbClr val="1A1A1A"/>
                </a:solidFill>
                <a:latin typeface="Calibri"/>
              </a:rPr>
              <a:t>•  Numeric values do not require quotes and are stored in binary format.</a:t>
            </a:r>
          </a:p>
          <a:p>
            <a:pPr algn="l">
              <a:lnSpc>
                <a:spcPct val="135000"/>
              </a:lnSpc>
            </a:pPr>
            <a:r>
              <a:rPr sz="1300">
                <a:solidFill>
                  <a:srgbClr val="1A1A1A"/>
                </a:solidFill>
                <a:latin typeface="Calibri"/>
              </a:rPr>
              <a:t>•  Omitting columns allows the database to use default values automatically.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UPDATE Command Mechanics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modifies existing data values in one or more rows of a table.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SET clause specifies the column name and the new value to assign.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WHERE clause is essential to target specific rows for modification.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Omitting the WHERE clause updates every single row in the table.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command checks constraints before applying changes to ensure validity.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 columns can be updated simultaneously in a single statement.</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scaler.com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UPDATE Syntax and Worked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Basic syntax: UPDATE table_name SET col1 = val1 WHERE condition</a:t>
            </a:r>
          </a:p>
        </p:txBody>
      </p:sp>
      <p:sp>
        <p:nvSpPr>
          <p:cNvPr id="16" name="Rectangle 15"/>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UPDATE Students SET Age = 21 WHERE ID = 101.</a:t>
            </a:r>
          </a:p>
        </p:txBody>
      </p:sp>
      <p:sp>
        <p:nvSpPr>
          <p:cNvPr id="19" name="Rectangle 18"/>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UPDATE Students SET Age = Age + 1 WHERE ID = 101.</a:t>
            </a:r>
          </a:p>
        </p:txBody>
      </p:sp>
      <p:sp>
        <p:nvSpPr>
          <p:cNvPr id="22" name="Rectangle 21"/>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5083556"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condition must evaluate to true for the row to be modified.</a:t>
            </a:r>
          </a:p>
          <a:p>
            <a:pPr algn="l">
              <a:lnSpc>
                <a:spcPct val="135000"/>
              </a:lnSpc>
            </a:pPr>
            <a:r>
              <a:rPr sz="1300">
                <a:solidFill>
                  <a:srgbClr val="1A1A1A"/>
                </a:solidFill>
                <a:latin typeface="Calibri"/>
              </a:rPr>
              <a:t>•  Arithmetic operations can be used in the SET clause for calculations.</a:t>
            </a:r>
          </a:p>
          <a:p>
            <a:pPr algn="l">
              <a:lnSpc>
                <a:spcPct val="135000"/>
              </a:lnSpc>
            </a:pPr>
            <a:r>
              <a:rPr sz="1300">
                <a:solidFill>
                  <a:srgbClr val="1A1A1A"/>
                </a:solidFill>
                <a:latin typeface="Calibri"/>
              </a:rPr>
              <a:t>•  The command returns the count of rows affected by the operation.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DELETE Command Mechanics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DELETE removes one or more rows from a table permanently.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WHERE clause specifies which rows meet the deletion criteria.</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Omitting the WHERE clause deletes all rows but keeps the table structure.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Deleted data is removed from the data pages and marked as free space.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operation is logged in the transaction log for potential recovery.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Foreign key constraints may prevent deletion if related records exist.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DELETE Syntax and Worked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Example: DELETE FROM Students WHERE ID = 101</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BASIC SYNTAX</a:t>
            </a:r>
          </a:p>
          <a:p>
            <a:pPr algn="l">
              <a:lnSpc>
                <a:spcPct val="135000"/>
              </a:lnSpc>
            </a:pPr>
            <a:r>
              <a:rPr sz="1300">
                <a:solidFill>
                  <a:srgbClr val="1A1A1A"/>
                </a:solidFill>
                <a:latin typeface="Calibri"/>
              </a:rPr>
              <a:t>DELETE FROM table_name WHERE condition.</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DELETE FROM Students WHERE Age &lt; 18.</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condition must uniquely identify the row to be removed.</a:t>
            </a:r>
          </a:p>
          <a:p>
            <a:pPr algn="l">
              <a:lnSpc>
                <a:spcPct val="135000"/>
              </a:lnSpc>
            </a:pPr>
            <a:r>
              <a:rPr sz="1300">
                <a:solidFill>
                  <a:srgbClr val="1A1A1A"/>
                </a:solidFill>
                <a:latin typeface="Calibri"/>
              </a:rPr>
              <a:t>•  Multiple rows can be deleted if they all satisfy the condition.</a:t>
            </a:r>
          </a:p>
          <a:p>
            <a:pPr algn="l">
              <a:lnSpc>
                <a:spcPct val="135000"/>
              </a:lnSpc>
            </a:pPr>
            <a:r>
              <a:rPr sz="1300">
                <a:solidFill>
                  <a:srgbClr val="1A1A1A"/>
                </a:solidFill>
                <a:latin typeface="Calibri"/>
              </a:rPr>
              <a:t>•  The command returns the number of rows successfully deleted.</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365datascience.com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Data Manipulation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the WHERE clause in UPDATE or DELETE causes mass data loss.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incorrect data types leads to implicit conversion errors or failures.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Violating NOT NULL constraints prevents insertion of incomplete records.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foreign key constraints causes referential integrity violations.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Executing commands without a transaction allows partial updates to persist.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Case sensitivity in string comparisons can lead to unexpected results.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Transaction Safety and Rollback</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Data manipulation commands are part of a transaction unit of work.</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transaction ensures all changes succeed or none are applied at all.</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ROLLBACK command undoes all changes made since the last commit.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COMMIT makes the changes permanent and visible to other users.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Concurrency control mechanisms prevent conflicting updates from the same row.</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Isolation levels determine how visible uncommitted changes are to others.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 on Normalized Schemas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operations must respect the functional dependencies of the schema.</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operations must not violate the normalization rules of the table.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Deleting a parent row may require cascading deletes in normalized designs.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Data manipulation must preserve the lossless join property of the schema.</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Normalization reduces redundancy but requires careful handling of updates.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 indexing speeds up the search for rows during UPDATE and DELETE.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 adds new rows; UPDATE modifies existing data; DELETE removes rows.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use a WHERE clause to target specific rows in UPDATE and DELETE.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types must match column definitions to prevent insertion errors.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Wrap manipulation commands in transactions to ensure recoverability and safety.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Respect foreign key constraints to maintain referential integrity in schemas.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manipulation commands including INSERT, UPDATE and DELETE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