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Database Design. We will dive deep into the mathematical foundations that ensure our database schemas are robust. Specifically, we are focusing on functional dependencies and how to calculate attribute closure. This is the key to eliminating redundancy and ensuring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supports our Course Outcomes CO4 and CO5. By understanding functional dependencies, you learn to analyze data structures for correctness and serializability. Furthermore, this knowledge allows you to evaluate storage structures and optimize query performance effectively. These concepts are the backbone of reliable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functional dependencies clearly. You will analyze the core properties like reflexivity and transitivity. Most importantly, you will learn to compute attribute closures to find candidate keys. We will also identify common pitfalls to avoid during your design process.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functional dependency as a rule where one attribute dictates another. If you know the student ID, you must know the student name uniquely. If two rows have the same ID, the name must be identical. This rule prevents data anomalies and ensures our database remains consistent.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Armstrong's axioms are the logical rules we use to derive new dependencies. Reflexivity is simple: a set of attributes determines itself. Augmentation allows us to add attributes to both sides of a dependency. Transitivity is like a chain reaction where A determines B, and B determines C, so A determines 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basic axioms, we have derived rules that make our work easier. Union allows us to combine two dependencies with the same left side. Decomposition lets us split a dependency into smaller parts. Pseudotransitivity helps us chain dependencies where the right side of one matches the left side of another.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Attribute closure is the set of all attributes that can be determined by a given set. If you start with a set of attributes, you keep adding attributes until no new ones can be found. This process tells us if a set of attributes is a superkey or a candidate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straightforward but requires careful iteration. We start with our initial set and check every dependency. If the left side matches what we have, we add the right side to our collection. We repeat this until the set stops growing, giving us the full closure.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concrete example. We start with A. Since A determines B, we add B. Now we have A and B. Since B determines C, we add C. Finally, C determines D, so we add D. The closure is all attributes, proving A is a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find a candidate key for a slightly different schema. A alone gives us B, but not C or D. C alone gives us D, but not A or B. However, combining A and C gives us everything. Thus, AC is the candidate key because it uniquely identifies every 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our list of dependencies is messy. A minimal cover simplifies this list without changing the meaning. We remove redundant rules and unnecessary attributes on the left side. This makes the normalization process much cleaner and easier to manage for complex databases.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mistakes when computing closures. They might stop too early or miss a transitive link. Another common error is confusing a superkey with a candidate key. Remember, a candidate key must be minimal, meaning no subset of it can also be a superkey.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functional dependencies are the rules that govern data relationships. We use Armstrong's axioms to derive these rules logically. Calculating attribute closure is the primary method for finding candidate keys. Finally, always aim for a minimal cover to keep your design efficient.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Elmasri and Navathe provide excellent theoretical foundations. Silberschatz offers a comprehensive view of system concepts. Ramakrishnan and the Oracle documentation are also invaluable resources for practical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Functional dependencies and attribute closure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functional dependencies and their role in normalization.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properties of functional dependencies including reflexivity and transitivity.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Compute the closure of an attribute set using Armstrong's axioms.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Determine candidate keys by calculating attribute closures systematically.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in dependency analysis and closure computation.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Functional Dependency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functional dependency X → Y means Y is determined uniquely by X.</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Every value of X in the relation must map to exactly one Y value.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two tuples have the same X value, they must have the same Y value.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constraint ensures data consistency and eliminates redundant data storage.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Functional dependencies are the foundation for all normalization forms in design.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Armstrong's Axioms for Inference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REFLEXIVITY</a:t>
            </a:r>
          </a:p>
          <a:p>
            <a:pPr algn="l">
              <a:lnSpc>
                <a:spcPct val="135000"/>
              </a:lnSpc>
            </a:pPr>
            <a:r>
              <a:rPr sz="1300">
                <a:solidFill>
                  <a:srgbClr val="1A1A1A"/>
                </a:solidFill>
                <a:latin typeface="Calibri"/>
              </a:rPr>
              <a:t>If Y is a subset of X, then X → Y holds true.</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AUGMENTATION</a:t>
            </a:r>
          </a:p>
          <a:p>
            <a:pPr algn="l">
              <a:lnSpc>
                <a:spcPct val="135000"/>
              </a:lnSpc>
            </a:pPr>
            <a:r>
              <a:rPr sz="1300">
                <a:solidFill>
                  <a:srgbClr val="1A1A1A"/>
                </a:solidFill>
                <a:latin typeface="Calibri"/>
              </a:rPr>
              <a:t>If X → Y holds, then XZ → YZ also holds for any Z.</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TRANSITIVITY</a:t>
            </a:r>
          </a:p>
          <a:p>
            <a:pPr algn="l">
              <a:lnSpc>
                <a:spcPct val="135000"/>
              </a:lnSpc>
            </a:pPr>
            <a:r>
              <a:rPr sz="1300">
                <a:solidFill>
                  <a:srgbClr val="1A1A1A"/>
                </a:solidFill>
                <a:latin typeface="Calibri"/>
              </a:rPr>
              <a:t>If X → Y and Y → Z, then X → Z must hold.</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These axioms allow us to derive all valid functional dependencies logically.</a:t>
            </a:r>
          </a:p>
          <a:p>
            <a:pPr algn="l">
              <a:lnSpc>
                <a:spcPct val="135000"/>
              </a:lnSpc>
            </a:pPr>
            <a:r>
              <a:rPr sz="1300">
                <a:solidFill>
                  <a:srgbClr val="1A1A1A"/>
                </a:solidFill>
                <a:latin typeface="Calibri"/>
              </a:rPr>
              <a:t>•  They form the basis for computing attribute closures efficiently and accurately.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Derived Rules of Inference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UNION</a:t>
            </a:r>
          </a:p>
          <a:p>
            <a:pPr algn="l">
              <a:lnSpc>
                <a:spcPct val="135000"/>
              </a:lnSpc>
            </a:pPr>
            <a:r>
              <a:rPr sz="1300">
                <a:solidFill>
                  <a:srgbClr val="1A1A1A"/>
                </a:solidFill>
                <a:latin typeface="Calibri"/>
              </a:rPr>
              <a:t>If X → Y and X → Z, then X → YZ holds.</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DECOMPOSITION</a:t>
            </a:r>
          </a:p>
          <a:p>
            <a:pPr algn="l">
              <a:lnSpc>
                <a:spcPct val="135000"/>
              </a:lnSpc>
            </a:pPr>
            <a:r>
              <a:rPr sz="1300">
                <a:solidFill>
                  <a:srgbClr val="1A1A1A"/>
                </a:solidFill>
                <a:latin typeface="Calibri"/>
              </a:rPr>
              <a:t>If X → YZ, then X → Y and X → Z hold.</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PSEUDOTRANSITIVITY</a:t>
            </a:r>
          </a:p>
          <a:p>
            <a:pPr algn="l">
              <a:lnSpc>
                <a:spcPct val="135000"/>
              </a:lnSpc>
            </a:pPr>
            <a:r>
              <a:rPr sz="1300">
                <a:solidFill>
                  <a:srgbClr val="1A1A1A"/>
                </a:solidFill>
                <a:latin typeface="Calibri"/>
              </a:rPr>
              <a:t>If X → Y and WY → Z, then WX → Z holds.</a:t>
            </a:r>
          </a:p>
        </p:txBody>
      </p:sp>
      <p:sp>
        <p:nvSpPr>
          <p:cNvPr id="22" name="Rectangle 21"/>
          <p:cNvSpPr/>
          <p:nvPr/>
        </p:nvSpPr>
        <p:spPr>
          <a:xfrm>
            <a:off x="6185916"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These derived rules simplify the process of finding all implied dependencies.</a:t>
            </a:r>
          </a:p>
          <a:p>
            <a:pPr algn="l">
              <a:lnSpc>
                <a:spcPct val="135000"/>
              </a:lnSpc>
            </a:pPr>
            <a:r>
              <a:rPr sz="1300">
                <a:solidFill>
                  <a:srgbClr val="1A1A1A"/>
                </a:solidFill>
                <a:latin typeface="Calibri"/>
              </a:rPr>
              <a:t>•  They are essential for analyzing complex schemas with multiple attributes.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Concept of Attribute Closure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closure of a set X, denoted X+, is all attributes functionally determined by X.</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includes X itself plus all attributes reachable via functional dependencies.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Calculating closure helps us find candidate keys and superkeys in a schema.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attribute set is a superkey if its closure contains all relation attributes.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concept is critical for identifying the minimal set of keys.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Algorithm to Compute Closure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the result set X+ with the attributes in the starting set X.</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Iteratively scan all functional dependencies in the relation schema.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left side of a dependency is contained in the current result, add the right side.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Repeat the scan until no new attributes can be added to the result set.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set is the complete closure X+ for the given input.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bam.files.bbci.co.uk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Computing Closure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 CLOSURE OF A</a:t>
            </a:r>
          </a:p>
          <a:p>
            <a:pPr algn="l">
              <a:lnSpc>
                <a:spcPct val="135000"/>
              </a:lnSpc>
            </a:pPr>
            <a:r>
              <a:rPr sz="1300">
                <a:solidFill>
                  <a:srgbClr val="1A1A1A"/>
                </a:solidFill>
                <a:latin typeface="Calibri"/>
              </a:rPr>
              <a:t>Start with {A}, add B to get {A, B}.</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Given relation R(A, B, C, D) with dependencies: A → B, B → C, C → D.</a:t>
            </a:r>
          </a:p>
          <a:p>
            <a:pPr algn="l">
              <a:lnSpc>
                <a:spcPct val="135000"/>
              </a:lnSpc>
            </a:pPr>
            <a:r>
              <a:rPr sz="1300">
                <a:solidFill>
                  <a:srgbClr val="1A1A1A"/>
                </a:solidFill>
                <a:latin typeface="Calibri"/>
              </a:rPr>
              <a:t>•  From {A, B}, use B → C to add C, resulting in {A, B, C}.</a:t>
            </a:r>
          </a:p>
          <a:p>
            <a:pPr algn="l">
              <a:lnSpc>
                <a:spcPct val="135000"/>
              </a:lnSpc>
            </a:pPr>
            <a:r>
              <a:rPr sz="1300">
                <a:solidFill>
                  <a:srgbClr val="1A1A1A"/>
                </a:solidFill>
                <a:latin typeface="Calibri"/>
              </a:rPr>
              <a:t>•  From {A, B, C}, use C → D to add D, resulting in {A, B, C, D}.</a:t>
            </a:r>
          </a:p>
          <a:p>
            <a:pPr algn="l">
              <a:lnSpc>
                <a:spcPct val="135000"/>
              </a:lnSpc>
            </a:pPr>
            <a:r>
              <a:rPr sz="1300">
                <a:solidFill>
                  <a:srgbClr val="1A1A1A"/>
                </a:solidFill>
                <a:latin typeface="Calibri"/>
              </a:rPr>
              <a:t>•  Since A+ contains all attributes, A is a candidate key for this relation.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mylittleeater.com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Finding Candidate Keys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 CLOSURE OF AC</a:t>
            </a:r>
          </a:p>
          <a:p>
            <a:pPr algn="l">
              <a:lnSpc>
                <a:spcPct val="135000"/>
              </a:lnSpc>
            </a:pPr>
            <a:r>
              <a:rPr sz="1300">
                <a:solidFill>
                  <a:srgbClr val="1A1A1A"/>
                </a:solidFill>
                <a:latin typeface="Calibri"/>
              </a:rPr>
              <a:t>Start with {A, C}, add B and D to get {A, B, C, D}.</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 CLOSURE OF A</a:t>
            </a:r>
          </a:p>
          <a:p>
            <a:pPr algn="l">
              <a:lnSpc>
                <a:spcPct val="135000"/>
              </a:lnSpc>
            </a:pPr>
            <a:r>
              <a:rPr sz="1300">
                <a:solidFill>
                  <a:srgbClr val="1A1A1A"/>
                </a:solidFill>
                <a:latin typeface="Calibri"/>
              </a:rPr>
              <a:t>Result is {A, B}, which is not all attributes.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 CLOSURE OF C</a:t>
            </a:r>
          </a:p>
          <a:p>
            <a:pPr algn="l">
              <a:lnSpc>
                <a:spcPct val="135000"/>
              </a:lnSpc>
            </a:pPr>
            <a:r>
              <a:rPr sz="1300">
                <a:solidFill>
                  <a:srgbClr val="1A1A1A"/>
                </a:solidFill>
                <a:latin typeface="Calibri"/>
              </a:rPr>
              <a:t>Result is {C, D}, which is not all attributes.</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Given R(A, B, C, D) with dependencies: A → B, C → D.</a:t>
            </a:r>
          </a:p>
          <a:p>
            <a:pPr algn="l">
              <a:lnSpc>
                <a:spcPct val="135000"/>
              </a:lnSpc>
            </a:pPr>
            <a:r>
              <a:rPr sz="1300">
                <a:solidFill>
                  <a:srgbClr val="1A1A1A"/>
                </a:solidFill>
                <a:latin typeface="Calibri"/>
              </a:rPr>
              <a:t>•  Since AC+ is all attributes and no subset works, AC is a candidate key.</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www.burkeenergy.com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Minimal Cover of Functional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minimal cover is a simplified set of dependencies equivalent to the original.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removes redundant dependencies and extraneous attributes from the left side.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 involves decomposing right sides, removing redundant dependencies, and minimizing left sides.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a minimal cover simplifies the normalization process significantly.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ensures the schema is in the most efficient form for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Closure Computation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check all dependencies in every iteration of the algorithm.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a single dependency is sufficient without checking transitive chains.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the reflexive property when initializing the closure set.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Mistaking a superkey for a candidate key without checking minimality.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dependencies that span multiple attributes on the left side.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Functional dependencies define unique relationships between attributes in a relation.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Armstrong's axioms provide the logical rules for deriving all valid dependencies.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Attribute closure X+ identifies all attributes determined by a set X.</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Candidate keys are found by identifying sets whose closure includes all attributes.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Minimal covers simplify dependency sets for efficient database normalization.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dependencies and attribute closure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