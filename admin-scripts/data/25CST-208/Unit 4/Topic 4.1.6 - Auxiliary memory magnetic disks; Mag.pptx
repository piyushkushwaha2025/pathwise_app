
<file path=[Content_Types].xml><?xml version="1.0" encoding="utf-8"?>
<Types xmlns="http://schemas.openxmlformats.org/package/2006/content-types">
  <Default Extension="bin" ContentType="application/vnd.openxmlformats-officedocument.presentationml.printerSetting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 today's lecture on auxiliary memory. We will focus specifically on magnetic disks and tapes as critical components of the I/O organization. These devices form the backbone of our secondary storage systems in modern computing. Let us begin by understanding their fundamental roles.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Today's session is directly mapped to Course Outcome 4. You will learn to analyze how magnetic disks and tapes fit into the broader memory hierarchy. This analysis is crucial for understanding input-output organization in computer systems. By the end, you will be able to evaluate storage trade-offs effectively.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lecture, you will be able to evaluate the structural differences between these two media types. We will analyze how sequential access on tapes differs from the random access of disks. You will also calculate data transfer rates to understand performance bottlenecks. Finally, we will synthesize why both are still relevant in modern systems.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Magnetic disks are the workhorses of modern computing. They store data on rotating platters where a read-write head floats just above the surface. Unlike tapes, disks allow random access, meaning you can jump to any sector instantly. This makes them ideal for operating systems and active applications.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Magnetic tapes operate on a linear principle, storing data on a long strip of film. Access is strictly sequential, meaning you must wind the tape to reach specific data. While slower, they offer extremely high density and low cost per bit. This makes them the standard for long-term archival and backup strategies.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Access time is the sum of seek time, rotational latency, and transfer time. Seek time is the delay moving the head to the correct track on the disk. Rotational latency is the wait for the sector to rotate under the head. Tapes differ significantly as they have negligible seek time but high latency for random access.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calculate the rotational latency for a disk spinning at 3000 RPM. The formula is 60 divided by twice the RPM, giving us 0.01 seconds. Transfer time for one sector is roughly 0.00033 seconds. This calculation demonstrates why random access is fast compared to the winding required for tapes.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Disks provide random access with millisecond response ×, making them fast. Tapes provide sequential access with minute-level response ×, which is much slower. Disks have a higher cost per gigabyte than magnetic tapes. However, tapes have lower power consumption during idle storage periods.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disks use rotating platters for random access to data blocks. Tapes use linear strips for sequential access to data streams. Access time includes seek, latency, and transfer components. Tapes are cost-effective for archival while disks are for active processing.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five textbooks provide the foundational knowledge for today's lecture. William Stallings and M. Morris Mano offer detailed architectural insights. Carl Hamacher and the team of Patterson and Hennessy provide quantitative approaches. Please refer to these texts for deeper study on memory organization.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jp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jp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gif"/><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274320"/>
            <a:ext cx="1097280" cy="548640"/>
          </a:xfrm>
          <a:prstGeom prst="rect">
            <a:avLst/>
          </a:prstGeom>
        </p:spPr>
      </p:pic>
      <p:sp>
        <p:nvSpPr>
          <p:cNvPr id="3" name="TextBox 2"/>
          <p:cNvSpPr txBox="1"/>
          <p:nvPr/>
        </p:nvSpPr>
        <p:spPr>
          <a:xfrm>
            <a:off x="457200" y="1783080"/>
            <a:ext cx="11274552" cy="2194560"/>
          </a:xfrm>
          <a:prstGeom prst="rect">
            <a:avLst/>
          </a:prstGeom>
          <a:noFill/>
        </p:spPr>
        <p:txBody>
          <a:bodyPr wrap="square">
            <a:normAutofit/>
          </a:bodyPr>
          <a:lstStyle/>
          <a:p>
            <a:pPr algn="ctr"/>
            <a:r>
              <a:rPr b="1" sz="3200">
                <a:solidFill>
                  <a:srgbClr val="1A1A2E"/>
                </a:solidFill>
                <a:latin typeface="Calibri"/>
              </a:rPr>
              <a:t>Auxiliary memory: magnetic disks; Magnetic tapes</a:t>
            </a:r>
          </a:p>
        </p:txBody>
      </p:sp>
      <p:sp>
        <p:nvSpPr>
          <p:cNvPr id="4" name="TextBox 3"/>
          <p:cNvSpPr txBox="1"/>
          <p:nvPr/>
        </p:nvSpPr>
        <p:spPr>
          <a:xfrm>
            <a:off x="457200" y="4069080"/>
            <a:ext cx="11274552" cy="777240"/>
          </a:xfrm>
          <a:prstGeom prst="rect">
            <a:avLst/>
          </a:prstGeom>
          <a:noFill/>
        </p:spPr>
        <p:txBody>
          <a:bodyPr wrap="square">
            <a:normAutofit/>
          </a:bodyPr>
          <a:lstStyle/>
          <a:p>
            <a:pPr algn="ctr"/>
            <a:r>
              <a:rPr sz="1800" i="1">
                <a:solidFill>
                  <a:srgbClr val="C8102E"/>
                </a:solidFill>
                <a:latin typeface="Calibri"/>
              </a:rPr>
              <a:t>Computer Organization and Architecture | Memory &amp; I/O Organization</a:t>
            </a:r>
          </a:p>
        </p:txBody>
      </p:sp>
      <p:sp>
        <p:nvSpPr>
          <p:cNvPr id="5" name="TextBox 4"/>
          <p:cNvSpPr txBox="1"/>
          <p:nvPr/>
        </p:nvSpPr>
        <p:spPr>
          <a:xfrm>
            <a:off x="457200" y="5212080"/>
            <a:ext cx="11274552" cy="411480"/>
          </a:xfrm>
          <a:prstGeom prst="rect">
            <a:avLst/>
          </a:prstGeom>
          <a:noFill/>
        </p:spPr>
        <p:txBody>
          <a:bodyPr wrap="square">
            <a:spAutoFit/>
          </a:bodyPr>
          <a:lstStyle/>
          <a:p>
            <a:pPr algn="ctr"/>
            <a:r>
              <a:rPr sz="1100" i="1">
                <a:solidFill>
                  <a:srgbClr val="666666"/>
                </a:solidFill>
                <a:latin typeface="Calibri"/>
              </a:rPr>
              <a:t>Course: Computer Organization and Architecture   |   Chapter: Memory &amp; I/O Organization   |   Program: Bachelor of Engineering</a:t>
            </a:r>
          </a:p>
        </p:txBody>
      </p:sp>
      <p:sp>
        <p:nvSpPr>
          <p:cNvPr id="6" name="TextBox 5"/>
          <p:cNvSpPr txBox="1"/>
          <p:nvPr/>
        </p:nvSpPr>
        <p:spPr>
          <a:xfrm>
            <a:off x="8074152" y="6217920"/>
            <a:ext cx="3840480" cy="457200"/>
          </a:xfrm>
          <a:prstGeom prst="rect">
            <a:avLst/>
          </a:prstGeom>
          <a:noFill/>
        </p:spPr>
        <p:txBody>
          <a:bodyPr wrap="none">
            <a:spAutoFit/>
          </a:bodyPr>
          <a:lstStyle/>
          <a:p>
            <a:pPr algn="r"/>
            <a:r>
              <a:rPr sz="1200" b="1">
                <a:solidFill>
                  <a:srgbClr val="C8102E"/>
                </a:solidFill>
                <a:latin typeface="Calibri"/>
              </a:rPr>
              <a:t>DISCOVER  ·  LEARN  ·  EMPOWER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Course Outcomes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2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47548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2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Course Outcome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502920" y="1625600"/>
          <a:ext cx="11183112" cy="4656328"/>
        </p:xfrm>
        <a:graphic>
          <a:graphicData uri="http://schemas.openxmlformats.org/drawingml/2006/table">
            <a:tbl>
              <a:tblPr firstRow="1" bandRow="1">
                <a:tableStyleId>{5C22544A-7EE6-4342-B048-85BDC9FD1C3A}</a:tableStyleId>
              </a:tblPr>
              <a:tblGrid>
                <a:gridCol w="1565635"/>
                <a:gridCol w="1565635"/>
                <a:gridCol w="8051842"/>
              </a:tblGrid>
              <a:tr h="776054">
                <a:tc>
                  <a:txBody>
                    <a:bodyPr/>
                    <a:lstStyle/>
                    <a:p>
                      <a:r>
                        <a:rPr b="1" sz="1100">
                          <a:solidFill>
                            <a:srgbClr val="FFFFFF"/>
                          </a:solidFill>
                          <a:latin typeface="Calibri"/>
                        </a:rPr>
                        <a:t>CO</a:t>
                      </a:r>
                    </a:p>
                  </a:txBody>
                  <a:tcPr marL="109728" marR="109728">
                    <a:solidFill>
                      <a:srgbClr val="C8102E"/>
                    </a:solidFill>
                  </a:tcPr>
                </a:tc>
                <a:tc>
                  <a:txBody>
                    <a:bodyPr/>
                    <a:lstStyle/>
                    <a:p>
                      <a:r>
                        <a:rPr b="1" sz="1100">
                          <a:solidFill>
                            <a:srgbClr val="FFFFFF"/>
                          </a:solidFill>
                          <a:latin typeface="Calibri"/>
                        </a:rPr>
                        <a:t>BT LEVEL</a:t>
                      </a:r>
                    </a:p>
                  </a:txBody>
                  <a:tcPr marL="109728" marR="109728">
                    <a:solidFill>
                      <a:srgbClr val="C8102E"/>
                    </a:solidFill>
                  </a:tcPr>
                </a:tc>
                <a:tc>
                  <a:txBody>
                    <a:bodyPr/>
                    <a:lstStyle/>
                    <a:p>
                      <a:r>
                        <a:rPr b="1" sz="1100">
                          <a:solidFill>
                            <a:srgbClr val="FFFFFF"/>
                          </a:solidFill>
                          <a:latin typeface="Calibri"/>
                        </a:rPr>
                        <a:t>DESCRIPTION</a:t>
                      </a:r>
                    </a:p>
                  </a:txBody>
                  <a:tcPr marL="109728" marR="109728">
                    <a:solidFill>
                      <a:srgbClr val="C8102E"/>
                    </a:solidFill>
                  </a:tcPr>
                </a:tc>
              </a:tr>
              <a:tr h="776054">
                <a:tc>
                  <a:txBody>
                    <a:bodyPr/>
                    <a:lstStyle/>
                    <a:p>
                      <a:pPr algn="ctr"/>
                      <a:r>
                        <a:rPr sz="1100" b="1">
                          <a:solidFill>
                            <a:srgbClr val="8B0000"/>
                          </a:solidFill>
                          <a:latin typeface="Calibri"/>
                        </a:rPr>
                        <a:t>CO1</a:t>
                      </a:r>
                    </a:p>
                  </a:txBody>
                  <a:tcPr marL="109728" marR="109728">
                    <a:solidFill>
                      <a:srgbClr val="FFE4E1"/>
                    </a:solidFill>
                  </a:tcPr>
                </a:tc>
                <a:tc>
                  <a:txBody>
                    <a:bodyPr/>
                    <a:lstStyle/>
                    <a:p>
                      <a:pPr algn="ctr"/>
                      <a:r>
                        <a:rPr sz="1100" b="1">
                          <a:solidFill>
                            <a:srgbClr val="E65100"/>
                          </a:solidFill>
                          <a:latin typeface="Calibri"/>
                        </a:rPr>
                        <a:t>BT3</a:t>
                      </a:r>
                    </a:p>
                  </a:txBody>
                  <a:tcPr marL="109728" marR="109728">
                    <a:solidFill>
                      <a:srgbClr val="FFF3E0"/>
                    </a:solidFill>
                  </a:tcPr>
                </a:tc>
                <a:tc>
                  <a:txBody>
                    <a:bodyPr/>
                    <a:lstStyle/>
                    <a:p>
                      <a:pPr algn="l"/>
                      <a:r>
                        <a:rPr sz="1200" b="0">
                          <a:solidFill>
                            <a:srgbClr val="1A1A1A"/>
                          </a:solidFill>
                          <a:latin typeface="Calibri"/>
                        </a:rPr>
                        <a:t>Apply number systems and digital logic to design basic digital circuits</a:t>
                      </a:r>
                    </a:p>
                  </a:txBody>
                  <a:tcPr marL="109728" marR="109728">
                    <a:solidFill>
                      <a:srgbClr val="FFFFFF"/>
                    </a:solidFill>
                  </a:tcPr>
                </a:tc>
              </a:tr>
              <a:tr h="776054">
                <a:tc>
                  <a:txBody>
                    <a:bodyPr/>
                    <a:lstStyle/>
                    <a:p>
                      <a:pPr algn="ctr"/>
                      <a:r>
                        <a:rPr sz="1100" b="1">
                          <a:solidFill>
                            <a:srgbClr val="8B0000"/>
                          </a:solidFill>
                          <a:latin typeface="Calibri"/>
                        </a:rPr>
                        <a:t>CO2</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Analyze register organization and instruction set architecture</a:t>
                      </a:r>
                    </a:p>
                  </a:txBody>
                  <a:tcPr marL="109728" marR="109728">
                    <a:solidFill>
                      <a:srgbClr val="F5F5F5"/>
                    </a:solidFill>
                  </a:tcPr>
                </a:tc>
              </a:tr>
              <a:tr h="776054">
                <a:tc>
                  <a:txBody>
                    <a:bodyPr/>
                    <a:lstStyle/>
                    <a:p>
                      <a:pPr algn="ctr"/>
                      <a:r>
                        <a:rPr sz="1100" b="1">
                          <a:solidFill>
                            <a:srgbClr val="8B0000"/>
                          </a:solidFill>
                          <a:latin typeface="Calibri"/>
                        </a:rPr>
                        <a:t>CO3</a:t>
                      </a:r>
                    </a:p>
                  </a:txBody>
                  <a:tcPr marL="109728" marR="109728">
                    <a:solidFill>
                      <a:srgbClr val="FFE4E1"/>
                    </a:solidFill>
                  </a:tcPr>
                </a:tc>
                <a:tc>
                  <a:txBody>
                    <a:bodyPr/>
                    <a:lstStyle/>
                    <a:p>
                      <a:pPr algn="ctr"/>
                      <a:r>
                        <a:rPr sz="1100" b="1">
                          <a:solidFill>
                            <a:srgbClr val="E65100"/>
                          </a:solidFill>
                          <a:latin typeface="Calibri"/>
                        </a:rPr>
                        <a:t>BT3</a:t>
                      </a:r>
                    </a:p>
                  </a:txBody>
                  <a:tcPr marL="109728" marR="109728">
                    <a:solidFill>
                      <a:srgbClr val="FFF3E0"/>
                    </a:solidFill>
                  </a:tcPr>
                </a:tc>
                <a:tc>
                  <a:txBody>
                    <a:bodyPr/>
                    <a:lstStyle/>
                    <a:p>
                      <a:pPr algn="l"/>
                      <a:r>
                        <a:rPr sz="1200" b="0">
                          <a:solidFill>
                            <a:srgbClr val="1A1A1A"/>
                          </a:solidFill>
                          <a:latin typeface="Calibri"/>
                        </a:rPr>
                        <a:t>Implement computer arithmetic algorithms and floating-point operations</a:t>
                      </a:r>
                    </a:p>
                  </a:txBody>
                  <a:tcPr marL="109728" marR="109728">
                    <a:solidFill>
                      <a:srgbClr val="FFFFFF"/>
                    </a:solidFill>
                  </a:tcPr>
                </a:tc>
              </a:tr>
              <a:tr h="776054">
                <a:tc>
                  <a:txBody>
                    <a:bodyPr/>
                    <a:lstStyle/>
                    <a:p>
                      <a:pPr algn="ctr"/>
                      <a:r>
                        <a:rPr sz="1100" b="1">
                          <a:solidFill>
                            <a:srgbClr val="8B0000"/>
                          </a:solidFill>
                          <a:latin typeface="Calibri"/>
                        </a:rPr>
                        <a:t>CO4</a:t>
                      </a:r>
                    </a:p>
                  </a:txBody>
                  <a:tcPr marL="109728" marR="109728">
                    <a:solidFill>
                      <a:srgbClr val="FFE4E1"/>
                    </a:solidFill>
                  </a:tcPr>
                </a:tc>
                <a:tc>
                  <a:txBody>
                    <a:bodyPr/>
                    <a:lstStyle/>
                    <a:p>
                      <a:pPr algn="ctr"/>
                      <a:r>
                        <a:rPr sz="1100" b="1">
                          <a:solidFill>
                            <a:srgbClr val="00838F"/>
                          </a:solidFill>
                          <a:latin typeface="Calibri"/>
                        </a:rPr>
                        <a:t>BT5</a:t>
                      </a:r>
                    </a:p>
                  </a:txBody>
                  <a:tcPr marL="109728" marR="109728">
                    <a:solidFill>
                      <a:srgbClr val="E0F7FA"/>
                    </a:solidFill>
                  </a:tcPr>
                </a:tc>
                <a:tc>
                  <a:txBody>
                    <a:bodyPr/>
                    <a:lstStyle/>
                    <a:p>
                      <a:pPr algn="l"/>
                      <a:r>
                        <a:rPr sz="1200" b="0">
                          <a:solidFill>
                            <a:srgbClr val="1A1A1A"/>
                          </a:solidFill>
                          <a:latin typeface="Calibri"/>
                        </a:rPr>
                        <a:t>Analyze memory hierarchy and input-output organization</a:t>
                      </a:r>
                    </a:p>
                  </a:txBody>
                  <a:tcPr marL="109728" marR="109728">
                    <a:solidFill>
                      <a:srgbClr val="F5F5F5"/>
                    </a:solidFill>
                  </a:tcPr>
                </a:tc>
              </a:tr>
              <a:tr h="776058">
                <a:tc>
                  <a:txBody>
                    <a:bodyPr/>
                    <a:lstStyle/>
                    <a:p>
                      <a:pPr algn="ctr"/>
                      <a:r>
                        <a:rPr sz="1100" b="1">
                          <a:solidFill>
                            <a:srgbClr val="8B0000"/>
                          </a:solidFill>
                          <a:latin typeface="Calibri"/>
                        </a:rPr>
                        <a:t>CO5</a:t>
                      </a:r>
                    </a:p>
                  </a:txBody>
                  <a:tcPr marL="109728" marR="109728">
                    <a:solidFill>
                      <a:srgbClr val="FFE4E1"/>
                    </a:solidFill>
                  </a:tcPr>
                </a:tc>
                <a:tc>
                  <a:txBody>
                    <a:bodyPr/>
                    <a:lstStyle/>
                    <a:p>
                      <a:pPr algn="ctr"/>
                      <a:r>
                        <a:rPr sz="1100" b="1">
                          <a:solidFill>
                            <a:srgbClr val="C62828"/>
                          </a:solidFill>
                          <a:latin typeface="Calibri"/>
                        </a:rPr>
                        <a:t>BT6</a:t>
                      </a:r>
                    </a:p>
                  </a:txBody>
                  <a:tcPr marL="109728" marR="109728">
                    <a:solidFill>
                      <a:srgbClr val="FFEBEE"/>
                    </a:solidFill>
                  </a:tcPr>
                </a:tc>
                <a:tc>
                  <a:txBody>
                    <a:bodyPr/>
                    <a:lstStyle/>
                    <a:p>
                      <a:pPr algn="l"/>
                      <a:r>
                        <a:rPr sz="1200" b="0">
                          <a:solidFill>
                            <a:srgbClr val="1A1A1A"/>
                          </a:solidFill>
                          <a:latin typeface="Calibri"/>
                        </a:rPr>
                        <a:t>Evaluate control unit design and pipelining performance</a:t>
                      </a:r>
                    </a:p>
                  </a:txBody>
                  <a:tcPr marL="109728" marR="109728">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Learning Objectives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3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71323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3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Learning Outcomes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Evaluate the structural differences between magnetic disks and tapes.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Analyze the performance metrics of sequential versus random access storage.</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Calculate data transfer rates for magnetic tape operations.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Synthesize the role of auxiliary memory in the storage hierarchy.</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Critique the suitability of tapes for archival versus disks for active use.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4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950976"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4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Magnetic Disk Fundamentals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Disks store data on rotating platters coated with magnetic material.</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Data is organized into concentric tracks and radial sectors.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 read-write head floats nanometers above the spinning surface.</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Random access allows immediate retrieval of any specific data block.</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Capacity is measured in gigabytes or terabytes of stored information.</a:t>
            </a:r>
          </a:p>
        </p:txBody>
      </p:sp>
      <p:pic>
        <p:nvPicPr>
          <p:cNvPr id="23" name="Picture 22"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How Hard Disk works, Internal structure and Read/Write data operations –  Tech mastery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5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18872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5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Magnetic Tape Characteristics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Tapes store data linearly on a long strip of magnetic film.</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Access is strictly sequential, requiring winding to reach specific data.</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Tapes offer extremely high density and low cost per bit.</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They are primarily used for backup and archival storage purposes.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Rewinding time can be significant for large data retrieval tasks.</a:t>
            </a:r>
          </a:p>
        </p:txBody>
      </p:sp>
      <p:pic>
        <p:nvPicPr>
          <p:cNvPr id="23" name="Picture 22"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upload.wikimedia.org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6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42646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6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Access Time Components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Access time equals seek time plus rotational latency plus transfer time.</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Seek time is the delay moving the head to the correct track.</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Rotational latency is the wait for the sector to rotate under the head.</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Transfer time is the duration to read or write the actual data.</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Tapes have negligible seek time but high latency for random access.</a:t>
            </a:r>
          </a:p>
        </p:txBody>
      </p:sp>
      <p:pic>
        <p:nvPicPr>
          <p:cNvPr id="23" name="Picture 22"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media.geeksforgeeks.org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Numerical Example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7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66420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7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Disk Transfer</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6150711" cy="1005840"/>
          </a:xfrm>
          <a:prstGeom prst="rect">
            <a:avLst/>
          </a:prstGeom>
          <a:solidFill>
            <a:srgbClr val="FAFAFA"/>
          </a:solidFill>
          <a:ln w="19050">
            <a:solidFill>
              <a:srgbClr val="C810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698752"/>
            <a:ext cx="5784951" cy="256032"/>
          </a:xfrm>
          <a:prstGeom prst="rect">
            <a:avLst/>
          </a:prstGeom>
          <a:noFill/>
        </p:spPr>
        <p:txBody>
          <a:bodyPr wrap="none">
            <a:spAutoFit/>
          </a:bodyPr>
          <a:lstStyle/>
          <a:p>
            <a:pPr algn="ctr"/>
            <a:r>
              <a:rPr b="1" sz="1000">
                <a:solidFill>
                  <a:srgbClr val="C8102E"/>
                </a:solidFill>
                <a:latin typeface="Calibri"/>
              </a:rPr>
              <a:t>GOVERNING EQUATION</a:t>
            </a:r>
          </a:p>
        </p:txBody>
      </p:sp>
      <p:sp>
        <p:nvSpPr>
          <p:cNvPr id="15" name="TextBox 14"/>
          <p:cNvSpPr txBox="1"/>
          <p:nvPr/>
        </p:nvSpPr>
        <p:spPr>
          <a:xfrm>
            <a:off x="685800" y="1991360"/>
            <a:ext cx="5784951" cy="548640"/>
          </a:xfrm>
          <a:prstGeom prst="rect">
            <a:avLst/>
          </a:prstGeom>
          <a:noFill/>
        </p:spPr>
        <p:txBody>
          <a:bodyPr wrap="square">
            <a:spAutoFit/>
          </a:bodyPr>
          <a:lstStyle/>
          <a:p>
            <a:pPr algn="ctr"/>
            <a:r>
              <a:rPr b="1" sz="1800">
                <a:solidFill>
                  <a:srgbClr val="1A1A1A"/>
                </a:solidFill>
                <a:latin typeface="Cambria Math"/>
              </a:rPr>
              <a:t>Rotational latency = 60 seconds / (2 × 3000) = 0.01 seconds</a:t>
            </a:r>
          </a:p>
        </p:txBody>
      </p:sp>
      <p:sp>
        <p:nvSpPr>
          <p:cNvPr id="16" name="Oval 15"/>
          <p:cNvSpPr/>
          <p:nvPr/>
        </p:nvSpPr>
        <p:spPr>
          <a:xfrm>
            <a:off x="502920" y="279603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7" name="TextBox 16"/>
          <p:cNvSpPr txBox="1"/>
          <p:nvPr/>
        </p:nvSpPr>
        <p:spPr>
          <a:xfrm>
            <a:off x="1078992" y="2796032"/>
            <a:ext cx="5574639" cy="761746"/>
          </a:xfrm>
          <a:prstGeom prst="rect">
            <a:avLst/>
          </a:prstGeom>
          <a:noFill/>
        </p:spPr>
        <p:txBody>
          <a:bodyPr wrap="square" tIns="0" lIns="0" rIns="0" bIns="0">
            <a:spAutoFit/>
          </a:bodyPr>
          <a:lstStyle/>
          <a:p>
            <a:pPr algn="l">
              <a:lnSpc>
                <a:spcPct val="130000"/>
              </a:lnSpc>
            </a:pPr>
            <a:r>
              <a:rPr sz="1600">
                <a:solidFill>
                  <a:srgbClr val="1A1A1A"/>
                </a:solidFill>
                <a:latin typeface="Calibri"/>
              </a:rPr>
              <a:t>Assume a disk with 100 sectors per track and 3000 RPM speed.</a:t>
            </a:r>
          </a:p>
        </p:txBody>
      </p:sp>
      <p:sp>
        <p:nvSpPr>
          <p:cNvPr id="18" name="Oval 17"/>
          <p:cNvSpPr/>
          <p:nvPr/>
        </p:nvSpPr>
        <p:spPr>
          <a:xfrm>
            <a:off x="502920" y="370408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9" name="TextBox 18"/>
          <p:cNvSpPr txBox="1"/>
          <p:nvPr/>
        </p:nvSpPr>
        <p:spPr>
          <a:xfrm>
            <a:off x="1078992" y="3704082"/>
            <a:ext cx="5574639" cy="761746"/>
          </a:xfrm>
          <a:prstGeom prst="rect">
            <a:avLst/>
          </a:prstGeom>
          <a:noFill/>
        </p:spPr>
        <p:txBody>
          <a:bodyPr wrap="square" tIns="0" lIns="0" rIns="0" bIns="0">
            <a:spAutoFit/>
          </a:bodyPr>
          <a:lstStyle/>
          <a:p>
            <a:pPr algn="l">
              <a:lnSpc>
                <a:spcPct val="130000"/>
              </a:lnSpc>
            </a:pPr>
            <a:r>
              <a:rPr sz="1600">
                <a:solidFill>
                  <a:srgbClr val="1A1A1A"/>
                </a:solidFill>
                <a:latin typeface="Calibri"/>
              </a:rPr>
              <a:t>Transfer time for one sector = 1 / 3000 = 0.00033 seconds.</a:t>
            </a:r>
          </a:p>
        </p:txBody>
      </p:sp>
      <p:sp>
        <p:nvSpPr>
          <p:cNvPr id="20" name="Oval 19"/>
          <p:cNvSpPr/>
          <p:nvPr/>
        </p:nvSpPr>
        <p:spPr>
          <a:xfrm>
            <a:off x="502920" y="461213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21" name="TextBox 20"/>
          <p:cNvSpPr txBox="1"/>
          <p:nvPr/>
        </p:nvSpPr>
        <p:spPr>
          <a:xfrm>
            <a:off x="1078992" y="4612132"/>
            <a:ext cx="5574639" cy="761746"/>
          </a:xfrm>
          <a:prstGeom prst="rect">
            <a:avLst/>
          </a:prstGeom>
          <a:noFill/>
        </p:spPr>
        <p:txBody>
          <a:bodyPr wrap="square" tIns="0" lIns="0" rIns="0" bIns="0">
            <a:spAutoFit/>
          </a:bodyPr>
          <a:lstStyle/>
          <a:p>
            <a:pPr algn="l">
              <a:lnSpc>
                <a:spcPct val="130000"/>
              </a:lnSpc>
            </a:pPr>
            <a:r>
              <a:rPr sz="1600">
                <a:solidFill>
                  <a:srgbClr val="1A1A1A"/>
                </a:solidFill>
                <a:latin typeface="Calibri"/>
              </a:rPr>
              <a:t>Total time for one sector = Seek + 0.01 + 0.00033 seconds.</a:t>
            </a:r>
          </a:p>
        </p:txBody>
      </p:sp>
      <p:sp>
        <p:nvSpPr>
          <p:cNvPr id="22" name="Oval 21"/>
          <p:cNvSpPr/>
          <p:nvPr/>
        </p:nvSpPr>
        <p:spPr>
          <a:xfrm>
            <a:off x="502920" y="552018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3" name="TextBox 22"/>
          <p:cNvSpPr txBox="1"/>
          <p:nvPr/>
        </p:nvSpPr>
        <p:spPr>
          <a:xfrm>
            <a:off x="1078992" y="5520182"/>
            <a:ext cx="5574639" cy="761746"/>
          </a:xfrm>
          <a:prstGeom prst="rect">
            <a:avLst/>
          </a:prstGeom>
          <a:noFill/>
        </p:spPr>
        <p:txBody>
          <a:bodyPr wrap="square" tIns="0" lIns="0" rIns="0" bIns="0">
            <a:spAutoFit/>
          </a:bodyPr>
          <a:lstStyle/>
          <a:p>
            <a:pPr algn="l">
              <a:lnSpc>
                <a:spcPct val="130000"/>
              </a:lnSpc>
            </a:pPr>
            <a:r>
              <a:rPr sz="1600">
                <a:solidFill>
                  <a:srgbClr val="1A1A1A"/>
                </a:solidFill>
                <a:latin typeface="Calibri"/>
              </a:rPr>
              <a:t>This shows why random access is fast compared to sequential winding.</a:t>
            </a:r>
          </a:p>
        </p:txBody>
      </p:sp>
      <p:pic>
        <p:nvPicPr>
          <p:cNvPr id="24" name="Picture 23"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5" name="TextBox 24"/>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media.geeksforgeeks.org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8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90195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8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Performance Comparison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Disks provide random access with millisecond response ×.</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Tapes provide sequential access with minute-level response ×.</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Disks have higher cost per gigabyte than magnetic tapes.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Tapes have lower power consumption during idle storage periods.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Disks are better for online systems; tapes for offline archives.</a:t>
            </a:r>
          </a:p>
        </p:txBody>
      </p:sp>
      <p:pic>
        <p:nvPicPr>
          <p:cNvPr id="23" name="Picture 22"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www.tape-storage.net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9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139696"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9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Key Takeaways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Disks use rotating platters for random access to data blocks.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Tapes use linear strips for sequential access to data streams.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Access time includes seek, latency, and transfer components.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Tapes are cost-effective for archival; disks for active processing.</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Understanding these differences is vital for memory hierarchy design.</a:t>
            </a:r>
          </a:p>
        </p:txBody>
      </p:sp>
      <p:pic>
        <p:nvPicPr>
          <p:cNvPr id="23" name="Picture 22" descr="image.gif"/>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users.cs.fiu.edu</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10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37744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10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References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5500116"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5083556" cy="1998980"/>
          </a:xfrm>
          <a:prstGeom prst="rect">
            <a:avLst/>
          </a:prstGeom>
          <a:noFill/>
        </p:spPr>
        <p:txBody>
          <a:bodyPr wrap="square" lIns="0" rIns="0" tIns="0" bIns="0">
            <a:spAutoFit/>
          </a:bodyPr>
          <a:lstStyle/>
          <a:p>
            <a:pPr algn="l">
              <a:spcAft>
                <a:spcPts val="400"/>
              </a:spcAft>
            </a:pPr>
            <a:r>
              <a:rPr b="1" sz="1100">
                <a:solidFill>
                  <a:srgbClr val="C8102E"/>
                </a:solidFill>
                <a:latin typeface="Calibri"/>
              </a:rPr>
              <a:t>COMPUTER ORGANIZATION AND DESIGN</a:t>
            </a:r>
          </a:p>
          <a:p>
            <a:pPr algn="l">
              <a:lnSpc>
                <a:spcPct val="135000"/>
              </a:lnSpc>
            </a:pPr>
            <a:r>
              <a:rPr sz="1300">
                <a:solidFill>
                  <a:srgbClr val="1A1A1A"/>
                </a:solidFill>
                <a:latin typeface="Calibri"/>
              </a:rPr>
              <a:t>The Hardware/Software Interface — David A. Patterson, John L. Hennessy</a:t>
            </a:r>
          </a:p>
        </p:txBody>
      </p:sp>
      <p:sp>
        <p:nvSpPr>
          <p:cNvPr id="16" name="Rectangle 15"/>
          <p:cNvSpPr/>
          <p:nvPr/>
        </p:nvSpPr>
        <p:spPr>
          <a:xfrm>
            <a:off x="6185916" y="1625600"/>
            <a:ext cx="5500116"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5916" y="1625600"/>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596" y="1744472"/>
            <a:ext cx="5083556" cy="1998980"/>
          </a:xfrm>
          <a:prstGeom prst="rect">
            <a:avLst/>
          </a:prstGeom>
          <a:noFill/>
        </p:spPr>
        <p:txBody>
          <a:bodyPr wrap="square" lIns="0" rIns="0" tIns="0" bIns="0">
            <a:spAutoFit/>
          </a:bodyPr>
          <a:lstStyle/>
          <a:p>
            <a:pPr algn="l">
              <a:spcAft>
                <a:spcPts val="400"/>
              </a:spcAft>
            </a:pPr>
            <a:r>
              <a:rPr b="1" sz="1100">
                <a:solidFill>
                  <a:srgbClr val="C8102E"/>
                </a:solidFill>
                <a:latin typeface="Calibri"/>
              </a:rPr>
              <a:t>COMPUTER ARCHITECTURE</a:t>
            </a:r>
          </a:p>
          <a:p>
            <a:pPr algn="l">
              <a:lnSpc>
                <a:spcPct val="135000"/>
              </a:lnSpc>
            </a:pPr>
            <a:r>
              <a:rPr sz="1300">
                <a:solidFill>
                  <a:srgbClr val="1A1A1A"/>
                </a:solidFill>
                <a:latin typeface="Calibri"/>
              </a:rPr>
              <a:t>A Quantitative Approach — John L. Hennessy, David A. Patterson</a:t>
            </a:r>
          </a:p>
        </p:txBody>
      </p:sp>
      <p:sp>
        <p:nvSpPr>
          <p:cNvPr id="19" name="Rectangle 18"/>
          <p:cNvSpPr/>
          <p:nvPr/>
        </p:nvSpPr>
        <p:spPr>
          <a:xfrm>
            <a:off x="502920" y="4045204"/>
            <a:ext cx="5500116"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20" y="4045204"/>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6600" y="4164076"/>
            <a:ext cx="5083556" cy="1998980"/>
          </a:xfrm>
          <a:prstGeom prst="rect">
            <a:avLst/>
          </a:prstGeom>
          <a:noFill/>
        </p:spPr>
        <p:txBody>
          <a:bodyPr wrap="square" lIns="0" rIns="0" tIns="0" bIns="0">
            <a:spAutoFit/>
          </a:bodyPr>
          <a:lstStyle/>
          <a:p>
            <a:pPr algn="l">
              <a:lnSpc>
                <a:spcPct val="135000"/>
              </a:lnSpc>
            </a:pPr>
            <a:r>
              <a:rPr sz="1300">
                <a:solidFill>
                  <a:srgbClr val="1A1A1A"/>
                </a:solidFill>
                <a:latin typeface="Calibri"/>
              </a:rPr>
              <a:t>•  Computer Organization and Architecture — William Stallings</a:t>
            </a:r>
          </a:p>
          <a:p>
            <a:pPr algn="l">
              <a:lnSpc>
                <a:spcPct val="135000"/>
              </a:lnSpc>
            </a:pPr>
            <a:r>
              <a:rPr sz="1300">
                <a:solidFill>
                  <a:srgbClr val="1A1A1A"/>
                </a:solidFill>
                <a:latin typeface="Calibri"/>
              </a:rPr>
              <a:t>•  Computer System Architecture — M. Morris Mano &amp; Rajib Mall</a:t>
            </a:r>
          </a:p>
          <a:p>
            <a:pPr algn="l">
              <a:lnSpc>
                <a:spcPct val="135000"/>
              </a:lnSpc>
            </a:pPr>
            <a:r>
              <a:rPr sz="1300">
                <a:solidFill>
                  <a:srgbClr val="1A1A1A"/>
                </a:solidFill>
                <a:latin typeface="Calibri"/>
              </a:rPr>
              <a:t>•  Computer Organization — Carl Hamacher, Zvonko Vranesic, Safwat Zaky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Auxiliary memory: magnetic disks; Magnetic tapes</dc:title>
  <dc:subject>AI-generated lecture — Chandigarh University</dc:subject>
  <dc:creator>CU AI Lesson Builder</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