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Computer Arithmetic. We will focus specifically on the Booth's multiplier algorithm. This technique is essential for efficient signed binary multiplication in modern processors. Remember our motto: Discover. Learn. Empower.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Course Outcome 3. You will learn to implement the Booth's algorithm, a key arithmetic operation. This skill is crucial for designing efficient hardware for multiplication tasks. Please note this outcome for your upcoming assessments.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define and explain the core logic of Booth's algorithm. We will demonstrate the step-by-step execution using a concrete example. You will also analyze why this method is more efficient than standard multiplication. Finally, you will apply these concepts to solve signed binary problems.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Booth's algorithm is specifically designed for signed binary numbers in two's complement form. Its primary purpose is to reduce the number of partial products generated during multiplication. By detecting sequences of ones, it replaces multiple additions with a single subtraction and shift. This optimization significantly speeds up the multiplication process in hardware.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logic relies on examining pairs of bits: the current bit and the previous bit. If we see a 0 followed by a 1, we subtract the multiplicand. Conversely, a 1 followed by a 0 means we add the multiplicand. If the bits are identical, we simply shift the register. An initial zero is always appended to the right of the multiplier to handle the first transition correctly.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formalize the rules. Rule 1 states that a 01 transition requires subtracting the multiplicand. Rule 2 dictates that a 10 transition requires adding the multiplicand. Rules 3 and 4 handle the cases where bits are the same or when we shift. We repeat this cycle for every bit in the multiplier. These rules ensure correct handling of signed numbers.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work through an example: multiplying -3 by 2. In 4-bit two's complement, -3 is 1101 and 2 is 0010. We append a zero to the multiplier to get 00100. In the first step, the pair is 00, so we just shift. In the second step, the pair is 10, so we add the multiplicand to the accumulator. This demonstrates how the algorithm processes the bits sequentially.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Continuing our example, the third step involves a 01 pair, so we subtract the multiplicand. The accumulator updates to 0011. The final step is a shift, resulting in 0110. Wait, let me correct that. The final result represents -6 in two's complement, which is 1110. The algorithm correctly handles the sign extension. This confirms the validity of the method for signed numbers.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Booth's algorithm is a powerful tool for signed binary multiplication. It works by detecting sequences of ones to minimize operations. The key is the transition logic between bits. Remember that arithmetic shifts preserve the sign, ensuring accuracy. This makes it superior to standard methods for certain data patterns.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please refer to the standard texts listed on this slide. William Stallings and M. Morris Mano provide excellent foundational knowledge. David A. Patterson's works offer deep insights into hardware-software interfaces. These resources will support your understanding of computer arithmetic and architecture.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Booths multiplier</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Computer Organization and Architecture | Computer Arithmetic</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Computer Organization and Architecture   |   Chapter: Computer Arithmetic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4754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number systems and digital logic to design basic digital circuits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register organization and instruction set architecture</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Implement computer arithmetic algorithms and floating-point operations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Analyze memory hierarchy and input-output organization</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Evaluate control unit design and pipelining performance</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71323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the fundamental purpose of Booth's multiplication algorithm.</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Explain the logic behind reducing consecutive ones in multipliers.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Demonstrate the step-by-step execution of the algorithm.</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efficiency gains compared to standard binary multiplication.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the algorithm to solve signed binary multiplication problems.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95097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Definition and Purpose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Booth's algorithm is a multiplication technique for signed binary numbers.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reduces the number of partial products by scanning the multiplier.</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algorithm detects sequences of ones to perform fewer operations.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handles both positive and negative numbers in two's complement.</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method optimizes hardware usage by minimizing addition and subtraction steps.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Booth's Algorithm - GeeksforGeeks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Working Principle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THE ALGORITHM EXAMINES PAIRS OF BITS</a:t>
            </a:r>
          </a:p>
          <a:p>
            <a:pPr algn="l">
              <a:lnSpc>
                <a:spcPct val="135000"/>
              </a:lnSpc>
            </a:pPr>
            <a:r>
              <a:rPr sz="1300">
                <a:solidFill>
                  <a:srgbClr val="1A1A1A"/>
                </a:solidFill>
                <a:latin typeface="Calibri"/>
              </a:rPr>
              <a:t>current bit and previous bit.</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A transition from 0 to 1 triggers a subtraction of the multiplicand.</a:t>
            </a:r>
          </a:p>
          <a:p>
            <a:pPr algn="l">
              <a:lnSpc>
                <a:spcPct val="135000"/>
              </a:lnSpc>
            </a:pPr>
            <a:r>
              <a:rPr sz="1300">
                <a:solidFill>
                  <a:srgbClr val="1A1A1A"/>
                </a:solidFill>
                <a:latin typeface="Calibri"/>
              </a:rPr>
              <a:t>•  A transition from 1 to 0 triggers an addition of the multiplicand.</a:t>
            </a:r>
          </a:p>
          <a:p>
            <a:pPr algn="l">
              <a:lnSpc>
                <a:spcPct val="135000"/>
              </a:lnSpc>
            </a:pPr>
            <a:r>
              <a:rPr sz="1300">
                <a:solidFill>
                  <a:srgbClr val="1A1A1A"/>
                </a:solidFill>
                <a:latin typeface="Calibri"/>
              </a:rPr>
              <a:t>•  Identical bits (00 or 11) result in a simple arithmetic shift.</a:t>
            </a:r>
          </a:p>
          <a:p>
            <a:pPr algn="l">
              <a:lnSpc>
                <a:spcPct val="135000"/>
              </a:lnSpc>
            </a:pPr>
            <a:r>
              <a:rPr sz="1300">
                <a:solidFill>
                  <a:srgbClr val="1A1A1A"/>
                </a:solidFill>
                <a:latin typeface="Calibri"/>
              </a:rPr>
              <a:t>•  An extra zero is appended to the right of the multiplier initially.</a:t>
            </a:r>
          </a:p>
        </p:txBody>
      </p:sp>
      <p:pic>
        <p:nvPicPr>
          <p:cNvPr id="19" name="Picture 18"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42646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Algorithm Rules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Rule 1: If (Q_i, Q_{i-1}) is 01, subtract multiplicand from accumulator.</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Rule 2: If (Q_i, Q_{i-1}) is 10, add multiplicand to accumulator.</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Rule 3: If (Q_i, Q_{i-1}) is 00 or 11, perform no arithmetic operation.</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Rule 4: After each step, perform an arithmetic right shift on the pair.</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Rule 5: Repeat the process for the total number of bits in the multiplier.</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6420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4-bit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STEP 1</a:t>
            </a:r>
          </a:p>
          <a:p>
            <a:pPr algn="l">
              <a:lnSpc>
                <a:spcPct val="135000"/>
              </a:lnSpc>
            </a:pPr>
            <a:r>
              <a:rPr sz="1300">
                <a:solidFill>
                  <a:srgbClr val="1A1A1A"/>
                </a:solidFill>
                <a:latin typeface="Calibri"/>
              </a:rPr>
              <a:t>Pair (0,0) triggers a shift; Accumulator remains 0000.</a:t>
            </a:r>
          </a:p>
        </p:txBody>
      </p:sp>
      <p:sp>
        <p:nvSpPr>
          <p:cNvPr id="16" name="Rectangle 15"/>
          <p:cNvSpPr/>
          <p:nvPr/>
        </p:nvSpPr>
        <p:spPr>
          <a:xfrm>
            <a:off x="6185916"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STEP 2</a:t>
            </a:r>
          </a:p>
          <a:p>
            <a:pPr algn="l">
              <a:lnSpc>
                <a:spcPct val="135000"/>
              </a:lnSpc>
            </a:pPr>
            <a:r>
              <a:rPr sz="1300">
                <a:solidFill>
                  <a:srgbClr val="1A1A1A"/>
                </a:solidFill>
                <a:latin typeface="Calibri"/>
              </a:rPr>
              <a:t>Pair (1,0) triggers addition; Accumulator becomes 1101.</a:t>
            </a:r>
          </a:p>
        </p:txBody>
      </p:sp>
      <p:sp>
        <p:nvSpPr>
          <p:cNvPr id="19" name="Rectangle 18"/>
          <p:cNvSpPr/>
          <p:nvPr/>
        </p:nvSpPr>
        <p:spPr>
          <a:xfrm>
            <a:off x="502920" y="4045204"/>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5083556"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Multiply -3 by 2 using 4-bit two's complement representation.</a:t>
            </a:r>
          </a:p>
          <a:p>
            <a:pPr algn="l">
              <a:lnSpc>
                <a:spcPct val="135000"/>
              </a:lnSpc>
            </a:pPr>
            <a:r>
              <a:rPr sz="1300">
                <a:solidFill>
                  <a:srgbClr val="1A1A1A"/>
                </a:solidFill>
                <a:latin typeface="Calibri"/>
              </a:rPr>
              <a:t>•  Multiplicand (-3) is 1101 and Multiplier (2) is 0010.</a:t>
            </a:r>
          </a:p>
          <a:p>
            <a:pPr algn="l">
              <a:lnSpc>
                <a:spcPct val="135000"/>
              </a:lnSpc>
            </a:pPr>
            <a:r>
              <a:rPr sz="1300">
                <a:solidFill>
                  <a:srgbClr val="1A1A1A"/>
                </a:solidFill>
                <a:latin typeface="Calibri"/>
              </a:rPr>
              <a:t>•  Append a 0 to the multiplier: 00100.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90195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Continuing the Example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The algorithm correctly computed (-3) × 2 = -6</a:t>
            </a:r>
          </a:p>
        </p:txBody>
      </p:sp>
      <p:sp>
        <p:nvSpPr>
          <p:cNvPr id="16" name="Rectangle 15"/>
          <p:cNvSpPr/>
          <p:nvPr/>
        </p:nvSpPr>
        <p:spPr>
          <a:xfrm>
            <a:off x="502920" y="2796032"/>
            <a:ext cx="2983915" cy="129489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1294892"/>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2567355" cy="1057148"/>
          </a:xfrm>
          <a:prstGeom prst="rect">
            <a:avLst/>
          </a:prstGeom>
          <a:noFill/>
        </p:spPr>
        <p:txBody>
          <a:bodyPr wrap="square" lIns="0" rIns="0" tIns="0" bIns="0">
            <a:spAutoFit/>
          </a:bodyPr>
          <a:lstStyle/>
          <a:p>
            <a:pPr algn="l">
              <a:spcAft>
                <a:spcPts val="400"/>
              </a:spcAft>
            </a:pPr>
            <a:r>
              <a:rPr b="1" sz="1100">
                <a:solidFill>
                  <a:srgbClr val="C8102E"/>
                </a:solidFill>
                <a:latin typeface="Calibri"/>
              </a:rPr>
              <a:t>STEP 3</a:t>
            </a:r>
          </a:p>
          <a:p>
            <a:pPr algn="l">
              <a:lnSpc>
                <a:spcPct val="135000"/>
              </a:lnSpc>
            </a:pPr>
            <a:r>
              <a:rPr sz="1300">
                <a:solidFill>
                  <a:srgbClr val="1A1A1A"/>
                </a:solidFill>
                <a:latin typeface="Calibri"/>
              </a:rPr>
              <a:t>Pair (0,1) triggers subtraction; Accumulator becomes 0011.</a:t>
            </a:r>
          </a:p>
        </p:txBody>
      </p:sp>
      <p:sp>
        <p:nvSpPr>
          <p:cNvPr id="19" name="Rectangle 18"/>
          <p:cNvSpPr/>
          <p:nvPr/>
        </p:nvSpPr>
        <p:spPr>
          <a:xfrm>
            <a:off x="3669715" y="2796032"/>
            <a:ext cx="2983915" cy="129489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9715" y="2796032"/>
            <a:ext cx="50800" cy="1294892"/>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395" y="2914904"/>
            <a:ext cx="2567355" cy="1057148"/>
          </a:xfrm>
          <a:prstGeom prst="rect">
            <a:avLst/>
          </a:prstGeom>
          <a:noFill/>
        </p:spPr>
        <p:txBody>
          <a:bodyPr wrap="square" lIns="0" rIns="0" tIns="0" bIns="0">
            <a:spAutoFit/>
          </a:bodyPr>
          <a:lstStyle/>
          <a:p>
            <a:pPr algn="l">
              <a:spcAft>
                <a:spcPts val="400"/>
              </a:spcAft>
            </a:pPr>
            <a:r>
              <a:rPr b="1" sz="1100">
                <a:solidFill>
                  <a:srgbClr val="C8102E"/>
                </a:solidFill>
                <a:latin typeface="Calibri"/>
              </a:rPr>
              <a:t>STEP 4</a:t>
            </a:r>
          </a:p>
          <a:p>
            <a:pPr algn="l">
              <a:lnSpc>
                <a:spcPct val="135000"/>
              </a:lnSpc>
            </a:pPr>
            <a:r>
              <a:rPr sz="1300">
                <a:solidFill>
                  <a:srgbClr val="1A1A1A"/>
                </a:solidFill>
                <a:latin typeface="Calibri"/>
              </a:rPr>
              <a:t>Pair (0,0) triggers a shift; Accumulator becomes 0001.</a:t>
            </a:r>
          </a:p>
        </p:txBody>
      </p:sp>
      <p:sp>
        <p:nvSpPr>
          <p:cNvPr id="22" name="Rectangle 21"/>
          <p:cNvSpPr/>
          <p:nvPr/>
        </p:nvSpPr>
        <p:spPr>
          <a:xfrm>
            <a:off x="502920" y="4273804"/>
            <a:ext cx="2983915" cy="129489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273804"/>
            <a:ext cx="50800" cy="1294892"/>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4392676"/>
            <a:ext cx="2567355" cy="1057148"/>
          </a:xfrm>
          <a:prstGeom prst="rect">
            <a:avLst/>
          </a:prstGeom>
          <a:noFill/>
        </p:spPr>
        <p:txBody>
          <a:bodyPr wrap="square" lIns="0" rIns="0" tIns="0" bIns="0">
            <a:spAutoFit/>
          </a:bodyPr>
          <a:lstStyle/>
          <a:p>
            <a:pPr algn="l">
              <a:lnSpc>
                <a:spcPct val="135000"/>
              </a:lnSpc>
            </a:pPr>
            <a:r>
              <a:rPr sz="1300">
                <a:solidFill>
                  <a:srgbClr val="1A1A1A"/>
                </a:solidFill>
                <a:latin typeface="Calibri"/>
              </a:rPr>
              <a:t>•  Final result in binary is 0110, which equals 6 in decimal.</a:t>
            </a:r>
          </a:p>
        </p:txBody>
      </p:sp>
      <p:sp>
        <p:nvSpPr>
          <p:cNvPr id="25" name="Rectangle 24"/>
          <p:cNvSpPr/>
          <p:nvPr/>
        </p:nvSpPr>
        <p:spPr>
          <a:xfrm>
            <a:off x="502920" y="5733288"/>
            <a:ext cx="6150711" cy="548640"/>
          </a:xfrm>
          <a:prstGeom prst="rect">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2920" y="5733288"/>
            <a:ext cx="50800" cy="54864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0880" y="5806440"/>
            <a:ext cx="5825591" cy="402336"/>
          </a:xfrm>
          <a:prstGeom prst="rect">
            <a:avLst/>
          </a:prstGeom>
          <a:noFill/>
        </p:spPr>
        <p:txBody>
          <a:bodyPr wrap="square" lIns="0" rIns="0">
            <a:spAutoFit/>
          </a:bodyPr>
          <a:lstStyle/>
          <a:p>
            <a:pPr algn="l"/>
            <a:r>
              <a:rPr b="1" sz="1000">
                <a:solidFill>
                  <a:srgbClr val="B8860B"/>
                </a:solidFill>
                <a:latin typeface="Calibri"/>
              </a:rPr>
              <a:t>AI Note: </a:t>
            </a:r>
            <a:r>
              <a:rPr i="1" sz="1000">
                <a:solidFill>
                  <a:srgbClr val="5D4037"/>
                </a:solidFill>
                <a:latin typeface="Calibri"/>
              </a:rPr>
              <a:t>The sign bit is preserved correctly throughout the shifts.</a:t>
            </a:r>
          </a:p>
        </p:txBody>
      </p:sp>
      <p:pic>
        <p:nvPicPr>
          <p:cNvPr id="28" name="Picture 27"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9" name="TextBox 28"/>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slidemodel.com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13969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Booth's algorithm efficiently multiplies signed binary numbers in two's complement.</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reduces the number of additions by detecting consecutive ones.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logic depends on transitions between 0 and 1 in the multiplier.</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Arithmetic right shifts preserve the sign bit during the process.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method is faster than standard multiplication for dense one sequences.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ORGANIZATION AND DESIGN</a:t>
            </a:r>
          </a:p>
          <a:p>
            <a:pPr algn="l">
              <a:lnSpc>
                <a:spcPct val="135000"/>
              </a:lnSpc>
            </a:pPr>
            <a:r>
              <a:rPr sz="1300">
                <a:solidFill>
                  <a:srgbClr val="1A1A1A"/>
                </a:solidFill>
                <a:latin typeface="Calibri"/>
              </a:rPr>
              <a:t>The Hardware/Software Interface — David A. Patterson, John L. Hennessy</a:t>
            </a:r>
          </a:p>
        </p:txBody>
      </p:sp>
      <p:sp>
        <p:nvSpPr>
          <p:cNvPr id="16" name="Rectangle 15"/>
          <p:cNvSpPr/>
          <p:nvPr/>
        </p:nvSpPr>
        <p:spPr>
          <a:xfrm>
            <a:off x="6185916"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ARCHITECTURE</a:t>
            </a:r>
          </a:p>
          <a:p>
            <a:pPr algn="l">
              <a:lnSpc>
                <a:spcPct val="135000"/>
              </a:lnSpc>
            </a:pPr>
            <a:r>
              <a:rPr sz="1300">
                <a:solidFill>
                  <a:srgbClr val="1A1A1A"/>
                </a:solidFill>
                <a:latin typeface="Calibri"/>
              </a:rPr>
              <a:t>A Quantitative Approach — John L. Hennessy, David A. Patterson</a:t>
            </a:r>
          </a:p>
        </p:txBody>
      </p:sp>
      <p:sp>
        <p:nvSpPr>
          <p:cNvPr id="19" name="Rectangle 18"/>
          <p:cNvSpPr/>
          <p:nvPr/>
        </p:nvSpPr>
        <p:spPr>
          <a:xfrm>
            <a:off x="502920" y="4045204"/>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5083556"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Computer Organization and Architecture — William Stallings</a:t>
            </a:r>
          </a:p>
          <a:p>
            <a:pPr algn="l">
              <a:lnSpc>
                <a:spcPct val="135000"/>
              </a:lnSpc>
            </a:pPr>
            <a:r>
              <a:rPr sz="1300">
                <a:solidFill>
                  <a:srgbClr val="1A1A1A"/>
                </a:solidFill>
                <a:latin typeface="Calibri"/>
              </a:rPr>
              <a:t>•  Computer System Architecture — M. Morris Mano &amp; Rajib Mall</a:t>
            </a:r>
          </a:p>
          <a:p>
            <a:pPr algn="l">
              <a:lnSpc>
                <a:spcPct val="135000"/>
              </a:lnSpc>
            </a:pPr>
            <a:r>
              <a:rPr sz="1300">
                <a:solidFill>
                  <a:srgbClr val="1A1A1A"/>
                </a:solidFill>
                <a:latin typeface="Calibri"/>
              </a:rPr>
              <a:t>•  Computer Organization — Carl Hamacher, Zvonko Vranesic, Safwat Zaky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Booths multiplier</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