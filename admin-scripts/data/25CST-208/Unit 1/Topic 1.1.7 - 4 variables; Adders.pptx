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Digital Fundamentals. We will focus specifically on the logic behind adders and how four variables interact in digital circuits. Remember, mastering these basics is the first step toward designing complex processors. Let us begin our journey into the heart of computer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Course Outcome 1. You will learn to apply digital logic principles to design basic circuits like adders. This outcome ensures you can translate theoretical number systems into practical hardware designs. By the end of this session, you will be able to construct these circuits yourself.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class, you will be able to analyze how four variables affect circuit complexity. You will construct truth tables to verify the logic of multi-bit addition. We will differentiate between half and full adders to understand their specific roles. Finally, you will evaluate propagation delays and design a complete 4-bit ripple carry adder.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define the four critical variables in a full adder. Inputs A and B are the bits we are adding, while C_in is the carry from the previous stage. The sum output S is the result of this addition. These four variables define the state of a single stage. Without understanding these, we cannot build larger arithmetic units.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truth table lists all eight combinations of our four variables. Rows zero through three handle cases where the carry-in is zero. Rows four through seven handle cases where the carry-in is one. The sum is one when an odd number of inputs are active. The carry-out is one when two or more inputs are active.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sum is the XOR of all three inputs, detecting odd parity. The carry-out uses AND-OR logic to detect when two or more inputs are active. These expressions minimize the number of gates required for the circuit. Simplification reduces power consumption and physical chip area. Correct derivation ensures the circuit functions for all input states.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half adder adds two bits but lacks a carry-in input. A full adder adds two bits plus a carry-in from a lower stage. Half adders cannot be cascaded to form multi-bit adders. Full adders are the building blocks for all multi-bit arithmetic. A full adder can be constructed using two half adders in a modular design.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the carry-out of one stage to the carry-in of the next. This creates a Ripple Carry Adder structure for N-bit numbers. The least significant bit uses a half adder or full adder. All subsequent bits use full adders to handle incoming carries. The final carry-out represents the overflow of the addition.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add binary 1011 and 0110 using a 4-bit adder. Bit zero gives a sum of one with no carry. Bit one gives a sum of zero with a carry of one. Bit two also gives a sum of zero with a carry of one. Bit three gives a sum of zero with a final carry of one. The result is 10001, which is 17 in decimal.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full adder introduces a delay for the carry signal to pass. The total delay is proportional to the number of bits added. A 4-bit adder has four × the delay of a single stage. This delay limits the maximum clock speed of the processor. Understanding delay is crucial for high-speed digital design.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pitfalls include forgetting to connect the carry-out to the next carry-in. Using a half adder for intermediate bits instead of a full adder is a frequent error. Ignoring the initial carry-in for the least significant bit can lead to wrong results. Misinterpreting the final carry-out as a sum bit is another common mistake.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Designing adders directly applies digital logic to circuit creation. Understanding variables ensures correct implementation of arithmetic units. This knowledge is foundational for ALU design in processors. Errors in adder logic lead to catastrophic system failures. You are now equipped to design basic digital circuits as per CO1.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variables define the full adder operation. Full adders are cascaded to create multi-bit ripple carry adders. Sum is the XOR of inputs while carry is the majority function. Propagation delay increases linearly with the number of bits. Correct wiring and component selection are critical for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Please refer to these standard textbooks for further study. William Stallings and M. Morris Mano provide excellent foundational knowledge. Carl Hamacher and the works by Patterson and Hennessy offer deeper insights into architecture. These resources will support your continued learning in this field.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4 variables; Adders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Computer Organization and Architecture | Introduction to Digital Fundamentals</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Computer Organization and Architecture   |   Chapter: Introduction to Digital Fundamentals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number systems and digital logic to design basic digital circuits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register organization and instruction set architecture</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computer arithmetic algorithms and floating-point operations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Analyze memory hierarchy and input-output organization</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Evaluate control unit design and pipelining performance</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role of four variables in determining adder complexity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Construct truth tables for multi-bit addition operations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between half-adders and full-adder logic structures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propagation delay in cascaded adder configurations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Design a 4-bit ripple carry adder using basic gates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Defining the Four Variables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four variables are two inputs (A, B), a carry-in (C_in), and a sum output (S)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 and B represent the bits being added at the current position</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C_in represents the carry generated from the previous less significant bit</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 is the resulting sum bit for the current position</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These variables define the state of a single full-adder stage</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output carry (C_out) is a derived variable from these four</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Understanding these variables is essential for cascading adders into larger units</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Full Adder in Digital Electronics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Truth Table for Full Adder</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truth table lists all 8 possible combinations of the four variables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Rows 0-3 show cases where the carry-in is zero</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Rows 4-7 show cases where the carry-in is one</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Sum (S) is 1 when an odd number of inputs are 1</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Carry-out (C_out) is 1 when two or more inputs are 1</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table forms the basis for deriving Boolean expressions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validates the logic before any physical circuit is built</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Binary Adder with Logic Gates - GeeksforGeeks (source: media.geeksforgeeks.org)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Boolean Expressions for S and C_out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Sum S = A ⊕ B ⊕ C_in (XOR of all three inputs)</a:t>
            </a:r>
          </a:p>
        </p:txBody>
      </p:sp>
      <p:sp>
        <p:nvSpPr>
          <p:cNvPr id="16" name="Oval 15"/>
          <p:cNvSpPr/>
          <p:nvPr/>
        </p:nvSpPr>
        <p:spPr>
          <a:xfrm>
            <a:off x="502920" y="27960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7" name="TextBox 16"/>
          <p:cNvSpPr txBox="1"/>
          <p:nvPr/>
        </p:nvSpPr>
        <p:spPr>
          <a:xfrm>
            <a:off x="1051560" y="2796032"/>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Carry-out C_out = (A · B) + (C_in · (A ⊕ B))</a:t>
            </a:r>
          </a:p>
        </p:txBody>
      </p:sp>
      <p:sp>
        <p:nvSpPr>
          <p:cNvPr id="18" name="Oval 17"/>
          <p:cNvSpPr/>
          <p:nvPr/>
        </p:nvSpPr>
        <p:spPr>
          <a:xfrm>
            <a:off x="502920" y="34013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9" name="TextBox 18"/>
          <p:cNvSpPr txBox="1"/>
          <p:nvPr/>
        </p:nvSpPr>
        <p:spPr>
          <a:xfrm>
            <a:off x="1051560" y="3401398"/>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The XOR operation detects odd parity for the sum bit</a:t>
            </a:r>
          </a:p>
        </p:txBody>
      </p:sp>
      <p:sp>
        <p:nvSpPr>
          <p:cNvPr id="20" name="Oval 19"/>
          <p:cNvSpPr/>
          <p:nvPr/>
        </p:nvSpPr>
        <p:spPr>
          <a:xfrm>
            <a:off x="502920" y="40067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21" name="TextBox 20"/>
          <p:cNvSpPr txBox="1"/>
          <p:nvPr/>
        </p:nvSpPr>
        <p:spPr>
          <a:xfrm>
            <a:off x="1051560" y="4006765"/>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The AND-OR logic detects majority voting for the carry bit</a:t>
            </a:r>
          </a:p>
        </p:txBody>
      </p:sp>
      <p:sp>
        <p:nvSpPr>
          <p:cNvPr id="22" name="Oval 21"/>
          <p:cNvSpPr/>
          <p:nvPr/>
        </p:nvSpPr>
        <p:spPr>
          <a:xfrm>
            <a:off x="502920" y="46121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3" name="TextBox 22"/>
          <p:cNvSpPr txBox="1"/>
          <p:nvPr/>
        </p:nvSpPr>
        <p:spPr>
          <a:xfrm>
            <a:off x="1051560" y="4612132"/>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These expressions minimize the number of gates required</a:t>
            </a:r>
          </a:p>
        </p:txBody>
      </p:sp>
      <p:sp>
        <p:nvSpPr>
          <p:cNvPr id="24" name="Oval 23"/>
          <p:cNvSpPr/>
          <p:nvPr/>
        </p:nvSpPr>
        <p:spPr>
          <a:xfrm>
            <a:off x="502920" y="52174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5" name="TextBox 24"/>
          <p:cNvSpPr txBox="1"/>
          <p:nvPr/>
        </p:nvSpPr>
        <p:spPr>
          <a:xfrm>
            <a:off x="1051560" y="5217498"/>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Simplification reduces power consumption and physical chip area</a:t>
            </a:r>
          </a:p>
        </p:txBody>
      </p:sp>
      <p:sp>
        <p:nvSpPr>
          <p:cNvPr id="26" name="Oval 25"/>
          <p:cNvSpPr/>
          <p:nvPr/>
        </p:nvSpPr>
        <p:spPr>
          <a:xfrm>
            <a:off x="502920" y="58228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7" name="TextBox 26"/>
          <p:cNvSpPr txBox="1"/>
          <p:nvPr/>
        </p:nvSpPr>
        <p:spPr>
          <a:xfrm>
            <a:off x="1051560" y="5822865"/>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Correct derivation ensures the circuit functions for all input states</a:t>
            </a:r>
          </a:p>
        </p:txBody>
      </p:sp>
      <p:pic>
        <p:nvPicPr>
          <p:cNvPr id="28" name="Picture 27"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Comprehensive Guide to 4-bit Adders: Theory, Implementation and Modern  Innovations (source: images.wevolver.com)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Half Adder vs Full Adder</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 half adder adds two bits but lacks a carry-in input</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 full adder adds two bits plus a carry-in from a lower stage</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Half adders cannot be cascaded to form multi-bit adders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Full adders are the building blocks for all multi-bit arithmetic</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 full adder can be constructed using two half adders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carry-out of the first half adder feeds the second</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modular design simplifies the overall circuit architecture</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Binary Adder with Logic Gates - GeeksforGeeks (source: media.geeksforgeeks.org)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Cascading Adders for Multi-Bit Addition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Connect the carry-out of one stage to the carry-in of the next</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creates a Ripple Carry Adder structure for N-bit numbers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least significant bit uses a half adder or full adder</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All subsequent bits use full adders to handle incoming carries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final carry-out represents the overflow of the addition</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method allows adding numbers of any bit width</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chain length determines the total propagation delay</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Comprehensive Guide to 4-bit Adders: Theory, Implementation and Modern  Innovations (source: images.wevolver.com)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4-bit Addition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Bit 0: 1 + 0 = 1, Sum=1, Carry=0</a:t>
            </a:r>
          </a:p>
        </p:txBody>
      </p:sp>
      <p:sp>
        <p:nvSpPr>
          <p:cNvPr id="16" name="Rectangle 15"/>
          <p:cNvSpPr/>
          <p:nvPr/>
        </p:nvSpPr>
        <p:spPr>
          <a:xfrm>
            <a:off x="502920" y="2796032"/>
            <a:ext cx="2983915"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3248152"/>
          </a:xfrm>
          <a:prstGeom prst="rect">
            <a:avLst/>
          </a:prstGeom>
          <a:noFill/>
        </p:spPr>
        <p:txBody>
          <a:bodyPr wrap="square" lIns="0" rIns="0" tIns="0" bIns="0">
            <a:spAutoFit/>
          </a:bodyPr>
          <a:lstStyle/>
          <a:p>
            <a:pPr algn="l">
              <a:spcAft>
                <a:spcPts val="400"/>
              </a:spcAft>
            </a:pPr>
            <a:r>
              <a:rPr b="1" sz="1100">
                <a:solidFill>
                  <a:srgbClr val="C8102E"/>
                </a:solidFill>
                <a:latin typeface="Calibri"/>
              </a:rPr>
              <a:t>RESULT</a:t>
            </a:r>
          </a:p>
          <a:p>
            <a:pPr algn="l">
              <a:lnSpc>
                <a:spcPct val="135000"/>
              </a:lnSpc>
            </a:pPr>
            <a:r>
              <a:rPr sz="1300">
                <a:solidFill>
                  <a:srgbClr val="1A1A1A"/>
                </a:solidFill>
                <a:latin typeface="Calibri"/>
              </a:rPr>
              <a:t>10001 (17 in decimal)</a:t>
            </a:r>
          </a:p>
        </p:txBody>
      </p:sp>
      <p:sp>
        <p:nvSpPr>
          <p:cNvPr id="19" name="Rectangle 18"/>
          <p:cNvSpPr/>
          <p:nvPr/>
        </p:nvSpPr>
        <p:spPr>
          <a:xfrm>
            <a:off x="3669715" y="2796032"/>
            <a:ext cx="2983915"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3248152"/>
          </a:xfrm>
          <a:prstGeom prst="rect">
            <a:avLst/>
          </a:prstGeom>
          <a:noFill/>
        </p:spPr>
        <p:txBody>
          <a:bodyPr wrap="square" lIns="0" rIns="0" tIns="0" bIns="0">
            <a:spAutoFit/>
          </a:bodyPr>
          <a:lstStyle/>
          <a:p>
            <a:pPr algn="l">
              <a:lnSpc>
                <a:spcPct val="135000"/>
              </a:lnSpc>
            </a:pPr>
            <a:r>
              <a:rPr sz="1300">
                <a:solidFill>
                  <a:srgbClr val="1A1A1A"/>
                </a:solidFill>
                <a:latin typeface="Calibri"/>
              </a:rPr>
              <a:t>•  Add binary 1011 (11) and 0110 (6) using a 4-bit adder</a:t>
            </a:r>
          </a:p>
          <a:p>
            <a:pPr algn="l">
              <a:lnSpc>
                <a:spcPct val="135000"/>
              </a:lnSpc>
            </a:pPr>
            <a:r>
              <a:rPr sz="1300">
                <a:solidFill>
                  <a:srgbClr val="1A1A1A"/>
                </a:solidFill>
                <a:latin typeface="Calibri"/>
              </a:rPr>
              <a:t>•  Bit 1: 1 + 1 + 0 = 2, Sum=0, Carry=1</a:t>
            </a:r>
          </a:p>
          <a:p>
            <a:pPr algn="l">
              <a:lnSpc>
                <a:spcPct val="135000"/>
              </a:lnSpc>
            </a:pPr>
            <a:r>
              <a:rPr sz="1300">
                <a:solidFill>
                  <a:srgbClr val="1A1A1A"/>
                </a:solidFill>
                <a:latin typeface="Calibri"/>
              </a:rPr>
              <a:t>•  Bit 2: 0 + 1 + 1 = 2, Sum=0, Carry=1</a:t>
            </a:r>
          </a:p>
          <a:p>
            <a:pPr algn="l">
              <a:lnSpc>
                <a:spcPct val="135000"/>
              </a:lnSpc>
            </a:pPr>
            <a:r>
              <a:rPr sz="1300">
                <a:solidFill>
                  <a:srgbClr val="1A1A1A"/>
                </a:solidFill>
                <a:latin typeface="Calibri"/>
              </a:rPr>
              <a:t>•  Bit 3: 1 + 0 + 1 = 2, Sum=0, Carry=1</a:t>
            </a:r>
          </a:p>
          <a:p>
            <a:pPr algn="l">
              <a:lnSpc>
                <a:spcPct val="135000"/>
              </a:lnSpc>
            </a:pPr>
            <a:r>
              <a:rPr sz="1300">
                <a:solidFill>
                  <a:srgbClr val="1A1A1A"/>
                </a:solidFill>
                <a:latin typeface="Calibri"/>
              </a:rPr>
              <a:t>•  The final carry-out indicates the result exceeds 4 bits</a:t>
            </a:r>
          </a:p>
        </p:txBody>
      </p:sp>
      <p:pic>
        <p:nvPicPr>
          <p:cNvPr id="22" name="Picture 21"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3" name="TextBox 22"/>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Comprehensive Guide to 4-bit Adders: Theory, Implementation and Modern  Innovations (source: images.wevolver.com)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Propagation Delay Analysis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Each full adder introduces a delay for the carry signal to pass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total delay is proportional to the number of bits added</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 4-bit adder has four × the delay of a single stage</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delay limits the maximum clock speed of the processor</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Carry-lookahead adders reduce this delay by calculating carries in parallel</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Understanding delay is crucial for high-speed digital design</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Slower adders cause bottlenecks in arithmetic logic units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5 Logic Circuits (source: bob.cs.sonoma.edu)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Design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Forgetting to connect the carry-out to the next carry-in</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a half adder for intermediate bits instead of a full adder</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the initial carry-in for the least significant bit</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Misinterpreting the final carry-out as a sum bit</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zero delay in high-speed simulation environments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Incorrect wiring of XOR gates for the sum output</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Overlooking the need for a carry-lookahead in large N-bit systems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Why This Matters for CO1</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Designing adders directly applies digital logic to circuit creation</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Understanding variables ensures correct implementation of arithmetic units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knowledge is foundational for ALU design in processors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Errors in adder logic lead to catastrophic system failures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Mastery of these concepts enables efficient hardware optimization</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You are now equipped to design basic digital circuits as per CO1</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bridges the gap between theory and practical engineering</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blogger.googleusercontent.com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Four variables (A, B, C_in, S) define the full adder operation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Full adders are cascaded to create multi-bit ripple carry adders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Sum is the XOR of inputs; Carry is the majority function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Propagation delay increases linearly with the number of bits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Correct wiring and component selection are critical for functionality</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www.conceptdraw.com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ORGANIZATION AND DESIGN</a:t>
            </a:r>
          </a:p>
          <a:p>
            <a:pPr algn="l">
              <a:lnSpc>
                <a:spcPct val="135000"/>
              </a:lnSpc>
            </a:pPr>
            <a:r>
              <a:rPr sz="1300">
                <a:solidFill>
                  <a:srgbClr val="1A1A1A"/>
                </a:solidFill>
                <a:latin typeface="Calibri"/>
              </a:rPr>
              <a:t>The Hardware/Software Interface — David A. Patterson, John L. Hennessy</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ARCHITECTURE</a:t>
            </a:r>
          </a:p>
          <a:p>
            <a:pPr algn="l">
              <a:lnSpc>
                <a:spcPct val="135000"/>
              </a:lnSpc>
            </a:pPr>
            <a:r>
              <a:rPr sz="1300">
                <a:solidFill>
                  <a:srgbClr val="1A1A1A"/>
                </a:solidFill>
                <a:latin typeface="Calibri"/>
              </a:rPr>
              <a:t>A Quantitative Approach — John L. Hennessy, David A. Patterson</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Computer Organization and Architecture — William Stallings</a:t>
            </a:r>
          </a:p>
          <a:p>
            <a:pPr algn="l">
              <a:lnSpc>
                <a:spcPct val="135000"/>
              </a:lnSpc>
            </a:pPr>
            <a:r>
              <a:rPr sz="1300">
                <a:solidFill>
                  <a:srgbClr val="1A1A1A"/>
                </a:solidFill>
                <a:latin typeface="Calibri"/>
              </a:rPr>
              <a:t>•  Computer System Architecture — M. Morris Mano &amp; Rajib Mall</a:t>
            </a:r>
          </a:p>
          <a:p>
            <a:pPr algn="l">
              <a:lnSpc>
                <a:spcPct val="135000"/>
              </a:lnSpc>
            </a:pPr>
            <a:r>
              <a:rPr sz="1300">
                <a:solidFill>
                  <a:srgbClr val="1A1A1A"/>
                </a:solidFill>
                <a:latin typeface="Calibri"/>
              </a:rPr>
              <a:t>•  Computer Organization — Carl Hamacher, Zvonko Vranesic, Safwat Zaky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 variables; Adders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