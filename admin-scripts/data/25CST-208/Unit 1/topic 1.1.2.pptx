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8882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Welcome to today's lecture on Binary and Octal number systems. These are the foundational languages of digital circuits. We will explore how computers represent data using these specific bases. Understanding these systems is crucial for designing basic digital logic.</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Today's lecture directly supports Course Outcome 1. You will learn to apply number systems like binary and octal to design basic digital circuits. This skill is essential for understanding how hardware processes information. We will see how these abstract numbers translate into physical logic gates.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By the end of this session, you will be able to define both binary and octal systems clearly. You will learn to convert between decimal, binary, and octal formats accurately. We will focus on the grouping technique which simplifies binary-to-octal conversion. These skills are vital for analyzing digital data representation.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binary system is the simplest number system using only two symbols. Think of a light switch that is either off (0) or on (1). Each position in a binary number represents a doubling value. For example, the number 101 represents 1×4 + 0×2 + 1×1 which equals 5 in decimal.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Octal is a base-8 system using digits 0 through 7. It serves as a convenient shorthand for binary because three binary bits always equal one octal digit. For instance, the binary group 111 is exactly the octal digit 7. This makes it easier for engineers to read memory addresses.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convert decimal to binary, we use the repeated division method. Let's convert the decimal number 13 to binary. We divide 13 by 2 to get 6 remainder 1. Then 6 divided by 2 is 3 remainder 0. Continuing this process gives us the binary sequence 1101 reading from bottom to top.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Converting to octal follows the same logic but uses division by 8. Let's convert the decimal number 25 to octal. We divide 25 by 8 to get 3 remainder 1. Then 3 divided by 8 is 0 remainder 3. Reading the remainders from bottom to top gives us the octal number 31.</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Converting binary to octal is very efficient using the grouping method. Take the binary number 110101 and group it from right to left as 110 and 101. The group 110 equals 6 in octal, and 101 equals 5. Therefore, the binary number 110101 is exactly 65 in octal. This method avoids complex division calculations.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summarize, binary and octal are essential number systems for computer organization. Remember that octal is a compact representation of binary using groups of three bits. You can convert between decimal and these systems using division or grouping techniques. Mastering these conversions is key to designing digital circuits.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These textbooks provide comprehensive coverage of number systems and digital logic. William Stallings and M. Morris Mano are excellent resources for foundational concepts. David A. Patterson's works offer deep insights into hardware-software interfaces. Please refer to these books for further study and practice problems.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1"/>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sz="4400" b="1">
                <a:solidFill>
                  <a:srgbClr val="1A1A2E"/>
                </a:solidFill>
                <a:latin typeface="Times New Roman" panose="02020603050405020304" charset="0"/>
                <a:cs typeface="Times New Roman" panose="02020603050405020304" charset="0"/>
              </a:rPr>
              <a:t>Binary</a:t>
            </a:r>
            <a:r>
              <a:rPr lang="en-US" sz="4400" b="1">
                <a:solidFill>
                  <a:srgbClr val="1A1A2E"/>
                </a:solidFill>
                <a:latin typeface="Times New Roman" panose="02020603050405020304" charset="0"/>
                <a:cs typeface="Times New Roman" panose="02020603050405020304" charset="0"/>
              </a:rPr>
              <a:t> to</a:t>
            </a:r>
            <a:r>
              <a:rPr sz="4400" b="1">
                <a:solidFill>
                  <a:srgbClr val="1A1A2E"/>
                </a:solidFill>
                <a:latin typeface="Times New Roman" panose="02020603050405020304" charset="0"/>
                <a:cs typeface="Times New Roman" panose="02020603050405020304" charset="0"/>
              </a:rPr>
              <a:t> Octal</a:t>
            </a:r>
            <a:r>
              <a:rPr lang="en-US" sz="4400" b="1">
                <a:solidFill>
                  <a:srgbClr val="1A1A2E"/>
                </a:solidFill>
                <a:latin typeface="Times New Roman" panose="02020603050405020304" charset="0"/>
                <a:cs typeface="Times New Roman" panose="02020603050405020304" charset="0"/>
              </a:rPr>
              <a:t> Conversion</a:t>
            </a:r>
            <a:r>
              <a:rPr sz="3200" b="1">
                <a:solidFill>
                  <a:srgbClr val="1A1A2E"/>
                </a:solidFill>
                <a:latin typeface="Calibri" panose="020F0502020204030204"/>
              </a:rPr>
              <a:t> </a:t>
            </a:r>
            <a:endParaRPr sz="3200" b="1">
              <a:solidFill>
                <a:srgbClr val="1A1A2E"/>
              </a:solidFill>
              <a:latin typeface="Calibri" panose="020F0502020204030204"/>
            </a:endParaRPr>
          </a:p>
        </p:txBody>
      </p:sp>
      <p:sp>
        <p:nvSpPr>
          <p:cNvPr id="6" name="TextBox 5"/>
          <p:cNvSpPr txBox="1"/>
          <p:nvPr/>
        </p:nvSpPr>
        <p:spPr>
          <a:xfrm>
            <a:off x="11604752" y="6217920"/>
            <a:ext cx="309880" cy="275590"/>
          </a:xfrm>
          <a:prstGeom prst="rect">
            <a:avLst/>
          </a:prstGeom>
          <a:noFill/>
        </p:spPr>
        <p:txBody>
          <a:bodyPr wrap="none">
            <a:spAutoFit/>
          </a:bodyPr>
          <a:lstStyle/>
          <a:p>
            <a:pPr algn="r"/>
            <a:endParaRPr sz="1200" b="1">
              <a:solidFill>
                <a:srgbClr val="C8102E"/>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1"/>
          <a:stretch>
            <a:fillRect/>
          </a:stretch>
        </p:blipFill>
        <p:spPr>
          <a:xfrm>
            <a:off x="274320" y="114300"/>
            <a:ext cx="1097280" cy="548640"/>
          </a:xfrm>
          <a:prstGeom prst="rect">
            <a:avLst/>
          </a:prstGeom>
        </p:spPr>
      </p:pic>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000" b="1">
                <a:solidFill>
                  <a:srgbClr val="FFFFFF"/>
                </a:solidFill>
                <a:latin typeface="Calibri" panose="020F0502020204030204"/>
              </a:rPr>
              <a:t>SLIDE 2 / 10</a:t>
            </a:r>
            <a:endParaRPr sz="1000" b="1">
              <a:solidFill>
                <a:srgbClr val="FFFFFF"/>
              </a:solidFill>
              <a:latin typeface="Calibri" panose="020F0502020204030204"/>
            </a:endParaRP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panose="020F0502020204030204"/>
              </a:rPr>
              <a:t>2 / 10</a:t>
            </a:r>
            <a:endParaRPr sz="900" b="1">
              <a:solidFill>
                <a:srgbClr val="555555"/>
              </a:solidFill>
              <a:latin typeface="Calibri" panose="020F0502020204030204"/>
            </a:endParaRPr>
          </a:p>
        </p:txBody>
      </p:sp>
      <p:sp>
        <p:nvSpPr>
          <p:cNvPr id="11" name="TextBox 10"/>
          <p:cNvSpPr txBox="1"/>
          <p:nvPr/>
        </p:nvSpPr>
        <p:spPr>
          <a:xfrm>
            <a:off x="502920" y="1051560"/>
            <a:ext cx="11183112" cy="365760"/>
          </a:xfrm>
          <a:prstGeom prst="rect">
            <a:avLst/>
          </a:prstGeom>
          <a:noFill/>
        </p:spPr>
        <p:txBody>
          <a:bodyPr wrap="square" lIns="0" tIns="0" rIns="0" bIns="0">
            <a:spAutoFit/>
          </a:bodyPr>
          <a:lstStyle/>
          <a:p>
            <a:pPr algn="l"/>
            <a:r>
              <a:rPr sz="2200" b="1">
                <a:solidFill>
                  <a:srgbClr val="C8102E"/>
                </a:solidFill>
                <a:latin typeface="Calibri" panose="020F0502020204030204"/>
              </a:rPr>
              <a:t>Course Outcome</a:t>
            </a:r>
            <a:endParaRPr sz="2200" b="1">
              <a:solidFill>
                <a:srgbClr val="C8102E"/>
              </a:solidFill>
              <a:latin typeface="Calibri" panose="020F0502020204030204"/>
            </a:endParaRP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2985" cy="4608195"/>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sz="1100" b="1">
                          <a:solidFill>
                            <a:srgbClr val="FFFFFF"/>
                          </a:solidFill>
                          <a:latin typeface="Calibri" panose="020F0502020204030204"/>
                        </a:rPr>
                        <a:t>CO</a:t>
                      </a:r>
                      <a:endParaRPr sz="1100" b="1">
                        <a:solidFill>
                          <a:srgbClr val="FFFFFF"/>
                        </a:solidFill>
                        <a:latin typeface="Calibri" panose="020F0502020204030204"/>
                      </a:endParaRPr>
                    </a:p>
                  </a:txBody>
                  <a:tcPr marL="109728" marR="109728">
                    <a:solidFill>
                      <a:srgbClr val="C8102E"/>
                    </a:solidFill>
                  </a:tcPr>
                </a:tc>
                <a:tc>
                  <a:txBody>
                    <a:bodyPr/>
                    <a:lstStyle/>
                    <a:p>
                      <a:r>
                        <a:rPr sz="1100" b="1">
                          <a:solidFill>
                            <a:srgbClr val="FFFFFF"/>
                          </a:solidFill>
                          <a:latin typeface="Calibri" panose="020F0502020204030204"/>
                        </a:rPr>
                        <a:t>BT LEVEL</a:t>
                      </a:r>
                      <a:endParaRPr sz="1100" b="1">
                        <a:solidFill>
                          <a:srgbClr val="FFFFFF"/>
                        </a:solidFill>
                        <a:latin typeface="Calibri" panose="020F0502020204030204"/>
                      </a:endParaRPr>
                    </a:p>
                  </a:txBody>
                  <a:tcPr marL="109728" marR="109728">
                    <a:solidFill>
                      <a:srgbClr val="C8102E"/>
                    </a:solidFill>
                  </a:tcPr>
                </a:tc>
                <a:tc>
                  <a:txBody>
                    <a:bodyPr/>
                    <a:lstStyle/>
                    <a:p>
                      <a:r>
                        <a:rPr sz="1100" b="1">
                          <a:solidFill>
                            <a:srgbClr val="FFFFFF"/>
                          </a:solidFill>
                          <a:latin typeface="Calibri" panose="020F0502020204030204"/>
                        </a:rPr>
                        <a:t>DESCRIPTION</a:t>
                      </a:r>
                      <a:endParaRPr sz="1100" b="1">
                        <a:solidFill>
                          <a:srgbClr val="FFFFFF"/>
                        </a:solidFill>
                        <a:latin typeface="Calibri" panose="020F0502020204030204"/>
                      </a:endParaRPr>
                    </a:p>
                  </a:txBody>
                  <a:tcPr marL="109728" marR="109728">
                    <a:solidFill>
                      <a:srgbClr val="C8102E"/>
                    </a:solidFill>
                  </a:tcPr>
                </a:tc>
              </a:tr>
              <a:tr h="776054">
                <a:tc>
                  <a:txBody>
                    <a:bodyPr/>
                    <a:lstStyle/>
                    <a:p>
                      <a:pPr algn="ctr"/>
                      <a:r>
                        <a:rPr sz="1100" b="1">
                          <a:solidFill>
                            <a:srgbClr val="8B0000"/>
                          </a:solidFill>
                          <a:latin typeface="Calibri" panose="020F0502020204030204"/>
                        </a:rPr>
                        <a:t>CO1</a:t>
                      </a:r>
                      <a:endParaRPr sz="1100" b="1">
                        <a:solidFill>
                          <a:srgbClr val="8B0000"/>
                        </a:solidFill>
                        <a:latin typeface="Calibri" panose="020F0502020204030204"/>
                      </a:endParaRPr>
                    </a:p>
                  </a:txBody>
                  <a:tcPr marL="109728" marR="109728">
                    <a:solidFill>
                      <a:srgbClr val="FFE4E1"/>
                    </a:solidFill>
                  </a:tcPr>
                </a:tc>
                <a:tc>
                  <a:txBody>
                    <a:bodyPr/>
                    <a:lstStyle/>
                    <a:p>
                      <a:pPr algn="ctr"/>
                      <a:r>
                        <a:rPr sz="1100" b="1">
                          <a:solidFill>
                            <a:srgbClr val="E65100"/>
                          </a:solidFill>
                          <a:latin typeface="Calibri" panose="020F0502020204030204"/>
                        </a:rPr>
                        <a:t>BT3</a:t>
                      </a:r>
                      <a:endParaRPr sz="1100" b="1">
                        <a:solidFill>
                          <a:srgbClr val="E65100"/>
                        </a:solidFill>
                        <a:latin typeface="Calibri" panose="020F0502020204030204"/>
                      </a:endParaRPr>
                    </a:p>
                  </a:txBody>
                  <a:tcPr marL="109728" marR="109728">
                    <a:solidFill>
                      <a:srgbClr val="FFF3E0"/>
                    </a:solidFill>
                  </a:tcPr>
                </a:tc>
                <a:tc>
                  <a:txBody>
                    <a:bodyPr/>
                    <a:lstStyle/>
                    <a:p>
                      <a:pPr algn="l"/>
                      <a:r>
                        <a:rPr sz="1200" b="0">
                          <a:solidFill>
                            <a:srgbClr val="1A1A1A"/>
                          </a:solidFill>
                          <a:latin typeface="Calibri" panose="020F0502020204030204"/>
                        </a:rPr>
                        <a:t>Apply number systems and digital logic to design basic digital circuits</a:t>
                      </a:r>
                      <a:endParaRPr sz="1200" b="0">
                        <a:solidFill>
                          <a:srgbClr val="1A1A1A"/>
                        </a:solidFill>
                        <a:latin typeface="Calibri" panose="020F0502020204030204"/>
                      </a:endParaRPr>
                    </a:p>
                  </a:txBody>
                  <a:tcPr marL="109728" marR="109728">
                    <a:solidFill>
                      <a:srgbClr val="FFFFFF"/>
                    </a:solidFill>
                  </a:tcPr>
                </a:tc>
              </a:tr>
              <a:tr h="776054">
                <a:tc>
                  <a:txBody>
                    <a:bodyPr/>
                    <a:lstStyle/>
                    <a:p>
                      <a:pPr algn="ctr"/>
                      <a:r>
                        <a:rPr sz="1100" b="1">
                          <a:solidFill>
                            <a:srgbClr val="8B0000"/>
                          </a:solidFill>
                          <a:latin typeface="Calibri" panose="020F0502020204030204"/>
                        </a:rPr>
                        <a:t>CO2</a:t>
                      </a:r>
                      <a:endParaRPr sz="1100" b="1">
                        <a:solidFill>
                          <a:srgbClr val="8B0000"/>
                        </a:solidFill>
                        <a:latin typeface="Calibri" panose="020F0502020204030204"/>
                      </a:endParaRPr>
                    </a:p>
                  </a:txBody>
                  <a:tcPr marL="109728" marR="109728">
                    <a:solidFill>
                      <a:srgbClr val="FFE4E1"/>
                    </a:solidFill>
                  </a:tcPr>
                </a:tc>
                <a:tc>
                  <a:txBody>
                    <a:bodyPr/>
                    <a:lstStyle/>
                    <a:p>
                      <a:pPr algn="ctr"/>
                      <a:r>
                        <a:rPr sz="1100" b="1">
                          <a:solidFill>
                            <a:srgbClr val="6A1B9A"/>
                          </a:solidFill>
                          <a:latin typeface="Calibri" panose="020F0502020204030204"/>
                        </a:rPr>
                        <a:t>BT4</a:t>
                      </a:r>
                      <a:endParaRPr sz="1100" b="1">
                        <a:solidFill>
                          <a:srgbClr val="6A1B9A"/>
                        </a:solidFill>
                        <a:latin typeface="Calibri" panose="020F0502020204030204"/>
                      </a:endParaRPr>
                    </a:p>
                  </a:txBody>
                  <a:tcPr marL="109728" marR="109728">
                    <a:solidFill>
                      <a:srgbClr val="F3E5F5"/>
                    </a:solidFill>
                  </a:tcPr>
                </a:tc>
                <a:tc>
                  <a:txBody>
                    <a:bodyPr/>
                    <a:lstStyle/>
                    <a:p>
                      <a:pPr algn="l"/>
                      <a:r>
                        <a:rPr sz="1200" b="0">
                          <a:solidFill>
                            <a:srgbClr val="1A1A1A"/>
                          </a:solidFill>
                          <a:latin typeface="Calibri" panose="020F0502020204030204"/>
                        </a:rPr>
                        <a:t>Analyze register organization and instruction set architecture</a:t>
                      </a:r>
                      <a:endParaRPr sz="1200" b="0">
                        <a:solidFill>
                          <a:srgbClr val="1A1A1A"/>
                        </a:solidFill>
                        <a:latin typeface="Calibri" panose="020F0502020204030204"/>
                      </a:endParaRPr>
                    </a:p>
                  </a:txBody>
                  <a:tcPr marL="109728" marR="109728">
                    <a:solidFill>
                      <a:srgbClr val="F5F5F5"/>
                    </a:solidFill>
                  </a:tcPr>
                </a:tc>
              </a:tr>
              <a:tr h="727710">
                <a:tc>
                  <a:txBody>
                    <a:bodyPr/>
                    <a:lstStyle/>
                    <a:p>
                      <a:pPr algn="ctr"/>
                      <a:r>
                        <a:rPr sz="1100" b="1">
                          <a:solidFill>
                            <a:srgbClr val="8B0000"/>
                          </a:solidFill>
                          <a:latin typeface="Calibri" panose="020F0502020204030204"/>
                        </a:rPr>
                        <a:t>CO3</a:t>
                      </a:r>
                      <a:endParaRPr sz="1100" b="1">
                        <a:solidFill>
                          <a:srgbClr val="8B0000"/>
                        </a:solidFill>
                        <a:latin typeface="Calibri" panose="020F0502020204030204"/>
                      </a:endParaRPr>
                    </a:p>
                  </a:txBody>
                  <a:tcPr marL="109728" marR="109728">
                    <a:solidFill>
                      <a:srgbClr val="FFE4E1"/>
                    </a:solidFill>
                  </a:tcPr>
                </a:tc>
                <a:tc>
                  <a:txBody>
                    <a:bodyPr/>
                    <a:lstStyle/>
                    <a:p>
                      <a:pPr algn="ctr"/>
                      <a:r>
                        <a:rPr sz="1100" b="1">
                          <a:solidFill>
                            <a:srgbClr val="E65100"/>
                          </a:solidFill>
                          <a:latin typeface="Calibri" panose="020F0502020204030204"/>
                        </a:rPr>
                        <a:t>BT3</a:t>
                      </a:r>
                      <a:endParaRPr sz="1100" b="1">
                        <a:solidFill>
                          <a:srgbClr val="E65100"/>
                        </a:solidFill>
                        <a:latin typeface="Calibri" panose="020F0502020204030204"/>
                      </a:endParaRPr>
                    </a:p>
                  </a:txBody>
                  <a:tcPr marL="109728" marR="109728">
                    <a:solidFill>
                      <a:srgbClr val="FFF3E0"/>
                    </a:solidFill>
                  </a:tcPr>
                </a:tc>
                <a:tc>
                  <a:txBody>
                    <a:bodyPr/>
                    <a:lstStyle/>
                    <a:p>
                      <a:pPr algn="l"/>
                      <a:r>
                        <a:rPr sz="1200" b="0">
                          <a:solidFill>
                            <a:srgbClr val="1A1A1A"/>
                          </a:solidFill>
                          <a:latin typeface="Calibri" panose="020F0502020204030204"/>
                        </a:rPr>
                        <a:t>Implement computer arithmetic algorithms and floating-point operations</a:t>
                      </a:r>
                      <a:endParaRPr sz="1200" b="0">
                        <a:solidFill>
                          <a:srgbClr val="1A1A1A"/>
                        </a:solidFill>
                        <a:latin typeface="Calibri" panose="020F0502020204030204"/>
                      </a:endParaRPr>
                    </a:p>
                  </a:txBody>
                  <a:tcPr marL="109728" marR="109728">
                    <a:solidFill>
                      <a:srgbClr val="FFFFFF"/>
                    </a:solidFill>
                  </a:tcPr>
                </a:tc>
              </a:tr>
              <a:tr h="776054">
                <a:tc>
                  <a:txBody>
                    <a:bodyPr/>
                    <a:lstStyle/>
                    <a:p>
                      <a:pPr algn="ctr"/>
                      <a:r>
                        <a:rPr sz="1100" b="1">
                          <a:solidFill>
                            <a:srgbClr val="8B0000"/>
                          </a:solidFill>
                          <a:latin typeface="Calibri" panose="020F0502020204030204"/>
                        </a:rPr>
                        <a:t>CO4</a:t>
                      </a:r>
                      <a:endParaRPr sz="1100" b="1">
                        <a:solidFill>
                          <a:srgbClr val="8B0000"/>
                        </a:solidFill>
                        <a:latin typeface="Calibri" panose="020F0502020204030204"/>
                      </a:endParaRPr>
                    </a:p>
                  </a:txBody>
                  <a:tcPr marL="109728" marR="109728">
                    <a:solidFill>
                      <a:srgbClr val="FFE4E1"/>
                    </a:solidFill>
                  </a:tcPr>
                </a:tc>
                <a:tc>
                  <a:txBody>
                    <a:bodyPr/>
                    <a:lstStyle/>
                    <a:p>
                      <a:pPr algn="ctr"/>
                      <a:r>
                        <a:rPr sz="1100" b="1">
                          <a:solidFill>
                            <a:srgbClr val="00838F"/>
                          </a:solidFill>
                          <a:latin typeface="Calibri" panose="020F0502020204030204"/>
                        </a:rPr>
                        <a:t>BT5</a:t>
                      </a:r>
                      <a:endParaRPr sz="1100" b="1">
                        <a:solidFill>
                          <a:srgbClr val="00838F"/>
                        </a:solidFill>
                        <a:latin typeface="Calibri" panose="020F0502020204030204"/>
                      </a:endParaRPr>
                    </a:p>
                  </a:txBody>
                  <a:tcPr marL="109728" marR="109728">
                    <a:solidFill>
                      <a:srgbClr val="E0F7FA"/>
                    </a:solidFill>
                  </a:tcPr>
                </a:tc>
                <a:tc>
                  <a:txBody>
                    <a:bodyPr/>
                    <a:lstStyle/>
                    <a:p>
                      <a:pPr algn="l"/>
                      <a:r>
                        <a:rPr sz="1200" b="0">
                          <a:solidFill>
                            <a:srgbClr val="1A1A1A"/>
                          </a:solidFill>
                          <a:latin typeface="Calibri" panose="020F0502020204030204"/>
                        </a:rPr>
                        <a:t>Analyze memory hierarchy and input-output organization</a:t>
                      </a:r>
                      <a:endParaRPr sz="1200" b="0">
                        <a:solidFill>
                          <a:srgbClr val="1A1A1A"/>
                        </a:solidFill>
                        <a:latin typeface="Calibri" panose="020F0502020204030204"/>
                      </a:endParaRPr>
                    </a:p>
                  </a:txBody>
                  <a:tcPr marL="109728" marR="109728">
                    <a:solidFill>
                      <a:srgbClr val="F5F5F5"/>
                    </a:solidFill>
                  </a:tcPr>
                </a:tc>
              </a:tr>
              <a:tr h="776058">
                <a:tc>
                  <a:txBody>
                    <a:bodyPr/>
                    <a:lstStyle/>
                    <a:p>
                      <a:pPr algn="ctr"/>
                      <a:r>
                        <a:rPr sz="1100" b="1">
                          <a:solidFill>
                            <a:srgbClr val="8B0000"/>
                          </a:solidFill>
                          <a:latin typeface="Calibri" panose="020F0502020204030204"/>
                        </a:rPr>
                        <a:t>CO5</a:t>
                      </a:r>
                      <a:endParaRPr sz="1100" b="1">
                        <a:solidFill>
                          <a:srgbClr val="8B0000"/>
                        </a:solidFill>
                        <a:latin typeface="Calibri" panose="020F0502020204030204"/>
                      </a:endParaRPr>
                    </a:p>
                  </a:txBody>
                  <a:tcPr marL="109728" marR="109728">
                    <a:solidFill>
                      <a:srgbClr val="FFE4E1"/>
                    </a:solidFill>
                  </a:tcPr>
                </a:tc>
                <a:tc>
                  <a:txBody>
                    <a:bodyPr/>
                    <a:lstStyle/>
                    <a:p>
                      <a:pPr algn="ctr"/>
                      <a:r>
                        <a:rPr sz="1100" b="1">
                          <a:solidFill>
                            <a:srgbClr val="C62828"/>
                          </a:solidFill>
                          <a:latin typeface="Calibri" panose="020F0502020204030204"/>
                        </a:rPr>
                        <a:t>BT6</a:t>
                      </a:r>
                      <a:endParaRPr sz="1100" b="1">
                        <a:solidFill>
                          <a:srgbClr val="C62828"/>
                        </a:solidFill>
                        <a:latin typeface="Calibri" panose="020F0502020204030204"/>
                      </a:endParaRPr>
                    </a:p>
                  </a:txBody>
                  <a:tcPr marL="109728" marR="109728">
                    <a:solidFill>
                      <a:srgbClr val="FFEBEE"/>
                    </a:solidFill>
                  </a:tcPr>
                </a:tc>
                <a:tc>
                  <a:txBody>
                    <a:bodyPr/>
                    <a:lstStyle/>
                    <a:p>
                      <a:pPr algn="l"/>
                      <a:r>
                        <a:rPr sz="1200" b="0">
                          <a:solidFill>
                            <a:srgbClr val="1A1A1A"/>
                          </a:solidFill>
                          <a:latin typeface="Calibri" panose="020F0502020204030204"/>
                        </a:rPr>
                        <a:t>Evaluate control unit design and pipelining performance</a:t>
                      </a:r>
                      <a:endParaRPr sz="1200" b="0">
                        <a:solidFill>
                          <a:srgbClr val="1A1A1A"/>
                        </a:solidFill>
                        <a:latin typeface="Calibri" panose="020F0502020204030204"/>
                      </a:endParaRP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1"/>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tIns="0" rIns="0" bIns="0" anchor="ctr">
            <a:spAutoFit/>
          </a:bodyPr>
          <a:lstStyle/>
          <a:p>
            <a:pPr algn="l"/>
            <a:r>
              <a:rPr sz="1300" b="1">
                <a:solidFill>
                  <a:srgbClr val="C8102E"/>
                </a:solidFill>
                <a:latin typeface="Calibri" panose="020F0502020204030204"/>
              </a:rPr>
              <a:t>Learning Objectives</a:t>
            </a:r>
            <a:endParaRPr sz="1300" b="1">
              <a:solidFill>
                <a:srgbClr val="C8102E"/>
              </a:solidFill>
              <a:latin typeface="Calibri" panose="020F0502020204030204"/>
            </a:endParaRP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000" b="1">
                <a:solidFill>
                  <a:srgbClr val="FFFFFF"/>
                </a:solidFill>
                <a:latin typeface="Calibri" panose="020F0502020204030204"/>
              </a:rPr>
              <a:t>SLIDE 3 / 10</a:t>
            </a:r>
            <a:endParaRPr sz="1000" b="1">
              <a:solidFill>
                <a:srgbClr val="FFFFFF"/>
              </a:solidFill>
              <a:latin typeface="Calibri" panose="020F0502020204030204"/>
            </a:endParaRP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panose="020F0502020204030204"/>
              </a:rPr>
              <a:t>Chandigarh University</a:t>
            </a:r>
            <a:endParaRPr sz="900">
              <a:solidFill>
                <a:srgbClr val="555555"/>
              </a:solidFill>
              <a:latin typeface="Calibri" panose="020F0502020204030204"/>
            </a:endParaRP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panose="020F0502020204030204"/>
              </a:rPr>
              <a:t>3 / 10</a:t>
            </a:r>
            <a:endParaRPr sz="900" b="1">
              <a:solidFill>
                <a:srgbClr val="555555"/>
              </a:solidFill>
              <a:latin typeface="Calibri" panose="020F0502020204030204"/>
            </a:endParaRPr>
          </a:p>
        </p:txBody>
      </p:sp>
      <p:sp>
        <p:nvSpPr>
          <p:cNvPr id="11" name="TextBox 10"/>
          <p:cNvSpPr txBox="1"/>
          <p:nvPr/>
        </p:nvSpPr>
        <p:spPr>
          <a:xfrm>
            <a:off x="502920" y="1051560"/>
            <a:ext cx="11183112" cy="365760"/>
          </a:xfrm>
          <a:prstGeom prst="rect">
            <a:avLst/>
          </a:prstGeom>
          <a:noFill/>
        </p:spPr>
        <p:txBody>
          <a:bodyPr wrap="square" lIns="0" tIns="0" rIns="0" bIns="0">
            <a:spAutoFit/>
          </a:bodyPr>
          <a:lstStyle/>
          <a:p>
            <a:pPr algn="l"/>
            <a:r>
              <a:rPr sz="2200" b="1">
                <a:solidFill>
                  <a:srgbClr val="C8102E"/>
                </a:solidFill>
                <a:latin typeface="Calibri" panose="020F0502020204030204"/>
              </a:rPr>
              <a:t>Learning Outcomes</a:t>
            </a:r>
            <a:endParaRPr sz="2200" b="1">
              <a:solidFill>
                <a:srgbClr val="C8102E"/>
              </a:solidFill>
              <a:latin typeface="Calibri" panose="020F0502020204030204"/>
            </a:endParaRP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1</a:t>
            </a:r>
            <a:endParaRPr sz="1400" b="1">
              <a:solidFill>
                <a:srgbClr val="FFFFFF"/>
              </a:solidFill>
              <a:latin typeface="Calibri" panose="020F0502020204030204"/>
            </a:endParaRPr>
          </a:p>
        </p:txBody>
      </p:sp>
      <p:sp>
        <p:nvSpPr>
          <p:cNvPr id="14" name="TextBox 13"/>
          <p:cNvSpPr txBox="1"/>
          <p:nvPr/>
        </p:nvSpPr>
        <p:spPr>
          <a:xfrm>
            <a:off x="1078992" y="1625600"/>
            <a:ext cx="10607040" cy="319405"/>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Define the binary number system </a:t>
            </a:r>
            <a:r>
              <a:rPr lang="en-US" sz="1600">
                <a:solidFill>
                  <a:srgbClr val="1A1A1A"/>
                </a:solidFill>
                <a:latin typeface="Calibri" panose="020F0502020204030204"/>
              </a:rPr>
              <a:t>with</a:t>
            </a:r>
            <a:r>
              <a:rPr sz="1600">
                <a:solidFill>
                  <a:srgbClr val="1A1A1A"/>
                </a:solidFill>
                <a:latin typeface="Calibri" panose="020F0502020204030204"/>
              </a:rPr>
              <a:t> base-2 structure</a:t>
            </a:r>
            <a:endParaRPr sz="1600">
              <a:solidFill>
                <a:srgbClr val="1A1A1A"/>
              </a:solidFill>
              <a:latin typeface="Calibri" panose="020F0502020204030204"/>
            </a:endParaRP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2</a:t>
            </a:r>
            <a:endParaRPr sz="1400" b="1">
              <a:solidFill>
                <a:srgbClr val="FFFFFF"/>
              </a:solidFill>
              <a:latin typeface="Calibri" panose="020F0502020204030204"/>
            </a:endParaRPr>
          </a:p>
        </p:txBody>
      </p:sp>
      <p:sp>
        <p:nvSpPr>
          <p:cNvPr id="16" name="TextBox 15"/>
          <p:cNvSpPr txBox="1"/>
          <p:nvPr/>
        </p:nvSpPr>
        <p:spPr>
          <a:xfrm>
            <a:off x="1078992" y="2586126"/>
            <a:ext cx="10607040" cy="319405"/>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Explain the octal number system </a:t>
            </a:r>
            <a:r>
              <a:rPr lang="en-US" sz="1600">
                <a:solidFill>
                  <a:srgbClr val="1A1A1A"/>
                </a:solidFill>
                <a:latin typeface="Calibri" panose="020F0502020204030204"/>
              </a:rPr>
              <a:t>with </a:t>
            </a:r>
            <a:r>
              <a:rPr sz="1600">
                <a:solidFill>
                  <a:srgbClr val="1A1A1A"/>
                </a:solidFill>
                <a:latin typeface="Calibri" panose="020F0502020204030204"/>
              </a:rPr>
              <a:t>base-8 structure</a:t>
            </a:r>
            <a:endParaRPr sz="1600">
              <a:solidFill>
                <a:srgbClr val="1A1A1A"/>
              </a:solidFill>
              <a:latin typeface="Calibri" panose="020F0502020204030204"/>
            </a:endParaRP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3</a:t>
            </a:r>
            <a:endParaRPr sz="1400" b="1">
              <a:solidFill>
                <a:srgbClr val="FFFFFF"/>
              </a:solidFill>
              <a:latin typeface="Calibri" panose="020F0502020204030204"/>
            </a:endParaRPr>
          </a:p>
        </p:txBody>
      </p:sp>
      <p:sp>
        <p:nvSpPr>
          <p:cNvPr id="18" name="TextBox 17"/>
          <p:cNvSpPr txBox="1"/>
          <p:nvPr/>
        </p:nvSpPr>
        <p:spPr>
          <a:xfrm>
            <a:off x="1078992" y="3546652"/>
            <a:ext cx="10607040" cy="319405"/>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Convert decimal numbers to binary </a:t>
            </a:r>
            <a:r>
              <a:rPr lang="en-US" sz="1600">
                <a:solidFill>
                  <a:srgbClr val="1A1A1A"/>
                </a:solidFill>
                <a:latin typeface="Calibri" panose="020F0502020204030204"/>
              </a:rPr>
              <a:t>then </a:t>
            </a:r>
            <a:r>
              <a:rPr sz="1600">
                <a:solidFill>
                  <a:srgbClr val="1A1A1A"/>
                </a:solidFill>
                <a:latin typeface="Calibri" panose="020F0502020204030204"/>
              </a:rPr>
              <a:t>octal </a:t>
            </a:r>
            <a:r>
              <a:rPr lang="en-US" sz="1600">
                <a:solidFill>
                  <a:srgbClr val="1A1A1A"/>
                </a:solidFill>
                <a:latin typeface="Calibri" panose="020F0502020204030204"/>
              </a:rPr>
              <a:t>structutre.</a:t>
            </a:r>
            <a:endParaRPr lang="en-US" sz="1600">
              <a:solidFill>
                <a:srgbClr val="1A1A1A"/>
              </a:solidFill>
              <a:latin typeface="Calibri" panose="020F0502020204030204"/>
            </a:endParaRP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4</a:t>
            </a:r>
            <a:endParaRPr sz="1400" b="1">
              <a:solidFill>
                <a:srgbClr val="FFFFFF"/>
              </a:solidFill>
              <a:latin typeface="Calibri" panose="020F0502020204030204"/>
            </a:endParaRPr>
          </a:p>
        </p:txBody>
      </p:sp>
      <p:sp>
        <p:nvSpPr>
          <p:cNvPr id="20" name="TextBox 19"/>
          <p:cNvSpPr txBox="1"/>
          <p:nvPr/>
        </p:nvSpPr>
        <p:spPr>
          <a:xfrm>
            <a:off x="1078992" y="4507179"/>
            <a:ext cx="10607040" cy="814222"/>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Convert binary numbers to octal using grouping techniques</a:t>
            </a:r>
            <a:endParaRPr sz="1600">
              <a:solidFill>
                <a:srgbClr val="1A1A1A"/>
              </a:solidFill>
              <a:latin typeface="Calibri" panose="020F0502020204030204"/>
            </a:endParaRP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5</a:t>
            </a:r>
            <a:endParaRPr sz="1400" b="1">
              <a:solidFill>
                <a:srgbClr val="FFFFFF"/>
              </a:solidFill>
              <a:latin typeface="Calibri" panose="020F0502020204030204"/>
            </a:endParaRPr>
          </a:p>
        </p:txBody>
      </p:sp>
      <p:sp>
        <p:nvSpPr>
          <p:cNvPr id="22" name="TextBox 21"/>
          <p:cNvSpPr txBox="1"/>
          <p:nvPr/>
        </p:nvSpPr>
        <p:spPr>
          <a:xfrm>
            <a:off x="1078992" y="5467705"/>
            <a:ext cx="10607040" cy="319405"/>
          </a:xfrm>
          <a:prstGeom prst="rect">
            <a:avLst/>
          </a:prstGeom>
          <a:noFill/>
        </p:spPr>
        <p:txBody>
          <a:bodyPr wrap="square" lIns="0" tIns="0" rIns="0" bIns="0">
            <a:spAutoFit/>
          </a:bodyPr>
          <a:lstStyle/>
          <a:p>
            <a:pPr algn="l">
              <a:lnSpc>
                <a:spcPct val="130000"/>
              </a:lnSpc>
            </a:pPr>
            <a:r>
              <a:rPr lang="en-US" sz="1600">
                <a:solidFill>
                  <a:srgbClr val="1A1A1A"/>
                </a:solidFill>
                <a:latin typeface="Calibri" panose="020F0502020204030204"/>
              </a:rPr>
              <a:t>Find</a:t>
            </a:r>
            <a:r>
              <a:rPr sz="1600">
                <a:solidFill>
                  <a:srgbClr val="1A1A1A"/>
                </a:solidFill>
                <a:latin typeface="Calibri" panose="020F0502020204030204"/>
              </a:rPr>
              <a:t> the relationship between binary and octal digits</a:t>
            </a:r>
            <a:endParaRPr sz="1600">
              <a:solidFill>
                <a:srgbClr val="1A1A1A"/>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1"/>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tIns="0" rIns="0" bIns="0" anchor="ctr">
            <a:spAutoFit/>
          </a:bodyPr>
          <a:lstStyle/>
          <a:p>
            <a:pPr algn="l"/>
            <a:r>
              <a:rPr sz="1300" b="1">
                <a:solidFill>
                  <a:srgbClr val="C8102E"/>
                </a:solidFill>
                <a:latin typeface="Calibri" panose="020F0502020204030204"/>
              </a:rPr>
              <a:t>Lecture</a:t>
            </a:r>
            <a:endParaRPr sz="1300" b="1">
              <a:solidFill>
                <a:srgbClr val="C8102E"/>
              </a:solidFill>
              <a:latin typeface="Calibri" panose="020F0502020204030204"/>
            </a:endParaRP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000" b="1">
                <a:solidFill>
                  <a:srgbClr val="FFFFFF"/>
                </a:solidFill>
                <a:latin typeface="Calibri" panose="020F0502020204030204"/>
              </a:rPr>
              <a:t>SLIDE 4 / 10</a:t>
            </a:r>
            <a:endParaRPr sz="1000" b="1">
              <a:solidFill>
                <a:srgbClr val="FFFFFF"/>
              </a:solidFill>
              <a:latin typeface="Calibri" panose="020F0502020204030204"/>
            </a:endParaRP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panose="020F0502020204030204"/>
              </a:rPr>
              <a:t>Chandigarh University</a:t>
            </a:r>
            <a:endParaRPr sz="900">
              <a:solidFill>
                <a:srgbClr val="555555"/>
              </a:solidFill>
              <a:latin typeface="Calibri" panose="020F0502020204030204"/>
            </a:endParaRP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panose="020F0502020204030204"/>
              </a:rPr>
              <a:t>4 / 10</a:t>
            </a:r>
            <a:endParaRPr sz="900" b="1">
              <a:solidFill>
                <a:srgbClr val="555555"/>
              </a:solidFill>
              <a:latin typeface="Calibri" panose="020F0502020204030204"/>
            </a:endParaRPr>
          </a:p>
        </p:txBody>
      </p:sp>
      <p:sp>
        <p:nvSpPr>
          <p:cNvPr id="11" name="TextBox 10"/>
          <p:cNvSpPr txBox="1"/>
          <p:nvPr/>
        </p:nvSpPr>
        <p:spPr>
          <a:xfrm>
            <a:off x="502920" y="1051560"/>
            <a:ext cx="11183112" cy="365760"/>
          </a:xfrm>
          <a:prstGeom prst="rect">
            <a:avLst/>
          </a:prstGeom>
          <a:noFill/>
        </p:spPr>
        <p:txBody>
          <a:bodyPr wrap="square" lIns="0" tIns="0" rIns="0" bIns="0">
            <a:spAutoFit/>
          </a:bodyPr>
          <a:lstStyle/>
          <a:p>
            <a:pPr algn="l"/>
            <a:r>
              <a:rPr sz="2200" b="1">
                <a:solidFill>
                  <a:srgbClr val="C8102E"/>
                </a:solidFill>
                <a:latin typeface="Calibri" panose="020F0502020204030204"/>
              </a:rPr>
              <a:t>Binary Number System Basics</a:t>
            </a:r>
            <a:endParaRPr sz="2200" b="1">
              <a:solidFill>
                <a:srgbClr val="C8102E"/>
              </a:solidFill>
              <a:latin typeface="Calibri" panose="020F0502020204030204"/>
            </a:endParaRP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1</a:t>
            </a:r>
            <a:endParaRPr sz="1400" b="1">
              <a:solidFill>
                <a:srgbClr val="FFFFFF"/>
              </a:solidFill>
              <a:latin typeface="Calibri" panose="020F0502020204030204"/>
            </a:endParaRPr>
          </a:p>
        </p:txBody>
      </p:sp>
      <p:sp>
        <p:nvSpPr>
          <p:cNvPr id="14" name="TextBox 13"/>
          <p:cNvSpPr txBox="1"/>
          <p:nvPr/>
        </p:nvSpPr>
        <p:spPr>
          <a:xfrm>
            <a:off x="1078992" y="1625600"/>
            <a:ext cx="5574639" cy="319405"/>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Binary </a:t>
            </a:r>
            <a:r>
              <a:rPr lang="en-US" sz="1600">
                <a:solidFill>
                  <a:srgbClr val="1A1A1A"/>
                </a:solidFill>
                <a:latin typeface="Calibri" panose="020F0502020204030204"/>
              </a:rPr>
              <a:t>number system uses base 2 i.e 0 and 1</a:t>
            </a:r>
            <a:endParaRPr lang="en-US" sz="1600">
              <a:solidFill>
                <a:srgbClr val="1A1A1A"/>
              </a:solidFill>
              <a:latin typeface="Calibri" panose="020F0502020204030204"/>
            </a:endParaRP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2</a:t>
            </a:r>
            <a:endParaRPr sz="1400" b="1">
              <a:solidFill>
                <a:srgbClr val="FFFFFF"/>
              </a:solidFill>
              <a:latin typeface="Calibri" panose="020F0502020204030204"/>
            </a:endParaRPr>
          </a:p>
        </p:txBody>
      </p:sp>
      <p:sp>
        <p:nvSpPr>
          <p:cNvPr id="16" name="TextBox 15"/>
          <p:cNvSpPr txBox="1"/>
          <p:nvPr/>
        </p:nvSpPr>
        <p:spPr>
          <a:xfrm>
            <a:off x="1078992" y="2586126"/>
            <a:ext cx="5574639" cy="639445"/>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Each position represents a power of 2 starting from 2⁰</a:t>
            </a:r>
            <a:r>
              <a:rPr lang="en-US" sz="1600">
                <a:solidFill>
                  <a:srgbClr val="1A1A1A"/>
                </a:solidFill>
                <a:latin typeface="Calibri" panose="020F0502020204030204"/>
              </a:rPr>
              <a:t> (1,2,4,8,16...)</a:t>
            </a:r>
            <a:endParaRPr lang="en-US" sz="1600">
              <a:solidFill>
                <a:srgbClr val="1A1A1A"/>
              </a:solidFill>
              <a:latin typeface="Calibri" panose="020F0502020204030204"/>
            </a:endParaRP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3</a:t>
            </a:r>
            <a:endParaRPr sz="1400" b="1">
              <a:solidFill>
                <a:srgbClr val="FFFFFF"/>
              </a:solidFill>
              <a:latin typeface="Calibri" panose="020F0502020204030204"/>
            </a:endParaRPr>
          </a:p>
        </p:txBody>
      </p:sp>
      <p:sp>
        <p:nvSpPr>
          <p:cNvPr id="18" name="TextBox 17"/>
          <p:cNvSpPr txBox="1"/>
          <p:nvPr/>
        </p:nvSpPr>
        <p:spPr>
          <a:xfrm>
            <a:off x="1078992" y="3546652"/>
            <a:ext cx="5574639" cy="814222"/>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The rightmost bit is the Least Significant Bit (LSB)</a:t>
            </a:r>
            <a:endParaRPr sz="1600">
              <a:solidFill>
                <a:srgbClr val="1A1A1A"/>
              </a:solidFill>
              <a:latin typeface="Calibri" panose="020F0502020204030204"/>
            </a:endParaRP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4</a:t>
            </a:r>
            <a:endParaRPr sz="1400" b="1">
              <a:solidFill>
                <a:srgbClr val="FFFFFF"/>
              </a:solidFill>
              <a:latin typeface="Calibri" panose="020F0502020204030204"/>
            </a:endParaRPr>
          </a:p>
        </p:txBody>
      </p:sp>
      <p:sp>
        <p:nvSpPr>
          <p:cNvPr id="20" name="TextBox 19"/>
          <p:cNvSpPr txBox="1"/>
          <p:nvPr/>
        </p:nvSpPr>
        <p:spPr>
          <a:xfrm>
            <a:off x="1078992" y="4507179"/>
            <a:ext cx="5574639" cy="814222"/>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The leftmost bit is the Most Significant Bit (MSB)</a:t>
            </a:r>
            <a:endParaRPr sz="1600">
              <a:solidFill>
                <a:srgbClr val="1A1A1A"/>
              </a:solidFill>
              <a:latin typeface="Calibri" panose="020F0502020204030204"/>
            </a:endParaRP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5</a:t>
            </a:r>
            <a:endParaRPr sz="1400" b="1">
              <a:solidFill>
                <a:srgbClr val="FFFFFF"/>
              </a:solidFill>
              <a:latin typeface="Calibri" panose="020F0502020204030204"/>
            </a:endParaRPr>
          </a:p>
        </p:txBody>
      </p:sp>
      <p:sp>
        <p:nvSpPr>
          <p:cNvPr id="22" name="TextBox 21"/>
          <p:cNvSpPr txBox="1"/>
          <p:nvPr/>
        </p:nvSpPr>
        <p:spPr>
          <a:xfrm>
            <a:off x="1078992" y="5467705"/>
            <a:ext cx="5574639" cy="319405"/>
          </a:xfrm>
          <a:prstGeom prst="rect">
            <a:avLst/>
          </a:prstGeom>
          <a:noFill/>
        </p:spPr>
        <p:txBody>
          <a:bodyPr wrap="square" lIns="0" tIns="0" rIns="0" bIns="0">
            <a:spAutoFit/>
          </a:bodyPr>
          <a:lstStyle/>
          <a:p>
            <a:pPr algn="l">
              <a:lnSpc>
                <a:spcPct val="130000"/>
              </a:lnSpc>
            </a:pPr>
            <a:r>
              <a:rPr lang="en-US" sz="1600">
                <a:solidFill>
                  <a:srgbClr val="1A1A1A"/>
                </a:solidFill>
                <a:latin typeface="Calibri" panose="020F0502020204030204"/>
              </a:rPr>
              <a:t>Th</a:t>
            </a:r>
            <a:r>
              <a:rPr sz="1600">
                <a:solidFill>
                  <a:srgbClr val="1A1A1A"/>
                </a:solidFill>
                <a:latin typeface="Calibri" panose="020F0502020204030204"/>
              </a:rPr>
              <a:t>e native language of all digital electronic circuits</a:t>
            </a:r>
            <a:r>
              <a:rPr lang="en-US" sz="1600">
                <a:solidFill>
                  <a:srgbClr val="1A1A1A"/>
                </a:solidFill>
                <a:latin typeface="Calibri" panose="020F0502020204030204"/>
              </a:rPr>
              <a:t> is Binary.</a:t>
            </a:r>
            <a:endParaRPr lang="en-US" sz="1600">
              <a:solidFill>
                <a:srgbClr val="1A1A1A"/>
              </a:solidFill>
              <a:latin typeface="Calibri" panose="020F0502020204030204"/>
            </a:endParaRPr>
          </a:p>
        </p:txBody>
      </p:sp>
      <p:pic>
        <p:nvPicPr>
          <p:cNvPr id="23" name="Picture 22" descr="image.png"/>
          <p:cNvPicPr>
            <a:picLocks noChangeAspect="1"/>
          </p:cNvPicPr>
          <p:nvPr/>
        </p:nvPicPr>
        <p:blipFill>
          <a:blip r:embed="rId2"/>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245110"/>
          </a:xfrm>
          <a:prstGeom prst="rect">
            <a:avLst/>
          </a:prstGeom>
          <a:noFill/>
        </p:spPr>
        <p:txBody>
          <a:bodyPr wrap="square">
            <a:spAutoFit/>
          </a:bodyPr>
          <a:lstStyle/>
          <a:p>
            <a:pPr algn="ctr"/>
            <a:r>
              <a:rPr lang="en-US" sz="1000" i="1">
                <a:solidFill>
                  <a:srgbClr val="555555"/>
                </a:solidFill>
                <a:latin typeface="Calibri" panose="020F0502020204030204"/>
              </a:rPr>
              <a:t>Irts power of 2 </a:t>
            </a:r>
            <a:endParaRPr lang="en-US" sz="1000" i="1">
              <a:solidFill>
                <a:srgbClr val="555555"/>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1"/>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tIns="0" rIns="0" bIns="0" anchor="ctr">
            <a:spAutoFit/>
          </a:bodyPr>
          <a:lstStyle/>
          <a:p>
            <a:pPr algn="l"/>
            <a:r>
              <a:rPr sz="1300" b="1">
                <a:solidFill>
                  <a:srgbClr val="C8102E"/>
                </a:solidFill>
                <a:latin typeface="Calibri" panose="020F0502020204030204"/>
              </a:rPr>
              <a:t>Lecture</a:t>
            </a:r>
            <a:endParaRPr sz="1300" b="1">
              <a:solidFill>
                <a:srgbClr val="C8102E"/>
              </a:solidFill>
              <a:latin typeface="Calibri" panose="020F0502020204030204"/>
            </a:endParaRP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000" b="1">
                <a:solidFill>
                  <a:srgbClr val="FFFFFF"/>
                </a:solidFill>
                <a:latin typeface="Calibri" panose="020F0502020204030204"/>
              </a:rPr>
              <a:t>SLIDE 5 / 10</a:t>
            </a:r>
            <a:endParaRPr sz="1000" b="1">
              <a:solidFill>
                <a:srgbClr val="FFFFFF"/>
              </a:solidFill>
              <a:latin typeface="Calibri" panose="020F0502020204030204"/>
            </a:endParaRP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panose="020F0502020204030204"/>
              </a:rPr>
              <a:t>Chandigarh University</a:t>
            </a:r>
            <a:endParaRPr sz="900">
              <a:solidFill>
                <a:srgbClr val="555555"/>
              </a:solidFill>
              <a:latin typeface="Calibri" panose="020F0502020204030204"/>
            </a:endParaRP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panose="020F0502020204030204"/>
              </a:rPr>
              <a:t>5 / 10</a:t>
            </a:r>
            <a:endParaRPr sz="900" b="1">
              <a:solidFill>
                <a:srgbClr val="555555"/>
              </a:solidFill>
              <a:latin typeface="Calibri" panose="020F0502020204030204"/>
            </a:endParaRPr>
          </a:p>
        </p:txBody>
      </p:sp>
      <p:sp>
        <p:nvSpPr>
          <p:cNvPr id="11" name="TextBox 10"/>
          <p:cNvSpPr txBox="1"/>
          <p:nvPr/>
        </p:nvSpPr>
        <p:spPr>
          <a:xfrm>
            <a:off x="502920" y="1051560"/>
            <a:ext cx="11183112" cy="365760"/>
          </a:xfrm>
          <a:prstGeom prst="rect">
            <a:avLst/>
          </a:prstGeom>
          <a:noFill/>
        </p:spPr>
        <p:txBody>
          <a:bodyPr wrap="square" lIns="0" tIns="0" rIns="0" bIns="0">
            <a:spAutoFit/>
          </a:bodyPr>
          <a:lstStyle/>
          <a:p>
            <a:pPr algn="l"/>
            <a:r>
              <a:rPr sz="2200" b="1">
                <a:solidFill>
                  <a:srgbClr val="C8102E"/>
                </a:solidFill>
                <a:latin typeface="Calibri" panose="020F0502020204030204"/>
              </a:rPr>
              <a:t>Octal Number System Basics</a:t>
            </a:r>
            <a:endParaRPr sz="2200" b="1">
              <a:solidFill>
                <a:srgbClr val="C8102E"/>
              </a:solidFill>
              <a:latin typeface="Calibri" panose="020F0502020204030204"/>
            </a:endParaRP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1</a:t>
            </a:r>
            <a:endParaRPr sz="1400" b="1">
              <a:solidFill>
                <a:srgbClr val="FFFFFF"/>
              </a:solidFill>
              <a:latin typeface="Calibri" panose="020F0502020204030204"/>
            </a:endParaRPr>
          </a:p>
        </p:txBody>
      </p:sp>
      <p:sp>
        <p:nvSpPr>
          <p:cNvPr id="14" name="TextBox 13"/>
          <p:cNvSpPr txBox="1"/>
          <p:nvPr/>
        </p:nvSpPr>
        <p:spPr>
          <a:xfrm>
            <a:off x="1078992" y="1625600"/>
            <a:ext cx="5574639" cy="319405"/>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Octal uses base 8 with digits ranging from 0 to 7</a:t>
            </a:r>
            <a:r>
              <a:rPr lang="en-US" sz="1600">
                <a:solidFill>
                  <a:srgbClr val="1A1A1A"/>
                </a:solidFill>
                <a:latin typeface="Calibri" panose="020F0502020204030204"/>
              </a:rPr>
              <a:t>.</a:t>
            </a:r>
            <a:endParaRPr lang="en-US" sz="1600">
              <a:solidFill>
                <a:srgbClr val="1A1A1A"/>
              </a:solidFill>
              <a:latin typeface="Calibri" panose="020F0502020204030204"/>
            </a:endParaRP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2</a:t>
            </a:r>
            <a:endParaRPr sz="1400" b="1">
              <a:solidFill>
                <a:srgbClr val="FFFFFF"/>
              </a:solidFill>
              <a:latin typeface="Calibri" panose="020F0502020204030204"/>
            </a:endParaRPr>
          </a:p>
        </p:txBody>
      </p:sp>
      <p:sp>
        <p:nvSpPr>
          <p:cNvPr id="16" name="TextBox 15"/>
          <p:cNvSpPr txBox="1"/>
          <p:nvPr/>
        </p:nvSpPr>
        <p:spPr>
          <a:xfrm>
            <a:off x="1078992" y="2586126"/>
            <a:ext cx="5574639" cy="814222"/>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Each position represents a power of 8 starting from 8⁰</a:t>
            </a:r>
            <a:endParaRPr sz="1600">
              <a:solidFill>
                <a:srgbClr val="1A1A1A"/>
              </a:solidFill>
              <a:latin typeface="Calibri" panose="020F0502020204030204"/>
            </a:endParaRP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3</a:t>
            </a:r>
            <a:endParaRPr sz="1400" b="1">
              <a:solidFill>
                <a:srgbClr val="FFFFFF"/>
              </a:solidFill>
              <a:latin typeface="Calibri" panose="020F0502020204030204"/>
            </a:endParaRPr>
          </a:p>
        </p:txBody>
      </p:sp>
      <p:sp>
        <p:nvSpPr>
          <p:cNvPr id="18" name="TextBox 17"/>
          <p:cNvSpPr txBox="1"/>
          <p:nvPr/>
        </p:nvSpPr>
        <p:spPr>
          <a:xfrm>
            <a:off x="1078992" y="3546652"/>
            <a:ext cx="5574639" cy="319405"/>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Octal is used as a shorthand for binary representation</a:t>
            </a:r>
            <a:endParaRPr sz="1600">
              <a:solidFill>
                <a:srgbClr val="1A1A1A"/>
              </a:solidFill>
              <a:latin typeface="Calibri" panose="020F0502020204030204"/>
            </a:endParaRP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4</a:t>
            </a:r>
            <a:endParaRPr sz="1400" b="1">
              <a:solidFill>
                <a:srgbClr val="FFFFFF"/>
              </a:solidFill>
              <a:latin typeface="Calibri" panose="020F0502020204030204"/>
            </a:endParaRPr>
          </a:p>
        </p:txBody>
      </p:sp>
      <p:sp>
        <p:nvSpPr>
          <p:cNvPr id="20" name="TextBox 19"/>
          <p:cNvSpPr txBox="1"/>
          <p:nvPr/>
        </p:nvSpPr>
        <p:spPr>
          <a:xfrm>
            <a:off x="1078992" y="4507179"/>
            <a:ext cx="5574639" cy="319405"/>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One octal digit correspond</a:t>
            </a:r>
            <a:r>
              <a:rPr lang="en-US" sz="1600">
                <a:solidFill>
                  <a:srgbClr val="1A1A1A"/>
                </a:solidFill>
                <a:latin typeface="Calibri" panose="020F0502020204030204"/>
              </a:rPr>
              <a:t>ing</a:t>
            </a:r>
            <a:r>
              <a:rPr sz="1600">
                <a:solidFill>
                  <a:srgbClr val="1A1A1A"/>
                </a:solidFill>
                <a:latin typeface="Calibri" panose="020F0502020204030204"/>
              </a:rPr>
              <a:t> exactly to three binary bits</a:t>
            </a:r>
            <a:endParaRPr sz="1600">
              <a:solidFill>
                <a:srgbClr val="1A1A1A"/>
              </a:solidFill>
              <a:latin typeface="Calibri" panose="020F0502020204030204"/>
            </a:endParaRP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5</a:t>
            </a:r>
            <a:endParaRPr sz="1400" b="1">
              <a:solidFill>
                <a:srgbClr val="FFFFFF"/>
              </a:solidFill>
              <a:latin typeface="Calibri" panose="020F0502020204030204"/>
            </a:endParaRPr>
          </a:p>
        </p:txBody>
      </p:sp>
      <p:sp>
        <p:nvSpPr>
          <p:cNvPr id="22" name="TextBox 21"/>
          <p:cNvSpPr txBox="1"/>
          <p:nvPr/>
        </p:nvSpPr>
        <p:spPr>
          <a:xfrm>
            <a:off x="1078992" y="5467705"/>
            <a:ext cx="5574639" cy="319405"/>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It </a:t>
            </a:r>
            <a:r>
              <a:rPr lang="en-US" sz="1600">
                <a:solidFill>
                  <a:srgbClr val="1A1A1A"/>
                </a:solidFill>
                <a:latin typeface="Calibri" panose="020F0502020204030204"/>
              </a:rPr>
              <a:t>justify</a:t>
            </a:r>
            <a:r>
              <a:rPr sz="1600">
                <a:solidFill>
                  <a:srgbClr val="1A1A1A"/>
                </a:solidFill>
                <a:latin typeface="Calibri" panose="020F0502020204030204"/>
              </a:rPr>
              <a:t> reading long binary strings in computer systems</a:t>
            </a:r>
            <a:endParaRPr sz="1600">
              <a:solidFill>
                <a:srgbClr val="1A1A1A"/>
              </a:solidFill>
              <a:latin typeface="Calibri" panose="020F0502020204030204"/>
            </a:endParaRPr>
          </a:p>
        </p:txBody>
      </p:sp>
      <p:pic>
        <p:nvPicPr>
          <p:cNvPr id="23" name="Picture 22" descr="image.png"/>
          <p:cNvPicPr>
            <a:picLocks noChangeAspect="1"/>
          </p:cNvPicPr>
          <p:nvPr/>
        </p:nvPicPr>
        <p:blipFill>
          <a:blip r:embed="rId2"/>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sz="1000" i="1">
                <a:solidFill>
                  <a:srgbClr val="555555"/>
                </a:solidFill>
                <a:latin typeface="Calibri" panose="020F0502020204030204"/>
              </a:rPr>
              <a:t>Source: media.geeksforgeeks.org</a:t>
            </a:r>
            <a:endParaRPr sz="1000" i="1">
              <a:solidFill>
                <a:srgbClr val="555555"/>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1"/>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tIns="0" rIns="0" bIns="0" anchor="ctr">
            <a:spAutoFit/>
          </a:bodyPr>
          <a:lstStyle/>
          <a:p>
            <a:pPr algn="l"/>
            <a:r>
              <a:rPr sz="1300" b="1">
                <a:solidFill>
                  <a:srgbClr val="C8102E"/>
                </a:solidFill>
                <a:latin typeface="Calibri" panose="020F0502020204030204"/>
              </a:rPr>
              <a:t>Lecture</a:t>
            </a:r>
            <a:endParaRPr sz="1300" b="1">
              <a:solidFill>
                <a:srgbClr val="C8102E"/>
              </a:solidFill>
              <a:latin typeface="Calibri" panose="020F0502020204030204"/>
            </a:endParaRP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000" b="1">
                <a:solidFill>
                  <a:srgbClr val="FFFFFF"/>
                </a:solidFill>
                <a:latin typeface="Calibri" panose="020F0502020204030204"/>
              </a:rPr>
              <a:t>SLIDE 6 / 10</a:t>
            </a:r>
            <a:endParaRPr sz="1000" b="1">
              <a:solidFill>
                <a:srgbClr val="FFFFFF"/>
              </a:solidFill>
              <a:latin typeface="Calibri" panose="020F0502020204030204"/>
            </a:endParaRP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panose="020F0502020204030204"/>
              </a:rPr>
              <a:t>Chandigarh University</a:t>
            </a:r>
            <a:endParaRPr sz="900">
              <a:solidFill>
                <a:srgbClr val="555555"/>
              </a:solidFill>
              <a:latin typeface="Calibri" panose="020F0502020204030204"/>
            </a:endParaRP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panose="020F0502020204030204"/>
              </a:rPr>
              <a:t>6 / 10</a:t>
            </a:r>
            <a:endParaRPr sz="900" b="1">
              <a:solidFill>
                <a:srgbClr val="555555"/>
              </a:solidFill>
              <a:latin typeface="Calibri" panose="020F0502020204030204"/>
            </a:endParaRPr>
          </a:p>
        </p:txBody>
      </p:sp>
      <p:sp>
        <p:nvSpPr>
          <p:cNvPr id="11" name="TextBox 10"/>
          <p:cNvSpPr txBox="1"/>
          <p:nvPr/>
        </p:nvSpPr>
        <p:spPr>
          <a:xfrm>
            <a:off x="502920" y="1051560"/>
            <a:ext cx="11183112" cy="365760"/>
          </a:xfrm>
          <a:prstGeom prst="rect">
            <a:avLst/>
          </a:prstGeom>
          <a:noFill/>
        </p:spPr>
        <p:txBody>
          <a:bodyPr wrap="square" lIns="0" tIns="0" rIns="0" bIns="0">
            <a:spAutoFit/>
          </a:bodyPr>
          <a:lstStyle/>
          <a:p>
            <a:pPr algn="l"/>
            <a:r>
              <a:rPr sz="2200" b="1">
                <a:solidFill>
                  <a:srgbClr val="C8102E"/>
                </a:solidFill>
                <a:latin typeface="Calibri" panose="020F0502020204030204"/>
              </a:rPr>
              <a:t>Decimal to Binary Conversion</a:t>
            </a:r>
            <a:endParaRPr sz="2200" b="1">
              <a:solidFill>
                <a:srgbClr val="C8102E"/>
              </a:solidFill>
              <a:latin typeface="Calibri" panose="020F0502020204030204"/>
            </a:endParaRP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90220"/>
          </a:xfrm>
          <a:prstGeom prst="rect">
            <a:avLst/>
          </a:prstGeom>
          <a:noFill/>
        </p:spPr>
        <p:txBody>
          <a:bodyPr wrap="square" lIns="0" tIns="0" rIns="0" bIns="0">
            <a:spAutoFit/>
          </a:bodyPr>
          <a:lstStyle/>
          <a:p>
            <a:pPr algn="l">
              <a:spcAft>
                <a:spcPts val="400"/>
              </a:spcAft>
            </a:pPr>
            <a:r>
              <a:rPr sz="1100" b="1">
                <a:solidFill>
                  <a:srgbClr val="C8102E"/>
                </a:solidFill>
                <a:latin typeface="Calibri" panose="020F0502020204030204"/>
              </a:rPr>
              <a:t>EXAMPLE</a:t>
            </a:r>
            <a:endParaRPr sz="1100" b="1">
              <a:solidFill>
                <a:srgbClr val="C8102E"/>
              </a:solidFill>
              <a:latin typeface="Calibri" panose="020F0502020204030204"/>
            </a:endParaRPr>
          </a:p>
          <a:p>
            <a:pPr algn="l">
              <a:lnSpc>
                <a:spcPct val="135000"/>
              </a:lnSpc>
            </a:pPr>
            <a:r>
              <a:rPr sz="1300">
                <a:solidFill>
                  <a:srgbClr val="1A1A1A"/>
                </a:solidFill>
                <a:latin typeface="Calibri" panose="020F0502020204030204"/>
              </a:rPr>
              <a:t>Decimal 1</a:t>
            </a:r>
            <a:r>
              <a:rPr lang="en-US" sz="1300">
                <a:solidFill>
                  <a:srgbClr val="1A1A1A"/>
                </a:solidFill>
                <a:latin typeface="Calibri" panose="020F0502020204030204"/>
              </a:rPr>
              <a:t>4 </a:t>
            </a:r>
            <a:r>
              <a:rPr sz="1300">
                <a:solidFill>
                  <a:srgbClr val="1A1A1A"/>
                </a:solidFill>
                <a:latin typeface="Calibri" panose="020F0502020204030204"/>
              </a:rPr>
              <a:t>converts to binary 11</a:t>
            </a:r>
            <a:r>
              <a:rPr lang="en-US" sz="1300">
                <a:solidFill>
                  <a:srgbClr val="1A1A1A"/>
                </a:solidFill>
                <a:latin typeface="Calibri" panose="020F0502020204030204"/>
              </a:rPr>
              <a:t>10</a:t>
            </a:r>
            <a:endParaRPr lang="en-US" sz="1300">
              <a:solidFill>
                <a:srgbClr val="1A1A1A"/>
              </a:solidFill>
              <a:latin typeface="Calibri" panose="020F0502020204030204"/>
            </a:endParaRP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45" y="1744345"/>
            <a:ext cx="2677795" cy="4239260"/>
          </a:xfrm>
          <a:prstGeom prst="rect">
            <a:avLst/>
          </a:prstGeom>
          <a:noFill/>
        </p:spPr>
        <p:txBody>
          <a:bodyPr wrap="square" lIns="0" tIns="0" rIns="0" bIns="0">
            <a:noAutofit/>
          </a:bodyPr>
          <a:lstStyle/>
          <a:p>
            <a:pPr algn="l">
              <a:lnSpc>
                <a:spcPct val="135000"/>
              </a:lnSpc>
            </a:pPr>
            <a:r>
              <a:rPr sz="1300">
                <a:solidFill>
                  <a:srgbClr val="1A1A1A"/>
                </a:solidFill>
                <a:latin typeface="Calibri" panose="020F0502020204030204"/>
              </a:rPr>
              <a:t>•  Repeatedly divide the decimal number by 2 and record remainders</a:t>
            </a:r>
            <a:endParaRPr sz="1300">
              <a:solidFill>
                <a:srgbClr val="1A1A1A"/>
              </a:solidFill>
              <a:latin typeface="Calibri" panose="020F0502020204030204"/>
            </a:endParaRPr>
          </a:p>
          <a:p>
            <a:pPr algn="l">
              <a:lnSpc>
                <a:spcPct val="135000"/>
              </a:lnSpc>
            </a:pPr>
            <a:endParaRPr sz="1300">
              <a:solidFill>
                <a:srgbClr val="1A1A1A"/>
              </a:solidFill>
              <a:latin typeface="Calibri" panose="020F0502020204030204"/>
            </a:endParaRPr>
          </a:p>
          <a:p>
            <a:pPr algn="l">
              <a:lnSpc>
                <a:spcPct val="135000"/>
              </a:lnSpc>
            </a:pPr>
            <a:r>
              <a:rPr sz="1300">
                <a:solidFill>
                  <a:srgbClr val="1A1A1A"/>
                </a:solidFill>
                <a:latin typeface="Calibri" panose="020F0502020204030204"/>
              </a:rPr>
              <a:t>•  The first remainder obtained is the Least Significant Bit (LSB)</a:t>
            </a:r>
            <a:endParaRPr sz="1300">
              <a:solidFill>
                <a:srgbClr val="1A1A1A"/>
              </a:solidFill>
              <a:latin typeface="Calibri" panose="020F0502020204030204"/>
            </a:endParaRPr>
          </a:p>
          <a:p>
            <a:pPr algn="l">
              <a:lnSpc>
                <a:spcPct val="135000"/>
              </a:lnSpc>
            </a:pPr>
            <a:endParaRPr sz="1300">
              <a:solidFill>
                <a:srgbClr val="1A1A1A"/>
              </a:solidFill>
              <a:latin typeface="Calibri" panose="020F0502020204030204"/>
            </a:endParaRPr>
          </a:p>
          <a:p>
            <a:pPr algn="l">
              <a:lnSpc>
                <a:spcPct val="135000"/>
              </a:lnSpc>
            </a:pPr>
            <a:r>
              <a:rPr sz="1300">
                <a:solidFill>
                  <a:srgbClr val="1A1A1A"/>
                </a:solidFill>
                <a:latin typeface="Calibri" panose="020F0502020204030204"/>
              </a:rPr>
              <a:t>•  The last remainder obtained is the Most Significant Bit (MSB)</a:t>
            </a:r>
            <a:endParaRPr sz="1300">
              <a:solidFill>
                <a:srgbClr val="1A1A1A"/>
              </a:solidFill>
              <a:latin typeface="Calibri" panose="020F0502020204030204"/>
            </a:endParaRPr>
          </a:p>
          <a:p>
            <a:pPr algn="l">
              <a:lnSpc>
                <a:spcPct val="135000"/>
              </a:lnSpc>
            </a:pPr>
            <a:endParaRPr sz="1300">
              <a:solidFill>
                <a:srgbClr val="1A1A1A"/>
              </a:solidFill>
              <a:latin typeface="Calibri" panose="020F0502020204030204"/>
            </a:endParaRPr>
          </a:p>
          <a:p>
            <a:pPr algn="l">
              <a:lnSpc>
                <a:spcPct val="135000"/>
              </a:lnSpc>
            </a:pPr>
            <a:r>
              <a:rPr sz="1300">
                <a:solidFill>
                  <a:srgbClr val="1A1A1A"/>
                </a:solidFill>
                <a:latin typeface="Calibri" panose="020F0502020204030204"/>
              </a:rPr>
              <a:t>•  Read the remainders from bottom to top to </a:t>
            </a:r>
            <a:r>
              <a:rPr lang="en-US" sz="1300">
                <a:solidFill>
                  <a:srgbClr val="1A1A1A"/>
                </a:solidFill>
                <a:latin typeface="Calibri" panose="020F0502020204030204"/>
              </a:rPr>
              <a:t>find</a:t>
            </a:r>
            <a:r>
              <a:rPr sz="1300">
                <a:solidFill>
                  <a:srgbClr val="1A1A1A"/>
                </a:solidFill>
                <a:latin typeface="Calibri" panose="020F0502020204030204"/>
              </a:rPr>
              <a:t> the result</a:t>
            </a:r>
            <a:r>
              <a:rPr lang="en-US" sz="1300">
                <a:solidFill>
                  <a:srgbClr val="1A1A1A"/>
                </a:solidFill>
                <a:latin typeface="Calibri" panose="020F0502020204030204"/>
              </a:rPr>
              <a:t>.</a:t>
            </a:r>
            <a:endParaRPr lang="en-US" sz="1300">
              <a:solidFill>
                <a:srgbClr val="1A1A1A"/>
              </a:solidFill>
              <a:latin typeface="Calibri" panose="020F0502020204030204"/>
            </a:endParaRPr>
          </a:p>
        </p:txBody>
      </p:sp>
      <p:pic>
        <p:nvPicPr>
          <p:cNvPr id="19" name="Picture 18" descr="image.png"/>
          <p:cNvPicPr>
            <a:picLocks noChangeAspect="1"/>
          </p:cNvPicPr>
          <p:nvPr/>
        </p:nvPicPr>
        <p:blipFill>
          <a:blip r:embed="rId2"/>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sz="1000" i="1">
                <a:solidFill>
                  <a:srgbClr val="555555"/>
                </a:solidFill>
                <a:latin typeface="Calibri" panose="020F0502020204030204"/>
              </a:rPr>
              <a:t>Source: cstaleem.com</a:t>
            </a:r>
            <a:endParaRPr sz="1000" i="1">
              <a:solidFill>
                <a:srgbClr val="555555"/>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1"/>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tIns="0" rIns="0" bIns="0" anchor="ctr">
            <a:spAutoFit/>
          </a:bodyPr>
          <a:lstStyle/>
          <a:p>
            <a:pPr algn="l"/>
            <a:r>
              <a:rPr sz="1300" b="1">
                <a:solidFill>
                  <a:srgbClr val="C8102E"/>
                </a:solidFill>
                <a:latin typeface="Calibri" panose="020F0502020204030204"/>
              </a:rPr>
              <a:t>Lecture</a:t>
            </a:r>
            <a:endParaRPr sz="1300" b="1">
              <a:solidFill>
                <a:srgbClr val="C8102E"/>
              </a:solidFill>
              <a:latin typeface="Calibri" panose="020F0502020204030204"/>
            </a:endParaRP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000" b="1">
                <a:solidFill>
                  <a:srgbClr val="FFFFFF"/>
                </a:solidFill>
                <a:latin typeface="Calibri" panose="020F0502020204030204"/>
              </a:rPr>
              <a:t>SLIDE 7 / 10</a:t>
            </a:r>
            <a:endParaRPr sz="1000" b="1">
              <a:solidFill>
                <a:srgbClr val="FFFFFF"/>
              </a:solidFill>
              <a:latin typeface="Calibri" panose="020F0502020204030204"/>
            </a:endParaRP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panose="020F0502020204030204"/>
              </a:rPr>
              <a:t>Chandigarh University</a:t>
            </a:r>
            <a:endParaRPr sz="900">
              <a:solidFill>
                <a:srgbClr val="555555"/>
              </a:solidFill>
              <a:latin typeface="Calibri" panose="020F0502020204030204"/>
            </a:endParaRP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panose="020F0502020204030204"/>
              </a:rPr>
              <a:t>7 / 10</a:t>
            </a:r>
            <a:endParaRPr sz="900" b="1">
              <a:solidFill>
                <a:srgbClr val="555555"/>
              </a:solidFill>
              <a:latin typeface="Calibri" panose="020F0502020204030204"/>
            </a:endParaRPr>
          </a:p>
        </p:txBody>
      </p:sp>
      <p:sp>
        <p:nvSpPr>
          <p:cNvPr id="11" name="TextBox 10"/>
          <p:cNvSpPr txBox="1"/>
          <p:nvPr/>
        </p:nvSpPr>
        <p:spPr>
          <a:xfrm>
            <a:off x="502920" y="1051560"/>
            <a:ext cx="11183112" cy="365760"/>
          </a:xfrm>
          <a:prstGeom prst="rect">
            <a:avLst/>
          </a:prstGeom>
          <a:noFill/>
        </p:spPr>
        <p:txBody>
          <a:bodyPr wrap="square" lIns="0" tIns="0" rIns="0" bIns="0">
            <a:spAutoFit/>
          </a:bodyPr>
          <a:lstStyle/>
          <a:p>
            <a:pPr algn="l"/>
            <a:r>
              <a:rPr sz="2200" b="1">
                <a:solidFill>
                  <a:srgbClr val="C8102E"/>
                </a:solidFill>
                <a:latin typeface="Calibri" panose="020F0502020204030204"/>
              </a:rPr>
              <a:t>Decimal to Octal Conversion</a:t>
            </a:r>
            <a:endParaRPr sz="2200" b="1">
              <a:solidFill>
                <a:srgbClr val="C8102E"/>
              </a:solidFill>
              <a:latin typeface="Calibri" panose="020F0502020204030204"/>
            </a:endParaRP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tIns="0" rIns="0" bIns="0">
            <a:spAutoFit/>
          </a:bodyPr>
          <a:lstStyle/>
          <a:p>
            <a:pPr algn="l">
              <a:spcAft>
                <a:spcPts val="400"/>
              </a:spcAft>
            </a:pPr>
            <a:r>
              <a:rPr sz="1100" b="1">
                <a:solidFill>
                  <a:srgbClr val="C8102E"/>
                </a:solidFill>
                <a:latin typeface="Calibri" panose="020F0502020204030204"/>
              </a:rPr>
              <a:t>EXAMPLE</a:t>
            </a:r>
            <a:endParaRPr sz="1100" b="1">
              <a:solidFill>
                <a:srgbClr val="C8102E"/>
              </a:solidFill>
              <a:latin typeface="Calibri" panose="020F0502020204030204"/>
            </a:endParaRPr>
          </a:p>
          <a:p>
            <a:pPr algn="l">
              <a:lnSpc>
                <a:spcPct val="135000"/>
              </a:lnSpc>
            </a:pPr>
            <a:r>
              <a:rPr sz="1300">
                <a:solidFill>
                  <a:srgbClr val="1A1A1A"/>
                </a:solidFill>
                <a:latin typeface="Calibri" panose="020F0502020204030204"/>
              </a:rPr>
              <a:t>Decimal 25 converts to octal 31</a:t>
            </a:r>
            <a:endParaRPr sz="1300">
              <a:solidFill>
                <a:srgbClr val="1A1A1A"/>
              </a:solidFill>
              <a:latin typeface="Calibri" panose="020F0502020204030204"/>
            </a:endParaRP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2969260"/>
          </a:xfrm>
          <a:prstGeom prst="rect">
            <a:avLst/>
          </a:prstGeom>
          <a:noFill/>
        </p:spPr>
        <p:txBody>
          <a:bodyPr wrap="square" lIns="0" tIns="0" rIns="0" bIns="0">
            <a:spAutoFit/>
          </a:bodyPr>
          <a:lstStyle/>
          <a:p>
            <a:pPr algn="l">
              <a:lnSpc>
                <a:spcPct val="135000"/>
              </a:lnSpc>
            </a:pPr>
            <a:r>
              <a:rPr sz="1300">
                <a:solidFill>
                  <a:srgbClr val="1A1A1A"/>
                </a:solidFill>
                <a:latin typeface="Calibri" panose="020F0502020204030204"/>
              </a:rPr>
              <a:t>•  Repeatedly divide the decimal number by 8 </a:t>
            </a:r>
            <a:r>
              <a:rPr lang="en-US" sz="1300">
                <a:solidFill>
                  <a:srgbClr val="1A1A1A"/>
                </a:solidFill>
                <a:latin typeface="Calibri" panose="020F0502020204030204"/>
              </a:rPr>
              <a:t>&amp;</a:t>
            </a:r>
            <a:r>
              <a:rPr sz="1300">
                <a:solidFill>
                  <a:srgbClr val="1A1A1A"/>
                </a:solidFill>
                <a:latin typeface="Calibri" panose="020F0502020204030204"/>
              </a:rPr>
              <a:t> record remainders</a:t>
            </a:r>
            <a:endParaRPr sz="1300">
              <a:solidFill>
                <a:srgbClr val="1A1A1A"/>
              </a:solidFill>
              <a:latin typeface="Calibri" panose="020F0502020204030204"/>
            </a:endParaRPr>
          </a:p>
          <a:p>
            <a:pPr algn="l">
              <a:lnSpc>
                <a:spcPct val="135000"/>
              </a:lnSpc>
            </a:pPr>
            <a:endParaRPr sz="1300">
              <a:solidFill>
                <a:srgbClr val="1A1A1A"/>
              </a:solidFill>
              <a:latin typeface="Calibri" panose="020F0502020204030204"/>
            </a:endParaRPr>
          </a:p>
          <a:p>
            <a:pPr algn="l">
              <a:lnSpc>
                <a:spcPct val="135000"/>
              </a:lnSpc>
            </a:pPr>
            <a:r>
              <a:rPr sz="1300">
                <a:solidFill>
                  <a:srgbClr val="1A1A1A"/>
                </a:solidFill>
                <a:latin typeface="Calibri" panose="020F0502020204030204"/>
              </a:rPr>
              <a:t>•  The first remainder obtained is the Least Significant Octal digit</a:t>
            </a:r>
            <a:endParaRPr sz="1300">
              <a:solidFill>
                <a:srgbClr val="1A1A1A"/>
              </a:solidFill>
              <a:latin typeface="Calibri" panose="020F0502020204030204"/>
            </a:endParaRPr>
          </a:p>
          <a:p>
            <a:pPr algn="l">
              <a:lnSpc>
                <a:spcPct val="135000"/>
              </a:lnSpc>
            </a:pPr>
            <a:endParaRPr sz="1300">
              <a:solidFill>
                <a:srgbClr val="1A1A1A"/>
              </a:solidFill>
              <a:latin typeface="Calibri" panose="020F0502020204030204"/>
            </a:endParaRPr>
          </a:p>
          <a:p>
            <a:pPr algn="l">
              <a:lnSpc>
                <a:spcPct val="135000"/>
              </a:lnSpc>
            </a:pPr>
            <a:r>
              <a:rPr sz="1300">
                <a:solidFill>
                  <a:srgbClr val="1A1A1A"/>
                </a:solidFill>
                <a:latin typeface="Calibri" panose="020F0502020204030204"/>
              </a:rPr>
              <a:t>•  The last remainder obtained is the Most Significant Octal digit</a:t>
            </a:r>
            <a:endParaRPr sz="1300">
              <a:solidFill>
                <a:srgbClr val="1A1A1A"/>
              </a:solidFill>
              <a:latin typeface="Calibri" panose="020F0502020204030204"/>
            </a:endParaRPr>
          </a:p>
          <a:p>
            <a:pPr algn="l">
              <a:lnSpc>
                <a:spcPct val="135000"/>
              </a:lnSpc>
            </a:pPr>
            <a:endParaRPr sz="1300">
              <a:solidFill>
                <a:srgbClr val="1A1A1A"/>
              </a:solidFill>
              <a:latin typeface="Calibri" panose="020F0502020204030204"/>
            </a:endParaRPr>
          </a:p>
          <a:p>
            <a:pPr algn="l">
              <a:lnSpc>
                <a:spcPct val="135000"/>
              </a:lnSpc>
            </a:pPr>
            <a:r>
              <a:rPr sz="1300">
                <a:solidFill>
                  <a:srgbClr val="1A1A1A"/>
                </a:solidFill>
                <a:latin typeface="Calibri" panose="020F0502020204030204"/>
              </a:rPr>
              <a:t>•  Read the remainders from bottom to top to get the result</a:t>
            </a:r>
            <a:endParaRPr sz="1300">
              <a:solidFill>
                <a:srgbClr val="1A1A1A"/>
              </a:solidFill>
              <a:latin typeface="Calibri" panose="020F0502020204030204"/>
            </a:endParaRPr>
          </a:p>
        </p:txBody>
      </p:sp>
      <p:pic>
        <p:nvPicPr>
          <p:cNvPr id="19" name="Picture 18" descr="image.png"/>
          <p:cNvPicPr>
            <a:picLocks noChangeAspect="1"/>
          </p:cNvPicPr>
          <p:nvPr/>
        </p:nvPicPr>
        <p:blipFill>
          <a:blip r:embed="rId2"/>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sz="1000" i="1">
                <a:solidFill>
                  <a:srgbClr val="555555"/>
                </a:solidFill>
                <a:latin typeface="Calibri" panose="020F0502020204030204"/>
              </a:rPr>
              <a:t>Source: cstaleem.com</a:t>
            </a:r>
            <a:endParaRPr sz="1000" i="1">
              <a:solidFill>
                <a:srgbClr val="555555"/>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1"/>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tIns="0" rIns="0" bIns="0" anchor="ctr">
            <a:spAutoFit/>
          </a:bodyPr>
          <a:lstStyle/>
          <a:p>
            <a:pPr algn="l"/>
            <a:r>
              <a:rPr sz="1300" b="1">
                <a:solidFill>
                  <a:srgbClr val="C8102E"/>
                </a:solidFill>
                <a:latin typeface="Calibri" panose="020F0502020204030204"/>
              </a:rPr>
              <a:t>Lecture</a:t>
            </a:r>
            <a:endParaRPr sz="1300" b="1">
              <a:solidFill>
                <a:srgbClr val="C8102E"/>
              </a:solidFill>
              <a:latin typeface="Calibri" panose="020F0502020204030204"/>
            </a:endParaRP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000" b="1">
                <a:solidFill>
                  <a:srgbClr val="FFFFFF"/>
                </a:solidFill>
                <a:latin typeface="Calibri" panose="020F0502020204030204"/>
              </a:rPr>
              <a:t>SLIDE 8 / 10</a:t>
            </a:r>
            <a:endParaRPr sz="1000" b="1">
              <a:solidFill>
                <a:srgbClr val="FFFFFF"/>
              </a:solidFill>
              <a:latin typeface="Calibri" panose="020F0502020204030204"/>
            </a:endParaRP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panose="020F0502020204030204"/>
              </a:rPr>
              <a:t>Chandigarh University</a:t>
            </a:r>
            <a:endParaRPr sz="900">
              <a:solidFill>
                <a:srgbClr val="555555"/>
              </a:solidFill>
              <a:latin typeface="Calibri" panose="020F0502020204030204"/>
            </a:endParaRP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panose="020F0502020204030204"/>
              </a:rPr>
              <a:t>8 / 10</a:t>
            </a:r>
            <a:endParaRPr sz="900" b="1">
              <a:solidFill>
                <a:srgbClr val="555555"/>
              </a:solidFill>
              <a:latin typeface="Calibri" panose="020F0502020204030204"/>
            </a:endParaRPr>
          </a:p>
        </p:txBody>
      </p:sp>
      <p:sp>
        <p:nvSpPr>
          <p:cNvPr id="11" name="TextBox 10"/>
          <p:cNvSpPr txBox="1"/>
          <p:nvPr/>
        </p:nvSpPr>
        <p:spPr>
          <a:xfrm>
            <a:off x="502920" y="1051560"/>
            <a:ext cx="11183112" cy="365760"/>
          </a:xfrm>
          <a:prstGeom prst="rect">
            <a:avLst/>
          </a:prstGeom>
          <a:noFill/>
        </p:spPr>
        <p:txBody>
          <a:bodyPr wrap="square" lIns="0" tIns="0" rIns="0" bIns="0">
            <a:spAutoFit/>
          </a:bodyPr>
          <a:lstStyle/>
          <a:p>
            <a:pPr algn="l"/>
            <a:r>
              <a:rPr sz="2200" b="1">
                <a:solidFill>
                  <a:srgbClr val="C8102E"/>
                </a:solidFill>
                <a:latin typeface="Calibri" panose="020F0502020204030204"/>
              </a:rPr>
              <a:t>Binary to Octal Conversion</a:t>
            </a:r>
            <a:endParaRPr sz="2200" b="1">
              <a:solidFill>
                <a:srgbClr val="C8102E"/>
              </a:solidFill>
              <a:latin typeface="Calibri" panose="020F0502020204030204"/>
            </a:endParaRP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tIns="0" rIns="0" bIns="0">
            <a:spAutoFit/>
          </a:bodyPr>
          <a:lstStyle/>
          <a:p>
            <a:pPr algn="l">
              <a:spcAft>
                <a:spcPts val="400"/>
              </a:spcAft>
            </a:pPr>
            <a:r>
              <a:rPr sz="1100" b="1">
                <a:solidFill>
                  <a:srgbClr val="C8102E"/>
                </a:solidFill>
                <a:latin typeface="Calibri" panose="020F0502020204030204"/>
              </a:rPr>
              <a:t>EXAMPLE</a:t>
            </a:r>
            <a:endParaRPr sz="1100" b="1">
              <a:solidFill>
                <a:srgbClr val="C8102E"/>
              </a:solidFill>
              <a:latin typeface="Calibri" panose="020F0502020204030204"/>
            </a:endParaRPr>
          </a:p>
          <a:p>
            <a:pPr algn="l">
              <a:lnSpc>
                <a:spcPct val="135000"/>
              </a:lnSpc>
            </a:pPr>
            <a:r>
              <a:rPr sz="1300">
                <a:solidFill>
                  <a:srgbClr val="1A1A1A"/>
                </a:solidFill>
                <a:latin typeface="Calibri" panose="020F0502020204030204"/>
              </a:rPr>
              <a:t>Binary 110101 converts to octal 65</a:t>
            </a:r>
            <a:endParaRPr sz="1300">
              <a:solidFill>
                <a:srgbClr val="1A1A1A"/>
              </a:solidFill>
              <a:latin typeface="Calibri" panose="020F0502020204030204"/>
            </a:endParaRP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079500"/>
          </a:xfrm>
          <a:prstGeom prst="rect">
            <a:avLst/>
          </a:prstGeom>
          <a:noFill/>
        </p:spPr>
        <p:txBody>
          <a:bodyPr wrap="square" lIns="0" tIns="0" rIns="0" bIns="0">
            <a:spAutoFit/>
          </a:bodyPr>
          <a:lstStyle/>
          <a:p>
            <a:pPr algn="l">
              <a:lnSpc>
                <a:spcPct val="135000"/>
              </a:lnSpc>
            </a:pPr>
            <a:r>
              <a:rPr sz="1300">
                <a:solidFill>
                  <a:srgbClr val="1A1A1A"/>
                </a:solidFill>
                <a:latin typeface="Calibri" panose="020F0502020204030204"/>
              </a:rPr>
              <a:t>•  Group</a:t>
            </a:r>
            <a:r>
              <a:rPr lang="en-US" sz="1300">
                <a:solidFill>
                  <a:srgbClr val="1A1A1A"/>
                </a:solidFill>
                <a:latin typeface="Calibri" panose="020F0502020204030204"/>
              </a:rPr>
              <a:t>ing</a:t>
            </a:r>
            <a:r>
              <a:rPr sz="1300">
                <a:solidFill>
                  <a:srgbClr val="1A1A1A"/>
                </a:solidFill>
                <a:latin typeface="Calibri" panose="020F0502020204030204"/>
              </a:rPr>
              <a:t> binary digits into sets of three starting from the L</a:t>
            </a:r>
            <a:r>
              <a:rPr lang="en-US" sz="1300">
                <a:solidFill>
                  <a:srgbClr val="1A1A1A"/>
                </a:solidFill>
                <a:latin typeface="Calibri" panose="020F0502020204030204"/>
              </a:rPr>
              <a:t>SB.</a:t>
            </a:r>
            <a:endParaRPr sz="1300">
              <a:solidFill>
                <a:srgbClr val="1A1A1A"/>
              </a:solidFill>
              <a:latin typeface="Calibri" panose="020F0502020204030204"/>
            </a:endParaRPr>
          </a:p>
          <a:p>
            <a:pPr algn="l">
              <a:lnSpc>
                <a:spcPct val="135000"/>
              </a:lnSpc>
            </a:pPr>
            <a:r>
              <a:rPr sz="1300">
                <a:solidFill>
                  <a:srgbClr val="1A1A1A"/>
                </a:solidFill>
                <a:latin typeface="Calibri" panose="020F0502020204030204"/>
              </a:rPr>
              <a:t>•  Add</a:t>
            </a:r>
            <a:r>
              <a:rPr lang="en-US" sz="1300">
                <a:solidFill>
                  <a:srgbClr val="1A1A1A"/>
                </a:solidFill>
                <a:latin typeface="Calibri" panose="020F0502020204030204"/>
              </a:rPr>
              <a:t>ing</a:t>
            </a:r>
            <a:r>
              <a:rPr sz="1300">
                <a:solidFill>
                  <a:srgbClr val="1A1A1A"/>
                </a:solidFill>
                <a:latin typeface="Calibri" panose="020F0502020204030204"/>
              </a:rPr>
              <a:t> leading zeros to the left if the last group has fewer than three bits</a:t>
            </a:r>
            <a:endParaRPr sz="1300">
              <a:solidFill>
                <a:srgbClr val="1A1A1A"/>
              </a:solidFill>
              <a:latin typeface="Calibri" panose="020F0502020204030204"/>
            </a:endParaRPr>
          </a:p>
          <a:p>
            <a:pPr algn="l">
              <a:lnSpc>
                <a:spcPct val="135000"/>
              </a:lnSpc>
            </a:pPr>
            <a:r>
              <a:rPr sz="1300">
                <a:solidFill>
                  <a:srgbClr val="1A1A1A"/>
                </a:solidFill>
                <a:latin typeface="Calibri" panose="020F0502020204030204"/>
              </a:rPr>
              <a:t>• </a:t>
            </a:r>
            <a:r>
              <a:rPr lang="en-US" sz="1300">
                <a:solidFill>
                  <a:srgbClr val="1A1A1A"/>
                </a:solidFill>
                <a:latin typeface="Calibri" panose="020F0502020204030204"/>
              </a:rPr>
              <a:t>To</a:t>
            </a:r>
            <a:r>
              <a:rPr sz="1300">
                <a:solidFill>
                  <a:srgbClr val="1A1A1A"/>
                </a:solidFill>
                <a:latin typeface="Calibri" panose="020F0502020204030204"/>
              </a:rPr>
              <a:t> Convert each 3-bit group directly into its corresponding octal digit</a:t>
            </a:r>
            <a:endParaRPr sz="1300">
              <a:solidFill>
                <a:srgbClr val="1A1A1A"/>
              </a:solidFill>
              <a:latin typeface="Calibri" panose="020F0502020204030204"/>
            </a:endParaRPr>
          </a:p>
          <a:p>
            <a:pPr algn="l">
              <a:lnSpc>
                <a:spcPct val="135000"/>
              </a:lnSpc>
            </a:pPr>
            <a:r>
              <a:rPr sz="1300">
                <a:solidFill>
                  <a:srgbClr val="1A1A1A"/>
                </a:solidFill>
                <a:latin typeface="Calibri" panose="020F0502020204030204"/>
              </a:rPr>
              <a:t>•  </a:t>
            </a:r>
            <a:r>
              <a:rPr lang="en-US" sz="1300">
                <a:solidFill>
                  <a:srgbClr val="1A1A1A"/>
                </a:solidFill>
                <a:latin typeface="Calibri" panose="020F0502020204030204"/>
              </a:rPr>
              <a:t>To </a:t>
            </a:r>
            <a:r>
              <a:rPr sz="1300">
                <a:solidFill>
                  <a:srgbClr val="1A1A1A"/>
                </a:solidFill>
                <a:latin typeface="Calibri" panose="020F0502020204030204"/>
              </a:rPr>
              <a:t>Combine the octal digits to form the final octal number</a:t>
            </a:r>
            <a:endParaRPr sz="1300">
              <a:solidFill>
                <a:srgbClr val="1A1A1A"/>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1"/>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tIns="0" rIns="0" bIns="0" anchor="ctr">
            <a:spAutoFit/>
          </a:bodyPr>
          <a:lstStyle/>
          <a:p>
            <a:pPr algn="l"/>
            <a:r>
              <a:rPr sz="1300" b="1">
                <a:solidFill>
                  <a:srgbClr val="C8102E"/>
                </a:solidFill>
                <a:latin typeface="Calibri" panose="020F0502020204030204"/>
              </a:rPr>
              <a:t>Lecture</a:t>
            </a:r>
            <a:endParaRPr sz="1300" b="1">
              <a:solidFill>
                <a:srgbClr val="C8102E"/>
              </a:solidFill>
              <a:latin typeface="Calibri" panose="020F0502020204030204"/>
            </a:endParaRP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000" b="1">
                <a:solidFill>
                  <a:srgbClr val="FFFFFF"/>
                </a:solidFill>
                <a:latin typeface="Calibri" panose="020F0502020204030204"/>
              </a:rPr>
              <a:t>SLIDE 9 / 10</a:t>
            </a:r>
            <a:endParaRPr sz="1000" b="1">
              <a:solidFill>
                <a:srgbClr val="FFFFFF"/>
              </a:solidFill>
              <a:latin typeface="Calibri" panose="020F0502020204030204"/>
            </a:endParaRP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panose="020F0502020204030204"/>
              </a:rPr>
              <a:t>Chandigarh University</a:t>
            </a:r>
            <a:endParaRPr sz="900">
              <a:solidFill>
                <a:srgbClr val="555555"/>
              </a:solidFill>
              <a:latin typeface="Calibri" panose="020F0502020204030204"/>
            </a:endParaRP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panose="020F0502020204030204"/>
              </a:rPr>
              <a:t>9 / 10</a:t>
            </a:r>
            <a:endParaRPr sz="900" b="1">
              <a:solidFill>
                <a:srgbClr val="555555"/>
              </a:solidFill>
              <a:latin typeface="Calibri" panose="020F0502020204030204"/>
            </a:endParaRPr>
          </a:p>
        </p:txBody>
      </p:sp>
      <p:sp>
        <p:nvSpPr>
          <p:cNvPr id="11" name="TextBox 10"/>
          <p:cNvSpPr txBox="1"/>
          <p:nvPr/>
        </p:nvSpPr>
        <p:spPr>
          <a:xfrm>
            <a:off x="502920" y="1051560"/>
            <a:ext cx="11183112" cy="365760"/>
          </a:xfrm>
          <a:prstGeom prst="rect">
            <a:avLst/>
          </a:prstGeom>
          <a:noFill/>
        </p:spPr>
        <p:txBody>
          <a:bodyPr wrap="square" lIns="0" tIns="0" rIns="0" bIns="0">
            <a:spAutoFit/>
          </a:bodyPr>
          <a:lstStyle/>
          <a:p>
            <a:pPr algn="l"/>
            <a:r>
              <a:rPr sz="2200" b="1">
                <a:solidFill>
                  <a:srgbClr val="C8102E"/>
                </a:solidFill>
                <a:latin typeface="Calibri" panose="020F0502020204030204"/>
              </a:rPr>
              <a:t>Key Takeaways</a:t>
            </a:r>
            <a:endParaRPr sz="2200" b="1">
              <a:solidFill>
                <a:srgbClr val="C8102E"/>
              </a:solidFill>
              <a:latin typeface="Calibri" panose="020F0502020204030204"/>
            </a:endParaRP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1</a:t>
            </a:r>
            <a:endParaRPr sz="1400" b="1">
              <a:solidFill>
                <a:srgbClr val="FFFFFF"/>
              </a:solidFill>
              <a:latin typeface="Calibri" panose="020F0502020204030204"/>
            </a:endParaRPr>
          </a:p>
        </p:txBody>
      </p:sp>
      <p:sp>
        <p:nvSpPr>
          <p:cNvPr id="14" name="TextBox 13"/>
          <p:cNvSpPr txBox="1"/>
          <p:nvPr/>
        </p:nvSpPr>
        <p:spPr>
          <a:xfrm>
            <a:off x="1078992" y="1625600"/>
            <a:ext cx="5574639" cy="814222"/>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Binary uses base 2 (0,1) while Octal uses base 8 (0-7)</a:t>
            </a:r>
            <a:endParaRPr sz="1600">
              <a:solidFill>
                <a:srgbClr val="1A1A1A"/>
              </a:solidFill>
              <a:latin typeface="Calibri" panose="020F0502020204030204"/>
            </a:endParaRP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2</a:t>
            </a:r>
            <a:endParaRPr sz="1400" b="1">
              <a:solidFill>
                <a:srgbClr val="FFFFFF"/>
              </a:solidFill>
              <a:latin typeface="Calibri" panose="020F0502020204030204"/>
            </a:endParaRPr>
          </a:p>
        </p:txBody>
      </p:sp>
      <p:sp>
        <p:nvSpPr>
          <p:cNvPr id="16" name="TextBox 15"/>
          <p:cNvSpPr txBox="1"/>
          <p:nvPr/>
        </p:nvSpPr>
        <p:spPr>
          <a:xfrm>
            <a:off x="1078992" y="2586126"/>
            <a:ext cx="5574639" cy="814222"/>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One octal digit is equivalent to exactly three binary bits</a:t>
            </a:r>
            <a:endParaRPr sz="1600">
              <a:solidFill>
                <a:srgbClr val="1A1A1A"/>
              </a:solidFill>
              <a:latin typeface="Calibri" panose="020F0502020204030204"/>
            </a:endParaRP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3</a:t>
            </a:r>
            <a:endParaRPr sz="1400" b="1">
              <a:solidFill>
                <a:srgbClr val="FFFFFF"/>
              </a:solidFill>
              <a:latin typeface="Calibri" panose="020F0502020204030204"/>
            </a:endParaRPr>
          </a:p>
        </p:txBody>
      </p:sp>
      <p:sp>
        <p:nvSpPr>
          <p:cNvPr id="18" name="TextBox 17"/>
          <p:cNvSpPr txBox="1"/>
          <p:nvPr/>
        </p:nvSpPr>
        <p:spPr>
          <a:xfrm>
            <a:off x="1078992" y="3546652"/>
            <a:ext cx="5574639" cy="814222"/>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Division method converts decimal to binary or octal systems</a:t>
            </a:r>
            <a:endParaRPr sz="1600">
              <a:solidFill>
                <a:srgbClr val="1A1A1A"/>
              </a:solidFill>
              <a:latin typeface="Calibri" panose="020F0502020204030204"/>
            </a:endParaRP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4</a:t>
            </a:r>
            <a:endParaRPr sz="1400" b="1">
              <a:solidFill>
                <a:srgbClr val="FFFFFF"/>
              </a:solidFill>
              <a:latin typeface="Calibri" panose="020F0502020204030204"/>
            </a:endParaRPr>
          </a:p>
        </p:txBody>
      </p:sp>
      <p:sp>
        <p:nvSpPr>
          <p:cNvPr id="20" name="TextBox 19"/>
          <p:cNvSpPr txBox="1"/>
          <p:nvPr/>
        </p:nvSpPr>
        <p:spPr>
          <a:xfrm>
            <a:off x="1078992" y="4507179"/>
            <a:ext cx="5574639" cy="814222"/>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Grouping method converts binary to octal efficiently</a:t>
            </a:r>
            <a:endParaRPr sz="1600">
              <a:solidFill>
                <a:srgbClr val="1A1A1A"/>
              </a:solidFill>
              <a:latin typeface="Calibri" panose="020F0502020204030204"/>
            </a:endParaRP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panose="020F0502020204030204"/>
              </a:rPr>
              <a:t>5</a:t>
            </a:r>
            <a:endParaRPr sz="1400" b="1">
              <a:solidFill>
                <a:srgbClr val="FFFFFF"/>
              </a:solidFill>
              <a:latin typeface="Calibri" panose="020F0502020204030204"/>
            </a:endParaRPr>
          </a:p>
        </p:txBody>
      </p:sp>
      <p:sp>
        <p:nvSpPr>
          <p:cNvPr id="22" name="TextBox 21"/>
          <p:cNvSpPr txBox="1"/>
          <p:nvPr/>
        </p:nvSpPr>
        <p:spPr>
          <a:xfrm>
            <a:off x="1078992" y="5467705"/>
            <a:ext cx="5574639" cy="814222"/>
          </a:xfrm>
          <a:prstGeom prst="rect">
            <a:avLst/>
          </a:prstGeom>
          <a:noFill/>
        </p:spPr>
        <p:txBody>
          <a:bodyPr wrap="square" lIns="0" tIns="0" rIns="0" bIns="0">
            <a:spAutoFit/>
          </a:bodyPr>
          <a:lstStyle/>
          <a:p>
            <a:pPr algn="l">
              <a:lnSpc>
                <a:spcPct val="130000"/>
              </a:lnSpc>
            </a:pPr>
            <a:r>
              <a:rPr sz="1600">
                <a:solidFill>
                  <a:srgbClr val="1A1A1A"/>
                </a:solidFill>
                <a:latin typeface="Calibri" panose="020F0502020204030204"/>
              </a:rPr>
              <a:t>These systems are fundamental for digital circuit design and logic</a:t>
            </a:r>
            <a:endParaRPr sz="1600">
              <a:solidFill>
                <a:srgbClr val="1A1A1A"/>
              </a:solidFill>
              <a:latin typeface="Calibri" panose="020F0502020204030204"/>
            </a:endParaRPr>
          </a:p>
        </p:txBody>
      </p:sp>
      <p:pic>
        <p:nvPicPr>
          <p:cNvPr id="23" name="Picture 22" descr="image.png"/>
          <p:cNvPicPr>
            <a:picLocks noChangeAspect="1"/>
          </p:cNvPicPr>
          <p:nvPr/>
        </p:nvPicPr>
        <p:blipFill>
          <a:blip r:embed="rId2"/>
          <a:stretch>
            <a:fillRect/>
          </a:stretch>
        </p:blipFill>
        <p:spPr>
          <a:xfrm>
            <a:off x="6927951" y="1625600"/>
            <a:ext cx="4758080" cy="4107688"/>
          </a:xfrm>
          <a:prstGeom prst="rect">
            <a:avLst/>
          </a:prstGeom>
          <a:ln w="6350">
            <a:solidFill>
              <a:srgbClr val="DDDDDD"/>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1"/>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tIns="0" rIns="0" bIns="0" anchor="ctr">
            <a:spAutoFit/>
          </a:bodyPr>
          <a:lstStyle/>
          <a:p>
            <a:pPr algn="l"/>
            <a:r>
              <a:rPr sz="1300" b="1">
                <a:solidFill>
                  <a:srgbClr val="C8102E"/>
                </a:solidFill>
                <a:latin typeface="Calibri" panose="020F0502020204030204"/>
              </a:rPr>
              <a:t>Lecture</a:t>
            </a:r>
            <a:endParaRPr sz="1300" b="1">
              <a:solidFill>
                <a:srgbClr val="C8102E"/>
              </a:solidFill>
              <a:latin typeface="Calibri" panose="020F0502020204030204"/>
            </a:endParaRP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r>
              <a:rPr sz="1000" b="1">
                <a:solidFill>
                  <a:srgbClr val="FFFFFF"/>
                </a:solidFill>
                <a:latin typeface="Calibri" panose="020F0502020204030204"/>
              </a:rPr>
              <a:t>SLIDE 10 / 10</a:t>
            </a:r>
            <a:endParaRPr sz="1000" b="1">
              <a:solidFill>
                <a:srgbClr val="FFFFFF"/>
              </a:solidFill>
              <a:latin typeface="Calibri" panose="020F0502020204030204"/>
            </a:endParaRP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panose="020F0502020204030204"/>
              </a:rPr>
              <a:t>Chandigarh University</a:t>
            </a:r>
            <a:endParaRPr sz="900">
              <a:solidFill>
                <a:srgbClr val="555555"/>
              </a:solidFill>
              <a:latin typeface="Calibri" panose="020F0502020204030204"/>
            </a:endParaRP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panose="020F0502020204030204"/>
              </a:rPr>
              <a:t>10 / 10</a:t>
            </a:r>
            <a:endParaRPr sz="900" b="1">
              <a:solidFill>
                <a:srgbClr val="555555"/>
              </a:solidFill>
              <a:latin typeface="Calibri" panose="020F0502020204030204"/>
            </a:endParaRPr>
          </a:p>
        </p:txBody>
      </p:sp>
      <p:sp>
        <p:nvSpPr>
          <p:cNvPr id="11" name="TextBox 10"/>
          <p:cNvSpPr txBox="1"/>
          <p:nvPr/>
        </p:nvSpPr>
        <p:spPr>
          <a:xfrm>
            <a:off x="502920" y="1051560"/>
            <a:ext cx="11183112" cy="365760"/>
          </a:xfrm>
          <a:prstGeom prst="rect">
            <a:avLst/>
          </a:prstGeom>
          <a:noFill/>
        </p:spPr>
        <p:txBody>
          <a:bodyPr wrap="square" lIns="0" tIns="0" rIns="0" bIns="0">
            <a:spAutoFit/>
          </a:bodyPr>
          <a:lstStyle/>
          <a:p>
            <a:pPr algn="l"/>
            <a:r>
              <a:rPr sz="2200" b="1">
                <a:solidFill>
                  <a:srgbClr val="C8102E"/>
                </a:solidFill>
                <a:latin typeface="Calibri" panose="020F0502020204030204"/>
              </a:rPr>
              <a:t>References</a:t>
            </a:r>
            <a:endParaRPr sz="2200" b="1">
              <a:solidFill>
                <a:srgbClr val="C8102E"/>
              </a:solidFill>
              <a:latin typeface="Calibri" panose="020F0502020204030204"/>
            </a:endParaRP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tIns="0" rIns="0" bIns="0">
            <a:spAutoFit/>
          </a:bodyPr>
          <a:lstStyle/>
          <a:p>
            <a:pPr algn="l">
              <a:spcAft>
                <a:spcPts val="400"/>
              </a:spcAft>
            </a:pPr>
            <a:r>
              <a:rPr sz="1100" b="1">
                <a:solidFill>
                  <a:srgbClr val="C8102E"/>
                </a:solidFill>
                <a:latin typeface="Calibri" panose="020F0502020204030204"/>
              </a:rPr>
              <a:t>COMPUTER ORGANIZATION AND DESIGN</a:t>
            </a:r>
            <a:endParaRPr sz="1100" b="1">
              <a:solidFill>
                <a:srgbClr val="C8102E"/>
              </a:solidFill>
              <a:latin typeface="Calibri" panose="020F0502020204030204"/>
            </a:endParaRPr>
          </a:p>
          <a:p>
            <a:pPr algn="l">
              <a:lnSpc>
                <a:spcPct val="135000"/>
              </a:lnSpc>
            </a:pPr>
            <a:r>
              <a:rPr sz="1300">
                <a:solidFill>
                  <a:srgbClr val="1A1A1A"/>
                </a:solidFill>
                <a:latin typeface="Calibri" panose="020F0502020204030204"/>
              </a:rPr>
              <a:t>The Hardware/Software Interface — David A. Patterson, John L. Hennessy</a:t>
            </a:r>
            <a:endParaRPr sz="1300">
              <a:solidFill>
                <a:srgbClr val="1A1A1A"/>
              </a:solidFill>
              <a:latin typeface="Calibri" panose="020F0502020204030204"/>
            </a:endParaRP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tIns="0" rIns="0" bIns="0">
            <a:spAutoFit/>
          </a:bodyPr>
          <a:lstStyle/>
          <a:p>
            <a:pPr algn="l">
              <a:spcAft>
                <a:spcPts val="400"/>
              </a:spcAft>
            </a:pPr>
            <a:r>
              <a:rPr sz="1100" b="1">
                <a:solidFill>
                  <a:srgbClr val="C8102E"/>
                </a:solidFill>
                <a:latin typeface="Calibri" panose="020F0502020204030204"/>
              </a:rPr>
              <a:t>COMPUTER ARCHITECTURE</a:t>
            </a:r>
            <a:endParaRPr sz="1100" b="1">
              <a:solidFill>
                <a:srgbClr val="C8102E"/>
              </a:solidFill>
              <a:latin typeface="Calibri" panose="020F0502020204030204"/>
            </a:endParaRPr>
          </a:p>
          <a:p>
            <a:pPr algn="l">
              <a:lnSpc>
                <a:spcPct val="135000"/>
              </a:lnSpc>
            </a:pPr>
            <a:r>
              <a:rPr sz="1300">
                <a:solidFill>
                  <a:srgbClr val="1A1A1A"/>
                </a:solidFill>
                <a:latin typeface="Calibri" panose="020F0502020204030204"/>
              </a:rPr>
              <a:t>A Quantitative Approach — John L. Hennessy, David A. Patterson</a:t>
            </a:r>
            <a:endParaRPr sz="1300">
              <a:solidFill>
                <a:srgbClr val="1A1A1A"/>
              </a:solidFill>
              <a:latin typeface="Calibri" panose="020F0502020204030204"/>
            </a:endParaRP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tIns="0" rIns="0" bIns="0">
            <a:spAutoFit/>
          </a:bodyPr>
          <a:lstStyle/>
          <a:p>
            <a:pPr algn="l">
              <a:lnSpc>
                <a:spcPct val="135000"/>
              </a:lnSpc>
            </a:pPr>
            <a:r>
              <a:rPr sz="1300">
                <a:solidFill>
                  <a:srgbClr val="1A1A1A"/>
                </a:solidFill>
                <a:latin typeface="Calibri" panose="020F0502020204030204"/>
              </a:rPr>
              <a:t>•  Computer Organization and Architecture — William Stallings</a:t>
            </a:r>
            <a:endParaRPr sz="1300">
              <a:solidFill>
                <a:srgbClr val="1A1A1A"/>
              </a:solidFill>
              <a:latin typeface="Calibri" panose="020F0502020204030204"/>
            </a:endParaRPr>
          </a:p>
          <a:p>
            <a:pPr algn="l">
              <a:lnSpc>
                <a:spcPct val="135000"/>
              </a:lnSpc>
            </a:pPr>
            <a:r>
              <a:rPr sz="1300">
                <a:solidFill>
                  <a:srgbClr val="1A1A1A"/>
                </a:solidFill>
                <a:latin typeface="Calibri" panose="020F0502020204030204"/>
              </a:rPr>
              <a:t>•  Computer System Architecture — M. Morris Mano &amp; Rajib Mall</a:t>
            </a:r>
            <a:endParaRPr sz="1300">
              <a:solidFill>
                <a:srgbClr val="1A1A1A"/>
              </a:solidFill>
              <a:latin typeface="Calibri" panose="020F0502020204030204"/>
            </a:endParaRPr>
          </a:p>
          <a:p>
            <a:pPr algn="l">
              <a:lnSpc>
                <a:spcPct val="135000"/>
              </a:lnSpc>
            </a:pPr>
            <a:r>
              <a:rPr sz="1300">
                <a:solidFill>
                  <a:srgbClr val="1A1A1A"/>
                </a:solidFill>
                <a:latin typeface="Calibri" panose="020F0502020204030204"/>
              </a:rPr>
              <a:t>•  Computer Organization — Carl Hamacher, Zvonko Vranesic, Safwat Zaky</a:t>
            </a:r>
            <a:endParaRPr sz="1300">
              <a:solidFill>
                <a:srgbClr val="1A1A1A"/>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3492</Words>
  <Application>WPS Presentation</Application>
  <PresentationFormat>On-screen Show (4:3)</PresentationFormat>
  <Paragraphs>252</Paragraphs>
  <Slides>10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Arial</vt:lpstr>
      <vt:lpstr>SimSun</vt:lpstr>
      <vt:lpstr>Wingdings</vt:lpstr>
      <vt:lpstr>Arial</vt:lpstr>
      <vt:lpstr>Calibri</vt:lpstr>
      <vt:lpstr>Microsoft YaHei</vt:lpstr>
      <vt:lpstr>Arial Unicode MS</vt:lpstr>
      <vt:lpstr>Times New Roman</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Octal - Computer Organization and Architecture</dc:title>
  <dc:creator>CU AI Lesson Builder</dc:creator>
  <dc:description>generated using python-pptx</dc:description>
  <dc:subject>AI-generated lecture — Chandigarh University</dc:subject>
  <cp:lastModifiedBy>ritu dwivedi</cp:lastModifiedBy>
  <cp:revision>6</cp:revision>
  <dcterms:created xsi:type="dcterms:W3CDTF">2013-01-27T09:14:00Z</dcterms:created>
  <dcterms:modified xsi:type="dcterms:W3CDTF">2026-07-02T05:04:30Z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639D7289E55A47428DAE582643133B3F_13</vt:lpwstr>
  </property>
</Properties>
</file>