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lecture on Data transfer and manipulation within the Register Organization chapter. We will explore how the CPU moves data and controls program flow. This session is designed to help you analyze the instruction set architecture effectively. Let us begin our journey into the heart of the processor.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lecture directly addresses Course Outcome 2, which requires you to analyze register organization and instruction set architecture. We will focus specifically on how data moves between registers and how program control instructions alter the execution sequence. By the end of this session, you will be able to trace these operations on a sample instruction set.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lecture, you will be able to analyze how data moves between registers and memory. You will evaluate how arithmetic and logic operations manipulate this data. We will also differentiate between jump and call instructions to understand program control. Finally, you will apply these concepts to trace a simple program execution flow.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transfer is the fundamental operation that moves information between different parts of the computer. Register-to-register transfer is the fastest because it happens entirely within the CPU. For example, moving data from register R1 to R2 takes only one clock cycle. Memory transfers are slower because they involve the external bus and address decoding.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manipulation involves arithmetic and logic operations performed by the Arithmetic Logic Unit. Shift operations are particularly efficient for multiplying or dividing by powers of two. For instance, a logical left shift of the binary number 0010 results in 0100, effectively doubling the value. These operations are essential for executing complex algorithms within the processor.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Program control instructions allow the CPU to make decisions and repeat tasks. Unconditional jumps always change the program counter to a new address. Conditional jumps, like 'Jump if Zero', only execute if the status flags indicate a specific condition. For example, a loop in a program relies on conditional jumps to repeat a block of code until a counter reaches zero.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trace a simple data manipulation example to see how registers work. Initially, R1 holds the value 2 and R2 holds the value 5. When we execute the ADD instruction, the ALU adds these values. The result, 7, is stored back into R1. This single operation demonstrates the speed and efficiency of register-based data manipulation.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look at program control with a conditional jump. If the Program Counter is at 100 and the Zero flag is 0, the jump instruction is ignored. The CPU simply moves to the next address, 101. However, if the Zero flag were 1, the PC would jump to a specific label address. This mechanism allows the processor to implement loops and decision-making logic.</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data transfer moves information between different components of the computer system. Arithmetic and logic operations manipulate this data within the ALU. Program control instructions are vital for altering the execution flow based on conditions. Understanding these operations is essential for analyzing the instruction set architecture effectively.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further reading, I recommend the textbooks listed on this slide. William Stallings and M. Morris Mano provide excellent foundational knowledge. David A. Patterson and John L. Hennessy offer deep insights into modern architecture. Carl Hamacher's work is also highly recommended for detailed technical understanding. Please refer to these books for more complex examples and exercises.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jp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3200">
                <a:solidFill>
                  <a:srgbClr val="1A1A2E"/>
                </a:solidFill>
                <a:latin typeface="Calibri"/>
              </a:rPr>
              <a:t>Data transfer and manipulation; Program control</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Computer Organization and Architecture | Register Organization</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Computer Organization and Architecture   |   Chapter: Register Organization   |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4754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number systems and digital logic to design basic digital circuits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register organization and instruction set architecture</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Implement computer arithmetic algorithms and floating-point operations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Analyze memory hierarchy and input-output organization</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C62828"/>
                          </a:solidFill>
                          <a:latin typeface="Calibri"/>
                        </a:rPr>
                        <a:t>BT6</a:t>
                      </a:r>
                    </a:p>
                  </a:txBody>
                  <a:tcPr marL="109728" marR="109728">
                    <a:solidFill>
                      <a:srgbClr val="FFEBEE"/>
                    </a:solidFill>
                  </a:tcPr>
                </a:tc>
                <a:tc>
                  <a:txBody>
                    <a:bodyPr/>
                    <a:lstStyle/>
                    <a:p>
                      <a:pPr algn="l"/>
                      <a:r>
                        <a:rPr sz="1200" b="0">
                          <a:solidFill>
                            <a:srgbClr val="1A1A1A"/>
                          </a:solidFill>
                          <a:latin typeface="Calibri"/>
                        </a:rPr>
                        <a:t>Evaluate control unit design and pipelining performance</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71323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mechanisms of data transfer between registers and memory.</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role of arithmetic and logic operations in data manipulation.</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Differentiate between various program control instructions like jumps and calls.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Apply register organization concepts to trace a simple program execution flow.</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Assess the impact of data transfer on overall system performance.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95097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Data Transfer Mechanisms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Data transfer moves information between registers, memory, and I/O devices.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Register-to-register transfer is the fastest operation in the CPU.</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Memory-to-register transfer involves fetching data from main memory address.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Register-to-memory transfer stores the result of an operation back.</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I/O transfer moves data between the processor and peripheral devices.</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Block Diagram of Computer System with Components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Data Manipulation Operations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Arithmetic operations include addition, subtraction, multiplication, and division.</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Logic operations include AND, OR, NOT, XOR, and shift operations.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Shift operations move bits left or right to multiply or divide by powers of two.</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ALU performs all data manipulation tasks using the control signals.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Results of operations are typically stored back into a destination register.</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42646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Program Control Instructions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Program control instructions alter the sequence of instruction execution.</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Unconditional jumps change the program counter to a new address immediately.</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Conditional jumps execute only if specific status flags meet certain conditions.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Subroutine calls save the return address before jumping to a function.</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Return instructions restore the program counter to continue execution after a call.</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6420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Data Transfer</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Initial state: Register R1 = 0010 (decimal 2), Register R2 = 0101 (decimal 5)</a:t>
            </a:r>
          </a:p>
        </p:txBody>
      </p:sp>
      <p:sp>
        <p:nvSpPr>
          <p:cNvPr id="16" name="Rectangle 15"/>
          <p:cNvSpPr/>
          <p:nvPr/>
        </p:nvSpPr>
        <p:spPr>
          <a:xfrm>
            <a:off x="502920" y="2796032"/>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2796032"/>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6600" y="2914904"/>
            <a:ext cx="2567355"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INSTRUCTION</a:t>
            </a:r>
          </a:p>
          <a:p>
            <a:pPr algn="l">
              <a:lnSpc>
                <a:spcPct val="135000"/>
              </a:lnSpc>
            </a:pPr>
            <a:r>
              <a:rPr sz="1300">
                <a:solidFill>
                  <a:srgbClr val="1A1A1A"/>
                </a:solidFill>
                <a:latin typeface="Calibri"/>
              </a:rPr>
              <a:t>ADD R1, R2 (Add contents of R2 to R1).</a:t>
            </a:r>
          </a:p>
        </p:txBody>
      </p:sp>
      <p:sp>
        <p:nvSpPr>
          <p:cNvPr id="19" name="Rectangle 18"/>
          <p:cNvSpPr/>
          <p:nvPr/>
        </p:nvSpPr>
        <p:spPr>
          <a:xfrm>
            <a:off x="3669715" y="2796032"/>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69715" y="2796032"/>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03395" y="2914904"/>
            <a:ext cx="2567355"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OPERATION</a:t>
            </a:r>
          </a:p>
          <a:p>
            <a:pPr algn="l">
              <a:lnSpc>
                <a:spcPct val="135000"/>
              </a:lnSpc>
            </a:pPr>
            <a:r>
              <a:rPr sz="1300">
                <a:solidFill>
                  <a:srgbClr val="1A1A1A"/>
                </a:solidFill>
                <a:latin typeface="Calibri"/>
              </a:rPr>
              <a:t>R1 = R1 + R2 = 2 + 5 = 7.</a:t>
            </a:r>
          </a:p>
        </p:txBody>
      </p:sp>
      <p:sp>
        <p:nvSpPr>
          <p:cNvPr id="22" name="Rectangle 21"/>
          <p:cNvSpPr/>
          <p:nvPr/>
        </p:nvSpPr>
        <p:spPr>
          <a:xfrm>
            <a:off x="502920" y="4630420"/>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4630420"/>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6600" y="4749292"/>
            <a:ext cx="2567355"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RESULT</a:t>
            </a:r>
          </a:p>
          <a:p>
            <a:pPr algn="l">
              <a:lnSpc>
                <a:spcPct val="135000"/>
              </a:lnSpc>
            </a:pPr>
            <a:r>
              <a:rPr sz="1300">
                <a:solidFill>
                  <a:srgbClr val="1A1A1A"/>
                </a:solidFill>
                <a:latin typeface="Calibri"/>
              </a:rPr>
              <a:t>Register R1 now holds the binary value 0111 (decimal 7).</a:t>
            </a:r>
          </a:p>
        </p:txBody>
      </p:sp>
      <p:sp>
        <p:nvSpPr>
          <p:cNvPr id="25" name="Rectangle 24"/>
          <p:cNvSpPr/>
          <p:nvPr/>
        </p:nvSpPr>
        <p:spPr>
          <a:xfrm>
            <a:off x="3669715" y="4630420"/>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69715" y="4630420"/>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903395" y="4749292"/>
            <a:ext cx="2567355" cy="1413764"/>
          </a:xfrm>
          <a:prstGeom prst="rect">
            <a:avLst/>
          </a:prstGeom>
          <a:noFill/>
        </p:spPr>
        <p:txBody>
          <a:bodyPr wrap="square" lIns="0" rIns="0" tIns="0" bIns="0">
            <a:spAutoFit/>
          </a:bodyPr>
          <a:lstStyle/>
          <a:p>
            <a:pPr algn="l">
              <a:lnSpc>
                <a:spcPct val="135000"/>
              </a:lnSpc>
            </a:pPr>
            <a:r>
              <a:rPr sz="1300">
                <a:solidFill>
                  <a:srgbClr val="1A1A1A"/>
                </a:solidFill>
                <a:latin typeface="Calibri"/>
              </a:rPr>
              <a:t>•  This demonstrates how data is manipulated and stored in a single cycle.</a:t>
            </a:r>
          </a:p>
        </p:txBody>
      </p:sp>
      <p:pic>
        <p:nvPicPr>
          <p:cNvPr id="28" name="Picture 27"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9" name="TextBox 28"/>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t4tutorials.com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90195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Program Control</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Initial state: Program Counter (PC) = 100, Status Flag Z = 0</a:t>
            </a:r>
          </a:p>
        </p:txBody>
      </p:sp>
      <p:sp>
        <p:nvSpPr>
          <p:cNvPr id="16" name="Rectangle 15"/>
          <p:cNvSpPr/>
          <p:nvPr/>
        </p:nvSpPr>
        <p:spPr>
          <a:xfrm>
            <a:off x="502920" y="2796032"/>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2796032"/>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6600" y="2914904"/>
            <a:ext cx="2567355"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INSTRUCTION</a:t>
            </a:r>
          </a:p>
          <a:p>
            <a:pPr algn="l">
              <a:lnSpc>
                <a:spcPct val="135000"/>
              </a:lnSpc>
            </a:pPr>
            <a:r>
              <a:rPr sz="1300">
                <a:solidFill>
                  <a:srgbClr val="1A1A1A"/>
                </a:solidFill>
                <a:latin typeface="Calibri"/>
              </a:rPr>
              <a:t>JZ Label (Jump if Zero to Label).</a:t>
            </a:r>
          </a:p>
        </p:txBody>
      </p:sp>
      <p:sp>
        <p:nvSpPr>
          <p:cNvPr id="19" name="Rectangle 18"/>
          <p:cNvSpPr/>
          <p:nvPr/>
        </p:nvSpPr>
        <p:spPr>
          <a:xfrm>
            <a:off x="3669715" y="2796032"/>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69715" y="2796032"/>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03395" y="2914904"/>
            <a:ext cx="2567355"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CONDITION CHECK</a:t>
            </a:r>
          </a:p>
          <a:p>
            <a:pPr algn="l">
              <a:lnSpc>
                <a:spcPct val="135000"/>
              </a:lnSpc>
            </a:pPr>
            <a:r>
              <a:rPr sz="1300">
                <a:solidFill>
                  <a:srgbClr val="1A1A1A"/>
                </a:solidFill>
                <a:latin typeface="Calibri"/>
              </a:rPr>
              <a:t>Since Z is 0 (not zero), the jump is NOT taken.</a:t>
            </a:r>
          </a:p>
        </p:txBody>
      </p:sp>
      <p:sp>
        <p:nvSpPr>
          <p:cNvPr id="22" name="Rectangle 21"/>
          <p:cNvSpPr/>
          <p:nvPr/>
        </p:nvSpPr>
        <p:spPr>
          <a:xfrm>
            <a:off x="502920" y="4630420"/>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4630420"/>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6600" y="4749292"/>
            <a:ext cx="2567355"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NEXT STEP</a:t>
            </a:r>
          </a:p>
          <a:p>
            <a:pPr algn="l">
              <a:lnSpc>
                <a:spcPct val="135000"/>
              </a:lnSpc>
            </a:pPr>
            <a:r>
              <a:rPr sz="1300">
                <a:solidFill>
                  <a:srgbClr val="1A1A1A"/>
                </a:solidFill>
                <a:latin typeface="Calibri"/>
              </a:rPr>
              <a:t>PC increments to 101 to fetch the next instruction.</a:t>
            </a:r>
          </a:p>
        </p:txBody>
      </p:sp>
      <p:sp>
        <p:nvSpPr>
          <p:cNvPr id="25" name="Rectangle 24"/>
          <p:cNvSpPr/>
          <p:nvPr/>
        </p:nvSpPr>
        <p:spPr>
          <a:xfrm>
            <a:off x="3669715" y="4630420"/>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69715" y="4630420"/>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903395" y="4749292"/>
            <a:ext cx="2567355" cy="1413764"/>
          </a:xfrm>
          <a:prstGeom prst="rect">
            <a:avLst/>
          </a:prstGeom>
          <a:noFill/>
        </p:spPr>
        <p:txBody>
          <a:bodyPr wrap="square" lIns="0" rIns="0" tIns="0" bIns="0">
            <a:spAutoFit/>
          </a:bodyPr>
          <a:lstStyle/>
          <a:p>
            <a:pPr algn="l">
              <a:lnSpc>
                <a:spcPct val="135000"/>
              </a:lnSpc>
            </a:pPr>
            <a:r>
              <a:rPr sz="1300">
                <a:solidFill>
                  <a:srgbClr val="1A1A1A"/>
                </a:solidFill>
                <a:latin typeface="Calibri"/>
              </a:rPr>
              <a:t>•  If Z were 1, PC would load the address of Label instead.</a:t>
            </a:r>
          </a:p>
        </p:txBody>
      </p:sp>
      <p:pic>
        <p:nvPicPr>
          <p:cNvPr id="28" name="Picture 27"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9" name="TextBox 28"/>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13969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Data transfer moves information between registers, memory, and I/O devices efficiently.</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Arithmetic and logic operations manipulate data within the ALU using registers.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Program control instructions modify the program counter to alter execution flow.</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Conditional jumps depend on status flags to decide whether to branch.</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Understanding these operations is crucial for analyzing instruction set architecture.</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www.totalphase.com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COMPUTER ORGANIZATION AND DESIGN</a:t>
            </a:r>
          </a:p>
          <a:p>
            <a:pPr algn="l">
              <a:lnSpc>
                <a:spcPct val="135000"/>
              </a:lnSpc>
            </a:pPr>
            <a:r>
              <a:rPr sz="1300">
                <a:solidFill>
                  <a:srgbClr val="1A1A1A"/>
                </a:solidFill>
                <a:latin typeface="Calibri"/>
              </a:rPr>
              <a:t>The Hardware/Software Interface — David A. Patterson, John L. Hennessy</a:t>
            </a:r>
          </a:p>
        </p:txBody>
      </p:sp>
      <p:sp>
        <p:nvSpPr>
          <p:cNvPr id="16" name="Rectangle 15"/>
          <p:cNvSpPr/>
          <p:nvPr/>
        </p:nvSpPr>
        <p:spPr>
          <a:xfrm>
            <a:off x="6185916"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COMPUTER ARCHITECTURE</a:t>
            </a:r>
          </a:p>
          <a:p>
            <a:pPr algn="l">
              <a:lnSpc>
                <a:spcPct val="135000"/>
              </a:lnSpc>
            </a:pPr>
            <a:r>
              <a:rPr sz="1300">
                <a:solidFill>
                  <a:srgbClr val="1A1A1A"/>
                </a:solidFill>
                <a:latin typeface="Calibri"/>
              </a:rPr>
              <a:t>A Quantitative Approach — John L. Hennessy, David A. Patterson</a:t>
            </a:r>
          </a:p>
        </p:txBody>
      </p:sp>
      <p:sp>
        <p:nvSpPr>
          <p:cNvPr id="19" name="Rectangle 18"/>
          <p:cNvSpPr/>
          <p:nvPr/>
        </p:nvSpPr>
        <p:spPr>
          <a:xfrm>
            <a:off x="502920" y="4045204"/>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4045204"/>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4164076"/>
            <a:ext cx="5083556" cy="1998980"/>
          </a:xfrm>
          <a:prstGeom prst="rect">
            <a:avLst/>
          </a:prstGeom>
          <a:noFill/>
        </p:spPr>
        <p:txBody>
          <a:bodyPr wrap="square" lIns="0" rIns="0" tIns="0" bIns="0">
            <a:spAutoFit/>
          </a:bodyPr>
          <a:lstStyle/>
          <a:p>
            <a:pPr algn="l">
              <a:lnSpc>
                <a:spcPct val="135000"/>
              </a:lnSpc>
            </a:pPr>
            <a:r>
              <a:rPr sz="1300">
                <a:solidFill>
                  <a:srgbClr val="1A1A1A"/>
                </a:solidFill>
                <a:latin typeface="Calibri"/>
              </a:rPr>
              <a:t>•  Computer Organization and Architecture — William Stallings</a:t>
            </a:r>
          </a:p>
          <a:p>
            <a:pPr algn="l">
              <a:lnSpc>
                <a:spcPct val="135000"/>
              </a:lnSpc>
            </a:pPr>
            <a:r>
              <a:rPr sz="1300">
                <a:solidFill>
                  <a:srgbClr val="1A1A1A"/>
                </a:solidFill>
                <a:latin typeface="Calibri"/>
              </a:rPr>
              <a:t>•  Computer System Architecture — M. Morris Mano &amp; Rajib Mall</a:t>
            </a:r>
          </a:p>
          <a:p>
            <a:pPr algn="l">
              <a:lnSpc>
                <a:spcPct val="135000"/>
              </a:lnSpc>
            </a:pPr>
            <a:r>
              <a:rPr sz="1300">
                <a:solidFill>
                  <a:srgbClr val="1A1A1A"/>
                </a:solidFill>
                <a:latin typeface="Calibri"/>
              </a:rPr>
              <a:t>•  Computer Organization — Carl Hamacher, Zvonko Vranesic, Safwat Zaky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transfer and manipulation; Program control</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