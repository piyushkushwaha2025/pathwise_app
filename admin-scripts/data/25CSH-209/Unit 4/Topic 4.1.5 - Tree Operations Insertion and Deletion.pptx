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Tree Operations. We will focus specifically on how to insert and delete nodes within a tree structure. This is a critical skill for managing dynamic data efficiently in engineering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our Course Outcomes. CO2 helps us understand how tree traversal mimics stack and queue behaviors. CO3 is essential because tree operations form the backbone of efficient searching and sorting algorithms.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insertion logic and evaluate deletion cases. We will demonstrate how to re-link nodes correctly. You will also learn to identify common pitfalls that cause memory leaks or broken trees.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Insertion is straightforward: find the spot and attach. For a Binary Search Tree, we compare values to decide left or right. If the tree is empty, the new node becomes the root. Otherwise, we traverse down until we find a null pointer.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the steps. First, create the node. If the tree is empty, it becomes the root. Otherwise, compare the value. If it is smaller, go left; if larger, go right. Repeat until you find a null spot.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tree with root 50. Inserting 25: 25 is less than 50, so go left to 30. 25 is less than 30, so attach it as the left child. Now insert 60: 60 is greater than 50, go right to 70. 60 is less than 70, attach as left child.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Deleting a leaf is the simplest case. You just cut the link from the parent. For example, if you delete node 25 from our previous example, you just set the left pointer of node 30 to null. The rest of the tree remains untouched.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node has one child, we promote that child. The parent of the deleted node now points to the child. The child's parent pointer updates to the grandparent. This bypasses the deleted node entirely, keeping the tree connected.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complex case. You cannot simply remove the node. You find the inorder successor, which is the smallest value in the right subtree. Copy that value into the node you want to delete. Then, delete the successor node, which is now a leaf or has one child.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delete root 50. It has two children. The successor is 60. We copy 60 to the root. Now we delete the original 60. Since 60 was a leaf, we just remove it. The tree now has 60 as root, with 30 and 70 as children.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errors include forgetting to update parent pointers, which leaves dangling references. Another pitfall is creating cycles if you link a child back to its parent. Always check if the node being deleted is the root, as you must update the root pointer.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 complexity depends on the height of the tree. In a balanced tree, height is logarithmic, so operations are fast. In a skewed tree, height equals the number of nodes, making operations linear. Always consider tree balance for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insertion adds nodes as leaves. Deletion handles three cases, with the two-child case being the most complex. Always update pointers carefully. Finally, remember that balanced trees are essential for maintaining efficient O(log n)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textbooks provide comprehensive coverage of tree operations and algorithms. I recommend Gilberg and Forouzan for pseudocode approaches. Lipschutz offers excellent problem-solving examples. Sharma and Deshpandey are great for C-specific implementations.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gi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Tree Operations: Insertion and Deletion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Tree and Heap</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Tree and Heap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step-by-step logic for inserting a new node.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three cases required for node deletion.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re-linking process during tree modification.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algorithm to maintain binary search tree properties.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in pointer manipulation during deletion.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Tree Insertion Logic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Insertion adds a new node while maintaining tree structure.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starts by searching for the correct leaf position.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New nodes are always added as children of existing leaves.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Binary Search Trees require left child for smaller values.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Binary Search Trees require right child for larger values.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Insertion preserves the height balance in balanced tree variants.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Time complexity for insertion is O(h) where h is height.</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is Leaf Node? — Limeup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Insertion Algorithm Step-by-Step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Create a new node with the given data value.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If the tree is empty, set the new node as root.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Traverse the tree comparing data with current node values.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Move left if the new data is smaller than current.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Move right if the new data is larger than current.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Attach the new node as a left or right child.</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Update parent pointers to ensure bidirectional connectivity.</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www.softwareideas.net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Insertion Process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Initial tree has root 50 with children 30 and 70.</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 value 25: Compare 25 with 50, go left to 30.</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Compare 25 with 30, go left to null position.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Attach 25 as the left child of node 30.</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 value 60: Compare 60 with 50, go right to 70.</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Compare 60 with 70, go left to null position.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Attach 60 as the left child of node 70.</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external-preview.redd.it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Deletion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Case 1 (Leaf Node)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leaf node has no children and is easiest to delete.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Simply remove the node from the tree structure.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Update the parent's pointer to null for that child.</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 re-linking of subtrees is required for this case.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Memory for the node should be deallocated immediately.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tree structure remains valid after removing a leaf.</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operation maintains the Binary Search Tree property.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Deletion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Case 2 (One Child)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node to delete has exactly one child.</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child must bypass the deleted node to connect to parent.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Update the parent's pointer to point to the child.</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child's parent pointer must update to the grandparent.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effectively removes the node while preserving the subtree.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tree structure remains connected and valid after deletion.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Time complexity remains O(h) for finding the node.</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forum.nwoods.com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Deletion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Case 3 (Two Children)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node to delete has two non-empty subtrees.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Direct deletion is impossible without breaking tree structure.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Find the inorder successor (smallest value in right subtree).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Alternatively, find the inorder predecessor (largest in left subtree).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Copy the successor's value into the node to be deleted.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Recursively delete the successor node which is now a leaf.</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preserves the Binary Search Tree ordering property.</a:t>
            </a:r>
          </a:p>
        </p:txBody>
      </p:sp>
      <p:pic>
        <p:nvPicPr>
          <p:cNvPr id="27" name="Picture 26"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scaler.com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Deletion with Two Children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FIND INORDER SUCCESSOR</a:t>
            </a:r>
          </a:p>
          <a:p>
            <a:pPr algn="l">
              <a:lnSpc>
                <a:spcPct val="135000"/>
              </a:lnSpc>
            </a:pPr>
            <a:r>
              <a:rPr sz="1300">
                <a:solidFill>
                  <a:srgbClr val="1A1A1A"/>
                </a:solidFill>
                <a:latin typeface="Calibri"/>
              </a:rPr>
              <a:t>smallest in right subtree (70).</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Delete node 50 which has children 30 and 70.</a:t>
            </a:r>
          </a:p>
          <a:p>
            <a:pPr algn="l">
              <a:lnSpc>
                <a:spcPct val="135000"/>
              </a:lnSpc>
            </a:pPr>
            <a:r>
              <a:rPr sz="1300">
                <a:solidFill>
                  <a:srgbClr val="1A1A1A"/>
                </a:solidFill>
                <a:latin typeface="Calibri"/>
              </a:rPr>
              <a:t>•  Smallest in 70's subtree is 60 (left child of 70).</a:t>
            </a:r>
          </a:p>
          <a:p>
            <a:pPr algn="l">
              <a:lnSpc>
                <a:spcPct val="135000"/>
              </a:lnSpc>
            </a:pPr>
            <a:r>
              <a:rPr sz="1300">
                <a:solidFill>
                  <a:srgbClr val="1A1A1A"/>
                </a:solidFill>
                <a:latin typeface="Calibri"/>
              </a:rPr>
              <a:t>•  Copy value 60 into the node 50 position.</a:t>
            </a:r>
          </a:p>
          <a:p>
            <a:pPr algn="l">
              <a:lnSpc>
                <a:spcPct val="135000"/>
              </a:lnSpc>
            </a:pPr>
            <a:r>
              <a:rPr sz="1300">
                <a:solidFill>
                  <a:srgbClr val="1A1A1A"/>
                </a:solidFill>
                <a:latin typeface="Calibri"/>
              </a:rPr>
              <a:t>•  Now delete the original node 60 from the right subtree.</a:t>
            </a:r>
          </a:p>
          <a:p>
            <a:pPr algn="l">
              <a:lnSpc>
                <a:spcPct val="135000"/>
              </a:lnSpc>
            </a:pPr>
            <a:r>
              <a:rPr sz="1300">
                <a:solidFill>
                  <a:srgbClr val="1A1A1A"/>
                </a:solidFill>
                <a:latin typeface="Calibri"/>
              </a:rPr>
              <a:t>•  Node 60 is a leaf, so simply remove it.</a:t>
            </a:r>
          </a:p>
          <a:p>
            <a:pPr algn="l">
              <a:lnSpc>
                <a:spcPct val="135000"/>
              </a:lnSpc>
            </a:pPr>
            <a:r>
              <a:rPr sz="1300">
                <a:solidFill>
                  <a:srgbClr val="1A1A1A"/>
                </a:solidFill>
                <a:latin typeface="Calibri"/>
              </a:rPr>
              <a:t>•  Tree now has root 60 with children 30 and 70.</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www.rifleman.org.uk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Pointer Manipulation Pitfalls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update parent pointers causes memory leaks.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Incorrectly linking children can create cycles in the tree.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Deleting the root without updating the tree root pointer.</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Accessing null pointers during traversal leads to crashes.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handle the case where successor is the right child.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freeing memory after logical deletion causes resource waste.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edge cases like deleting the only node in tree.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Complexity Analysis of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Insertion time complexity is O(h) where h is tree height.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Deletion time complexity is also O(h) for finding node.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 a balanced tree, h is log(n) for n nodes.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 a skewed tree, h can be n, making it 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Space complexity is O(1) for iterative insertion and deletion.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Recursive implementations use O(h) stack space for calls.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Balanced trees like AVL ensure O(log n) performance.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DELETION HAS THREE CASES</a:t>
            </a:r>
          </a:p>
          <a:p>
            <a:pPr algn="l">
              <a:lnSpc>
                <a:spcPct val="135000"/>
              </a:lnSpc>
            </a:pPr>
            <a:r>
              <a:rPr sz="1300">
                <a:solidFill>
                  <a:srgbClr val="1A1A1A"/>
                </a:solidFill>
                <a:latin typeface="Calibri"/>
              </a:rPr>
              <a:t>leaf, one child, or two children.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Insertion always adds a new node as a leaf.</a:t>
            </a:r>
          </a:p>
          <a:p>
            <a:pPr algn="l">
              <a:lnSpc>
                <a:spcPct val="135000"/>
              </a:lnSpc>
            </a:pPr>
            <a:r>
              <a:rPr sz="1300">
                <a:solidFill>
                  <a:srgbClr val="1A1A1A"/>
                </a:solidFill>
                <a:latin typeface="Calibri"/>
              </a:rPr>
              <a:t>•  Two-child deletion requires finding the inorder successor.</a:t>
            </a:r>
          </a:p>
          <a:p>
            <a:pPr algn="l">
              <a:lnSpc>
                <a:spcPct val="135000"/>
              </a:lnSpc>
            </a:pPr>
            <a:r>
              <a:rPr sz="1300">
                <a:solidFill>
                  <a:srgbClr val="1A1A1A"/>
                </a:solidFill>
                <a:latin typeface="Calibri"/>
              </a:rPr>
              <a:t>•  Pointer updates are critical to maintain tree integrity.</a:t>
            </a:r>
          </a:p>
          <a:p>
            <a:pPr algn="l">
              <a:lnSpc>
                <a:spcPct val="135000"/>
              </a:lnSpc>
            </a:pPr>
            <a:r>
              <a:rPr sz="1300">
                <a:solidFill>
                  <a:srgbClr val="1A1A1A"/>
                </a:solidFill>
                <a:latin typeface="Calibri"/>
              </a:rPr>
              <a:t>•  Balanced trees ensure O(log n) operation efficiency.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 Operations: Insertion and Deletion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