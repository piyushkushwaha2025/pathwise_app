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Huffman Coding. We will explore how binary trees enable efficient data compression. This topic is crucial for understanding how modern file formats like ZIP and JPEG work. Let us begin by mapping our learning outcomes to the course goals.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session directly addresses CO4 by having you construct Huffman trees. We also touch upon CO5 as the greedy algorithm used here shares logic with graph traversal strategies. You will see how tree construction solves a specific optimization problem efficiently.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class, you will be able to analyze why standard fixed-length codes are inefficient. You will construct a Huffman tree from scratch using a priority queue logic. We will evaluate if the resulting tree is truly optimal for the given data.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Imagine decoding a stream of bits without knowing where one character ends and another begins. If 'A' is 0 and 'B' is 01, the sequence 01 could be 'AB' or 'B'. Prefix-free codes prevent this ambiguity. Huffman coding ensures that no code is a prefix of another, solving this problem perfectly.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use a greedy strategy because combining the two smallest frequencies locally leads to the best global result. Think of it like merging the lightest weights first to build a balanced structure. Each step reduces the problem size while maintaining the optimality condition for the remaining characters.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algorithm starts by placing all characters into a priority queue sorted by frequency. We then extract the two smallest, merge them, and put the sum back. This loop continues until only one node remains, which serves as the root of our final Huffman tree.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work through a concrete example with five characters. We have frequencies ranging from 5 to 16. Notice that 'A' is the least frequent and 'E' is the most frequent. Our goal is to give 'E' a short code and 'A' a longer one to minimize total bits.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we pick A and B because they are the smallest. We merge them into a parent node with frequency 14. This new node is now treated as a single unit in our queue. We re-sort the list to see the next smallest pair for the subsequent merge.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we take C and D, the next smallest available nodes. Their sum is 25. We create a new parent node for them. Now our queue has three items: E(16), the first merged node(14), and this new node(25). We must sort them again to proceed.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merge E(16) with the first merged node(14). Their sum is 30. This creates a larger subtree containing A, B, and E. We now have two large subtrees left: one with sum 25 and one with sum 30. These are the final two to merge.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we merge the last two subtrees to form the root. The root has a frequency of 55, which matches our total input. The tree is now complete. Every character is a leaf node, and every internal node represents the sum of its children's frequencies.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get the codes, we traverse from the root. Going left adds a '0', going right adds a '1'. For example, 'E' might be '10' while 'A' is '000'. This ensures that '10' is not a prefix of '000'. Decoding simply follows the path until a leaf is reached.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Huffman coding creates the most efficient variable-length codes possible for a given set of frequencies. The greedy approach guarantees optimality by always merging the smallest weights. This results in significant space savings for data transmission and storage.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please refer to the standard texts listed here. Gilberg and Forouzan provide excellent pseudocode approaches. Lipschutz and Sharma offer deep insights into C implementations. Deshpandey is also a valuable resource for practical data structure applications.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Huffman Coding using Binary Tree</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Data Structure | Tree and Heap</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 Structure   |   Chapter: Tree and Heap   |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1565C0"/>
                          </a:solidFill>
                          <a:latin typeface="Calibri"/>
                        </a:rPr>
                        <a:t>BT1</a:t>
                      </a:r>
                    </a:p>
                  </a:txBody>
                  <a:tcPr marL="109728" marR="109728">
                    <a:solidFill>
                      <a:srgbClr val="E3F2FD"/>
                    </a:solidFill>
                  </a:tcPr>
                </a:tc>
                <a:tc>
                  <a:txBody>
                    <a:bodyPr/>
                    <a:lstStyle/>
                    <a:p>
                      <a:pPr algn="l"/>
                      <a:r>
                        <a:rPr sz="1200" b="0">
                          <a:solidFill>
                            <a:srgbClr val="1A1A1A"/>
                          </a:solidFill>
                          <a:latin typeface="Calibri"/>
                        </a:rPr>
                        <a:t>Understand and apply basic data structures, algorithms, complexity analysis, ADTs, arrays and linked lists.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Apply and implement stacks and queues in problem-solving.</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Analyse and apply searching, sorting, and hashing techniques.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Construct and apply tree structures and traversal techniques.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Represent and solve graph problems using DFS, BFS, and graph algorithms.</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necessity of prefix-free codes in data compression.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Construct a Huffman tree using a greedy bottom-up approach.</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optimality of the generated binary tree structure.</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Derive binary codes for characters based on their frequencies.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Calculate the average code length and compression ratio achieved.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Concept of Prefix-Free Codes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Prefix-free codes ensure no code is a prefix of another code.</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This property allows unambiguous decoding without delimiters between symbols.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Fixed-length codes waste space for frequent characters in data.</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Variable-length codes assign shorter bits to frequent characters.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Huffman coding creates an optimal prefix-free binary code set.</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resulting tree structure guarantees unique decodability for any stream.</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1.1 Annotated Slides | Computation Structures | Electrical Engineering and  Computer Science | MIT OpenCourseWare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Greedy Strategy for Construction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algorithm uses a greedy approach to minimize total weighted path length.</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It repeatedly combines the two nodes with the lowest frequencies.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new internal node is created with frequency equal to the sum.</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This process continues until a single root node remains in the tree.</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resulting tree is a full binary tree with leaves as characters.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This greedy choice property ensures the global optimum for the data.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Algorithm Steps Overview</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Initialize a priority queue with all characters and their frequencies.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Extract the two nodes with the minimum frequency values from the queue.</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Create a new internal node with these two as left and right children.</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Assign the sum of frequencies to the new internal node.</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Insert the new node back into the priority queue.</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Repeat until the queue contains only one node, which becomes the root.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Input Data</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Frequencies are: A=5, B=9, C=12, D=13, E=16</a:t>
            </a:r>
          </a:p>
        </p:txBody>
      </p:sp>
      <p:sp>
        <p:nvSpPr>
          <p:cNvPr id="16" name="Rectangle 15"/>
          <p:cNvSpPr/>
          <p:nvPr/>
        </p:nvSpPr>
        <p:spPr>
          <a:xfrm>
            <a:off x="502920" y="2796032"/>
            <a:ext cx="2983915" cy="348589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348589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2567355" cy="3248152"/>
          </a:xfrm>
          <a:prstGeom prst="rect">
            <a:avLst/>
          </a:prstGeom>
          <a:noFill/>
        </p:spPr>
        <p:txBody>
          <a:bodyPr wrap="square" lIns="0" rIns="0" tIns="0" bIns="0">
            <a:spAutoFit/>
          </a:bodyPr>
          <a:lstStyle/>
          <a:p>
            <a:pPr algn="l">
              <a:spcAft>
                <a:spcPts val="400"/>
              </a:spcAft>
            </a:pPr>
            <a:r>
              <a:rPr b="1" sz="1100">
                <a:solidFill>
                  <a:srgbClr val="C8102E"/>
                </a:solidFill>
                <a:latin typeface="Calibri"/>
              </a:rPr>
              <a:t>CONSIDER A TEXT WITH CHARACTERS</a:t>
            </a:r>
          </a:p>
          <a:p>
            <a:pPr algn="l">
              <a:lnSpc>
                <a:spcPct val="135000"/>
              </a:lnSpc>
            </a:pPr>
            <a:r>
              <a:rPr sz="1300">
                <a:solidFill>
                  <a:srgbClr val="1A1A1A"/>
                </a:solidFill>
                <a:latin typeface="Calibri"/>
              </a:rPr>
              <a:t>A, B, C, D, E.</a:t>
            </a:r>
          </a:p>
        </p:txBody>
      </p:sp>
      <p:sp>
        <p:nvSpPr>
          <p:cNvPr id="19" name="Rectangle 18"/>
          <p:cNvSpPr/>
          <p:nvPr/>
        </p:nvSpPr>
        <p:spPr>
          <a:xfrm>
            <a:off x="3669715" y="2796032"/>
            <a:ext cx="2983915" cy="348589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9715" y="2796032"/>
            <a:ext cx="50800" cy="348589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03395" y="2914904"/>
            <a:ext cx="2567355" cy="3248152"/>
          </a:xfrm>
          <a:prstGeom prst="rect">
            <a:avLst/>
          </a:prstGeom>
          <a:noFill/>
        </p:spPr>
        <p:txBody>
          <a:bodyPr wrap="square" lIns="0" rIns="0" tIns="0" bIns="0">
            <a:spAutoFit/>
          </a:bodyPr>
          <a:lstStyle/>
          <a:p>
            <a:pPr algn="l">
              <a:lnSpc>
                <a:spcPct val="135000"/>
              </a:lnSpc>
            </a:pPr>
            <a:r>
              <a:rPr sz="1300">
                <a:solidFill>
                  <a:srgbClr val="1A1A1A"/>
                </a:solidFill>
                <a:latin typeface="Calibri"/>
              </a:rPr>
              <a:t>•  Total frequency sum is 55, representing total bits needed for raw data.</a:t>
            </a:r>
          </a:p>
          <a:p>
            <a:pPr algn="l">
              <a:lnSpc>
                <a:spcPct val="135000"/>
              </a:lnSpc>
            </a:pPr>
            <a:r>
              <a:rPr sz="1300">
                <a:solidFill>
                  <a:srgbClr val="1A1A1A"/>
                </a:solidFill>
                <a:latin typeface="Calibri"/>
              </a:rPr>
              <a:t>•  We sort these characters in ascending order of their frequencies initially.</a:t>
            </a:r>
          </a:p>
          <a:p>
            <a:pPr algn="l">
              <a:lnSpc>
                <a:spcPct val="135000"/>
              </a:lnSpc>
            </a:pPr>
            <a:r>
              <a:rPr sz="1300">
                <a:solidFill>
                  <a:srgbClr val="1A1A1A"/>
                </a:solidFill>
                <a:latin typeface="Calibri"/>
              </a:rPr>
              <a:t>•  The goal is to assign shorter codes to higher frequency characters.</a:t>
            </a:r>
          </a:p>
          <a:p>
            <a:pPr algn="l">
              <a:lnSpc>
                <a:spcPct val="135000"/>
              </a:lnSpc>
            </a:pPr>
            <a:r>
              <a:rPr sz="1300">
                <a:solidFill>
                  <a:srgbClr val="1A1A1A"/>
                </a:solidFill>
                <a:latin typeface="Calibri"/>
              </a:rPr>
              <a:t>•  This example demonstrates the manual construction of the Huffman tree.</a:t>
            </a:r>
          </a:p>
        </p:txBody>
      </p:sp>
      <p:pic>
        <p:nvPicPr>
          <p:cNvPr id="22" name="Picture 21"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3" name="TextBox 22"/>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preview.redd.it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Step 1</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Initial Merging</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Create a new internal node with frequency 5 + 9 = 14</a:t>
            </a:r>
          </a:p>
        </p:txBody>
      </p:sp>
      <p:sp>
        <p:nvSpPr>
          <p:cNvPr id="16" name="Rectangle 15"/>
          <p:cNvSpPr/>
          <p:nvPr/>
        </p:nvSpPr>
        <p:spPr>
          <a:xfrm>
            <a:off x="502920" y="2796032"/>
            <a:ext cx="2983915" cy="348589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348589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2567355" cy="3248152"/>
          </a:xfrm>
          <a:prstGeom prst="rect">
            <a:avLst/>
          </a:prstGeom>
          <a:noFill/>
        </p:spPr>
        <p:txBody>
          <a:bodyPr wrap="square" lIns="0" rIns="0" tIns="0" bIns="0">
            <a:spAutoFit/>
          </a:bodyPr>
          <a:lstStyle/>
          <a:p>
            <a:pPr algn="l">
              <a:spcAft>
                <a:spcPts val="400"/>
              </a:spcAft>
            </a:pPr>
            <a:r>
              <a:rPr b="1" sz="1100">
                <a:solidFill>
                  <a:srgbClr val="C8102E"/>
                </a:solidFill>
                <a:latin typeface="Calibri"/>
              </a:rPr>
              <a:t>THE UPDATED LIST NOW CONTAINS</a:t>
            </a:r>
          </a:p>
          <a:p>
            <a:pPr algn="l">
              <a:lnSpc>
                <a:spcPct val="135000"/>
              </a:lnSpc>
            </a:pPr>
            <a:r>
              <a:rPr sz="1300">
                <a:solidFill>
                  <a:srgbClr val="1A1A1A"/>
                </a:solidFill>
                <a:latin typeface="Calibri"/>
              </a:rPr>
              <a:t>C(12), D(13), E(16), New(14).</a:t>
            </a:r>
          </a:p>
        </p:txBody>
      </p:sp>
      <p:sp>
        <p:nvSpPr>
          <p:cNvPr id="19" name="Rectangle 18"/>
          <p:cNvSpPr/>
          <p:nvPr/>
        </p:nvSpPr>
        <p:spPr>
          <a:xfrm>
            <a:off x="3669715" y="2796032"/>
            <a:ext cx="2983915" cy="348589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9715" y="2796032"/>
            <a:ext cx="50800" cy="348589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03395" y="2914904"/>
            <a:ext cx="2567355" cy="3248152"/>
          </a:xfrm>
          <a:prstGeom prst="rect">
            <a:avLst/>
          </a:prstGeom>
          <a:noFill/>
        </p:spPr>
        <p:txBody>
          <a:bodyPr wrap="square" lIns="0" rIns="0" tIns="0" bIns="0">
            <a:spAutoFit/>
          </a:bodyPr>
          <a:lstStyle/>
          <a:p>
            <a:pPr algn="l">
              <a:lnSpc>
                <a:spcPct val="135000"/>
              </a:lnSpc>
            </a:pPr>
            <a:r>
              <a:rPr sz="1300">
                <a:solidFill>
                  <a:srgbClr val="1A1A1A"/>
                </a:solidFill>
                <a:latin typeface="Calibri"/>
              </a:rPr>
              <a:t>•  Select the two nodes with lowest frequencies: A(5) and B(9).</a:t>
            </a:r>
          </a:p>
          <a:p>
            <a:pPr algn="l">
              <a:lnSpc>
                <a:spcPct val="135000"/>
              </a:lnSpc>
            </a:pPr>
            <a:r>
              <a:rPr sz="1300">
                <a:solidFill>
                  <a:srgbClr val="1A1A1A"/>
                </a:solidFill>
                <a:latin typeface="Calibri"/>
              </a:rPr>
              <a:t>•  Assign A as the left child and B as the right child.</a:t>
            </a:r>
          </a:p>
          <a:p>
            <a:pPr algn="l">
              <a:lnSpc>
                <a:spcPct val="135000"/>
              </a:lnSpc>
            </a:pPr>
            <a:r>
              <a:rPr sz="1300">
                <a:solidFill>
                  <a:srgbClr val="1A1A1A"/>
                </a:solidFill>
                <a:latin typeface="Calibri"/>
              </a:rPr>
              <a:t>•  Insert the new node (14) back into the sorted list of nodes.</a:t>
            </a:r>
          </a:p>
          <a:p>
            <a:pPr algn="l">
              <a:lnSpc>
                <a:spcPct val="135000"/>
              </a:lnSpc>
            </a:pPr>
            <a:r>
              <a:rPr sz="1300">
                <a:solidFill>
                  <a:srgbClr val="1A1A1A"/>
                </a:solidFill>
                <a:latin typeface="Calibri"/>
              </a:rPr>
              <a:t>•  Re-sort the list to maintain the priority queue order for next step.</a:t>
            </a:r>
          </a:p>
        </p:txBody>
      </p:sp>
      <p:pic>
        <p:nvPicPr>
          <p:cNvPr id="22" name="Picture 21"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3" name="TextBox 22"/>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media2.dev.to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Step 2</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Second Merging</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Create a new internal node with frequency 12 + 13 = 25</a:t>
            </a:r>
          </a:p>
        </p:txBody>
      </p:sp>
      <p:sp>
        <p:nvSpPr>
          <p:cNvPr id="16" name="Rectangle 15"/>
          <p:cNvSpPr/>
          <p:nvPr/>
        </p:nvSpPr>
        <p:spPr>
          <a:xfrm>
            <a:off x="502920"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SELECT THE TWO LOWEST NODES</a:t>
            </a:r>
          </a:p>
          <a:p>
            <a:pPr algn="l">
              <a:lnSpc>
                <a:spcPct val="135000"/>
              </a:lnSpc>
            </a:pPr>
            <a:r>
              <a:rPr sz="1300">
                <a:solidFill>
                  <a:srgbClr val="1A1A1A"/>
                </a:solidFill>
                <a:latin typeface="Calibri"/>
              </a:rPr>
              <a:t>C(12) and D(13).</a:t>
            </a:r>
          </a:p>
        </p:txBody>
      </p:sp>
      <p:sp>
        <p:nvSpPr>
          <p:cNvPr id="19" name="Rectangle 18"/>
          <p:cNvSpPr/>
          <p:nvPr/>
        </p:nvSpPr>
        <p:spPr>
          <a:xfrm>
            <a:off x="3669715"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9715"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03395"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THE UPDATED LIST NOW CONTAINS</a:t>
            </a:r>
          </a:p>
          <a:p>
            <a:pPr algn="l">
              <a:lnSpc>
                <a:spcPct val="135000"/>
              </a:lnSpc>
            </a:pPr>
            <a:r>
              <a:rPr sz="1300">
                <a:solidFill>
                  <a:srgbClr val="1A1A1A"/>
                </a:solidFill>
                <a:latin typeface="Calibri"/>
              </a:rPr>
              <a:t>E(16), New1(14), New2(25).</a:t>
            </a:r>
          </a:p>
        </p:txBody>
      </p:sp>
      <p:sp>
        <p:nvSpPr>
          <p:cNvPr id="22" name="Rectangle 21"/>
          <p:cNvSpPr/>
          <p:nvPr/>
        </p:nvSpPr>
        <p:spPr>
          <a:xfrm>
            <a:off x="502920" y="4630420"/>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630420"/>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6600" y="4749292"/>
            <a:ext cx="2567355" cy="1413764"/>
          </a:xfrm>
          <a:prstGeom prst="rect">
            <a:avLst/>
          </a:prstGeom>
          <a:noFill/>
        </p:spPr>
        <p:txBody>
          <a:bodyPr wrap="square" lIns="0" rIns="0" tIns="0" bIns="0">
            <a:spAutoFit/>
          </a:bodyPr>
          <a:lstStyle/>
          <a:p>
            <a:pPr algn="l">
              <a:lnSpc>
                <a:spcPct val="135000"/>
              </a:lnSpc>
            </a:pPr>
            <a:r>
              <a:rPr sz="1300">
                <a:solidFill>
                  <a:srgbClr val="1A1A1A"/>
                </a:solidFill>
                <a:latin typeface="Calibri"/>
              </a:rPr>
              <a:t>•  Assign C as the left child and D as the right child.</a:t>
            </a:r>
          </a:p>
          <a:p>
            <a:pPr algn="l">
              <a:lnSpc>
                <a:spcPct val="135000"/>
              </a:lnSpc>
            </a:pPr>
            <a:r>
              <a:rPr sz="1300">
                <a:solidFill>
                  <a:srgbClr val="1A1A1A"/>
                </a:solidFill>
                <a:latin typeface="Calibri"/>
              </a:rPr>
              <a:t>•  Insert the new node (25) back into the sorted list.</a:t>
            </a:r>
          </a:p>
          <a:p>
            <a:pPr algn="l">
              <a:lnSpc>
                <a:spcPct val="135000"/>
              </a:lnSpc>
            </a:pPr>
            <a:r>
              <a:rPr sz="1300">
                <a:solidFill>
                  <a:srgbClr val="1A1A1A"/>
                </a:solidFill>
                <a:latin typeface="Calibri"/>
              </a:rPr>
              <a:t>•  Re-sort the list to identify the next pair for merging.</a:t>
            </a:r>
          </a:p>
        </p:txBody>
      </p:sp>
      <p:pic>
        <p:nvPicPr>
          <p:cNvPr id="25" name="Picture 24"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themedicalbiochemistrypage.org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Step 3</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Third Merging</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Create a new internal node with frequency 16 + 14 = 30</a:t>
            </a:r>
          </a:p>
        </p:txBody>
      </p:sp>
      <p:sp>
        <p:nvSpPr>
          <p:cNvPr id="16" name="Rectangle 15"/>
          <p:cNvSpPr/>
          <p:nvPr/>
        </p:nvSpPr>
        <p:spPr>
          <a:xfrm>
            <a:off x="502920"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SELECT THE TWO LOWEST NODES</a:t>
            </a:r>
          </a:p>
          <a:p>
            <a:pPr algn="l">
              <a:lnSpc>
                <a:spcPct val="135000"/>
              </a:lnSpc>
            </a:pPr>
            <a:r>
              <a:rPr sz="1300">
                <a:solidFill>
                  <a:srgbClr val="1A1A1A"/>
                </a:solidFill>
                <a:latin typeface="Calibri"/>
              </a:rPr>
              <a:t>E(16) and New1(14).</a:t>
            </a:r>
          </a:p>
        </p:txBody>
      </p:sp>
      <p:sp>
        <p:nvSpPr>
          <p:cNvPr id="19" name="Rectangle 18"/>
          <p:cNvSpPr/>
          <p:nvPr/>
        </p:nvSpPr>
        <p:spPr>
          <a:xfrm>
            <a:off x="3669715"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9715"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03395"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THE UPDATED LIST NOW CONTAINS</a:t>
            </a:r>
          </a:p>
          <a:p>
            <a:pPr algn="l">
              <a:lnSpc>
                <a:spcPct val="135000"/>
              </a:lnSpc>
            </a:pPr>
            <a:r>
              <a:rPr sz="1300">
                <a:solidFill>
                  <a:srgbClr val="1A1A1A"/>
                </a:solidFill>
                <a:latin typeface="Calibri"/>
              </a:rPr>
              <a:t>New2(25), New3(30).</a:t>
            </a:r>
          </a:p>
        </p:txBody>
      </p:sp>
      <p:sp>
        <p:nvSpPr>
          <p:cNvPr id="22" name="Rectangle 21"/>
          <p:cNvSpPr/>
          <p:nvPr/>
        </p:nvSpPr>
        <p:spPr>
          <a:xfrm>
            <a:off x="502920" y="4630420"/>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630420"/>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6600" y="4749292"/>
            <a:ext cx="2567355" cy="1413764"/>
          </a:xfrm>
          <a:prstGeom prst="rect">
            <a:avLst/>
          </a:prstGeom>
          <a:noFill/>
        </p:spPr>
        <p:txBody>
          <a:bodyPr wrap="square" lIns="0" rIns="0" tIns="0" bIns="0">
            <a:spAutoFit/>
          </a:bodyPr>
          <a:lstStyle/>
          <a:p>
            <a:pPr algn="l">
              <a:lnSpc>
                <a:spcPct val="135000"/>
              </a:lnSpc>
            </a:pPr>
            <a:r>
              <a:rPr sz="1300">
                <a:solidFill>
                  <a:srgbClr val="1A1A1A"/>
                </a:solidFill>
                <a:latin typeface="Calibri"/>
              </a:rPr>
              <a:t>•  Assign New1 as the left child and E as the right child.</a:t>
            </a:r>
          </a:p>
          <a:p>
            <a:pPr algn="l">
              <a:lnSpc>
                <a:spcPct val="135000"/>
              </a:lnSpc>
            </a:pPr>
            <a:r>
              <a:rPr sz="1300">
                <a:solidFill>
                  <a:srgbClr val="1A1A1A"/>
                </a:solidFill>
                <a:latin typeface="Calibri"/>
              </a:rPr>
              <a:t>•  Insert the new node (30) back into the sorted list.</a:t>
            </a:r>
          </a:p>
          <a:p>
            <a:pPr algn="l">
              <a:lnSpc>
                <a:spcPct val="135000"/>
              </a:lnSpc>
            </a:pPr>
            <a:r>
              <a:rPr sz="1300">
                <a:solidFill>
                  <a:srgbClr val="1A1A1A"/>
                </a:solidFill>
                <a:latin typeface="Calibri"/>
              </a:rPr>
              <a:t>•  Only two nodes remain, so the next step will form the root.</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media2.dev.to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Step 4</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Final Root Formation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11183112"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10817352"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10817352" cy="548640"/>
          </a:xfrm>
          <a:prstGeom prst="rect">
            <a:avLst/>
          </a:prstGeom>
          <a:noFill/>
        </p:spPr>
        <p:txBody>
          <a:bodyPr wrap="square">
            <a:spAutoFit/>
          </a:bodyPr>
          <a:lstStyle/>
          <a:p>
            <a:pPr algn="ctr"/>
            <a:r>
              <a:rPr b="1" sz="1800">
                <a:solidFill>
                  <a:srgbClr val="1A1A1A"/>
                </a:solidFill>
                <a:latin typeface="Cambria Math"/>
              </a:rPr>
              <a:t>Create the root node with frequency 25 + 30 = 55</a:t>
            </a:r>
          </a:p>
        </p:txBody>
      </p:sp>
      <p:sp>
        <p:nvSpPr>
          <p:cNvPr id="16" name="Rectangle 15"/>
          <p:cNvSpPr/>
          <p:nvPr/>
        </p:nvSpPr>
        <p:spPr>
          <a:xfrm>
            <a:off x="502920" y="2796032"/>
            <a:ext cx="5500116" cy="348589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348589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5083556" cy="3248152"/>
          </a:xfrm>
          <a:prstGeom prst="rect">
            <a:avLst/>
          </a:prstGeom>
          <a:noFill/>
        </p:spPr>
        <p:txBody>
          <a:bodyPr wrap="square" lIns="0" rIns="0" tIns="0" bIns="0">
            <a:spAutoFit/>
          </a:bodyPr>
          <a:lstStyle/>
          <a:p>
            <a:pPr algn="l">
              <a:spcAft>
                <a:spcPts val="400"/>
              </a:spcAft>
            </a:pPr>
            <a:r>
              <a:rPr b="1" sz="1100">
                <a:solidFill>
                  <a:srgbClr val="C8102E"/>
                </a:solidFill>
                <a:latin typeface="Calibri"/>
              </a:rPr>
              <a:t>SELECT THE LAST TWO NODES</a:t>
            </a:r>
          </a:p>
          <a:p>
            <a:pPr algn="l">
              <a:lnSpc>
                <a:spcPct val="135000"/>
              </a:lnSpc>
            </a:pPr>
            <a:r>
              <a:rPr sz="1300">
                <a:solidFill>
                  <a:srgbClr val="1A1A1A"/>
                </a:solidFill>
                <a:latin typeface="Calibri"/>
              </a:rPr>
              <a:t>New2(25) and New3(30).</a:t>
            </a:r>
          </a:p>
        </p:txBody>
      </p:sp>
      <p:sp>
        <p:nvSpPr>
          <p:cNvPr id="19" name="Rectangle 18"/>
          <p:cNvSpPr/>
          <p:nvPr/>
        </p:nvSpPr>
        <p:spPr>
          <a:xfrm>
            <a:off x="6185916" y="2796032"/>
            <a:ext cx="5500116" cy="348589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85916" y="2796032"/>
            <a:ext cx="50800" cy="348589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19596" y="2914904"/>
            <a:ext cx="5083556" cy="3248152"/>
          </a:xfrm>
          <a:prstGeom prst="rect">
            <a:avLst/>
          </a:prstGeom>
          <a:noFill/>
        </p:spPr>
        <p:txBody>
          <a:bodyPr wrap="square" lIns="0" rIns="0" tIns="0" bIns="0">
            <a:spAutoFit/>
          </a:bodyPr>
          <a:lstStyle/>
          <a:p>
            <a:pPr algn="l">
              <a:lnSpc>
                <a:spcPct val="135000"/>
              </a:lnSpc>
            </a:pPr>
            <a:r>
              <a:rPr sz="1300">
                <a:solidFill>
                  <a:srgbClr val="1A1A1A"/>
                </a:solidFill>
                <a:latin typeface="Calibri"/>
              </a:rPr>
              <a:t>•  Assign New2 as the left child and New3 as the right child.</a:t>
            </a:r>
          </a:p>
          <a:p>
            <a:pPr algn="l">
              <a:lnSpc>
                <a:spcPct val="135000"/>
              </a:lnSpc>
            </a:pPr>
            <a:r>
              <a:rPr sz="1300">
                <a:solidFill>
                  <a:srgbClr val="1A1A1A"/>
                </a:solidFill>
                <a:latin typeface="Calibri"/>
              </a:rPr>
              <a:t>•  The priority queue is now empty, and the tree is complete.</a:t>
            </a:r>
          </a:p>
          <a:p>
            <a:pPr algn="l">
              <a:lnSpc>
                <a:spcPct val="135000"/>
              </a:lnSpc>
            </a:pPr>
            <a:r>
              <a:rPr sz="1300">
                <a:solidFill>
                  <a:srgbClr val="1A1A1A"/>
                </a:solidFill>
                <a:latin typeface="Calibri"/>
              </a:rPr>
              <a:t>•  The root node represents the total frequency of all characters.</a:t>
            </a:r>
          </a:p>
          <a:p>
            <a:pPr algn="l">
              <a:lnSpc>
                <a:spcPct val="135000"/>
              </a:lnSpc>
            </a:pPr>
            <a:r>
              <a:rPr sz="1300">
                <a:solidFill>
                  <a:srgbClr val="1A1A1A"/>
                </a:solidFill>
                <a:latin typeface="Calibri"/>
              </a:rPr>
              <a:t>•  The tree structure is now ready for code assignment.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Code Assignment and Decoding</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11183112"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10817352"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10817352" cy="548640"/>
          </a:xfrm>
          <a:prstGeom prst="rect">
            <a:avLst/>
          </a:prstGeom>
          <a:noFill/>
        </p:spPr>
        <p:txBody>
          <a:bodyPr wrap="square">
            <a:spAutoFit/>
          </a:bodyPr>
          <a:lstStyle/>
          <a:p>
            <a:pPr algn="ctr"/>
            <a:r>
              <a:rPr b="1" sz="1800">
                <a:solidFill>
                  <a:srgbClr val="1A1A1A"/>
                </a:solidFill>
                <a:latin typeface="Cambria Math"/>
              </a:rPr>
              <a:t>Example codes: A=000, B=001, C=010, D=011, E=10</a:t>
            </a:r>
          </a:p>
        </p:txBody>
      </p:sp>
      <p:sp>
        <p:nvSpPr>
          <p:cNvPr id="16" name="Oval 15"/>
          <p:cNvSpPr/>
          <p:nvPr/>
        </p:nvSpPr>
        <p:spPr>
          <a:xfrm>
            <a:off x="502920" y="27960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7" name="TextBox 16"/>
          <p:cNvSpPr txBox="1"/>
          <p:nvPr/>
        </p:nvSpPr>
        <p:spPr>
          <a:xfrm>
            <a:off x="1078992" y="2796032"/>
            <a:ext cx="10607040"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Traverse from root to each leaf to assign binary codes.</a:t>
            </a:r>
          </a:p>
        </p:txBody>
      </p:sp>
      <p:sp>
        <p:nvSpPr>
          <p:cNvPr id="18" name="Oval 17"/>
          <p:cNvSpPr/>
          <p:nvPr/>
        </p:nvSpPr>
        <p:spPr>
          <a:xfrm>
            <a:off x="502920" y="352247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9" name="TextBox 18"/>
          <p:cNvSpPr txBox="1"/>
          <p:nvPr/>
        </p:nvSpPr>
        <p:spPr>
          <a:xfrm>
            <a:off x="1078992" y="3522472"/>
            <a:ext cx="10607040"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Assign '0' for every left branch and '1' for every right branch.</a:t>
            </a:r>
          </a:p>
        </p:txBody>
      </p:sp>
      <p:sp>
        <p:nvSpPr>
          <p:cNvPr id="20" name="Oval 19"/>
          <p:cNvSpPr/>
          <p:nvPr/>
        </p:nvSpPr>
        <p:spPr>
          <a:xfrm>
            <a:off x="502920" y="424891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21" name="TextBox 20"/>
          <p:cNvSpPr txBox="1"/>
          <p:nvPr/>
        </p:nvSpPr>
        <p:spPr>
          <a:xfrm>
            <a:off x="1078992" y="4248912"/>
            <a:ext cx="10607040"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The code for a character is the sequence of bits along the path.</a:t>
            </a:r>
          </a:p>
        </p:txBody>
      </p:sp>
      <p:sp>
        <p:nvSpPr>
          <p:cNvPr id="22" name="Oval 21"/>
          <p:cNvSpPr/>
          <p:nvPr/>
        </p:nvSpPr>
        <p:spPr>
          <a:xfrm>
            <a:off x="502920" y="49753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3" name="TextBox 22"/>
          <p:cNvSpPr txBox="1"/>
          <p:nvPr/>
        </p:nvSpPr>
        <p:spPr>
          <a:xfrm>
            <a:off x="1078992" y="4975352"/>
            <a:ext cx="10607040"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Decoding is performed by traversing the tree from the root.</a:t>
            </a:r>
          </a:p>
        </p:txBody>
      </p:sp>
      <p:sp>
        <p:nvSpPr>
          <p:cNvPr id="24" name="Oval 23"/>
          <p:cNvSpPr/>
          <p:nvPr/>
        </p:nvSpPr>
        <p:spPr>
          <a:xfrm>
            <a:off x="502920" y="570179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5" name="TextBox 24"/>
          <p:cNvSpPr txBox="1"/>
          <p:nvPr/>
        </p:nvSpPr>
        <p:spPr>
          <a:xfrm>
            <a:off x="1078992" y="5701792"/>
            <a:ext cx="10607040"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Reaching a leaf node signifies the end of a character code.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Huffman coding generates optimal prefix-free binary codes for data.</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greedy algorithm builds the tree by merging lowest frequency nodes.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Frequent characters receive shorter codes, reducing total transmission size.</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tree structure ensures unambiguous decoding of the bitstream.</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method is widely used in file compression and transmission protocols.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DATA STRUCTURES</a:t>
            </a:r>
          </a:p>
          <a:p>
            <a:pPr algn="l">
              <a:lnSpc>
                <a:spcPct val="135000"/>
              </a:lnSpc>
            </a:pPr>
            <a:r>
              <a:rPr sz="1300">
                <a:solidFill>
                  <a:srgbClr val="1A1A1A"/>
                </a:solidFill>
                <a:latin typeface="Calibri"/>
              </a:rPr>
              <a:t>A Pseudocode Approach with C — Gilberg, Forouzan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Data Structures — Lipschutz</a:t>
            </a:r>
          </a:p>
          <a:p>
            <a:pPr algn="l">
              <a:lnSpc>
                <a:spcPct val="135000"/>
              </a:lnSpc>
            </a:pPr>
            <a:r>
              <a:rPr sz="1300">
                <a:solidFill>
                  <a:srgbClr val="1A1A1A"/>
                </a:solidFill>
                <a:latin typeface="Calibri"/>
              </a:rPr>
              <a:t>•  Data Structure Using C — AK Sharma</a:t>
            </a:r>
          </a:p>
          <a:p>
            <a:pPr algn="l">
              <a:lnSpc>
                <a:spcPct val="135000"/>
              </a:lnSpc>
            </a:pPr>
            <a:r>
              <a:rPr sz="1300">
                <a:solidFill>
                  <a:srgbClr val="1A1A1A"/>
                </a:solidFill>
                <a:latin typeface="Calibri"/>
              </a:rPr>
              <a:t>•  C and Data structure — P. S. Deshpandey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Huffman Coding using Binary Tree</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