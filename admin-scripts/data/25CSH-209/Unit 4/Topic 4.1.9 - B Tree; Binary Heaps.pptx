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B Trees and Binary Heaps. These structures are fundamental for efficient data storage and retrieval in modern systems. We will explore how they differ from standard binary search trees and why they are critical for database indexing and priority queues.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Course Outcomes. CO1 requires you to understand and apply basic data structures, which includes the complex B Tree and Binary Heap. CO2 focuses on applying these structures in problem-solving, particularly for priority queues and search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the structural properties of B Trees and Binary Heaps. You will also explain the operational differences between B Trees and Binary Search Trees. Finally, we will demonstrate the insertion process for Binary Heaps with concrete examples.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 Tree is a self-balancing m-way search tree structure designed for systems with large data. All leaf nodes appear at the same depth level, ensuring balanced access ×. Every node contains at most m children and m-1 keys, which allows for efficient disk I/O operations.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node contains n keys and n+1 pointers to child nodes, creating a branching factor. Keys k1, k2, ... kn divide the search space into ranges for efficient navigation. Pointer p1 points to keys less than k1, while p2 points to keys between k1 and k2.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Binary Heap is a complete binary tree satisfying the heap property, ensuring efficient access to the extremum. Max Heap property dictates that the parent key is always greater than children. Min Heap property dictates that the parent key is always smaller than children.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Root element is stored at index 1 of the array, simplifying memory management. Left child of node i is located at index 2i, while right child is at index 2i + 1. Parent of node i is located at index floor(i/2), allowing easy traversal up the tree.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for the correct leaf node to insert the new key, ensuring sorted order. If the leaf node has space, insert the key directly. If the leaf node is full, split the node into two, promoting the middle key to the parent node.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 key 10 into a Min Heap containing [5, 8, 12]. Place 10 at the next available leaf position in the array. Compare 10 with its parent 12; since 10 is smaller, swap them. Compare 10 with new parent 5; since 10 is larger, stop swapping.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key to be deleted in the tree structure. If in a leaf node, simply remove the key if space permits. If in an internal node, replace with predecessor or successor to maintain order. If the resulting node has too few keys, borrow or merge.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 the root (minimum) from a Min Heap [2, 5, 8, 10]. Replace root with the last element in the array, which is 10. Compare 10 with children 5 and 8; swap with the smaller child 5. Compare 10 with new children; since 10 is larger, stop.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Tree search, insert, delete take O(log_m n) time complexity, making them ideal for databases. Binary Heap search takes O(n) time for arbitrary elements, but insert and delete take O(log n). B Trees are optimized for disk-based storage with large blocks.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Trees are balanced m-way trees ideal for database indexing and large datasets. Binary Heaps are complete binary trees for priority queue management and sorting algorithms. Both structures ensure logarithmic time complexity for core operations, making them essential tools for engineers.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refer to the recommended textbooks for deeper understanding and practice problems. 'Data Structures: A Pseudocode Approach with C' by Gilberg and Forouzan provides excellent pseudocode examples. 'Data Structures' by Lipschutz and 'Data Structure Using C' by AK Sharma are also highly recommended for this topic.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B Tree; Binary Heaps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structural properties of B Trees and Binary Heaps.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operational differences between B Trees and Binary Search Trees.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insertion process for Binary Heaps with examples.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for search, insert, and delete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real-world applications for both data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Definition and Properties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 Tree is a self-balancing m-way search tree structure.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 leaf nodes appear at the same depth level in the tree.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node contains at most m children and m-1 keys.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Internal nodes must have at least ceil(m/2) children except root.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Keys within a node are always sorted in ascending order.</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root node must have at least two children if not a leaf.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Node 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node contains n keys and n+1 pointers to child nodes.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Keys k1, k2, ... kn divide the search space into ranges.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Pointer p1 points to keys less than k1, p2 to k1-k2.</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root node is the entry point for all search operations.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Leaf nodes contain no children pointers but store actual data.</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order m defines the maximum branching factor of the tree.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Heap Definition and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MAX HEAP PROPERTY</a:t>
            </a:r>
          </a:p>
          <a:p>
            <a:pPr algn="l">
              <a:lnSpc>
                <a:spcPct val="135000"/>
              </a:lnSpc>
            </a:pPr>
            <a:r>
              <a:rPr sz="1300">
                <a:solidFill>
                  <a:srgbClr val="1A1A1A"/>
                </a:solidFill>
                <a:latin typeface="Calibri"/>
              </a:rPr>
              <a:t>Parent key is always greater than children.</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MIN HEAP PROPERTY</a:t>
            </a:r>
          </a:p>
          <a:p>
            <a:pPr algn="l">
              <a:lnSpc>
                <a:spcPct val="135000"/>
              </a:lnSpc>
            </a:pPr>
            <a:r>
              <a:rPr sz="1300">
                <a:solidFill>
                  <a:srgbClr val="1A1A1A"/>
                </a:solidFill>
                <a:latin typeface="Calibri"/>
              </a:rPr>
              <a:t>Parent key is always smaller than children.</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A Binary Heap is a complete binary tree satisfying the heap property.</a:t>
            </a:r>
          </a:p>
          <a:p>
            <a:pPr algn="l">
              <a:lnSpc>
                <a:spcPct val="135000"/>
              </a:lnSpc>
            </a:pPr>
            <a:r>
              <a:rPr sz="1300">
                <a:solidFill>
                  <a:srgbClr val="1A1A1A"/>
                </a:solidFill>
                <a:latin typeface="Calibri"/>
              </a:rPr>
              <a:t>•  The root node holds the maximum or minimum element of the heap.</a:t>
            </a:r>
          </a:p>
          <a:p>
            <a:pPr algn="l">
              <a:lnSpc>
                <a:spcPct val="135000"/>
              </a:lnSpc>
            </a:pPr>
            <a:r>
              <a:rPr sz="1300">
                <a:solidFill>
                  <a:srgbClr val="1A1A1A"/>
                </a:solidFill>
                <a:latin typeface="Calibri"/>
              </a:rPr>
              <a:t>•  The tree is filled level by level from left to right.</a:t>
            </a:r>
          </a:p>
          <a:p>
            <a:pPr algn="l">
              <a:lnSpc>
                <a:spcPct val="135000"/>
              </a:lnSpc>
            </a:pPr>
            <a:r>
              <a:rPr sz="1300">
                <a:solidFill>
                  <a:srgbClr val="1A1A1A"/>
                </a:solidFill>
                <a:latin typeface="Calibri"/>
              </a:rPr>
              <a:t>•  It is typically implemented using an array for space efficiency.</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Representation of Binary Heap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Root element is stored at index 1 of the array.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Left child of node i is located at index 2i.</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Right child of node i is located at index 2i + 1.</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Parent of node i is located at index floor(i/2).</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representation eliminates the need for explicit pointer storage.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array size must be sufficient to hold all tree nodes.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Insertion Process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 for the correct leaf node to insert the new key.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leaf node has space, insert the key in sorted order.</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leaf node is full, split the node into two.</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middle key is promoted to the parent node for balancing.</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root splits, a new root is created increasing tree height.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process maintains the self-balancing property of the B Tree.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Heap Insertion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HEAP STRUCTURE</a:t>
            </a:r>
          </a:p>
          <a:p>
            <a:pPr algn="l">
              <a:lnSpc>
                <a:spcPct val="135000"/>
              </a:lnSpc>
            </a:pPr>
            <a:r>
              <a:rPr sz="1300">
                <a:solidFill>
                  <a:srgbClr val="1A1A1A"/>
                </a:solidFill>
                <a:latin typeface="Calibri"/>
              </a:rPr>
              <a:t>[5, 8, 10, 12] with 5 as root.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Insert key 10 into a Min Heap containing [5, 8, 12].</a:t>
            </a:r>
          </a:p>
          <a:p>
            <a:pPr algn="l">
              <a:lnSpc>
                <a:spcPct val="135000"/>
              </a:lnSpc>
            </a:pPr>
            <a:r>
              <a:rPr sz="1300">
                <a:solidFill>
                  <a:srgbClr val="1A1A1A"/>
                </a:solidFill>
                <a:latin typeface="Calibri"/>
              </a:rPr>
              <a:t>•  Place 10 at the next available leaf position in the array.</a:t>
            </a:r>
          </a:p>
          <a:p>
            <a:pPr algn="l">
              <a:lnSpc>
                <a:spcPct val="135000"/>
              </a:lnSpc>
            </a:pPr>
            <a:r>
              <a:rPr sz="1300">
                <a:solidFill>
                  <a:srgbClr val="1A1A1A"/>
                </a:solidFill>
                <a:latin typeface="Calibri"/>
              </a:rPr>
              <a:t>•  Compare 10 with its parent 12; 10 is smaller, so swap.</a:t>
            </a:r>
          </a:p>
          <a:p>
            <a:pPr algn="l">
              <a:lnSpc>
                <a:spcPct val="135000"/>
              </a:lnSpc>
            </a:pPr>
            <a:r>
              <a:rPr sz="1300">
                <a:solidFill>
                  <a:srgbClr val="1A1A1A"/>
                </a:solidFill>
                <a:latin typeface="Calibri"/>
              </a:rPr>
              <a:t>•  Compare 10 with new parent 5; 10 is larger, stop swapping.</a:t>
            </a:r>
          </a:p>
          <a:p>
            <a:pPr algn="l">
              <a:lnSpc>
                <a:spcPct val="135000"/>
              </a:lnSpc>
            </a:pPr>
            <a:r>
              <a:rPr sz="1300">
                <a:solidFill>
                  <a:srgbClr val="1A1A1A"/>
                </a:solidFill>
                <a:latin typeface="Calibri"/>
              </a:rPr>
              <a:t>•  This 'bubble up' operation ensures the heap property is restored.</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images.twinkl.co.uk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Deletion Process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Locate the key to be deleted in the tree structure.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in a leaf node, simply remove the key if space permits.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in an internal node, replace with predecessor or successor.</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resulting node has too few keys, borrow or merge.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Borrowing takes a key from a sibling with extra keys.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Merging combines the node with a sibling and pulls down a parent key.</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d3f1iyfxxz8i1e.cloudfront.net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Heap Deletion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HEAP STRUCTURE</a:t>
            </a:r>
          </a:p>
          <a:p>
            <a:pPr algn="l">
              <a:lnSpc>
                <a:spcPct val="135000"/>
              </a:lnSpc>
            </a:pPr>
            <a:r>
              <a:rPr sz="1300">
                <a:solidFill>
                  <a:srgbClr val="1A1A1A"/>
                </a:solidFill>
                <a:latin typeface="Calibri"/>
              </a:rPr>
              <a:t>[5, 10, 8] with 5 as new root.</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Delete the root (minimum) from a Min Heap [2, 5, 8, 10].</a:t>
            </a:r>
          </a:p>
          <a:p>
            <a:pPr algn="l">
              <a:lnSpc>
                <a:spcPct val="135000"/>
              </a:lnSpc>
            </a:pPr>
            <a:r>
              <a:rPr sz="1300">
                <a:solidFill>
                  <a:srgbClr val="1A1A1A"/>
                </a:solidFill>
                <a:latin typeface="Calibri"/>
              </a:rPr>
              <a:t>•  Replace root with the last element in the array (10).</a:t>
            </a:r>
          </a:p>
          <a:p>
            <a:pPr algn="l">
              <a:lnSpc>
                <a:spcPct val="135000"/>
              </a:lnSpc>
            </a:pPr>
            <a:r>
              <a:rPr sz="1300">
                <a:solidFill>
                  <a:srgbClr val="1A1A1A"/>
                </a:solidFill>
                <a:latin typeface="Calibri"/>
              </a:rPr>
              <a:t>•  Compare 10 with children 5 and 8; swap with smaller child 5.</a:t>
            </a:r>
          </a:p>
          <a:p>
            <a:pPr algn="l">
              <a:lnSpc>
                <a:spcPct val="135000"/>
              </a:lnSpc>
            </a:pPr>
            <a:r>
              <a:rPr sz="1300">
                <a:solidFill>
                  <a:srgbClr val="1A1A1A"/>
                </a:solidFill>
                <a:latin typeface="Calibri"/>
              </a:rPr>
              <a:t>•  Compare 10 with new children; 10 is larger, so stop.</a:t>
            </a:r>
          </a:p>
          <a:p>
            <a:pPr algn="l">
              <a:lnSpc>
                <a:spcPct val="135000"/>
              </a:lnSpc>
            </a:pPr>
            <a:r>
              <a:rPr sz="1300">
                <a:solidFill>
                  <a:srgbClr val="1A1A1A"/>
                </a:solidFill>
                <a:latin typeface="Calibri"/>
              </a:rPr>
              <a:t>•  This 'bubble down' operation restores the heap property efficiently.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Complexity Analysis Comparison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 search, insert, delete take O(log_m n) time complexity.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Binary Heap search takes O(n) time for arbitrary elements.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Binary Heap insert and delete take O(log n) time complexity.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are optimized for disk-based storage with large blocks.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Binary Heaps are optimized for memory-based priority queue operations.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maintain sorted order for range queries effectively.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 Trees are balanced m-way trees ideal for database indexing.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Heaps are complete binary trees for priority queue management.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 Trees maintain sorted order and support efficient range queries.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Heaps use array representation for space-efficient storage.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structures ensure logarithmic time complexity for core operations.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Tree; Binary Heaps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