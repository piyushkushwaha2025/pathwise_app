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Tree Traversal algorithms. We will focus specifically on In-order, Pre-order, and Post-order traversals within the context of the Tree and Heap chapter. Remember, mastering these is essential for understanding how we access data in hierarchical structures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our Course Outcomes. CO2 is relevant because traversal algorithms often utilize stacks or queues internally to manage the nodes. CO3 is supported as these traversal methods are fundamental techniques for searching and processing tree-based data structures.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and distinguish between the three traversal types. We will walk through the exact sequence of visiting nodes for each method. You will also see a concrete example of how the output changes based on the traversal order chosen.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traversal as a systematic way to read a book where pages are arranged in a hierarchy. We must visit every single node without missing any or visiting any twice. This process converts our complex tree structure into a simple linear list that we can process further.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Pre-order, we visit the root first, which is why it is called 'Pre'. Imagine you are introducing a family; you introduce the parent before the children. This order is crucial for serializing tree structures or creating prefix notation for mathematical expressions.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In-order is the most famous traversal because it sorts data in a Binary Search Tree. If you have a BST, walking through it in-order gives you the numbers from smallest to largest. This is why it is the go-to method for printing sorted data from a tree.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Post-order, we visit the root last, which is why it is called 'Post'. Think of it like cleaning up a room; you put away the toys (children) before you leave the room (root). This is perfect for deleting trees or calculating the total size of a subtree.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this specific tree. We start at 1, then go left to 2. From 2, we go left to 4, then right to 5. Back at 1, we go right to 3, then to its left child 6. The sequence 1, 2, 4, 5, 3, 6 confirms the Root-Left-Right rule.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apply In-order to the same tree. We go deep left to 4, then up to 2, then right to 5. Then we visit the root 1. Finally, we go to the right subtree, visiting 6 then 3. The sequence 4, 2, 5, 1, 6, 3 shows the Left-Root-Right pattern.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do Post-order. We go all the way left to 4, then right to 5, then up to 2. Then we go to the right subtree, visiting 6 then 3. Only then do we visit the root 1. The sequence 4, 5, 2, 6, 3, 1 confirms the Left-Right-Root rule.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the distinct patterns. Pre-order starts with the root, In-order puts it in the middle, and Post-order ends with it. If you need to sort data, In-order is your only choice for a BST. If you need to delete, Post-order ensures children are gone before the parent.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swapping the order of the recursive calls for left and right subtrees. Another major pitfall is forgetting the base case where the node is null, which stops the recursion. Always ensure your base case is checked before processing the node to prevent crashes.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the root's position: first for Pre-order, middle for In-order, and last for Post-order. Each method has a specific use case, from sorting data to deleting trees. Mastering these sequences is fundamental to your understanding of data structures.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books provide comprehensive coverage of tree data structures and traversal algorithms. I recommend Gilberg and Forouzan for a pseudocode approach, and Lipschutz for clear theoretical explanations. Please refer to these texts for further practice problems and detailed implementations.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Tree Traversal algorithms: In-order Pre-order and Post-order</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Tree and Heap</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Tree and Heap   |   Program: Bachelor of Engineering   |   Discover. Learn. Empower.</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three primary tree traversal algorithms: In-order, Pre-order, and Post-order.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specific node visitation sequence for each traversal method clearly.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recursive logic behind each traversal algorithm using a sample tree.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the output sequences generated by In-order, Pre-order, and Post-order.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when implementing these traversals in C programming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What is Tree Traversal?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Tree traversal is the process of visiting every node in a tree exactly once.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Unlike linear structures, trees have multiple paths, requiring specific systematic rules.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goal is to convert the hierarchical tree structure into a linear sequence.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Traversals are essential for operations like searching, sorting, and deleting nodes.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There are three main depth-first traversal methods: In-order, Pre-order, and Post-order.</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Each method defines a unique order in which the root, left, and right subtrees are processed.</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traversal is the foundation for implementing complex tree algorithms efficiently.</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Tree - Abstract Data Type | MADE EASY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Pre-order Traversal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SEQUENCE IS STRICTLY</a:t>
            </a:r>
          </a:p>
          <a:p>
            <a:pPr algn="l">
              <a:lnSpc>
                <a:spcPct val="135000"/>
              </a:lnSpc>
            </a:pPr>
            <a:r>
              <a:rPr sz="1300">
                <a:solidFill>
                  <a:srgbClr val="1A1A1A"/>
                </a:solidFill>
                <a:latin typeface="Calibri"/>
              </a:rPr>
              <a:t>Root → Left Subtree → Right Subtree.</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Pre-order traversal visits the root node before its left and right subtrees.</a:t>
            </a:r>
          </a:p>
          <a:p>
            <a:pPr algn="l">
              <a:lnSpc>
                <a:spcPct val="135000"/>
              </a:lnSpc>
            </a:pPr>
            <a:r>
              <a:rPr sz="1300">
                <a:solidFill>
                  <a:srgbClr val="1A1A1A"/>
                </a:solidFill>
                <a:latin typeface="Calibri"/>
              </a:rPr>
              <a:t>•  This method is useful for creating a copy of the tree structure.</a:t>
            </a:r>
          </a:p>
          <a:p>
            <a:pPr algn="l">
              <a:lnSpc>
                <a:spcPct val="135000"/>
              </a:lnSpc>
            </a:pPr>
            <a:r>
              <a:rPr sz="1300">
                <a:solidFill>
                  <a:srgbClr val="1A1A1A"/>
                </a:solidFill>
                <a:latin typeface="Calibri"/>
              </a:rPr>
              <a:t>•  It is also used to generate prefix expressions from expression trees.</a:t>
            </a:r>
          </a:p>
          <a:p>
            <a:pPr algn="l">
              <a:lnSpc>
                <a:spcPct val="135000"/>
              </a:lnSpc>
            </a:pPr>
            <a:r>
              <a:rPr sz="1300">
                <a:solidFill>
                  <a:srgbClr val="1A1A1A"/>
                </a:solidFill>
                <a:latin typeface="Calibri"/>
              </a:rPr>
              <a:t>•  The root is processed first, ensuring parent nodes are handled before children.</a:t>
            </a:r>
          </a:p>
          <a:p>
            <a:pPr algn="l">
              <a:lnSpc>
                <a:spcPct val="135000"/>
              </a:lnSpc>
            </a:pPr>
            <a:r>
              <a:rPr sz="1300">
                <a:solidFill>
                  <a:srgbClr val="1A1A1A"/>
                </a:solidFill>
                <a:latin typeface="Calibri"/>
              </a:rPr>
              <a:t>•  Recursion is the most common implementation method for this traversal pattern.</a:t>
            </a:r>
          </a:p>
          <a:p>
            <a:pPr algn="l">
              <a:lnSpc>
                <a:spcPct val="135000"/>
              </a:lnSpc>
            </a:pPr>
            <a:r>
              <a:rPr sz="1300">
                <a:solidFill>
                  <a:srgbClr val="1A1A1A"/>
                </a:solidFill>
                <a:latin typeface="Calibri"/>
              </a:rPr>
              <a:t>•  The first element in the output sequence is always the root of the tree.</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blog.infodiagram.com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In-order Traversal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SEQUENCE IS STRICTLY</a:t>
            </a:r>
          </a:p>
          <a:p>
            <a:pPr algn="l">
              <a:lnSpc>
                <a:spcPct val="135000"/>
              </a:lnSpc>
            </a:pPr>
            <a:r>
              <a:rPr sz="1300">
                <a:solidFill>
                  <a:srgbClr val="1A1A1A"/>
                </a:solidFill>
                <a:latin typeface="Calibri"/>
              </a:rPr>
              <a:t>Left Subtree → Root → Right Subtree.</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In-order traversal visits the left subtree, then the root, then the right subtree.</a:t>
            </a:r>
          </a:p>
          <a:p>
            <a:pPr algn="l">
              <a:lnSpc>
                <a:spcPct val="135000"/>
              </a:lnSpc>
            </a:pPr>
            <a:r>
              <a:rPr sz="1300">
                <a:solidFill>
                  <a:srgbClr val="1A1A1A"/>
                </a:solidFill>
                <a:latin typeface="Calibri"/>
              </a:rPr>
              <a:t>•  For Binary Search Trees, this traversal yields nodes in sorted ascending order.</a:t>
            </a:r>
          </a:p>
          <a:p>
            <a:pPr algn="l">
              <a:lnSpc>
                <a:spcPct val="135000"/>
              </a:lnSpc>
            </a:pPr>
            <a:r>
              <a:rPr sz="1300">
                <a:solidFill>
                  <a:srgbClr val="1A1A1A"/>
                </a:solidFill>
                <a:latin typeface="Calibri"/>
              </a:rPr>
              <a:t>•  It is the standard method for evaluating infix expressions in expression trees.</a:t>
            </a:r>
          </a:p>
          <a:p>
            <a:pPr algn="l">
              <a:lnSpc>
                <a:spcPct val="135000"/>
              </a:lnSpc>
            </a:pPr>
            <a:r>
              <a:rPr sz="1300">
                <a:solidFill>
                  <a:srgbClr val="1A1A1A"/>
                </a:solidFill>
                <a:latin typeface="Calibri"/>
              </a:rPr>
              <a:t>•  The root is processed only after all nodes in the left subtree are done.</a:t>
            </a:r>
          </a:p>
          <a:p>
            <a:pPr algn="l">
              <a:lnSpc>
                <a:spcPct val="135000"/>
              </a:lnSpc>
            </a:pPr>
            <a:r>
              <a:rPr sz="1300">
                <a:solidFill>
                  <a:srgbClr val="1A1A1A"/>
                </a:solidFill>
                <a:latin typeface="Calibri"/>
              </a:rPr>
              <a:t>•  This method provides a natural sorted sequence for data stored in BSTs.</a:t>
            </a:r>
          </a:p>
          <a:p>
            <a:pPr algn="l">
              <a:lnSpc>
                <a:spcPct val="135000"/>
              </a:lnSpc>
            </a:pPr>
            <a:r>
              <a:rPr sz="1300">
                <a:solidFill>
                  <a:srgbClr val="1A1A1A"/>
                </a:solidFill>
                <a:latin typeface="Calibri"/>
              </a:rPr>
              <a:t>•  It is widely used for converting expression trees into standard infix notation.</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raw.githubusercontent.com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Post-order Traversal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SEQUENCE IS STRICTLY</a:t>
            </a:r>
          </a:p>
          <a:p>
            <a:pPr algn="l">
              <a:lnSpc>
                <a:spcPct val="135000"/>
              </a:lnSpc>
            </a:pPr>
            <a:r>
              <a:rPr sz="1300">
                <a:solidFill>
                  <a:srgbClr val="1A1A1A"/>
                </a:solidFill>
                <a:latin typeface="Calibri"/>
              </a:rPr>
              <a:t>Left Subtree → Right Subtree → Root.</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Post-order traversal visits the left subtree, then the right subtree, then the root.</a:t>
            </a:r>
          </a:p>
          <a:p>
            <a:pPr algn="l">
              <a:lnSpc>
                <a:spcPct val="135000"/>
              </a:lnSpc>
            </a:pPr>
            <a:r>
              <a:rPr sz="1300">
                <a:solidFill>
                  <a:srgbClr val="1A1A1A"/>
                </a:solidFill>
                <a:latin typeface="Calibri"/>
              </a:rPr>
              <a:t>•  This method is ideal for deleting a tree because children are removed first.</a:t>
            </a:r>
          </a:p>
          <a:p>
            <a:pPr algn="l">
              <a:lnSpc>
                <a:spcPct val="135000"/>
              </a:lnSpc>
            </a:pPr>
            <a:r>
              <a:rPr sz="1300">
                <a:solidFill>
                  <a:srgbClr val="1A1A1A"/>
                </a:solidFill>
                <a:latin typeface="Calibri"/>
              </a:rPr>
              <a:t>•  It is used to generate postfix expressions (Reverse Polish Notation) from trees.</a:t>
            </a:r>
          </a:p>
          <a:p>
            <a:pPr algn="l">
              <a:lnSpc>
                <a:spcPct val="135000"/>
              </a:lnSpc>
            </a:pPr>
            <a:r>
              <a:rPr sz="1300">
                <a:solidFill>
                  <a:srgbClr val="1A1A1A"/>
                </a:solidFill>
                <a:latin typeface="Calibri"/>
              </a:rPr>
              <a:t>•  The root is processed last, ensuring all descendants are handled before the parent.</a:t>
            </a:r>
          </a:p>
          <a:p>
            <a:pPr algn="l">
              <a:lnSpc>
                <a:spcPct val="135000"/>
              </a:lnSpc>
            </a:pPr>
            <a:r>
              <a:rPr sz="1300">
                <a:solidFill>
                  <a:srgbClr val="1A1A1A"/>
                </a:solidFill>
                <a:latin typeface="Calibri"/>
              </a:rPr>
              <a:t>•  It is essential for calculating the height or size of a tree recursively.</a:t>
            </a:r>
          </a:p>
          <a:p>
            <a:pPr algn="l">
              <a:lnSpc>
                <a:spcPct val="135000"/>
              </a:lnSpc>
            </a:pPr>
            <a:r>
              <a:rPr sz="1300">
                <a:solidFill>
                  <a:srgbClr val="1A1A1A"/>
                </a:solidFill>
                <a:latin typeface="Calibri"/>
              </a:rPr>
              <a:t>•  The last element in the output sequence is always the root of the tree.</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sivakumarkumaravelu.wordpress.com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Pre-order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PRE-ORDER SEQUENCE</a:t>
            </a:r>
          </a:p>
          <a:p>
            <a:pPr algn="l">
              <a:lnSpc>
                <a:spcPct val="135000"/>
              </a:lnSpc>
            </a:pPr>
            <a:r>
              <a:rPr sz="1300">
                <a:solidFill>
                  <a:srgbClr val="1A1A1A"/>
                </a:solidFill>
                <a:latin typeface="Calibri"/>
              </a:rPr>
              <a:t>Visit Root 1 first.</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THEN TRAVERSE LEFT SUBTREE</a:t>
            </a:r>
          </a:p>
          <a:p>
            <a:pPr algn="l">
              <a:lnSpc>
                <a:spcPct val="135000"/>
              </a:lnSpc>
            </a:pPr>
            <a:r>
              <a:rPr sz="1300">
                <a:solidFill>
                  <a:srgbClr val="1A1A1A"/>
                </a:solidFill>
                <a:latin typeface="Calibri"/>
              </a:rPr>
              <a:t>Visit 2, then 4, then 5.</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FINALLY TRAVERSE RIGHT SUBTREE</a:t>
            </a:r>
          </a:p>
          <a:p>
            <a:pPr algn="l">
              <a:lnSpc>
                <a:spcPct val="135000"/>
              </a:lnSpc>
            </a:pPr>
            <a:r>
              <a:rPr sz="1300">
                <a:solidFill>
                  <a:srgbClr val="1A1A1A"/>
                </a:solidFill>
                <a:latin typeface="Calibri"/>
              </a:rPr>
              <a:t>Visit 3, then 6.</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PRE-ORDER OUTPUT SEQUENCE</a:t>
            </a:r>
          </a:p>
          <a:p>
            <a:pPr algn="l">
              <a:lnSpc>
                <a:spcPct val="135000"/>
              </a:lnSpc>
            </a:pPr>
            <a:r>
              <a:rPr sz="1300">
                <a:solidFill>
                  <a:srgbClr val="1A1A1A"/>
                </a:solidFill>
                <a:latin typeface="Calibri"/>
              </a:rPr>
              <a:t>1, 2, 4, 5, 3, 6.</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lnSpc>
                <a:spcPct val="135000"/>
              </a:lnSpc>
            </a:pPr>
            <a:r>
              <a:rPr sz="1300">
                <a:solidFill>
                  <a:srgbClr val="1A1A1A"/>
                </a:solidFill>
                <a:latin typeface="Calibri"/>
              </a:rPr>
              <a:t>•  Consider a tree with Root 1, Left child 2, Right child 3.</a:t>
            </a:r>
          </a:p>
          <a:p>
            <a:pPr algn="l">
              <a:lnSpc>
                <a:spcPct val="135000"/>
              </a:lnSpc>
            </a:pPr>
            <a:r>
              <a:rPr sz="1300">
                <a:solidFill>
                  <a:srgbClr val="1A1A1A"/>
                </a:solidFill>
                <a:latin typeface="Calibri"/>
              </a:rPr>
              <a:t>•  Node 2 has children 4 (left) and 5 (right).</a:t>
            </a:r>
          </a:p>
          <a:p>
            <a:pPr algn="l">
              <a:lnSpc>
                <a:spcPct val="135000"/>
              </a:lnSpc>
            </a:pPr>
            <a:r>
              <a:rPr sz="1300">
                <a:solidFill>
                  <a:srgbClr val="1A1A1A"/>
                </a:solidFill>
                <a:latin typeface="Calibri"/>
              </a:rPr>
              <a:t>•  Node 3 has a left child 6 and no right child.</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In-order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USING THE SAME TREE</a:t>
            </a:r>
          </a:p>
          <a:p>
            <a:pPr algn="l">
              <a:lnSpc>
                <a:spcPct val="135000"/>
              </a:lnSpc>
            </a:pPr>
            <a:r>
              <a:rPr sz="1300">
                <a:solidFill>
                  <a:srgbClr val="1A1A1A"/>
                </a:solidFill>
                <a:latin typeface="Calibri"/>
              </a:rPr>
              <a:t>Root 1, Left 2, Right 3.</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IN-ORDER SEQUENCE</a:t>
            </a:r>
          </a:p>
          <a:p>
            <a:pPr algn="l">
              <a:lnSpc>
                <a:spcPct val="135000"/>
              </a:lnSpc>
            </a:pPr>
            <a:r>
              <a:rPr sz="1300">
                <a:solidFill>
                  <a:srgbClr val="1A1A1A"/>
                </a:solidFill>
                <a:latin typeface="Calibri"/>
              </a:rPr>
              <a:t>Traverse Left subtree of 1 first.</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FINALLY TRAVERSE RIGHT SUBTREE</a:t>
            </a:r>
          </a:p>
          <a:p>
            <a:pPr algn="l">
              <a:lnSpc>
                <a:spcPct val="135000"/>
              </a:lnSpc>
            </a:pPr>
            <a:r>
              <a:rPr sz="1300">
                <a:solidFill>
                  <a:srgbClr val="1A1A1A"/>
                </a:solidFill>
                <a:latin typeface="Calibri"/>
              </a:rPr>
              <a:t>Visit 3's left child 6, then 3.</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IN-ORDER OUTPUT SEQUENCE</a:t>
            </a:r>
          </a:p>
          <a:p>
            <a:pPr algn="l">
              <a:lnSpc>
                <a:spcPct val="135000"/>
              </a:lnSpc>
            </a:pPr>
            <a:r>
              <a:rPr sz="1300">
                <a:solidFill>
                  <a:srgbClr val="1A1A1A"/>
                </a:solidFill>
                <a:latin typeface="Calibri"/>
              </a:rPr>
              <a:t>4, 2, 5, 1, 6, 3.</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lnSpc>
                <a:spcPct val="135000"/>
              </a:lnSpc>
            </a:pPr>
            <a:r>
              <a:rPr sz="1300">
                <a:solidFill>
                  <a:srgbClr val="1A1A1A"/>
                </a:solidFill>
                <a:latin typeface="Calibri"/>
              </a:rPr>
              <a:t>•  Node 2 has children 4 (left) and 5 (right).</a:t>
            </a:r>
          </a:p>
          <a:p>
            <a:pPr algn="l">
              <a:lnSpc>
                <a:spcPct val="135000"/>
              </a:lnSpc>
            </a:pPr>
            <a:r>
              <a:rPr sz="1300">
                <a:solidFill>
                  <a:srgbClr val="1A1A1A"/>
                </a:solidFill>
                <a:latin typeface="Calibri"/>
              </a:rPr>
              <a:t>•  Node 3 has a left child 6.</a:t>
            </a:r>
          </a:p>
          <a:p>
            <a:pPr algn="l">
              <a:lnSpc>
                <a:spcPct val="135000"/>
              </a:lnSpc>
            </a:pPr>
            <a:r>
              <a:rPr sz="1300">
                <a:solidFill>
                  <a:srgbClr val="1A1A1A"/>
                </a:solidFill>
                <a:latin typeface="Calibri"/>
              </a:rPr>
              <a:t>•  Visit 2, then its left child 4, then 2 itself, then right child 5.</a:t>
            </a:r>
          </a:p>
          <a:p>
            <a:pPr algn="l">
              <a:lnSpc>
                <a:spcPct val="135000"/>
              </a:lnSpc>
            </a:pPr>
            <a:r>
              <a:rPr sz="1300">
                <a:solidFill>
                  <a:srgbClr val="1A1A1A"/>
                </a:solidFill>
                <a:latin typeface="Calibri"/>
              </a:rPr>
              <a:t>•  Visit Root 1.</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images.presentationgo.com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Post-order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USING THE SAME TREE</a:t>
            </a:r>
          </a:p>
          <a:p>
            <a:pPr algn="l">
              <a:lnSpc>
                <a:spcPct val="135000"/>
              </a:lnSpc>
            </a:pPr>
            <a:r>
              <a:rPr sz="1300">
                <a:solidFill>
                  <a:srgbClr val="1A1A1A"/>
                </a:solidFill>
                <a:latin typeface="Calibri"/>
              </a:rPr>
              <a:t>Root 1, Left 2, Right 3.</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POST-ORDER SEQUENCE</a:t>
            </a:r>
          </a:p>
          <a:p>
            <a:pPr algn="l">
              <a:lnSpc>
                <a:spcPct val="135000"/>
              </a:lnSpc>
            </a:pPr>
            <a:r>
              <a:rPr sz="1300">
                <a:solidFill>
                  <a:srgbClr val="1A1A1A"/>
                </a:solidFill>
                <a:latin typeface="Calibri"/>
              </a:rPr>
              <a:t>Traverse Left subtree completely first.</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THEN TRAVERSE RIGHT SUBTREE</a:t>
            </a:r>
          </a:p>
          <a:p>
            <a:pPr algn="l">
              <a:lnSpc>
                <a:spcPct val="135000"/>
              </a:lnSpc>
            </a:pPr>
            <a:r>
              <a:rPr sz="1300">
                <a:solidFill>
                  <a:srgbClr val="1A1A1A"/>
                </a:solidFill>
                <a:latin typeface="Calibri"/>
              </a:rPr>
              <a:t>Visit 6, then 3.</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POST-ORDER OUTPUT SEQUENCE</a:t>
            </a:r>
          </a:p>
          <a:p>
            <a:pPr algn="l">
              <a:lnSpc>
                <a:spcPct val="135000"/>
              </a:lnSpc>
            </a:pPr>
            <a:r>
              <a:rPr sz="1300">
                <a:solidFill>
                  <a:srgbClr val="1A1A1A"/>
                </a:solidFill>
                <a:latin typeface="Calibri"/>
              </a:rPr>
              <a:t>4, 5, 2, 6, 3, 1.</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lnSpc>
                <a:spcPct val="135000"/>
              </a:lnSpc>
            </a:pPr>
            <a:r>
              <a:rPr sz="1300">
                <a:solidFill>
                  <a:srgbClr val="1A1A1A"/>
                </a:solidFill>
                <a:latin typeface="Calibri"/>
              </a:rPr>
              <a:t>•  Node 2 has children 4 (left) and 5 (right).</a:t>
            </a:r>
          </a:p>
          <a:p>
            <a:pPr algn="l">
              <a:lnSpc>
                <a:spcPct val="135000"/>
              </a:lnSpc>
            </a:pPr>
            <a:r>
              <a:rPr sz="1300">
                <a:solidFill>
                  <a:srgbClr val="1A1A1A"/>
                </a:solidFill>
                <a:latin typeface="Calibri"/>
              </a:rPr>
              <a:t>•  Node 3 has a left child 6.</a:t>
            </a:r>
          </a:p>
          <a:p>
            <a:pPr algn="l">
              <a:lnSpc>
                <a:spcPct val="135000"/>
              </a:lnSpc>
            </a:pPr>
            <a:r>
              <a:rPr sz="1300">
                <a:solidFill>
                  <a:srgbClr val="1A1A1A"/>
                </a:solidFill>
                <a:latin typeface="Calibri"/>
              </a:rPr>
              <a:t>•  Visit 4, then 5, then 2.</a:t>
            </a:r>
          </a:p>
          <a:p>
            <a:pPr algn="l">
              <a:lnSpc>
                <a:spcPct val="135000"/>
              </a:lnSpc>
            </a:pPr>
            <a:r>
              <a:rPr sz="1300">
                <a:solidFill>
                  <a:srgbClr val="1A1A1A"/>
                </a:solidFill>
                <a:latin typeface="Calibri"/>
              </a:rPr>
              <a:t>•  Finally visit Root 1.</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cdn5.slideserve.com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Comparison of Traversal Outputs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Pre-order always starts with the root node of the tree.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In-order places the root node in the middle of the sequence.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Post-order always ends with the root node of the tree.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 a Binary Search Tree, only In-order produces a sorted list.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Pre-order is best for copying trees or prefix notation generation.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Post-order is best for deleting trees or postfix notation generation.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choice of traversal depends entirely on the specific application requirement.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Implementation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the order of recursive calls leads to incorrect output sequences.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base cases (null nodes) causes infinite recursion or stack overflow.</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iterative approaches without a stack or queue often leads to logic errors.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all trees are Binary Search Trees when they are not.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handling empty trees correctly can crash the program during execution.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Mixing up Pre-order and Post-order definitions is a frequent student error.</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specific structure of the tree can lead to wrong traversal results.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PRE-ORDER</a:t>
            </a:r>
          </a:p>
          <a:p>
            <a:pPr algn="l">
              <a:lnSpc>
                <a:spcPct val="135000"/>
              </a:lnSpc>
            </a:pPr>
            <a:r>
              <a:rPr sz="1300">
                <a:solidFill>
                  <a:srgbClr val="1A1A1A"/>
                </a:solidFill>
                <a:latin typeface="Calibri"/>
              </a:rPr>
              <a:t>Root → Left → Right; used for copying trees and prefix notation.</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IN-ORDER</a:t>
            </a:r>
          </a:p>
          <a:p>
            <a:pPr algn="l">
              <a:lnSpc>
                <a:spcPct val="135000"/>
              </a:lnSpc>
            </a:pPr>
            <a:r>
              <a:rPr sz="1300">
                <a:solidFill>
                  <a:srgbClr val="1A1A1A"/>
                </a:solidFill>
                <a:latin typeface="Calibri"/>
              </a:rPr>
              <a:t>Left → Root → Right; used for sorting BSTs and infix notation.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POST-ORDER</a:t>
            </a:r>
          </a:p>
          <a:p>
            <a:pPr algn="l">
              <a:lnSpc>
                <a:spcPct val="135000"/>
              </a:lnSpc>
            </a:pPr>
            <a:r>
              <a:rPr sz="1300">
                <a:solidFill>
                  <a:srgbClr val="1A1A1A"/>
                </a:solidFill>
                <a:latin typeface="Calibri"/>
              </a:rPr>
              <a:t>Left → Right → Root; used for deleting trees and postfix notation.</a:t>
            </a:r>
          </a:p>
        </p:txBody>
      </p:sp>
      <p:sp>
        <p:nvSpPr>
          <p:cNvPr id="22" name="Rectangle 21"/>
          <p:cNvSpPr/>
          <p:nvPr/>
        </p:nvSpPr>
        <p:spPr>
          <a:xfrm>
            <a:off x="6185916"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5916"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596"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All three methods visit every node exactly once using depth-first search.</a:t>
            </a:r>
          </a:p>
          <a:p>
            <a:pPr algn="l">
              <a:lnSpc>
                <a:spcPct val="135000"/>
              </a:lnSpc>
            </a:pPr>
            <a:r>
              <a:rPr sz="1300">
                <a:solidFill>
                  <a:srgbClr val="1A1A1A"/>
                </a:solidFill>
                <a:latin typeface="Calibri"/>
              </a:rPr>
              <a:t>•  The root node's position in the output sequence distinguishes the three methods.</a:t>
            </a:r>
          </a:p>
          <a:p>
            <a:pPr algn="l">
              <a:lnSpc>
                <a:spcPct val="135000"/>
              </a:lnSpc>
            </a:pPr>
            <a:r>
              <a:rPr sz="1300">
                <a:solidFill>
                  <a:srgbClr val="1A1A1A"/>
                </a:solidFill>
                <a:latin typeface="Calibri"/>
              </a:rPr>
              <a:t>•  Correct implementation requires careful handling of recursive base cases.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 Traversal algorithms: In-order Pre-order and Post-order</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