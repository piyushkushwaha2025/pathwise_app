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students to the Chandigarh University Data Structure course. Today we begin our journey into the fundamental building blocks of programming. We will focus specifically on the built-in data types in C, which are the foundation for all complex structures you will build later. Remember, mastering these basics is essential for your success in this engineering program.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lecture directly supports Course Outcome 1, which requires you to understand and apply basic data structures. By mastering built-in types, you gain the necessary tools to implement arrays and linked lists effectively. These primitive types are the atoms from which all complex data structures are constructed in C programming.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session, you will be able to define and identify the four primary categories of primitive data types. You will understand the specific storage sizes and range limits for integers and floating-point numbers. We will also practice declaring variables correctly and distinguishing between signed and unsigned representations. These skills are crucial for writing efficient and error-free C code.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Built-in data types are the fundamental building blocks provided directly by the C compiler. They represent basic values like integers and characters that map directly to the computer's hardware. Because they are supported by the hardware, they offer high performance and portability across different systems. Think of them as the raw materials, like bricks, that you will use to build complex structures later.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Integer types store whole numbers, while the char type handles single characters using ASCII encoding. You can modify the storage size using short for smaller ranges or long for larger ranges. It is critical to distinguish between signed integers, which include negatives, and unsigned integers, which only store positive values. For example, a standard int on most modern systems is 4 bytes, allowing a range from -2 billion to +2 billion.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Floating-point types handle numbers with fractional parts, using the IEEE 754 standard for representation. The float type offers single precision with about 7 significant digits, while double offers double precision with 15 digits. For high-accuracy scientific work, the long double type provides even greater precision. For instance, calculating the value of π requires a double type to maintain sufficient accuracy for engineering applications.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look at concrete examples of sizes and ranges. A char takes 1 byte, storing values from -128 to 127. A standard int takes 4 bytes, allowing a massive range from -2 billion to +2 billion. If you try to store the number 3.14159 in a float, you might lose some precision compared to a double. Understanding these limits prevents overflow errors when your program handles large numbers.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key difference lies in how the most significant bit is interpreted. Signed types use this bit for the sign, while unsigned types use it to extend the positive range. For example, an unsigned 16-bit integer can store values up to 65,535, whereas a signed one only goes to 32,767. However, storing a negative number in an unsigned variable leads to unpredictable results, so use signed types for general arithmetic.</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built-in types are the fundamental building blocks provided by the C language. Integers and characters are the basis for all complex structures, while floating-point types handle real numbers. Always be mindful of size and range limits to avoid critical errors in your programs. Finally, choose signed or unsigned types based on whether your data can be negative.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further reading and deeper understanding, please refer to the standard textbooks listed here. Gilberg and Forouzan provide excellent pseudocode approaches, while Lipschutz offers a comprehensive theoretical foundation. AK Sharma's book is particularly useful for C-specific implementations, and Deshpandey provides a clear introduction to C and data structures. These resources will support your learning throughout the semester.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jp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jp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jp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jp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274320"/>
            <a:ext cx="1097280" cy="548640"/>
          </a:xfrm>
          <a:prstGeom prst="rect">
            <a:avLst/>
          </a:prstGeom>
        </p:spPr>
      </p:pic>
      <p:sp>
        <p:nvSpPr>
          <p:cNvPr id="3" name="TextBox 2"/>
          <p:cNvSpPr txBox="1"/>
          <p:nvPr/>
        </p:nvSpPr>
        <p:spPr>
          <a:xfrm>
            <a:off x="457200" y="1783080"/>
            <a:ext cx="11274552" cy="2194560"/>
          </a:xfrm>
          <a:prstGeom prst="rect">
            <a:avLst/>
          </a:prstGeom>
          <a:noFill/>
        </p:spPr>
        <p:txBody>
          <a:bodyPr wrap="square">
            <a:normAutofit/>
          </a:bodyPr>
          <a:lstStyle/>
          <a:p>
            <a:pPr algn="ctr"/>
            <a:r>
              <a:rPr b="1" sz="4000">
                <a:solidFill>
                  <a:srgbClr val="1A1A2E"/>
                </a:solidFill>
                <a:latin typeface="Calibri"/>
              </a:rPr>
              <a:t>Built in Data Types in C</a:t>
            </a:r>
          </a:p>
        </p:txBody>
      </p:sp>
      <p:sp>
        <p:nvSpPr>
          <p:cNvPr id="4" name="TextBox 3"/>
          <p:cNvSpPr txBox="1"/>
          <p:nvPr/>
        </p:nvSpPr>
        <p:spPr>
          <a:xfrm>
            <a:off x="457200" y="4069080"/>
            <a:ext cx="11274552" cy="777240"/>
          </a:xfrm>
          <a:prstGeom prst="rect">
            <a:avLst/>
          </a:prstGeom>
          <a:noFill/>
        </p:spPr>
        <p:txBody>
          <a:bodyPr wrap="square">
            <a:normAutofit/>
          </a:bodyPr>
          <a:lstStyle/>
          <a:p>
            <a:pPr algn="ctr"/>
            <a:r>
              <a:rPr sz="1800" i="1">
                <a:solidFill>
                  <a:srgbClr val="C8102E"/>
                </a:solidFill>
                <a:latin typeface="Calibri"/>
              </a:rPr>
              <a:t>Data Structure | Introduction to Data Structure</a:t>
            </a:r>
          </a:p>
        </p:txBody>
      </p:sp>
      <p:sp>
        <p:nvSpPr>
          <p:cNvPr id="5" name="TextBox 4"/>
          <p:cNvSpPr txBox="1"/>
          <p:nvPr/>
        </p:nvSpPr>
        <p:spPr>
          <a:xfrm>
            <a:off x="457200" y="5212080"/>
            <a:ext cx="11274552" cy="411480"/>
          </a:xfrm>
          <a:prstGeom prst="rect">
            <a:avLst/>
          </a:prstGeom>
          <a:noFill/>
        </p:spPr>
        <p:txBody>
          <a:bodyPr wrap="square">
            <a:spAutoFit/>
          </a:bodyPr>
          <a:lstStyle/>
          <a:p>
            <a:pPr algn="ctr"/>
            <a:r>
              <a:rPr sz="1100" i="1">
                <a:solidFill>
                  <a:srgbClr val="666666"/>
                </a:solidFill>
                <a:latin typeface="Calibri"/>
              </a:rPr>
              <a:t>Course: Data Structure   |   Chapter: Introduction to Data Structure   |   Program: Bachelor of Engineering</a:t>
            </a:r>
          </a:p>
        </p:txBody>
      </p:sp>
      <p:sp>
        <p:nvSpPr>
          <p:cNvPr id="6" name="TextBox 5"/>
          <p:cNvSpPr txBox="1"/>
          <p:nvPr/>
        </p:nvSpPr>
        <p:spPr>
          <a:xfrm>
            <a:off x="8074152" y="6217920"/>
            <a:ext cx="3840480" cy="457200"/>
          </a:xfrm>
          <a:prstGeom prst="rect">
            <a:avLst/>
          </a:prstGeom>
          <a:noFill/>
        </p:spPr>
        <p:txBody>
          <a:bodyPr wrap="none">
            <a:spAutoFit/>
          </a:bodyPr>
          <a:lstStyle/>
          <a:p>
            <a:pPr algn="r"/>
            <a:r>
              <a:rPr sz="1200" b="1">
                <a:solidFill>
                  <a:srgbClr val="C8102E"/>
                </a:solidFill>
                <a:latin typeface="Calibri"/>
              </a:rPr>
              <a:t>DISCOVER  ·  LEARN  ·  EMPOWER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Course Outcomes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2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47548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2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Course Outcome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502920" y="1625600"/>
          <a:ext cx="11183112" cy="4656328"/>
        </p:xfrm>
        <a:graphic>
          <a:graphicData uri="http://schemas.openxmlformats.org/drawingml/2006/table">
            <a:tbl>
              <a:tblPr firstRow="1" bandRow="1">
                <a:tableStyleId>{5C22544A-7EE6-4342-B048-85BDC9FD1C3A}</a:tableStyleId>
              </a:tblPr>
              <a:tblGrid>
                <a:gridCol w="1565635"/>
                <a:gridCol w="1565635"/>
                <a:gridCol w="8051842"/>
              </a:tblGrid>
              <a:tr h="776054">
                <a:tc>
                  <a:txBody>
                    <a:bodyPr/>
                    <a:lstStyle/>
                    <a:p>
                      <a:r>
                        <a:rPr b="1" sz="1100">
                          <a:solidFill>
                            <a:srgbClr val="FFFFFF"/>
                          </a:solidFill>
                          <a:latin typeface="Calibri"/>
                        </a:rPr>
                        <a:t>CO</a:t>
                      </a:r>
                    </a:p>
                  </a:txBody>
                  <a:tcPr marL="109728" marR="109728">
                    <a:solidFill>
                      <a:srgbClr val="C8102E"/>
                    </a:solidFill>
                  </a:tcPr>
                </a:tc>
                <a:tc>
                  <a:txBody>
                    <a:bodyPr/>
                    <a:lstStyle/>
                    <a:p>
                      <a:r>
                        <a:rPr b="1" sz="1100">
                          <a:solidFill>
                            <a:srgbClr val="FFFFFF"/>
                          </a:solidFill>
                          <a:latin typeface="Calibri"/>
                        </a:rPr>
                        <a:t>BT LEVEL</a:t>
                      </a:r>
                    </a:p>
                  </a:txBody>
                  <a:tcPr marL="109728" marR="109728">
                    <a:solidFill>
                      <a:srgbClr val="C8102E"/>
                    </a:solidFill>
                  </a:tcPr>
                </a:tc>
                <a:tc>
                  <a:txBody>
                    <a:bodyPr/>
                    <a:lstStyle/>
                    <a:p>
                      <a:r>
                        <a:rPr b="1" sz="1100">
                          <a:solidFill>
                            <a:srgbClr val="FFFFFF"/>
                          </a:solidFill>
                          <a:latin typeface="Calibri"/>
                        </a:rPr>
                        <a:t>DESCRIPTION</a:t>
                      </a:r>
                    </a:p>
                  </a:txBody>
                  <a:tcPr marL="109728" marR="109728">
                    <a:solidFill>
                      <a:srgbClr val="C8102E"/>
                    </a:solidFill>
                  </a:tcPr>
                </a:tc>
              </a:tr>
              <a:tr h="776054">
                <a:tc>
                  <a:txBody>
                    <a:bodyPr/>
                    <a:lstStyle/>
                    <a:p>
                      <a:pPr algn="ctr"/>
                      <a:r>
                        <a:rPr sz="1100" b="1">
                          <a:solidFill>
                            <a:srgbClr val="8B0000"/>
                          </a:solidFill>
                          <a:latin typeface="Calibri"/>
                        </a:rPr>
                        <a:t>CO1</a:t>
                      </a:r>
                    </a:p>
                  </a:txBody>
                  <a:tcPr marL="109728" marR="109728">
                    <a:solidFill>
                      <a:srgbClr val="FFE4E1"/>
                    </a:solidFill>
                  </a:tcPr>
                </a:tc>
                <a:tc>
                  <a:txBody>
                    <a:bodyPr/>
                    <a:lstStyle/>
                    <a:p>
                      <a:pPr algn="ctr"/>
                      <a:r>
                        <a:rPr sz="1100" b="1">
                          <a:solidFill>
                            <a:srgbClr val="1565C0"/>
                          </a:solidFill>
                          <a:latin typeface="Calibri"/>
                        </a:rPr>
                        <a:t>BT1</a:t>
                      </a:r>
                    </a:p>
                  </a:txBody>
                  <a:tcPr marL="109728" marR="109728">
                    <a:solidFill>
                      <a:srgbClr val="E3F2FD"/>
                    </a:solidFill>
                  </a:tcPr>
                </a:tc>
                <a:tc>
                  <a:txBody>
                    <a:bodyPr/>
                    <a:lstStyle/>
                    <a:p>
                      <a:pPr algn="l"/>
                      <a:r>
                        <a:rPr sz="1200" b="0">
                          <a:solidFill>
                            <a:srgbClr val="1A1A1A"/>
                          </a:solidFill>
                          <a:latin typeface="Calibri"/>
                        </a:rPr>
                        <a:t>Understand and apply basic data structures, algorithms, complexity analysis, ADTs, arrays and linked lists.</a:t>
                      </a:r>
                    </a:p>
                  </a:txBody>
                  <a:tcPr marL="109728" marR="109728">
                    <a:solidFill>
                      <a:srgbClr val="FFFFFF"/>
                    </a:solidFill>
                  </a:tcPr>
                </a:tc>
              </a:tr>
              <a:tr h="776054">
                <a:tc>
                  <a:txBody>
                    <a:bodyPr/>
                    <a:lstStyle/>
                    <a:p>
                      <a:pPr algn="ctr"/>
                      <a:r>
                        <a:rPr sz="1100" b="1">
                          <a:solidFill>
                            <a:srgbClr val="8B0000"/>
                          </a:solidFill>
                          <a:latin typeface="Calibri"/>
                        </a:rPr>
                        <a:t>CO2</a:t>
                      </a:r>
                    </a:p>
                  </a:txBody>
                  <a:tcPr marL="109728" marR="109728">
                    <a:solidFill>
                      <a:srgbClr val="FFE4E1"/>
                    </a:solidFill>
                  </a:tcPr>
                </a:tc>
                <a:tc>
                  <a:txBody>
                    <a:bodyPr/>
                    <a:lstStyle/>
                    <a:p>
                      <a:pPr algn="ctr"/>
                      <a:r>
                        <a:rPr sz="1100" b="1">
                          <a:solidFill>
                            <a:srgbClr val="2E7D32"/>
                          </a:solidFill>
                          <a:latin typeface="Calibri"/>
                        </a:rPr>
                        <a:t>BT2</a:t>
                      </a:r>
                    </a:p>
                  </a:txBody>
                  <a:tcPr marL="109728" marR="109728">
                    <a:solidFill>
                      <a:srgbClr val="E8F5E9"/>
                    </a:solidFill>
                  </a:tcPr>
                </a:tc>
                <a:tc>
                  <a:txBody>
                    <a:bodyPr/>
                    <a:lstStyle/>
                    <a:p>
                      <a:pPr algn="l"/>
                      <a:r>
                        <a:rPr sz="1200" b="0">
                          <a:solidFill>
                            <a:srgbClr val="1A1A1A"/>
                          </a:solidFill>
                          <a:latin typeface="Calibri"/>
                        </a:rPr>
                        <a:t>Apply and implement stacks and queues in problem-solving.</a:t>
                      </a:r>
                    </a:p>
                  </a:txBody>
                  <a:tcPr marL="109728" marR="109728">
                    <a:solidFill>
                      <a:srgbClr val="F5F5F5"/>
                    </a:solidFill>
                  </a:tcPr>
                </a:tc>
              </a:tr>
              <a:tr h="776054">
                <a:tc>
                  <a:txBody>
                    <a:bodyPr/>
                    <a:lstStyle/>
                    <a:p>
                      <a:pPr algn="ctr"/>
                      <a:r>
                        <a:rPr sz="1100" b="1">
                          <a:solidFill>
                            <a:srgbClr val="8B0000"/>
                          </a:solidFill>
                          <a:latin typeface="Calibri"/>
                        </a:rPr>
                        <a:t>CO3</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Analyse and apply searching, sorting, and hashing techniques.</a:t>
                      </a:r>
                    </a:p>
                  </a:txBody>
                  <a:tcPr marL="109728" marR="109728">
                    <a:solidFill>
                      <a:srgbClr val="FFFFFF"/>
                    </a:solidFill>
                  </a:tcPr>
                </a:tc>
              </a:tr>
              <a:tr h="776054">
                <a:tc>
                  <a:txBody>
                    <a:bodyPr/>
                    <a:lstStyle/>
                    <a:p>
                      <a:pPr algn="ctr"/>
                      <a:r>
                        <a:rPr sz="1100" b="1">
                          <a:solidFill>
                            <a:srgbClr val="8B0000"/>
                          </a:solidFill>
                          <a:latin typeface="Calibri"/>
                        </a:rPr>
                        <a:t>CO4</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Construct and apply tree structures and traversal techniques.</a:t>
                      </a:r>
                    </a:p>
                  </a:txBody>
                  <a:tcPr marL="109728" marR="109728">
                    <a:solidFill>
                      <a:srgbClr val="F5F5F5"/>
                    </a:solidFill>
                  </a:tcPr>
                </a:tc>
              </a:tr>
              <a:tr h="776058">
                <a:tc>
                  <a:txBody>
                    <a:bodyPr/>
                    <a:lstStyle/>
                    <a:p>
                      <a:pPr algn="ctr"/>
                      <a:r>
                        <a:rPr sz="1100" b="1">
                          <a:solidFill>
                            <a:srgbClr val="8B0000"/>
                          </a:solidFill>
                          <a:latin typeface="Calibri"/>
                        </a:rPr>
                        <a:t>CO5</a:t>
                      </a:r>
                    </a:p>
                  </a:txBody>
                  <a:tcPr marL="109728" marR="109728">
                    <a:solidFill>
                      <a:srgbClr val="FFE4E1"/>
                    </a:solidFill>
                  </a:tcPr>
                </a:tc>
                <a:tc>
                  <a:txBody>
                    <a:bodyPr/>
                    <a:lstStyle/>
                    <a:p>
                      <a:pPr algn="ctr"/>
                      <a:r>
                        <a:rPr sz="1100" b="1">
                          <a:solidFill>
                            <a:srgbClr val="00838F"/>
                          </a:solidFill>
                          <a:latin typeface="Calibri"/>
                        </a:rPr>
                        <a:t>BT5</a:t>
                      </a:r>
                    </a:p>
                  </a:txBody>
                  <a:tcPr marL="109728" marR="109728">
                    <a:solidFill>
                      <a:srgbClr val="E0F7FA"/>
                    </a:solidFill>
                  </a:tcPr>
                </a:tc>
                <a:tc>
                  <a:txBody>
                    <a:bodyPr/>
                    <a:lstStyle/>
                    <a:p>
                      <a:pPr algn="l"/>
                      <a:r>
                        <a:rPr sz="1200" b="0">
                          <a:solidFill>
                            <a:srgbClr val="1A1A1A"/>
                          </a:solidFill>
                          <a:latin typeface="Calibri"/>
                        </a:rPr>
                        <a:t>Represent and solve graph problems using DFS, BFS, and graph algorithms.</a:t>
                      </a:r>
                    </a:p>
                  </a:txBody>
                  <a:tcPr marL="109728" marR="109728">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Learning Objectives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3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71323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3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Learning Outcomes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Define the concept of built-in data types in the C programming language.</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Identify the four primary categories of primitive data types available in C.</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Explain the storage size and range limits for integer and floating-point types.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Demonstrate the correct syntax for declaring variables using specific data types.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Differentiate between signed and unsigned integer representations in memory.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4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950976"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4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Definition of Built-in Data Types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Built-in data types are predefined types provided by the C language compiler.</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They represent basic values like integers, characters, and floating-point numbers.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These types are directly supported by the hardware architecture of the computer.</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They form the foundation for constructing complex user-defined data structures later.</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Using built-in types ensures portability across different C compilers and systems.</a:t>
            </a:r>
          </a:p>
        </p:txBody>
      </p:sp>
      <p:pic>
        <p:nvPicPr>
          <p:cNvPr id="23" name="Picture 22"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Data Types in Java – Your Quick Beginner's Guide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5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18872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5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Integer Data Types in C</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int type stores whole numbers without any fractional part.</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char type stores single characters using ASCII or Unicode encoding.</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short and long types modify the storage size and range of integers.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Signed integers include negative values while unsigned integers only store positive values.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default size of int is typically 2 bytes or 4 bytes depending on the system.</a:t>
            </a:r>
          </a:p>
        </p:txBody>
      </p:sp>
      <p:pic>
        <p:nvPicPr>
          <p:cNvPr id="23" name="Picture 22"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Guide To Data Types In C (With Detailed Examples) (source: d8it4huxumps7.cloudfront.net)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6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42646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6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Floating Point Data Types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float type stores single-precision floating-point numbers with approximately 7 digits.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double type stores double-precision numbers with approximately 15 digits of precision.</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long double type provides extended precision for high-accuracy scientific calculations.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These types use the IEEE 754 standard for representing real numbers in memory.</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They are essential for calculations involving fractions, scientific constants, and measurements.</a:t>
            </a:r>
          </a:p>
        </p:txBody>
      </p:sp>
      <p:pic>
        <p:nvPicPr>
          <p:cNvPr id="23" name="Picture 22"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Guide To Data Types In C (With Detailed Examples) (source: d8it4huxumps7.cloudfront.net)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7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66420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7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Size and Range Examples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 char variable typically occupies 1 byte and stores values from -128 to 127.</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 short int variable usually occupies 2 bytes with a range of -32,768 to 32,767.</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 standard int variable typically occupies 4 bytes with a range of -2 billion to 2 billion.</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 float variable occupies 4 bytes and stores values like 3.14159 with limited precision.</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 double variable occupies 8 bytes and stores values like 3.141592653589793 accurately.</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storage.ghost.io</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8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90195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8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Signed vs Unsigned Types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Signed types use the most significant bit to indicate positive or negative signs.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Unsigned types use all bits to represent magnitude, effectively doubling the positive range.</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Attempting to store a negative value in an unsigned type causes undefined behavior.</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Use unsigned types when you are certain values will never be negative.</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Signed types are safer for general-purpose arithmetic involving subtraction or negative results.</a:t>
            </a:r>
          </a:p>
        </p:txBody>
      </p:sp>
      <p:pic>
        <p:nvPicPr>
          <p:cNvPr id="23" name="Picture 22"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media2.dev.to</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9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139696"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9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Key Takeaways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Built-in types are predefined by C and map directly to hardware for efficiency.</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Integers and characters form the basis for all complex data structures in C.</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Floating-point types are essential for handling real numbers with fractional parts.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Understanding size and range limits is critical to prevent overflow and underflow errors.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Choosing between signed and unsigned types depends on whether negative values are needed.</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static.afteracademy.com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10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37744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10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References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5083556"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DATA STRUCTURES</a:t>
            </a:r>
          </a:p>
          <a:p>
            <a:pPr algn="l">
              <a:lnSpc>
                <a:spcPct val="135000"/>
              </a:lnSpc>
            </a:pPr>
            <a:r>
              <a:rPr sz="1300">
                <a:solidFill>
                  <a:srgbClr val="1A1A1A"/>
                </a:solidFill>
                <a:latin typeface="Calibri"/>
              </a:rPr>
              <a:t>A Pseudocode Approach with C — Gilberg, Forouzan</a:t>
            </a:r>
          </a:p>
        </p:txBody>
      </p:sp>
      <p:sp>
        <p:nvSpPr>
          <p:cNvPr id="16" name="Rectangle 15"/>
          <p:cNvSpPr/>
          <p:nvPr/>
        </p:nvSpPr>
        <p:spPr>
          <a:xfrm>
            <a:off x="6185916"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5916"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596" y="1744472"/>
            <a:ext cx="5083556"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Data Structures — Lipschutz</a:t>
            </a:r>
          </a:p>
          <a:p>
            <a:pPr algn="l">
              <a:lnSpc>
                <a:spcPct val="135000"/>
              </a:lnSpc>
            </a:pPr>
            <a:r>
              <a:rPr sz="1300">
                <a:solidFill>
                  <a:srgbClr val="1A1A1A"/>
                </a:solidFill>
                <a:latin typeface="Calibri"/>
              </a:rPr>
              <a:t>•  Data Structure Using C — AK Sharma</a:t>
            </a:r>
          </a:p>
          <a:p>
            <a:pPr algn="l">
              <a:lnSpc>
                <a:spcPct val="135000"/>
              </a:lnSpc>
            </a:pPr>
            <a:r>
              <a:rPr sz="1300">
                <a:solidFill>
                  <a:srgbClr val="1A1A1A"/>
                </a:solidFill>
                <a:latin typeface="Calibri"/>
              </a:rPr>
              <a:t>•  C and Data structure — P. S. Deshpandey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Built in Data Types in C</dc:title>
  <dc:subject>AI-generated lecture — Chandigarh University</dc:subject>
  <dc:creator>CU AI Lesson Builder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