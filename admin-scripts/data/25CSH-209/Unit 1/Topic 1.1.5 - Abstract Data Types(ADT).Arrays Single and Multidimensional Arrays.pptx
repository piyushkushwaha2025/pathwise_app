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Data Structures. We will focus specifically on Abstract Data Types and the fundamental array structures. Remember, mastering these basics is crucial for solving complex engineering problems later. Let us begin our journey into efficient data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CO1 by deepening your understanding of ADTs and arrays. While CO5 focuses on graphs, the array concepts we learn here form the underlying storage mechanism for graph adjacency matrices. Both outcomes rely on your ability to manipulate these fundamental structures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ADTs define behavior without implementation details. You will evaluate how memory is allocated for arrays and differentiate between storage orders. We will also calculate specific memory addresses to ensure you understand the underlying mechanics.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ADT as a contract between the user and the programmer. You know what a Stack does—push and pop—but not how it stores data internally. This abstraction allows us to change the underlying array implementation without breaking the code that uses the 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row of lockers where each locker holds a student's score. If you know the starting address and the size of each locker, you can find any score instantly. This is why arrays are so fast for random access compared to other structures.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single array is a row of lockers, a 2D array is a whole building with multiple floors and rooms. You need two coordinates to find a specific item, just like an address on a map. This structure is fundamental for representing matrices in engineering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row-major order, the computer fills the first row completely before moving to the next. This is like reading a book line by line. If you access elements in the same row, the processor can load them quickly into the cache, making operations faster.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this with column-major order, where the computer fills the first column completely before moving to the next. This is like reading a newspaper column by column. If your algorithm processes data column-wise, this layout can significantly improve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concrete example. If we have a 3x4 matrix starting at address 1000, finding the element at row 2, column 3 requires a simple calculation. We multiply the row index by the number of columns, add the column index, and multiply by the element size. This gives us the exact memory location 1044.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the topics we discussed today. I recommend Gilberg and Forouzan for their pseudocode approach, which helps in understanding logic before coding. Lipschutz and Sharma offer excellent C-specific implementations for practical application. Please refer to these for deeper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Abstract Data Types(ADT).Arrays: Single and Multidimensional Arrays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definition and characteristics of Abstract Data Types in programming.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memory allocation strategies for single-dimensional arrays.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row-major and column-major storage for multidimensional arrays.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memory addresses for specific elements in 2D array structures.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array indexing rules to solve real-world data storage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Abstract Data Types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ADT defines a set of data and operations without specifying implementation details.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separates the logical properties of data from the physical storage mechanism.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examples include Stack, Queue, List, and the Array structure itself.</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Users interact with ADTs through defined operations like insert, delete, and search.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Implementation allows the same ADT to be built using arrays or linked lists.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TBM 224: The Black Box - by John Cutler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Single Dimensional Arrays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int scores[5] stores five integers in consecutive memory locations.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single array stores a contiguous block of elements of the same data type.</a:t>
            </a:r>
          </a:p>
          <a:p>
            <a:pPr algn="l">
              <a:lnSpc>
                <a:spcPct val="135000"/>
              </a:lnSpc>
            </a:pPr>
            <a:r>
              <a:rPr sz="1300">
                <a:solidFill>
                  <a:srgbClr val="1A1A1A"/>
                </a:solidFill>
                <a:latin typeface="Calibri"/>
              </a:rPr>
              <a:t>•  Each element is accessed using a unique integer index starting from zero.</a:t>
            </a:r>
          </a:p>
          <a:p>
            <a:pPr algn="l">
              <a:lnSpc>
                <a:spcPct val="135000"/>
              </a:lnSpc>
            </a:pPr>
            <a:r>
              <a:rPr sz="1300">
                <a:solidFill>
                  <a:srgbClr val="1A1A1A"/>
                </a:solidFill>
                <a:latin typeface="Calibri"/>
              </a:rPr>
              <a:t>•  Memory allocation is static, meaning the size must be defined before execution.</a:t>
            </a:r>
          </a:p>
          <a:p>
            <a:pPr algn="l">
              <a:lnSpc>
                <a:spcPct val="135000"/>
              </a:lnSpc>
            </a:pPr>
            <a:r>
              <a:rPr sz="1300">
                <a:solidFill>
                  <a:srgbClr val="1A1A1A"/>
                </a:solidFill>
                <a:latin typeface="Calibri"/>
              </a:rPr>
              <a:t>•  Access time is constant O(1) because the address is calculated directly.</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stevengong.co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Multidimensional Arrays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ELEMENTS ARE ACCESSED USING TWO INDICES</a:t>
            </a:r>
          </a:p>
          <a:p>
            <a:pPr algn="l">
              <a:lnSpc>
                <a:spcPct val="135000"/>
              </a:lnSpc>
            </a:pPr>
            <a:r>
              <a:rPr sz="1300">
                <a:solidFill>
                  <a:srgbClr val="1A1A1A"/>
                </a:solidFill>
                <a:latin typeface="Calibri"/>
              </a:rPr>
              <a:t>array[row][column].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Multidimensional arrays extend the concept to store data in rows and columns.</a:t>
            </a:r>
          </a:p>
          <a:p>
            <a:pPr algn="l">
              <a:lnSpc>
                <a:spcPct val="135000"/>
              </a:lnSpc>
            </a:pPr>
            <a:r>
              <a:rPr sz="1300">
                <a:solidFill>
                  <a:srgbClr val="1A1A1A"/>
                </a:solidFill>
                <a:latin typeface="Calibri"/>
              </a:rPr>
              <a:t>•  A 2D array is essentially an array of arrays with row and column indices.</a:t>
            </a:r>
          </a:p>
          <a:p>
            <a:pPr algn="l">
              <a:lnSpc>
                <a:spcPct val="135000"/>
              </a:lnSpc>
            </a:pPr>
            <a:r>
              <a:rPr sz="1300">
                <a:solidFill>
                  <a:srgbClr val="1A1A1A"/>
                </a:solidFill>
                <a:latin typeface="Calibri"/>
              </a:rPr>
              <a:t>•  They are ideal for representing matrices, grids, and tabular data structures.</a:t>
            </a:r>
          </a:p>
          <a:p>
            <a:pPr algn="l">
              <a:lnSpc>
                <a:spcPct val="135000"/>
              </a:lnSpc>
            </a:pPr>
            <a:r>
              <a:rPr sz="1300">
                <a:solidFill>
                  <a:srgbClr val="1A1A1A"/>
                </a:solidFill>
                <a:latin typeface="Calibri"/>
              </a:rPr>
              <a:t>•  Declaration requires specifying the number of rows and columns explicitly.</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Memory Mapping</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Row-Major 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Formula: Address = Base + (i × N + j) × Size</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N is columns.</a:t>
            </a:r>
          </a:p>
        </p:txBody>
      </p:sp>
      <p:sp>
        <p:nvSpPr>
          <p:cNvPr id="17" name="Oval 16"/>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8" name="TextBox 17"/>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Row-major order stores all elements of the first row before the second.</a:t>
            </a:r>
          </a:p>
        </p:txBody>
      </p:sp>
      <p:sp>
        <p:nvSpPr>
          <p:cNvPr id="19" name="Oval 18"/>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20" name="TextBox 19"/>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the default storage method used by C, C++, and Java languages.</a:t>
            </a:r>
          </a:p>
        </p:txBody>
      </p:sp>
      <p:sp>
        <p:nvSpPr>
          <p:cNvPr id="21" name="Oval 20"/>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2" name="TextBox 21"/>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address of an element is calculated based on the row index first.</a:t>
            </a:r>
          </a:p>
        </p:txBody>
      </p:sp>
      <p:sp>
        <p:nvSpPr>
          <p:cNvPr id="23" name="Oval 22"/>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4" name="TextBox 23"/>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Accessing elements sequentially in a row is faster due to cache locality.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Memory Mapping</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Column-Major 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Formula: Address = Base + (j × M + i) × Size</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M is rows.</a:t>
            </a:r>
          </a:p>
        </p:txBody>
      </p:sp>
      <p:sp>
        <p:nvSpPr>
          <p:cNvPr id="17" name="Oval 16"/>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8" name="TextBox 17"/>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Column-major order stores all elements of the first column before the second.</a:t>
            </a:r>
          </a:p>
        </p:txBody>
      </p:sp>
      <p:sp>
        <p:nvSpPr>
          <p:cNvPr id="19" name="Oval 18"/>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20" name="TextBox 19"/>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the default storage method used by Fortran and MATLAB languages.</a:t>
            </a:r>
          </a:p>
        </p:txBody>
      </p:sp>
      <p:sp>
        <p:nvSpPr>
          <p:cNvPr id="21" name="Oval 20"/>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2" name="TextBox 21"/>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address of an element is calculated based on the column index first.</a:t>
            </a:r>
          </a:p>
        </p:txBody>
      </p:sp>
      <p:sp>
        <p:nvSpPr>
          <p:cNvPr id="23" name="Oval 22"/>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4" name="TextBox 23"/>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Accessing elements sequentially in a column is faster in this layout.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Address Calculation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Address = Base + (i × N + j) × Size</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SUBSTITUTION</a:t>
            </a:r>
          </a:p>
          <a:p>
            <a:pPr algn="l">
              <a:lnSpc>
                <a:spcPct val="135000"/>
              </a:lnSpc>
            </a:pPr>
            <a:r>
              <a:rPr sz="1300">
                <a:solidFill>
                  <a:srgbClr val="1A1A1A"/>
                </a:solidFill>
                <a:latin typeface="Calibri"/>
              </a:rPr>
              <a:t>1000 + (2 × 4 + 3) × 4 = 1000 + 11 × 4.</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The memory address of A[2][3] is 1044 bytes.</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Given int A[3][4] with base address 1000 and element size 4 bytes.</a:t>
            </a:r>
          </a:p>
          <a:p>
            <a:pPr algn="l">
              <a:lnSpc>
                <a:spcPct val="135000"/>
              </a:lnSpc>
            </a:pPr>
            <a:r>
              <a:rPr sz="1300">
                <a:solidFill>
                  <a:srgbClr val="1A1A1A"/>
                </a:solidFill>
                <a:latin typeface="Calibri"/>
              </a:rPr>
              <a:t>•  Calculate the address of element A[2][3] using row-major order.</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classrankcalculator.com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Data Types(ADT).Arrays: Single and Multidimensional Arrays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