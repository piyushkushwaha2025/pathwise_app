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Stacks. We are diving into the fundamental concepts of the Stack ADT and its core operations. This session is designed to build your foundational understanding for solving complex problems later. Remember, mastering these basics is key to your success in Data Structures.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supports our Course Outcomes. You will learn to apply stack operations to solve problems as required by CO2. Additionally, understanding linear structures like stacks prepares you for the tree structures mentioned in CO4. These outcomes ensure you can construct and apply these techniques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the Stack ADT clearly. You will understand exactly how Push and Pop work in a real-world scenario. We will also cover the critical error conditions you must handle in your code. Finally, you will see how these logical concepts map to physical memory.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stack of plates in a cafeteria. You can only add a new plate on top or remove the top one. You cannot take a plate from the middle. This is the essence of the Last-In-First-Out principle. In our data structure, the 'Top' pointer tracks the current topmost element.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push an element, we first check if there is space. If the stack is full, we cannot add more. We then move our Top pointer up and place the new data there. For example, if we push the number 10, it becomes the new top. This operation is very fast and takes constant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Pop operation is the reverse of Push. We remove the top element and return its value. Before doing this, we must ensure the stack is not empty. If we try to pop from an empty stack, we get an underflow error. After removal, the pointer moves down to the next element.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two main error conditions you must handle. Overflow happens when you try to add to a full stack. Underflow happens when you try to remove from an empty one. In C programming, you must write conditional checks to prevent these crashes. Always validate the stack state before any operation.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a sequence. We start empty. Pushing 10 puts it at index 0. Pushing 20 puts it at index 1. Pushing 30 puts it at index 2. Now, if we Pop, we get 30 back. The Top pointer moves back to index 1. The stack now effectively contains 10 and 20.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remember the LIFO principle is the core of stacks. Push and Pop are the only ways to interact with the data. Always check for errors to ensure your program runs safely. These operations are fast and efficient. Keep the Top pointer logic in mind for all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standard reference books for this course. I recommend Gilberg and Forouzan for a pseudocode approach. Lipschutz provides excellent theoretical foundations. Sharma and Deshpandey offer great C-specific implementations. Please refer to these texts for further practice and deeper understanding.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Stacks: Stack ADT, Stack Operations: Push &amp; Pop</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Introduction to Data Structure</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Introduction to Data Structure   |   Program: Bachelor of Engineering   |   Institution: Chandigarh University</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Stack Abstract Data Type and its Last-In-First-Out property.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the two primary operations: Push to add and Pop to remove elements.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concept of Stack Overflow and Stack Underflow conditions.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the sequence of operations using a visual stack representation.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the logical ADT and its physical array implementation.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Stack ADT Definition and LIFO</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Stack is a linear data structure following the Last-In-First-Out principle.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most recently added element is the first one to be removed.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Access is restricted to one end called the Top of the Stack.</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Elements are inserted and removed sequentially from the same end point.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Common real-world analogy includes a stack of plates in a cafeteria.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Push Operation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Adding Elements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Push operation adds a new element to the top of the stack.</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First, check if the stack is full to prevent Stack Overflow errors.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Increment the Top pointer to point to the new available position.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Store the new data value at the location indicated by the Top pointer.</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operation time complexity is O(1) for constant time execution.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Pop Operation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Removing Elements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Pop operation removes the most recently added element from the top.</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First, check if the stack is empty to prevent Stack Underflow errors.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Retrieve the data value currently stored at the Top pointer location.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Decrement the Top pointer to point to the previous element below.</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operation time complexity is O(1) for constant time execution.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Stack Overflow and Underflow</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Stack Overflow occurs when attempting to Push onto a full stack.</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Stack Underflow occurs when attempting to Pop from an empty stack.</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Both conditions represent critical errors that must be handled in code.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Overflow prevents data loss by rejecting new elements when capacity is reached.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Underflow prevents invalid access by checking for zero elements before removal.</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blog.infodiagram.com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Push and Pop Sequence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Initial State: Stack is empty, Top = -1</a:t>
            </a:r>
          </a:p>
        </p:txBody>
      </p:sp>
      <p:sp>
        <p:nvSpPr>
          <p:cNvPr id="16" name="Rectangle 15"/>
          <p:cNvSpPr/>
          <p:nvPr/>
        </p:nvSpPr>
        <p:spPr>
          <a:xfrm>
            <a:off x="502920"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3248152"/>
          </a:xfrm>
          <a:prstGeom prst="rect">
            <a:avLst/>
          </a:prstGeom>
          <a:noFill/>
        </p:spPr>
        <p:txBody>
          <a:bodyPr wrap="square" lIns="0" rIns="0" tIns="0" bIns="0">
            <a:spAutoFit/>
          </a:bodyPr>
          <a:lstStyle/>
          <a:p>
            <a:pPr algn="l">
              <a:spcAft>
                <a:spcPts val="400"/>
              </a:spcAft>
            </a:pPr>
            <a:r>
              <a:rPr b="1" sz="1100">
                <a:solidFill>
                  <a:srgbClr val="C8102E"/>
                </a:solidFill>
                <a:latin typeface="Calibri"/>
              </a:rPr>
              <a:t>POP</a:t>
            </a:r>
          </a:p>
          <a:p>
            <a:pPr algn="l">
              <a:lnSpc>
                <a:spcPct val="135000"/>
              </a:lnSpc>
            </a:pPr>
            <a:r>
              <a:rPr sz="1300">
                <a:solidFill>
                  <a:srgbClr val="1A1A1A"/>
                </a:solidFill>
                <a:latin typeface="Calibri"/>
              </a:rPr>
              <a:t>Returns 30, Top becomes 1, Stack now holds [10, 20].</a:t>
            </a:r>
          </a:p>
        </p:txBody>
      </p:sp>
      <p:sp>
        <p:nvSpPr>
          <p:cNvPr id="19" name="Rectangle 18"/>
          <p:cNvSpPr/>
          <p:nvPr/>
        </p:nvSpPr>
        <p:spPr>
          <a:xfrm>
            <a:off x="3669715"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3248152"/>
          </a:xfrm>
          <a:prstGeom prst="rect">
            <a:avLst/>
          </a:prstGeom>
          <a:noFill/>
        </p:spPr>
        <p:txBody>
          <a:bodyPr wrap="square" lIns="0" rIns="0" tIns="0" bIns="0">
            <a:spAutoFit/>
          </a:bodyPr>
          <a:lstStyle/>
          <a:p>
            <a:pPr algn="l">
              <a:lnSpc>
                <a:spcPct val="135000"/>
              </a:lnSpc>
            </a:pPr>
            <a:r>
              <a:rPr sz="1300">
                <a:solidFill>
                  <a:srgbClr val="1A1A1A"/>
                </a:solidFill>
                <a:latin typeface="Calibri"/>
              </a:rPr>
              <a:t>•  Push 10: Top becomes 0, Array[0] = 10.</a:t>
            </a:r>
          </a:p>
          <a:p>
            <a:pPr algn="l">
              <a:lnSpc>
                <a:spcPct val="135000"/>
              </a:lnSpc>
            </a:pPr>
            <a:r>
              <a:rPr sz="1300">
                <a:solidFill>
                  <a:srgbClr val="1A1A1A"/>
                </a:solidFill>
                <a:latin typeface="Calibri"/>
              </a:rPr>
              <a:t>•  Push 20: Top becomes 1, Array[1] = 20.</a:t>
            </a:r>
          </a:p>
          <a:p>
            <a:pPr algn="l">
              <a:lnSpc>
                <a:spcPct val="135000"/>
              </a:lnSpc>
            </a:pPr>
            <a:r>
              <a:rPr sz="1300">
                <a:solidFill>
                  <a:srgbClr val="1A1A1A"/>
                </a:solidFill>
                <a:latin typeface="Calibri"/>
              </a:rPr>
              <a:t>•  Push 30: Top becomes 2, Array[2] = 30.</a:t>
            </a:r>
          </a:p>
        </p:txBody>
      </p:sp>
      <p:pic>
        <p:nvPicPr>
          <p:cNvPr id="22" name="Picture 21"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d8it4huxumps7.cloudfront.net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Stacks follow the Last-In-First-Out (LIFO) access pattern strictly.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Push adds to the top; Pop removes from the top only.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check for Overflow before Push and Underflow before Pop.</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Both operations have O(1) time complexity for efficient performance.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Top pointer is crucial for tracking the current stack state.</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content.twinkl.co.uk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Stacks: Stack ADT, Stack Operations: Push &amp; Pop</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