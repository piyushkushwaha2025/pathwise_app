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Algorithm Efficiency. We will focus on how to measure the performance of algorithms before we even write a single line of code. Understanding these concepts is crucial for selecting the right data structures for real-world engineering problems. Let us begin by exploring why efficiency matters in the context of our course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CO3 and CO4. By analyzing algorithm efficiency, you will learn to select the best searching or sorting technique for a specific problem. This analysis also guides you in constructing efficient tree structures and traversal methods. Without understanding complexity, you cannot effectively apply these techniques in engineering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what makes an algorithm efficient. You will learn to distinguish between best, worst, and average cases using concrete examples. We will also practice applying Big O notation to quantify how performance scales. Finally, you will be able to evaluate different approaches to choose the most efficient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 efficiency is not about how fast your computer is, but how the algorithm behaves as data grows. It measures the resources, specifically time and space, required to execute a program. We focus on the growth rate of these resources rather than absolute execution time. This theoretical approach ensures our solutions remain efficient regardless of the hardware 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case scenario is the absolute fastest an algorithm can run. For a linear search, this happens if the target element is found at the very first index. This gives us the minimum time required, often represented by ω notation. However, relying solely on the best case can be misleading for real-world performance guarantees.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worst case scenario is the absolute slowest an algorithm can run. In a linear search, this happens if the target is at the very end or missing entirely. This gives us the maximum time required, represented by Big O notation. Engineers rely on this to guarantee that a system will never exceed a certain response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average case gives us the expected performance over many random inputs. For a linear search, we assume the target is equally likely to be anywhere in the list. On average, we will find it in the middle, requiring half the comparisons. This provides a realistic estimate of how the algorithm behaves in typical usage scenarios.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with an array of 100 elements. In the best case, we find the item immediately, taking just 1 comparison. In the worst case, we check every single element, taking 100 comparisons. On average, we expect to check half the elements, which is 50 comparisons. This clearly shows how the input distribution drastically changes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algorithm efficiency is about how resources grow with input size, not absolute speed. We must analyze best, worst, and average cases to fully understand an algorithm's behavior. Big O notation remains the standard for describing the upper bound of this growth. Mastering these concepts is essential for your future work in data structures and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on this slide. These resources provide detailed pseudocode and C implementations for the algorithms we discussed. They also cover the mathematical foundations of complexity analysis in greater depth. I encourage you to review these texts to solidify your understanding of the material.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Algorithm Efficiency of an Algorithm; Basic complexity analysis – Best Worst and Average Cases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algorithm efficiency and its importance in data structure design.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three cases: best, worst, and average for any algorithm.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time complexity and space complexity metrics.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Big O notation to quantify algorithm performance growth rates.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practical examples to determine the most efficient approach.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Algorithm Efficiency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Algorithm efficiency measures the resources required to execute a program.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Primary resources include execution time and memory space consumption.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is independent of hardware speed or programming language used.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focuses on how resource usage grows as input size increases.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 use asymptotic analysis to compare algorithms theoretically.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Big-O Notation Explained Clearly (Time &amp; Space Complexity Guide for  Beginners) - Blog- CodeKerdos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Best Case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Linear search finds the target at the very first position.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Best case represents the minimum time required for any input.</a:t>
            </a:r>
          </a:p>
          <a:p>
            <a:pPr algn="l">
              <a:lnSpc>
                <a:spcPct val="135000"/>
              </a:lnSpc>
            </a:pPr>
            <a:r>
              <a:rPr sz="1300">
                <a:solidFill>
                  <a:srgbClr val="1A1A1A"/>
                </a:solidFill>
                <a:latin typeface="Calibri"/>
              </a:rPr>
              <a:t>•  It occurs when the algorithm encounters the most favorable input data.</a:t>
            </a:r>
          </a:p>
          <a:p>
            <a:pPr algn="l">
              <a:lnSpc>
                <a:spcPct val="135000"/>
              </a:lnSpc>
            </a:pPr>
            <a:r>
              <a:rPr sz="1300">
                <a:solidFill>
                  <a:srgbClr val="1A1A1A"/>
                </a:solidFill>
                <a:latin typeface="Calibri"/>
              </a:rPr>
              <a:t>•  Best case complexity is often denoted as ω (Ω) notation.</a:t>
            </a:r>
          </a:p>
          <a:p>
            <a:pPr algn="l">
              <a:lnSpc>
                <a:spcPct val="135000"/>
              </a:lnSpc>
            </a:pPr>
            <a:r>
              <a:rPr sz="1300">
                <a:solidFill>
                  <a:srgbClr val="1A1A1A"/>
                </a:solidFill>
                <a:latin typeface="Calibri"/>
              </a:rPr>
              <a:t>•  It provides a lower bound on the algorithm's performance.</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miro.medium.com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Worst Case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Linear search finds the target at the last position or not at all.</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Worst case represents the maximum time required for any input.</a:t>
            </a:r>
          </a:p>
          <a:p>
            <a:pPr algn="l">
              <a:lnSpc>
                <a:spcPct val="135000"/>
              </a:lnSpc>
            </a:pPr>
            <a:r>
              <a:rPr sz="1300">
                <a:solidFill>
                  <a:srgbClr val="1A1A1A"/>
                </a:solidFill>
                <a:latin typeface="Calibri"/>
              </a:rPr>
              <a:t>•  It occurs when the algorithm encounters the most unfavorable input data.</a:t>
            </a:r>
          </a:p>
          <a:p>
            <a:pPr algn="l">
              <a:lnSpc>
                <a:spcPct val="135000"/>
              </a:lnSpc>
            </a:pPr>
            <a:r>
              <a:rPr sz="1300">
                <a:solidFill>
                  <a:srgbClr val="1A1A1A"/>
                </a:solidFill>
                <a:latin typeface="Calibri"/>
              </a:rPr>
              <a:t>•  Worst case complexity is denoted as Big O (O) notation.</a:t>
            </a:r>
          </a:p>
          <a:p>
            <a:pPr algn="l">
              <a:lnSpc>
                <a:spcPct val="135000"/>
              </a:lnSpc>
            </a:pPr>
            <a:r>
              <a:rPr sz="1300">
                <a:solidFill>
                  <a:srgbClr val="1A1A1A"/>
                </a:solidFill>
                <a:latin typeface="Calibri"/>
              </a:rPr>
              <a:t>•  It guarantees an upper bound on the algorithm's execution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Average Case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Linear search finds the target at the middle position on average.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Average case represents the expected time for random inputs.</a:t>
            </a:r>
          </a:p>
          <a:p>
            <a:pPr algn="l">
              <a:lnSpc>
                <a:spcPct val="135000"/>
              </a:lnSpc>
            </a:pPr>
            <a:r>
              <a:rPr sz="1300">
                <a:solidFill>
                  <a:srgbClr val="1A1A1A"/>
                </a:solidFill>
                <a:latin typeface="Calibri"/>
              </a:rPr>
              <a:t>•  It assumes a uniform probability distribution for all possible inputs.</a:t>
            </a:r>
          </a:p>
          <a:p>
            <a:pPr algn="l">
              <a:lnSpc>
                <a:spcPct val="135000"/>
              </a:lnSpc>
            </a:pPr>
            <a:r>
              <a:rPr sz="1300">
                <a:solidFill>
                  <a:srgbClr val="1A1A1A"/>
                </a:solidFill>
                <a:latin typeface="Calibri"/>
              </a:rPr>
              <a:t>•  Average case complexity is often denoted as θ (Θ) notation.</a:t>
            </a:r>
          </a:p>
          <a:p>
            <a:pPr algn="l">
              <a:lnSpc>
                <a:spcPct val="135000"/>
              </a:lnSpc>
            </a:pPr>
            <a:r>
              <a:rPr sz="1300">
                <a:solidFill>
                  <a:srgbClr val="1A1A1A"/>
                </a:solidFill>
                <a:latin typeface="Calibri"/>
              </a:rPr>
              <a:t>•  It provides a realistic estimate of typical algorithm performance.</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Consider Linear Search on an array of size n = 100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BEST CASE</a:t>
            </a:r>
          </a:p>
          <a:p>
            <a:pPr algn="l">
              <a:lnSpc>
                <a:spcPct val="135000"/>
              </a:lnSpc>
            </a:pPr>
            <a:r>
              <a:rPr sz="1300">
                <a:solidFill>
                  <a:srgbClr val="1A1A1A"/>
                </a:solidFill>
                <a:latin typeface="Calibri"/>
              </a:rPr>
              <a:t>Target at index 0 requires 1 comparison (O(1)).</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WORST CASE</a:t>
            </a:r>
          </a:p>
          <a:p>
            <a:pPr algn="l">
              <a:lnSpc>
                <a:spcPct val="135000"/>
              </a:lnSpc>
            </a:pPr>
            <a:r>
              <a:rPr sz="1300">
                <a:solidFill>
                  <a:srgbClr val="1A1A1A"/>
                </a:solidFill>
                <a:latin typeface="Calibri"/>
              </a:rPr>
              <a:t>Target at index 99 requires 100 comparisons (O(n)).</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AVERAGE CASE</a:t>
            </a:r>
          </a:p>
          <a:p>
            <a:pPr algn="l">
              <a:lnSpc>
                <a:spcPct val="135000"/>
              </a:lnSpc>
            </a:pPr>
            <a:r>
              <a:rPr sz="1300">
                <a:solidFill>
                  <a:srgbClr val="1A1A1A"/>
                </a:solidFill>
                <a:latin typeface="Calibri"/>
              </a:rPr>
              <a:t>Target at index 50 requires 50 comparisons (O(n)).</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FORMULA</a:t>
            </a:r>
          </a:p>
          <a:p>
            <a:pPr algn="l">
              <a:lnSpc>
                <a:spcPct val="135000"/>
              </a:lnSpc>
            </a:pPr>
            <a:r>
              <a:rPr sz="1300">
                <a:solidFill>
                  <a:srgbClr val="1A1A1A"/>
                </a:solidFill>
                <a:latin typeface="Calibri"/>
              </a:rPr>
              <a:t>Average comparisons = (n + 1) / 2 for successful search.</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Algorithm efficiency measures resource usage relative to input size growth.</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Best case gives the minimum time (ω), worst case gives maximum (Big O).</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Average case provides the expected performance for random inputs.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Big O notation is the standard for describing upper bounds of complexity.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cases is essential for selecting optimal data structures.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blogger.googleusercontent.com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 Efficiency of an Algorithm; Basic complexity analysis – Best Worst and Average Cases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