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will focus on how to measure algorithm efficiency using Asymptotic Notations. We will also discuss the critical balance between time and space. This foundation is essential for analyzing any algorithm you write.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By understanding asymptotic notations, you will be able to analyze searching and sorting techniques effectively. This knowledge also helps in constructing efficient tree structures and their traversal methods. We will apply these concepts to real-world algorithmic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and differentiate the three main asymptotic notations. You will learn to analyze time complexity for common operations like searching. We will also evaluate how memory usage impacts execution speed. Finally, you will apply these concepts to choose the best algorithm for a given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asymptotic notations as a way to predict how an algorithm scales. If you double the input size, how much longer does it take? We ignore small constants because they matter less for huge datasets. This allows us to compare algorithms fairly regardless of the specific computer 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Big-O is the most common notation used in computer science. It tells you the maximum time an algorithm will take. For example, if you search a list of 1000 items, the worst case is checking every item. This gives us a safety guarantee for our program's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Big-O gives the worst case, ω gives the best case. θ is very useful when the best and worst cases are similar. For instance, binary search always takes logarithmic time regardless of the input. This makes θ the most accurate description for such algorithms.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common complexities. Accessing an array element is O(1) because it takes one step. Binary search is O(log n) because it halves the search space each time. A nested loop often results in O(n²), which becomes slow quickly. Understanding these helps you avoid performance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linear search example. If the array has 100 elements, the best case is finding the item immediately. The worst case requires checking all 100 items. Even though the average is 50, we drop the constant and write O(n). This shows why we focus on the growth 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real-world systems, you often have to choose between speed and memory. If you have plenty of RAM, you can store pre-calculated results to save time. However, if memory is limited, you might need to recalculate values, which slows down the program. This trade-off is a key design decision in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the topics discussed today. I recommend reading the chapters on algorithm analysis for deeper insights. They contain numerous examples and exercises to reinforce your understanding. Please refer to these resources for your assignments and exams.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Asymptotic Notations, Time Space trade-off</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asymptotic notations and their role in algorithm analysis.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Big-O, ω, and θ notations clearly.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of basic operations using these notations.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 between execution time and memory usage.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these concepts to select optimal algorithms for specific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Asymptotic Notations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Asymptotic notations describe the limiting behavior of a function.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measure algorithm efficiency as input size approaches infinity.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notations ignore constant factors and lower-order terms.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provide a standardized way to compare algorithm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focus is on growth rate rather than exact execution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Big-O Notation (Upper Bound)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Formally, f(n) = O(g(n)) if f(n) ≤ c·g(n) for large n</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Linear search has a worst-case time of O(n).</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Big-O notation defines the worst-case scenario for an algorithm.</a:t>
            </a:r>
          </a:p>
          <a:p>
            <a:pPr algn="l">
              <a:lnSpc>
                <a:spcPct val="135000"/>
              </a:lnSpc>
            </a:pPr>
            <a:r>
              <a:rPr sz="1300">
                <a:solidFill>
                  <a:srgbClr val="1A1A1A"/>
                </a:solidFill>
                <a:latin typeface="Calibri"/>
              </a:rPr>
              <a:t>•  It represents the upper bound on the growth rate of time.</a:t>
            </a:r>
          </a:p>
          <a:p>
            <a:pPr algn="l">
              <a:lnSpc>
                <a:spcPct val="135000"/>
              </a:lnSpc>
            </a:pPr>
            <a:r>
              <a:rPr sz="1300">
                <a:solidFill>
                  <a:srgbClr val="1A1A1A"/>
                </a:solidFill>
                <a:latin typeface="Calibri"/>
              </a:rPr>
              <a:t>•  It guarantees the algorithm will not take longer than this bound.</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miro.medium.com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ω and θ Notations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f(n) = Ω(g(n)) means f(n) grows at least as fast as g(n)</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ω notation defines the best-case scenario or lower bound.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θ notation defines the tight bound where best and worst match.</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f(n) = Θ(g(n)) means f(n) grows exactly like g(n).</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θ provides a precise characterization of the algorithm's growth.</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cdn1.slideserve.com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Examples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Constant time O(1) operations take the same time regardless of input.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Logarithmic time O(log n) grows very slowly with input size.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Linear time O(n) grows directly proportional to the input size.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Quadratic time O(n²) grows rapidly and is inefficient for large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Exponential time O(2ⁿ) is generally impractical for large inputs.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Linear Search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BEST CASE</a:t>
            </a:r>
          </a:p>
          <a:p>
            <a:pPr algn="l">
              <a:lnSpc>
                <a:spcPct val="135000"/>
              </a:lnSpc>
            </a:pPr>
            <a:r>
              <a:rPr sz="1300">
                <a:solidFill>
                  <a:srgbClr val="1A1A1A"/>
                </a:solidFill>
                <a:latin typeface="Calibri"/>
              </a:rPr>
              <a:t>Element found at index 0, taking 1 comparison.</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WORST CASE</a:t>
            </a:r>
          </a:p>
          <a:p>
            <a:pPr algn="l">
              <a:lnSpc>
                <a:spcPct val="135000"/>
              </a:lnSpc>
            </a:pPr>
            <a:r>
              <a:rPr sz="1300">
                <a:solidFill>
                  <a:srgbClr val="1A1A1A"/>
                </a:solidFill>
                <a:latin typeface="Calibri"/>
              </a:rPr>
              <a:t>Element at end or missing, taking n comparisons.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AVERAGE CASE</a:t>
            </a:r>
          </a:p>
          <a:p>
            <a:pPr algn="l">
              <a:lnSpc>
                <a:spcPct val="135000"/>
              </a:lnSpc>
            </a:pPr>
            <a:r>
              <a:rPr sz="1300">
                <a:solidFill>
                  <a:srgbClr val="1A1A1A"/>
                </a:solidFill>
                <a:latin typeface="Calibri"/>
              </a:rPr>
              <a:t>Element found at middle, taking n/2 comparisons.</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linear search on an array of size n.</a:t>
            </a:r>
          </a:p>
          <a:p>
            <a:pPr algn="l">
              <a:lnSpc>
                <a:spcPct val="135000"/>
              </a:lnSpc>
            </a:pPr>
            <a:r>
              <a:rPr sz="1300">
                <a:solidFill>
                  <a:srgbClr val="1A1A1A"/>
                </a:solidFill>
                <a:latin typeface="Calibri"/>
              </a:rPr>
              <a:t>•  All cases simplify to O(n) for asymptotic analysis.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Time-Space Trade-off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Caching results speeds up queries but consumes more RAM.</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Time-space trade-off balances execution speed against memory usage.</a:t>
            </a:r>
          </a:p>
          <a:p>
            <a:pPr algn="l">
              <a:lnSpc>
                <a:spcPct val="135000"/>
              </a:lnSpc>
            </a:pPr>
            <a:r>
              <a:rPr sz="1300">
                <a:solidFill>
                  <a:srgbClr val="1A1A1A"/>
                </a:solidFill>
                <a:latin typeface="Calibri"/>
              </a:rPr>
              <a:t>•  Reducing time often requires increasing space for caching or lookup tables.</a:t>
            </a:r>
          </a:p>
          <a:p>
            <a:pPr algn="l">
              <a:lnSpc>
                <a:spcPct val="135000"/>
              </a:lnSpc>
            </a:pPr>
            <a:r>
              <a:rPr sz="1300">
                <a:solidFill>
                  <a:srgbClr val="1A1A1A"/>
                </a:solidFill>
                <a:latin typeface="Calibri"/>
              </a:rPr>
              <a:t>•  Increasing space can optimize time by avoiding repeated calculations.</a:t>
            </a:r>
          </a:p>
          <a:p>
            <a:pPr algn="l">
              <a:lnSpc>
                <a:spcPct val="135000"/>
              </a:lnSpc>
            </a:pPr>
            <a:r>
              <a:rPr sz="1300">
                <a:solidFill>
                  <a:srgbClr val="1A1A1A"/>
                </a:solidFill>
                <a:latin typeface="Calibri"/>
              </a:rPr>
              <a:t>•  Designers must choose based on system constraints and requirements.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png.pngtree.com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Asymptotic Notations, Time Space trade-off</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