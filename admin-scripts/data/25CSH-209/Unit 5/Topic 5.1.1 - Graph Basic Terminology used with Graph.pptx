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Graphs. We are diving deep into the fundamental language of graph theory. This terminology is the bedrock for understanding complex algorithms like DFS and BFS later in the course. Let us begin by mastering the vocabulary of nodes and edges.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two key course outcomes. First, we apply basic data structure concepts to the abstract graph ADT. Second, we lay the groundwork for solving graph problems using traversal algorithms like DFS and BFS. Mastering these terms is essential for both outcomes.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graph components critically. You will differentiate between directed and undirected relationships clearly. We will also evaluate vertex degrees and classify graph types. Finally, you will apply these terms to model real-world networks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graph as a mathematical map of connections. The set V contains all the points, like cities on a map. The set E contains the roads connecting these cities. If you have 5 cities, your set V has 5 elements. This formal definition (V, E) is the starting point for all graph algorithms.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Edges define the relationships between our vertices. In an undirected graph, the connection is mutual, like a two-way street. In a directed graph, the connection has a specific direction, like a one-way street. A self-loop is like a road that starts and ends at the same intersection. Parallel edges mean there are multiple direct routes between two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degree tells us how connected a specific node is. For directed graphs, we split this into in-degree and out-degree. In-degree counts incoming connections, while out-degree counts outgoing ones. A crucial theorem states that the sum of all degrees equals twice the total number of edges. This helps us verify if a graph drawing is mathematically consistent.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Adjacency is the core concept of connectivity. If two nodes share an edge, they are adjacent. The nodes connected to a specific node are its neighbors. In directed graphs, adjacency is directional; if A points to B, B is a neighbor of A, but A might not be a neighbor of B. This concept is vital for traversal algorithms like BFS.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distinguish between walks, trails, and paths. A walk is any sequence of connected nodes. A trail is a walk where you don't reuse edges. A path is the strictest: no repeated vertices or edges. The length is simply the count of edges. If you visit a node twice, it is not a simple path. This distinction is critical for shortest path algorithms.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Cycles are paths that loop back to the start. A simple cycle has no repeated nodes in between. Connectivity determines if the graph is one single piece. If you can reach any node from any other node, the graph is connected. If not, it is disconnected and consists of multiple components. Understanding components helps in analyzing network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connections are equal. In weighted graphs, edges have values like distance or cost. This changes how we analyze the graph. The cost of a path is the sum of these weights. Unweighted graphs are simpler, treating every connection as a single step. Real-world problems like GPS navigation rely heavily on weighted graphs to find the shortest route.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special types of graphs with unique properties. A complete graph connects every node to every other node. A tree is a special connected graph with no cycles, essential for hierarchical data. Bipartite graphs split nodes into two groups, useful for matching problems. Multigraphs allow multiple edges, while null graphs have no connections. Recognizing these types simplifies algorithm selection.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degrees for a specific example. Vertex A connects to B and C, giving it a degree of 2. Vertex B also connects to A and C, so its degree is 2. Vertex C is the hub, connecting to A, B, and D, making its degree 3. Vertex D only connects to C, so its degree is 1. The sum is 8, which is exactly twice the number of edges (4). This confirms the Handshaking Lemma.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graphs are defined by vertices and edges. We must distinguish between directed and undirected relationships. The degree of a node is a key metric for connectivity. Paths and cycles define how we traverse the graph. Finally, weights allow us to model real-world costs and optimize our solutions.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textbooks provide comprehensive coverage of graph theory and implementation. Gilberg and Forouzan offer excellent pseudocode approaches. Lipschutz provides a strong theoretical foundation. Sharma and Deshpandey focus on C implementation details. Please refer to these texts for deeper study and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Graph: Basic Terminology used with Graph</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components defining a graph structure.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directed and undirected graph relationships.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significance of vertex degrees in network analysis.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Classify various graph types based on edge weights and cycles.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terminology to model real-world network connectivity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Graph and Vertices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social network where users are vertices in set V.</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graph G is formally defined as an ordered pair (V, E).</a:t>
            </a:r>
          </a:p>
          <a:p>
            <a:pPr algn="l">
              <a:lnSpc>
                <a:spcPct val="135000"/>
              </a:lnSpc>
            </a:pPr>
            <a:r>
              <a:rPr sz="1300">
                <a:solidFill>
                  <a:srgbClr val="1A1A1A"/>
                </a:solidFill>
                <a:latin typeface="Calibri"/>
              </a:rPr>
              <a:t>•  V represents a finite non-empty set of vertices or nodes.</a:t>
            </a:r>
          </a:p>
          <a:p>
            <a:pPr algn="l">
              <a:lnSpc>
                <a:spcPct val="135000"/>
              </a:lnSpc>
            </a:pPr>
            <a:r>
              <a:rPr sz="1300">
                <a:solidFill>
                  <a:srgbClr val="1A1A1A"/>
                </a:solidFill>
                <a:latin typeface="Calibri"/>
              </a:rPr>
              <a:t>•  E represents a set of edges connecting pairs of vertices.</a:t>
            </a:r>
          </a:p>
          <a:p>
            <a:pPr algn="l">
              <a:lnSpc>
                <a:spcPct val="135000"/>
              </a:lnSpc>
            </a:pPr>
            <a:r>
              <a:rPr sz="1300">
                <a:solidFill>
                  <a:srgbClr val="1A1A1A"/>
                </a:solidFill>
                <a:latin typeface="Calibri"/>
              </a:rPr>
              <a:t>•  Vertices are the fundamental entities representing data points in the graph.</a:t>
            </a:r>
          </a:p>
          <a:p>
            <a:pPr algn="l">
              <a:lnSpc>
                <a:spcPct val="135000"/>
              </a:lnSpc>
            </a:pPr>
            <a:r>
              <a:rPr sz="1300">
                <a:solidFill>
                  <a:srgbClr val="1A1A1A"/>
                </a:solidFill>
                <a:latin typeface="Calibri"/>
              </a:rPr>
              <a:t>•  The cardinality of V determines the total number of nodes present.</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Solved A collection of charged particles have been | Chegg.com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Edges and Their Representation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one-way street is a directed edge from intersection A to B.</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An edge connects two vertices and represents a relationship or link.</a:t>
            </a:r>
          </a:p>
          <a:p>
            <a:pPr algn="l">
              <a:lnSpc>
                <a:spcPct val="135000"/>
              </a:lnSpc>
            </a:pPr>
            <a:r>
              <a:rPr sz="1300">
                <a:solidFill>
                  <a:srgbClr val="1A1A1A"/>
                </a:solidFill>
                <a:latin typeface="Calibri"/>
              </a:rPr>
              <a:t>•  In undirected graphs, edges are unordered pairs {u, v} of vertices.</a:t>
            </a:r>
          </a:p>
          <a:p>
            <a:pPr algn="l">
              <a:lnSpc>
                <a:spcPct val="135000"/>
              </a:lnSpc>
            </a:pPr>
            <a:r>
              <a:rPr sz="1300">
                <a:solidFill>
                  <a:srgbClr val="1A1A1A"/>
                </a:solidFill>
                <a:latin typeface="Calibri"/>
              </a:rPr>
              <a:t>•  In directed graphs, edges are ordered pairs (u, v) indicating direction.</a:t>
            </a:r>
          </a:p>
          <a:p>
            <a:pPr algn="l">
              <a:lnSpc>
                <a:spcPct val="135000"/>
              </a:lnSpc>
            </a:pPr>
            <a:r>
              <a:rPr sz="1300">
                <a:solidFill>
                  <a:srgbClr val="1A1A1A"/>
                </a:solidFill>
                <a:latin typeface="Calibri"/>
              </a:rPr>
              <a:t>•  Self-loops occur when an edge connects a vertex to itself.</a:t>
            </a:r>
          </a:p>
          <a:p>
            <a:pPr algn="l">
              <a:lnSpc>
                <a:spcPct val="135000"/>
              </a:lnSpc>
            </a:pPr>
            <a:r>
              <a:rPr sz="1300">
                <a:solidFill>
                  <a:srgbClr val="1A1A1A"/>
                </a:solidFill>
                <a:latin typeface="Calibri"/>
              </a:rPr>
              <a:t>•  Parallel edges are multiple edges connecting the same pair of vertices.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Degree of a Vertex</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vertex with 3 incoming and 2 outgoing edges has degree 5.</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degree of a vertex is the count of edges incident to it.</a:t>
            </a:r>
          </a:p>
          <a:p>
            <a:pPr algn="l">
              <a:lnSpc>
                <a:spcPct val="135000"/>
              </a:lnSpc>
            </a:pPr>
            <a:r>
              <a:rPr sz="1300">
                <a:solidFill>
                  <a:srgbClr val="1A1A1A"/>
                </a:solidFill>
                <a:latin typeface="Calibri"/>
              </a:rPr>
              <a:t>•  In directed graphs, we distinguish between in-degree and out-degree.</a:t>
            </a:r>
          </a:p>
          <a:p>
            <a:pPr algn="l">
              <a:lnSpc>
                <a:spcPct val="135000"/>
              </a:lnSpc>
            </a:pPr>
            <a:r>
              <a:rPr sz="1300">
                <a:solidFill>
                  <a:srgbClr val="1A1A1A"/>
                </a:solidFill>
                <a:latin typeface="Calibri"/>
              </a:rPr>
              <a:t>•  In-degree counts edges entering the vertex from other vertices.</a:t>
            </a:r>
          </a:p>
          <a:p>
            <a:pPr algn="l">
              <a:lnSpc>
                <a:spcPct val="135000"/>
              </a:lnSpc>
            </a:pPr>
            <a:r>
              <a:rPr sz="1300">
                <a:solidFill>
                  <a:srgbClr val="1A1A1A"/>
                </a:solidFill>
                <a:latin typeface="Calibri"/>
              </a:rPr>
              <a:t>•  Out-degree counts edges leaving the vertex to other vertices.</a:t>
            </a:r>
          </a:p>
          <a:p>
            <a:pPr algn="l">
              <a:lnSpc>
                <a:spcPct val="135000"/>
              </a:lnSpc>
            </a:pPr>
            <a:r>
              <a:rPr sz="1300">
                <a:solidFill>
                  <a:srgbClr val="1A1A1A"/>
                </a:solidFill>
                <a:latin typeface="Calibri"/>
              </a:rPr>
              <a:t>•  The sum of all degrees in a graph equals twice the number of edges.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www.meaningfulmathco.com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Adjacency and Neighbors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If A connects to B and C, then B and C are neighbors of A.</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Two vertices are adjacent if they are connected by an edge.</a:t>
            </a:r>
          </a:p>
          <a:p>
            <a:pPr algn="l">
              <a:lnSpc>
                <a:spcPct val="135000"/>
              </a:lnSpc>
            </a:pPr>
            <a:r>
              <a:rPr sz="1300">
                <a:solidFill>
                  <a:srgbClr val="1A1A1A"/>
                </a:solidFill>
                <a:latin typeface="Calibri"/>
              </a:rPr>
              <a:t>•  A neighbor of a vertex is any vertex adjacent to it.</a:t>
            </a:r>
          </a:p>
          <a:p>
            <a:pPr algn="l">
              <a:lnSpc>
                <a:spcPct val="135000"/>
              </a:lnSpc>
            </a:pPr>
            <a:r>
              <a:rPr sz="1300">
                <a:solidFill>
                  <a:srgbClr val="1A1A1A"/>
                </a:solidFill>
                <a:latin typeface="Calibri"/>
              </a:rPr>
              <a:t>•  Adjacency defines the immediate neighborhood of a specific node.</a:t>
            </a:r>
          </a:p>
          <a:p>
            <a:pPr algn="l">
              <a:lnSpc>
                <a:spcPct val="135000"/>
              </a:lnSpc>
            </a:pPr>
            <a:r>
              <a:rPr sz="1300">
                <a:solidFill>
                  <a:srgbClr val="1A1A1A"/>
                </a:solidFill>
                <a:latin typeface="Calibri"/>
              </a:rPr>
              <a:t>•  In directed graphs, u is adjacent to v if an edge (u, v) exists.</a:t>
            </a:r>
          </a:p>
          <a:p>
            <a:pPr algn="l">
              <a:lnSpc>
                <a:spcPct val="135000"/>
              </a:lnSpc>
            </a:pPr>
            <a:r>
              <a:rPr sz="1300">
                <a:solidFill>
                  <a:srgbClr val="1A1A1A"/>
                </a:solidFill>
                <a:latin typeface="Calibri"/>
              </a:rPr>
              <a:t>•  Adjacency lists are a common data structure to store these relationships.</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cdn.prod.website-files.com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Path and Walk Definitions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A-B-C-D is a path of length 3 with no repeated nodes.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walk is a sequence of vertices and edges starting and ending at vertices.</a:t>
            </a:r>
          </a:p>
          <a:p>
            <a:pPr algn="l">
              <a:lnSpc>
                <a:spcPct val="135000"/>
              </a:lnSpc>
            </a:pPr>
            <a:r>
              <a:rPr sz="1300">
                <a:solidFill>
                  <a:srgbClr val="1A1A1A"/>
                </a:solidFill>
                <a:latin typeface="Calibri"/>
              </a:rPr>
              <a:t>•  A path is a walk with no repeated vertices or edges.</a:t>
            </a:r>
          </a:p>
          <a:p>
            <a:pPr algn="l">
              <a:lnSpc>
                <a:spcPct val="135000"/>
              </a:lnSpc>
            </a:pPr>
            <a:r>
              <a:rPr sz="1300">
                <a:solidFill>
                  <a:srgbClr val="1A1A1A"/>
                </a:solidFill>
                <a:latin typeface="Calibri"/>
              </a:rPr>
              <a:t>•  A trail is a walk with no repeated edges but may repeat vertices.</a:t>
            </a:r>
          </a:p>
          <a:p>
            <a:pPr algn="l">
              <a:lnSpc>
                <a:spcPct val="135000"/>
              </a:lnSpc>
            </a:pPr>
            <a:r>
              <a:rPr sz="1300">
                <a:solidFill>
                  <a:srgbClr val="1A1A1A"/>
                </a:solidFill>
                <a:latin typeface="Calibri"/>
              </a:rPr>
              <a:t>•  The length of a path is the number of edges in the sequence.</a:t>
            </a:r>
          </a:p>
          <a:p>
            <a:pPr algn="l">
              <a:lnSpc>
                <a:spcPct val="135000"/>
              </a:lnSpc>
            </a:pPr>
            <a:r>
              <a:rPr sz="1300">
                <a:solidFill>
                  <a:srgbClr val="1A1A1A"/>
                </a:solidFill>
                <a:latin typeface="Calibri"/>
              </a:rPr>
              <a:t>•  A simple path contains no repeated vertices except possibly the start and end.</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cdn.prod.website-files.com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Cycles and Connectivity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triangle A-B-C-A forms a simple cycle of length 3.</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cycle is a path that starts and ends at the same vertex.</a:t>
            </a:r>
          </a:p>
          <a:p>
            <a:pPr algn="l">
              <a:lnSpc>
                <a:spcPct val="135000"/>
              </a:lnSpc>
            </a:pPr>
            <a:r>
              <a:rPr sz="1300">
                <a:solidFill>
                  <a:srgbClr val="1A1A1A"/>
                </a:solidFill>
                <a:latin typeface="Calibri"/>
              </a:rPr>
              <a:t>•  A simple cycle has no repeated vertices except the start and end.</a:t>
            </a:r>
          </a:p>
          <a:p>
            <a:pPr algn="l">
              <a:lnSpc>
                <a:spcPct val="135000"/>
              </a:lnSpc>
            </a:pPr>
            <a:r>
              <a:rPr sz="1300">
                <a:solidFill>
                  <a:srgbClr val="1A1A1A"/>
                </a:solidFill>
                <a:latin typeface="Calibri"/>
              </a:rPr>
              <a:t>•  A graph is connected if a path exists between every pair of vertices.</a:t>
            </a:r>
          </a:p>
          <a:p>
            <a:pPr algn="l">
              <a:lnSpc>
                <a:spcPct val="135000"/>
              </a:lnSpc>
            </a:pPr>
            <a:r>
              <a:rPr sz="1300">
                <a:solidFill>
                  <a:srgbClr val="1A1A1A"/>
                </a:solidFill>
                <a:latin typeface="Calibri"/>
              </a:rPr>
              <a:t>•  A disconnected graph has at least two vertices with no path between them.</a:t>
            </a:r>
          </a:p>
          <a:p>
            <a:pPr algn="l">
              <a:lnSpc>
                <a:spcPct val="135000"/>
              </a:lnSpc>
            </a:pPr>
            <a:r>
              <a:rPr sz="1300">
                <a:solidFill>
                  <a:srgbClr val="1A1A1A"/>
                </a:solidFill>
                <a:latin typeface="Calibri"/>
              </a:rPr>
              <a:t>•  A component is a maximal connected subgraph within a larger graph.</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static.afteracademy.com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Weighted and Unweighted Graphs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road map where edge weights represent distance in kilometers.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An unweighted graph treats all edges as having equal importance.</a:t>
            </a:r>
          </a:p>
          <a:p>
            <a:pPr algn="l">
              <a:lnSpc>
                <a:spcPct val="135000"/>
              </a:lnSpc>
            </a:pPr>
            <a:r>
              <a:rPr sz="1300">
                <a:solidFill>
                  <a:srgbClr val="1A1A1A"/>
                </a:solidFill>
                <a:latin typeface="Calibri"/>
              </a:rPr>
              <a:t>•  A weighted graph assigns a numerical value or cost to each edge.</a:t>
            </a:r>
          </a:p>
          <a:p>
            <a:pPr algn="l">
              <a:lnSpc>
                <a:spcPct val="135000"/>
              </a:lnSpc>
            </a:pPr>
            <a:r>
              <a:rPr sz="1300">
                <a:solidFill>
                  <a:srgbClr val="1A1A1A"/>
                </a:solidFill>
                <a:latin typeface="Calibri"/>
              </a:rPr>
              <a:t>•  Weights can represent distance, time, cost, or capacity in real systems.</a:t>
            </a:r>
          </a:p>
          <a:p>
            <a:pPr algn="l">
              <a:lnSpc>
                <a:spcPct val="135000"/>
              </a:lnSpc>
            </a:pPr>
            <a:r>
              <a:rPr sz="1300">
                <a:solidFill>
                  <a:srgbClr val="1A1A1A"/>
                </a:solidFill>
                <a:latin typeface="Calibri"/>
              </a:rPr>
              <a:t>•  The cost of a path is the sum of weights of its constituent edges.</a:t>
            </a:r>
          </a:p>
          <a:p>
            <a:pPr algn="l">
              <a:lnSpc>
                <a:spcPct val="135000"/>
              </a:lnSpc>
            </a:pPr>
            <a:r>
              <a:rPr sz="1300">
                <a:solidFill>
                  <a:srgbClr val="1A1A1A"/>
                </a:solidFill>
                <a:latin typeface="Calibri"/>
              </a:rPr>
              <a:t>•  Unweighted graphs are a special case where all edge weights equal one.</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graphicmaths.com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Special Graph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complete graph with 4 vertices has 6 edges connecting all pairs.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complete graph has an edge between every pair of distinct vertices.</a:t>
            </a:r>
          </a:p>
          <a:p>
            <a:pPr algn="l">
              <a:lnSpc>
                <a:spcPct val="135000"/>
              </a:lnSpc>
            </a:pPr>
            <a:r>
              <a:rPr sz="1300">
                <a:solidFill>
                  <a:srgbClr val="1A1A1A"/>
                </a:solidFill>
                <a:latin typeface="Calibri"/>
              </a:rPr>
              <a:t>•  A tree is a connected graph with no cycles and n-1 edges.</a:t>
            </a:r>
          </a:p>
          <a:p>
            <a:pPr algn="l">
              <a:lnSpc>
                <a:spcPct val="135000"/>
              </a:lnSpc>
            </a:pPr>
            <a:r>
              <a:rPr sz="1300">
                <a:solidFill>
                  <a:srgbClr val="1A1A1A"/>
                </a:solidFill>
                <a:latin typeface="Calibri"/>
              </a:rPr>
              <a:t>•  A bipartite graph divides vertices into two disjoint sets with no internal edges.</a:t>
            </a:r>
          </a:p>
          <a:p>
            <a:pPr algn="l">
              <a:lnSpc>
                <a:spcPct val="135000"/>
              </a:lnSpc>
            </a:pPr>
            <a:r>
              <a:rPr sz="1300">
                <a:solidFill>
                  <a:srgbClr val="1A1A1A"/>
                </a:solidFill>
                <a:latin typeface="Calibri"/>
              </a:rPr>
              <a:t>•  A multigraph allows multiple edges between the same pair of vertices.</a:t>
            </a:r>
          </a:p>
          <a:p>
            <a:pPr algn="l">
              <a:lnSpc>
                <a:spcPct val="135000"/>
              </a:lnSpc>
            </a:pPr>
            <a:r>
              <a:rPr sz="1300">
                <a:solidFill>
                  <a:srgbClr val="1A1A1A"/>
                </a:solidFill>
                <a:latin typeface="Calibri"/>
              </a:rPr>
              <a:t>•  A null graph has vertices but no edges at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Degree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Sum of degrees = 2 + 2 + 3 + 1 = 8, which equals 2 × 4 edges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Consider a graph with vertices {A, B, C, D} and edges {(A,B), (A,C), (B,C), (C,D)}.</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Vertex A has edges to B and C, so its degree is 2.</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Vertex B has edges to A and C, so its degree is 2.</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Vertex C has edges to A, B, and D, so its degree is 3.</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Vertex D has an edge to C, so its degree is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Graphs are defined by vertices V and edges E forming relationships.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Directed edges have direction, while undirected edges are bidirectional.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Degree measures connectivity, with sum of degrees equaling twice the edges.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Paths have no repeated vertices, while cycles return to the start.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Weights add cost to edges, crucial for optimization and shortest path problems.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Basic Terminology used with Graph</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