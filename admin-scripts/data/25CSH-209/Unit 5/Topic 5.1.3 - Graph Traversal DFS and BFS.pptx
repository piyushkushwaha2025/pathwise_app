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today's lecture on Graph Traversal. We will focus specifically on Depth First Search and Breadth First Search. These are fundamental algorithms for exploring graph structures in computer science. Remember, mastering these is key to solving complex network problems.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two specific course outcomes. CO2 requires us to apply stacks and queues, which are the core data structures for DFS and BFS respectively. CO3 involves analyzing searching techniques, as traversal is essentially a search algorithm for graph nodes.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why we traverse graphs. You will understand the distinct mechanics of DFS and BFS. We will also compare their efficiency and discuss where students often make mistakes during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graph traversal as exploring a maze. You must visit every room without getting stuck in a loop. This process is vital for finding paths or checking if two points are connected. We rely on two main strategies to achieve this systematically.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DFS is like exploring a cave; you go as deep as possible before turning back. Imagine walking down a long hallway and checking every side room before moving to the next hallway. This depth-first approach is implemented using a stack to remember where to return.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process starts by marking the root node and pushing it onto the stack. We then move to an unvisited neighbor, repeating the process. When we hit a dead end, we pop the stack to backtrack. This continues until the stack is empty, ensuring full coverage.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BFS is like dropping a stone in a pond; the ripples expand outward evenly. It explores all immediate neighbors before moving to the next level of neighbors. This level-by-level approach is implemented using a queue to manage the order of exploration.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by enqueuing the source node and marking it visited. We then dequeue a node and add all its unvisited neighbors to the back of the queue. This ensures that we process nodes in the exact order they were discovered, maintaining the level-by-level order.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DFS on a simple graph starting at A. We go to B, then D. Since D has no unvisited neighbors, we backtrack to B and go to E. After E, we backtrack to A and visit C. The final order is A, B, D, E, C, 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trace BFS on the same graph. We start at A and add B and C to the queue. Next, we process B and add D and E. Then we process C and add F. The final order is A, B, C, D, E, F, showing a level-by-level expansion.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algorithms have a time complexity of O(V + E) because they visit every node and edge once. The space complexity is O(V) for both, but for different reasons. DFS uses the call stack for recursion, while BFS uses a queue to store nodes at the current level.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mistake is forgetting to mark nodes as visited, which leads to infinite loops. Another issue is not handling disconnected graphs, where a single DFS call won't visit all nodes. Always ensure you iterate through all nodes to start a new traversal if needed.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BFS, a frequent error is enqueuing a node multiple × if you don't mark it visited immediately. You must mark it when you add it to the queue, not when you process it. Also, remember that BFS only guarantees shortest paths in unweighted graphs.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textbooks provide comprehensive coverage of graph algorithms and data structures. I recommend consulting Gilberg and Forouzan for pseudocode approaches and Lipschutz for clear explanations. Sharma and Deshpandey offer excellent C-based implementations for practical understanding.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Graph Traversal: DFS and BFS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Graph</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Graph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graph traversal and its necessity in network analysis.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the working principle of Depth First Search (DFS).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the working principle of Breadth First Search (BFS).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time and space complexities of both algorithms.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pitfalls when implementing traversal algorithms manually.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What is Graph Traversal?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TWO PRIMARY STRATEGIES EXIST</a:t>
            </a:r>
          </a:p>
          <a:p>
            <a:pPr algn="l">
              <a:lnSpc>
                <a:spcPct val="135000"/>
              </a:lnSpc>
            </a:pPr>
            <a:r>
              <a:rPr sz="1300">
                <a:solidFill>
                  <a:srgbClr val="1A1A1A"/>
                </a:solidFill>
                <a:latin typeface="Calibri"/>
              </a:rPr>
              <a:t>Depth First Search and Breadth First Search.</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Graph traversal visits every node and edge in a connected graph.</a:t>
            </a:r>
          </a:p>
          <a:p>
            <a:pPr algn="l">
              <a:lnSpc>
                <a:spcPct val="135000"/>
              </a:lnSpc>
            </a:pPr>
            <a:r>
              <a:rPr sz="1300">
                <a:solidFill>
                  <a:srgbClr val="1A1A1A"/>
                </a:solidFill>
                <a:latin typeface="Calibri"/>
              </a:rPr>
              <a:t>•  It ensures no node is missed during systematic exploration of data.</a:t>
            </a:r>
          </a:p>
          <a:p>
            <a:pPr algn="l">
              <a:lnSpc>
                <a:spcPct val="135000"/>
              </a:lnSpc>
            </a:pPr>
            <a:r>
              <a:rPr sz="1300">
                <a:solidFill>
                  <a:srgbClr val="1A1A1A"/>
                </a:solidFill>
                <a:latin typeface="Calibri"/>
              </a:rPr>
              <a:t>•  Traversal is essential for pathfinding, cycle detection, and connectivity checks.</a:t>
            </a:r>
          </a:p>
          <a:p>
            <a:pPr algn="l">
              <a:lnSpc>
                <a:spcPct val="135000"/>
              </a:lnSpc>
            </a:pPr>
            <a:r>
              <a:rPr sz="1300">
                <a:solidFill>
                  <a:srgbClr val="1A1A1A"/>
                </a:solidFill>
                <a:latin typeface="Calibri"/>
              </a:rPr>
              <a:t>•  The choice of strategy depends on the specific problem requirements.</a:t>
            </a:r>
          </a:p>
          <a:p>
            <a:pPr algn="l">
              <a:lnSpc>
                <a:spcPct val="135000"/>
              </a:lnSpc>
            </a:pPr>
            <a:r>
              <a:rPr sz="1300">
                <a:solidFill>
                  <a:srgbClr val="1A1A1A"/>
                </a:solidFill>
                <a:latin typeface="Calibri"/>
              </a:rPr>
              <a:t>•  Without traversal, we cannot effectively analyze relationships in complex networks.</a:t>
            </a:r>
          </a:p>
          <a:p>
            <a:pPr algn="l">
              <a:lnSpc>
                <a:spcPct val="135000"/>
              </a:lnSpc>
            </a:pPr>
            <a:r>
              <a:rPr sz="1300">
                <a:solidFill>
                  <a:srgbClr val="1A1A1A"/>
                </a:solidFill>
                <a:latin typeface="Calibri"/>
              </a:rPr>
              <a:t>•  Both methods require a visited array to prevent infinite loops.</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Sequential Layout: The Best Way To Handle Tiered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Depth First Search (DFS) Concept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DFS explores as far as possible along each branch before backtracking.</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mimics the behavior of a person walking down a corridor.</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algorithm uses a Stack data structure for implementation.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prioritizes depth over breadth in the exploration sequence.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DFS is recursive by nature but can be implemented iteratively.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ideal for tasks requiring deep path exploration or cycles.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traversal order depends heavily on the adjacency list order.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DFS Working Principle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Start at a source node and mark it as visited immediately.</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Push the current node onto the stack for backtracking later.</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Visit an unvisited neighbor and repeat the process recursively.</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Backtrack to the previous node when no unvisited neighbors exist.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Continue until the stack is empty and all nodes are visited.</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recursion stack implicitly handles the backtracking mechanism.</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ensures every connected component is fully explored systematically.</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ik.imagekit.io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Breadth First Search (BFS) Concept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BFS explores all neighbor nodes at the present depth first.</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expands the search radius uniformly from the source node.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algorithm uses a Queue data structure for implementation.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prioritizes breadth over depth in the exploration sequence.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BFS guarantees the shortest path in unweighted graphs.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ideal for finding the nearest neighbor or shortest path.</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traversal order is level-by-level across the graph.</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8313502.fs1.hubspotusercontent-na1.net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BFS Working Principle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Start at a source node and enqueue it into the queue.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Mark the source node as visited immediately upon enqueuing.</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Dequeue a node and visit all its unvisited neighbors.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Enqueue all unvisited neighbors and mark them as visited.</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Repeat the process until the queue becomes completely empty.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queue ensures nodes are processed in the order discovered.</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guarantees that nodes are visited in increasing distance order.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DFS Traversal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PATH</a:t>
            </a:r>
          </a:p>
          <a:p>
            <a:pPr algn="l">
              <a:lnSpc>
                <a:spcPct val="135000"/>
              </a:lnSpc>
            </a:pPr>
            <a:r>
              <a:rPr sz="1300">
                <a:solidFill>
                  <a:srgbClr val="1A1A1A"/>
                </a:solidFill>
                <a:latin typeface="Calibri"/>
              </a:rPr>
              <a:t>A → B → D (dead end) → E (dead end) → C → F.</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STACK OPERATIONS</a:t>
            </a:r>
          </a:p>
          <a:p>
            <a:pPr algn="l">
              <a:lnSpc>
                <a:spcPct val="135000"/>
              </a:lnSpc>
            </a:pPr>
            <a:r>
              <a:rPr sz="1300">
                <a:solidFill>
                  <a:srgbClr val="1A1A1A"/>
                </a:solidFill>
                <a:latin typeface="Calibri"/>
              </a:rPr>
              <a:t>Push A, Push B, Push D, Pop D, Push E.</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FINAL DFS ORDER</a:t>
            </a:r>
          </a:p>
          <a:p>
            <a:pPr algn="l">
              <a:lnSpc>
                <a:spcPct val="135000"/>
              </a:lnSpc>
            </a:pPr>
            <a:r>
              <a:rPr sz="1300">
                <a:solidFill>
                  <a:srgbClr val="1A1A1A"/>
                </a:solidFill>
                <a:latin typeface="Calibri"/>
              </a:rPr>
              <a:t>A, B, D, E, C, F.</a:t>
            </a:r>
          </a:p>
        </p:txBody>
      </p:sp>
      <p:sp>
        <p:nvSpPr>
          <p:cNvPr id="22" name="Rectangle 21"/>
          <p:cNvSpPr/>
          <p:nvPr/>
        </p:nvSpPr>
        <p:spPr>
          <a:xfrm>
            <a:off x="3669715"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Consider a graph with nodes A, B, C, D, E, F.</a:t>
            </a:r>
          </a:p>
          <a:p>
            <a:pPr algn="l">
              <a:lnSpc>
                <a:spcPct val="135000"/>
              </a:lnSpc>
            </a:pPr>
            <a:r>
              <a:rPr sz="1300">
                <a:solidFill>
                  <a:srgbClr val="1A1A1A"/>
                </a:solidFill>
                <a:latin typeface="Calibri"/>
              </a:rPr>
              <a:t>•  Start at node A and explore neighbors in alphabetical order.</a:t>
            </a:r>
          </a:p>
          <a:p>
            <a:pPr algn="l">
              <a:lnSpc>
                <a:spcPct val="135000"/>
              </a:lnSpc>
            </a:pPr>
            <a:r>
              <a:rPr sz="1300">
                <a:solidFill>
                  <a:srgbClr val="1A1A1A"/>
                </a:solidFill>
                <a:latin typeface="Calibri"/>
              </a:rPr>
              <a:t>•  Backtracking occurs at D and E when no unvisited neighbors exist.</a:t>
            </a:r>
          </a:p>
          <a:p>
            <a:pPr algn="l">
              <a:lnSpc>
                <a:spcPct val="135000"/>
              </a:lnSpc>
            </a:pPr>
            <a:r>
              <a:rPr sz="1300">
                <a:solidFill>
                  <a:srgbClr val="1A1A1A"/>
                </a:solidFill>
                <a:latin typeface="Calibri"/>
              </a:rPr>
              <a:t>•  The stack ensures we return to A to visit C after finishing B.</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BFS Traversal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FINAL BFS ORDER</a:t>
            </a:r>
          </a:p>
          <a:p>
            <a:pPr algn="l">
              <a:lnSpc>
                <a:spcPct val="135000"/>
              </a:lnSpc>
            </a:pPr>
            <a:r>
              <a:rPr sz="1300">
                <a:solidFill>
                  <a:srgbClr val="1A1A1A"/>
                </a:solidFill>
                <a:latin typeface="Calibri"/>
              </a:rPr>
              <a:t>A, B, C, D, E, F.</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Consider the same graph with nodes A, B, C, D, E, F.</a:t>
            </a:r>
          </a:p>
          <a:p>
            <a:pPr algn="l">
              <a:lnSpc>
                <a:spcPct val="135000"/>
              </a:lnSpc>
            </a:pPr>
            <a:r>
              <a:rPr sz="1300">
                <a:solidFill>
                  <a:srgbClr val="1A1A1A"/>
                </a:solidFill>
                <a:latin typeface="Calibri"/>
              </a:rPr>
              <a:t>•  Start at node A and enqueue it into the queue.</a:t>
            </a:r>
          </a:p>
          <a:p>
            <a:pPr algn="l">
              <a:lnSpc>
                <a:spcPct val="135000"/>
              </a:lnSpc>
            </a:pPr>
            <a:r>
              <a:rPr sz="1300">
                <a:solidFill>
                  <a:srgbClr val="1A1A1A"/>
                </a:solidFill>
                <a:latin typeface="Calibri"/>
              </a:rPr>
              <a:t>•  Dequeue A, enqueue neighbors B and C; Queue: [B, C].</a:t>
            </a:r>
          </a:p>
          <a:p>
            <a:pPr algn="l">
              <a:lnSpc>
                <a:spcPct val="135000"/>
              </a:lnSpc>
            </a:pPr>
            <a:r>
              <a:rPr sz="1300">
                <a:solidFill>
                  <a:srgbClr val="1A1A1A"/>
                </a:solidFill>
                <a:latin typeface="Calibri"/>
              </a:rPr>
              <a:t>•  Dequeue B, enqueue neighbors D and E; Queue: [C, D, E].</a:t>
            </a:r>
          </a:p>
          <a:p>
            <a:pPr algn="l">
              <a:lnSpc>
                <a:spcPct val="135000"/>
              </a:lnSpc>
            </a:pPr>
            <a:r>
              <a:rPr sz="1300">
                <a:solidFill>
                  <a:srgbClr val="1A1A1A"/>
                </a:solidFill>
                <a:latin typeface="Calibri"/>
              </a:rPr>
              <a:t>•  Dequeue C, enqueue neighbor F; Queue: [D, E, F].</a:t>
            </a:r>
          </a:p>
          <a:p>
            <a:pPr algn="l">
              <a:lnSpc>
                <a:spcPct val="135000"/>
              </a:lnSpc>
            </a:pPr>
            <a:r>
              <a:rPr sz="1300">
                <a:solidFill>
                  <a:srgbClr val="1A1A1A"/>
                </a:solidFill>
                <a:latin typeface="Calibri"/>
              </a:rPr>
              <a:t>•  The queue ensures level-by-level processing of all nodes.</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Complexity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Time complexity for both DFS and BFS is O(V + 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V represents the number of vertices in the graph structure.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 represents the number of edges connecting the vertices.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Space complexity for DFS is O(V) due to recursion stack.</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Space complexity for BFS is O(V) due to the queue size.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Both algorithms visit every node and edge exactly once.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Efficiency depends on the graph representation used (adjacency list).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DFS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mark nodes as visited causes infinite recursion loops.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a global visited array without resetting for disconnected graphs.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Incorrect adjacency list ordering leads to non-deterministic results.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Stack overflow errors occur in very deep or dense graphs.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the order of pushing neighbors affects the traversal path.</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Not handling disconnected components requires a loop over all nodes.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edge weights can lead to incorrect shortest path assumptions.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BFS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Enqueuing a node multiple × without checking visited status.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a stack instead of a queue breaks the level-order logic.</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Not marking nodes as visited upon enqueuing causes duplicates.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BFS finds shortest paths in weighted graphs without care.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Queue overflow can occur in graphs with very high branching factors.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Incorrect initialization of the visited array leads to missed nodes.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handle disconnected components results in incomplete traversal.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 Traversal: DFS and BFS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