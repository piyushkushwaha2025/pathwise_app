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students to today's lecture on Graph Representations. We will focus specifically on how to store graph data efficiently using two primary methods. This foundational knowledge is crucial for implementing algorithms like DFS and BFS later in the course. Remember, the choice of representation directly impacts the performance of your graph algorithms.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two specific Course Outcomes. First, we apply basic data structures like arrays and linked lists to represent graphs. Second, we learn how to represent graph problems effectively to enable algorithms like DFS and BFS. Mastering these representations is the prerequisite for solving complex graph problems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graph representations clearly. You will construct both adjacency matrices and lists from scratch for sample graphs. We will also compare their complexities to understand when to use which. Finally, we will discuss common mistakes students make when implementing these structures.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graph as a map of cities and roads. We need a way to store this map in our computer's memory. The representation is the bridge between the abstract concept and the actual code. If we choose the wrong storage method, our program might run out of memory or take too long to find a path.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a grid where rows and columns both represent the vertices of your graph. If there is a connection between vertex 1 and vertex 3, we place a 1 at row 1, column 3. This allows us to instantly check if two nodes are connected without searching through a list. It is like a complete checklist of all possible connections.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build a matrix for a line graph: 0 connects to 1, 1 to 2, and 2 to 3. In our matrix, we place a 1 at row 0, column 1 and row 1, column 0. Since the graph is undirected, the matrix is symmetric. If you look at row 0, you see a 1 only in column 1, meaning 0 only connects to 1. This visual pattern helps verify your matrix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of a full grid, we use an array where each slot points to a list of neighbors. If vertex 0 connects to 1 and 2, the list at index 0 will contain nodes for 1 and 2. This is like a phone book where each name has a list of contacts, rather than a grid showing every possible person. It saves space when connections are rare.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visualize the list for our line graph. At index 0, we store a pointer to a list containing just 1. At index 1, we store a list containing 0 and 2. This structure clearly shows the neighbors without wasting space on zeros. If we had 1000 vertices but only 10 edges, this list would be tiny compared to a massive matrix.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Space complexity is a critical factor in choosing a representation. A matrix always needs V squared space, so a 1000-vertex graph needs a million entries even if it has no edges. A list only needs space for the vertices plus the actual edges. If you have a sparse graph, the list saves massive amounts of memory, which is crucial for large-scale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Speed depends on what you are doing. If you need to check if two specific nodes are connected, the matrix is instant because you just look at one cell. In a list, you might have to scan the entire list of neighbors. However, if you need to visit all neighbors of a node, the list is faster because it only lists the actual neighbors, not all possible ones.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calculate the exact space for a triangle graph. The matrix needs 9 slots. The list needs 3 slots for the array plus 6 slots for the edges, totaling 9. Here they are equal. But if we add a 4th vertex with no edges, the matrix grows to 16 slots, while the list only grows to 4 slots for the array. This demonstrates how the matrix grows quadratically while the list grows linearly.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often make mistakes like forgetting to initialize their matrix to zero, leading to garbage values. Another common error is mixing up 0-based and 1-based indexing, which causes off-by-one errors. Always remember that adjacency lists do not guarantee sorted neighbors, so you cannot assume order. Also, ensure you handle self-loops correctly in undirected graphs.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the matrix is fast for checking connections but uses more memory. The list is memory-efficient and great for traversing neighbors but slower for checking specific edges. Your choice depends on whether your graph is dense or sparse. Mastering these two structures is essential for all advanced graph algorithms you will study next.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textbooks listed on this slide. Gilberg and Forouzan provide excellent pseudocode approaches. Lipschutz offers a comprehensive theoretical background. Sharma and Deshpandey provide practical C implementations. These resources will help you deepen your understanding of graph representations and algorithms.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Graph Representations: Adjacency Matrices &amp; Adjacency List</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Graph</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Graph   |   Program: Bachelor of Engineering   |   Institution: Chandigarh University</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concept of graph representation in computer science.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an adjacency matrix for a given undirected graph.</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an adjacency list for a given directed graph.</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space and time complexity of both methods.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pitfalls when implementing graph storage structures.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What is Graph Representation?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TWO STANDARD METHODS EXIST</a:t>
            </a:r>
          </a:p>
          <a:p>
            <a:pPr algn="l">
              <a:lnSpc>
                <a:spcPct val="135000"/>
              </a:lnSpc>
            </a:pPr>
            <a:r>
              <a:rPr sz="1300">
                <a:solidFill>
                  <a:srgbClr val="1A1A1A"/>
                </a:solidFill>
                <a:latin typeface="Calibri"/>
              </a:rPr>
              <a:t>Adjacency Matrix and Adjacency List.</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 graph consists of vertices and edges that must be stored in memory.</a:t>
            </a:r>
          </a:p>
          <a:p>
            <a:pPr algn="l">
              <a:lnSpc>
                <a:spcPct val="135000"/>
              </a:lnSpc>
            </a:pPr>
            <a:r>
              <a:rPr sz="1300">
                <a:solidFill>
                  <a:srgbClr val="1A1A1A"/>
                </a:solidFill>
                <a:latin typeface="Calibri"/>
              </a:rPr>
              <a:t>•  The representation determines how efficiently we can traverse or modify the graph.</a:t>
            </a:r>
          </a:p>
          <a:p>
            <a:pPr algn="l">
              <a:lnSpc>
                <a:spcPct val="135000"/>
              </a:lnSpc>
            </a:pPr>
            <a:r>
              <a:rPr sz="1300">
                <a:solidFill>
                  <a:srgbClr val="1A1A1A"/>
                </a:solidFill>
                <a:latin typeface="Calibri"/>
              </a:rPr>
              <a:t>•  The choice depends on the graph density and specific algorithm requirements.</a:t>
            </a:r>
          </a:p>
          <a:p>
            <a:pPr algn="l">
              <a:lnSpc>
                <a:spcPct val="135000"/>
              </a:lnSpc>
            </a:pPr>
            <a:r>
              <a:rPr sz="1300">
                <a:solidFill>
                  <a:srgbClr val="1A1A1A"/>
                </a:solidFill>
                <a:latin typeface="Calibri"/>
              </a:rPr>
              <a:t>•  Poor representation choices can lead to excessive memory usage or slow execution.</a:t>
            </a:r>
          </a:p>
          <a:p>
            <a:pPr algn="l">
              <a:lnSpc>
                <a:spcPct val="135000"/>
              </a:lnSpc>
            </a:pPr>
            <a:r>
              <a:rPr sz="1300">
                <a:solidFill>
                  <a:srgbClr val="1A1A1A"/>
                </a:solidFill>
                <a:latin typeface="Calibri"/>
              </a:rPr>
              <a:t>•  We must map abstract graph concepts to concrete data structures like arrays.</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Block Diagram of a CPU: Detailed Analysis of All Components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Adjacency Matrix Definition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An adjacency matrix is a 2D array of size V × V where V is vertices.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cell at row i and column j stores the weight or existence of an edge.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value of 1 indicates an edge exists between vertex i and vertex j.</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value of 0 indicates no direct edge exists between the two vertices.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For weighted graphs, the cell stores the specific weight of the edge instead.</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structure provides a direct lookup for any pair of vertices in constant time.</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Adjacency Matrix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Consider a graph with 4 vertices labeled 0, 1, 2, and 3.</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Edges exist between (0,1), (1,2), and (2,3) forming a simple line.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matrix will have 1s at positions (0,1), (1,0), (1,2), (2,1), etc.</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All other cells remain 0 because no direct connection exists for those pairs.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For an undirected graph, the matrix is always symmetric across the diagonal.</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diagonal elements are always 0 unless self-loops are explicitly present.</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datafireball.com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Adjacency List Definition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An adjacency list uses an array of linked lists to store graph data.</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Each index in the array represents a specific vertex in the graph.</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linked list at each index contains all neighbors connected to that vertex.</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structure stores only existing edges, making it sparse-friendly.</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ideal for graphs with many vertices but relatively few edges.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Memory usage scales linearly with the number of vertices and edges.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Adjacency List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the same 4-vertex line graph: 0-1-2-3.</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Index 0 contains a list with node 1.</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Index 1 contains a list with nodes 0 and 2.</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Index 2 contains a list with nodes 1 and 3.</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Index 3 contains a list with node 2.</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 empty slots exist for non-existent edges, saving significant memory.</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Space Complexity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Adjacency Matrix requires O(V²) space regardless of edge count.</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Adjacency List requires O(V + E) space where E is the number of edges.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For dense graphs where E approaches V², the matrix is efficient.</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For sparse graphs where E is much smaller than V², the list is superior.</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matrix wastes space storing zeros for non-existent connections in sparse graphs.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list structure dynamically allocates memory only for actual connections.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Time Complexity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Checking if an edge exists takes O(1) time in an adjacency matrix.</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Checking if an edge exists takes O(V) time in an adjacency list.</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Iterating over all neighbors takes O(V) time in an adjacency matrix.</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Iterating over all neighbors takes O(degree) time in an adjacency list.</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Matrix operations are faster for edge queries but slower for traversal.</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List operations are slower for queries but faster for traversing neighbors.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Worked Numerical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Space for Matrix: 3² = 9 units (constant regardless of edges)</a:t>
            </a:r>
          </a:p>
        </p:txBody>
      </p:sp>
      <p:sp>
        <p:nvSpPr>
          <p:cNvPr id="16" name="Rectangle 15"/>
          <p:cNvSpPr/>
          <p:nvPr/>
        </p:nvSpPr>
        <p:spPr>
          <a:xfrm>
            <a:off x="502920" y="2796032"/>
            <a:ext cx="5500116"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5083556"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GRAPH</a:t>
            </a:r>
          </a:p>
          <a:p>
            <a:pPr algn="l">
              <a:lnSpc>
                <a:spcPct val="135000"/>
              </a:lnSpc>
            </a:pPr>
            <a:r>
              <a:rPr sz="1300">
                <a:solidFill>
                  <a:srgbClr val="1A1A1A"/>
                </a:solidFill>
                <a:latin typeface="Calibri"/>
              </a:rPr>
              <a:t>3 vertices (0, 1, 2) with edges (0,1), (1,2), (0,2).</a:t>
            </a:r>
          </a:p>
        </p:txBody>
      </p:sp>
      <p:sp>
        <p:nvSpPr>
          <p:cNvPr id="19" name="Rectangle 18"/>
          <p:cNvSpPr/>
          <p:nvPr/>
        </p:nvSpPr>
        <p:spPr>
          <a:xfrm>
            <a:off x="6185916" y="2796032"/>
            <a:ext cx="5500116"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5916" y="279603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596" y="2914904"/>
            <a:ext cx="5083556"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MATRIX</a:t>
            </a:r>
          </a:p>
          <a:p>
            <a:pPr algn="l">
              <a:lnSpc>
                <a:spcPct val="135000"/>
              </a:lnSpc>
            </a:pPr>
            <a:r>
              <a:rPr sz="1300">
                <a:solidFill>
                  <a:srgbClr val="1A1A1A"/>
                </a:solidFill>
                <a:latin typeface="Calibri"/>
              </a:rPr>
              <a:t>3x3 grid with 1s at (0,1), (1,0), (1,2), (2,1), (0,2), (2,0).</a:t>
            </a:r>
          </a:p>
        </p:txBody>
      </p:sp>
      <p:sp>
        <p:nvSpPr>
          <p:cNvPr id="22" name="Rectangle 21"/>
          <p:cNvSpPr/>
          <p:nvPr/>
        </p:nvSpPr>
        <p:spPr>
          <a:xfrm>
            <a:off x="502920" y="4018957"/>
            <a:ext cx="5500116"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018957"/>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137829"/>
            <a:ext cx="5083556"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LIST</a:t>
            </a:r>
          </a:p>
          <a:p>
            <a:pPr algn="l">
              <a:lnSpc>
                <a:spcPct val="135000"/>
              </a:lnSpc>
            </a:pPr>
            <a:r>
              <a:rPr sz="1300">
                <a:solidFill>
                  <a:srgbClr val="1A1A1A"/>
                </a:solidFill>
                <a:latin typeface="Calibri"/>
              </a:rPr>
              <a:t>Index 0 has [1, 2], Index 1 has [0, 2], Index 2 has [0, 1].</a:t>
            </a:r>
          </a:p>
        </p:txBody>
      </p:sp>
      <p:sp>
        <p:nvSpPr>
          <p:cNvPr id="25" name="Rectangle 24"/>
          <p:cNvSpPr/>
          <p:nvPr/>
        </p:nvSpPr>
        <p:spPr>
          <a:xfrm>
            <a:off x="6185916" y="4018957"/>
            <a:ext cx="5500116"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5916" y="4018957"/>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19596" y="4137829"/>
            <a:ext cx="5083556"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SPACE FOR LIST</a:t>
            </a:r>
          </a:p>
          <a:p>
            <a:pPr algn="l">
              <a:lnSpc>
                <a:spcPct val="135000"/>
              </a:lnSpc>
            </a:pPr>
            <a:r>
              <a:rPr sz="1300">
                <a:solidFill>
                  <a:srgbClr val="1A1A1A"/>
                </a:solidFill>
                <a:latin typeface="Calibri"/>
              </a:rPr>
              <a:t>3 vertices + 6 edge entries = 9 units (scales with E).</a:t>
            </a:r>
          </a:p>
        </p:txBody>
      </p:sp>
      <p:sp>
        <p:nvSpPr>
          <p:cNvPr id="28" name="Rectangle 27"/>
          <p:cNvSpPr/>
          <p:nvPr/>
        </p:nvSpPr>
        <p:spPr>
          <a:xfrm>
            <a:off x="502920" y="5241882"/>
            <a:ext cx="5500116"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524188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6600" y="5360754"/>
            <a:ext cx="5083556" cy="802301"/>
          </a:xfrm>
          <a:prstGeom prst="rect">
            <a:avLst/>
          </a:prstGeom>
          <a:noFill/>
        </p:spPr>
        <p:txBody>
          <a:bodyPr wrap="square" lIns="0" rIns="0" tIns="0" bIns="0">
            <a:spAutoFit/>
          </a:bodyPr>
          <a:lstStyle/>
          <a:p>
            <a:pPr algn="l">
              <a:lnSpc>
                <a:spcPct val="135000"/>
              </a:lnSpc>
            </a:pPr>
            <a:r>
              <a:rPr sz="1300">
                <a:solidFill>
                  <a:srgbClr val="1A1A1A"/>
                </a:solidFill>
                <a:latin typeface="Calibri"/>
              </a:rPr>
              <a:t>•  Edge Query (0,2): Matrix takes 1 step, List takes 2 steps to find.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&amp; Errors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Forgetting to initialize the matrix with zeros before adding edges.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1-based indexing in code when the problem uses 0-based indexing.</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the adjacency list is sorted when it is not guaranteed.</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Neglecting to handle self-loops in undirected graph matrix construction.</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directed and undirected graph symmetry in matrix representation.</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Allocating fixed-size arrays for lists without dynamic memory management.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Adjacency Matrix uses O(V²) space and offers O(1) edge lookup.</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Adjacency List uses O(V+E) space and offers O(degree) neighbor iteration.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Choose Matrix for dense graphs or frequent edge existence checks.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Choose List for sparse graphs or frequent neighbor traversal operations.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Both representations are fundamental for implementing DFS, BFS, and shortest path.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 Representations: Adjacency Matrices &amp; Adjacency List</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