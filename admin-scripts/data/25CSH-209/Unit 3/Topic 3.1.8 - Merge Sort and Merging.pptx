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session on Merge Sort. We are diving deep into Unit-3, specifically focusing on the divide-and-conquer strategy. This algorithm is a cornerstone for understanding efficient sorting in large datasets.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Although our focus is sorting, these outcomes connect to the recursive tree structure of Merge Sort. The divide phase mirrors tree traversal, while the merge phase relates to graph connectivity logic. Understanding this helps you solve complex graph problems later.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not just know how to code Merge Sort. You will understand why it is stable and how its recursive nature impacts performance. We will analyze the trade-offs between time and space complexity.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this like splitting a large pile of unsorted papers. You keep splitting until every paper is in its own hand. Then you start combining them in order. This recursive splitting is the heart of the algorithm.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Imagine two lines of students sorted by height merging into one line. You look at the front of both lines and pick the shorter student. You repeat this until one line is empty, then add the rest. This is the merge logic.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Unlike Quick Sort, Merge Sort never degrades to O(n squared). Even if your data is already sorted or reverse sorted, the time taken is the same. This predictability is crucial for real-time systems where worst-case performance matters.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drawback is memory. You need extra space equal to the size of your array to perform the sort. If you have a massive dataset on a machine with limited RAM, this could be a bottleneck compared to in-place sorts.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Stability is a key feature. If you sort a list of students by grade, and then by name, a stable sort ensures the grade order is preserved for students with the same name. Merge Sort guarantees this naturally.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trace this. We take our 7 numbers and split them in half. Then we split those halves again. We keep doing this until we have single numbers like [38], [27], [43], and so on. This is the 'divide' phase.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merge back up. We take [38] and [27], compare them, and get [27, 38]. Similarly, [43] and [3] become [3, 43]. We do this for all pairs. Notice how the sorted segments get larger with every step.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we merge the two large halves. We compare 3 with 9, pick 3. Then 27 with 9, pick 9. We continue until the array is fully sorted. The result is [3, 9, 10, 27, 38, 43, 82].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often make off-by-one errors when calculating midpoints. Another common mistake is forgetting to copy the remaining elements from one subarray after the other is empty. Always double-check your base cases to avoid infinite loops.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Merge Sort is reliable, fast, and stable. It trades space for consistent speed. Remember the recurrence relation and the merge logic as these are the core concepts for your exams.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Please refer to these standard textbooks for further reading and practice problems. Gilberg and Forouzan provide excellent pseudocode, while Lipschutz offers a comprehensive theoretical background. Sharma and Deshpandey are great for C-specific implementations.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Merge Sort and Merging</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 Structure | Searching and Sorting</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 Structure   |   Chapter: Searching and Sorting   |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and apply basic data structures, algorithms, complexity analysis, ADTs, arrays and linked lists.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Apply and implement stacks and queues in problem-solving.</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Analyse and apply searching, sorting, and hashing techniques.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Construct and apply tree structures and traversal techniques.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Represent and solve graph problems using DFS, BFS, and graph algorithms.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divide-and-conquer strategy used in Merge Sort.</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time complexity differences between best and worst cases.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Construct the merge process step-by-step for unsorted arrays.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Compare Merge Sort stability against other sorting algorithms like Quick Sort.</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the algorithm to solve real-world data organization problems.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Divide and Conquer Strategy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Divide the unsorted list into n sublists, each containing one element.</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Conquer by recursively sorting each sublist until base cases are reached.</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Combine the sorted sublists to produce the final sorted output.</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recursion depth is logarithmic, specifically log base 2 of n.</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approach ensures consistent performance regardless of initial data order.</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Base case occurs when a sublist has zero or one element.</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strategy transforms a complex problem into manageable smaller subproblems.</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Merge Sort - GeeksforGeeks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The Merge Process Logic</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Compare the first elements of two sorted subarrays simultaneously.</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Select the smaller element and place it into the temporary array.</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Advance the pointer of the subarray from which the element was taken.</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Repeat the comparison until one subarray is completely exhausted.</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Copy any remaining elements from the non-empty subarray to the result.</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merge operation requires linear time proportional to the input size.</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step ensures the final combined array remains sorted.</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lh5.googleusercontent.com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Time Complexity Analysis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The recurrence relation is T(n) = 2T(n/2) + O(n)</a:t>
            </a:r>
          </a:p>
        </p:txBody>
      </p:sp>
      <p:sp>
        <p:nvSpPr>
          <p:cNvPr id="16" name="Oval 15"/>
          <p:cNvSpPr/>
          <p:nvPr/>
        </p:nvSpPr>
        <p:spPr>
          <a:xfrm>
            <a:off x="502920" y="2796032"/>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7" name="TextBox 16"/>
          <p:cNvSpPr txBox="1"/>
          <p:nvPr/>
        </p:nvSpPr>
        <p:spPr>
          <a:xfrm>
            <a:off x="1051560" y="2796032"/>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Best case time complexity is O(n log n) for any input.</a:t>
            </a:r>
          </a:p>
        </p:txBody>
      </p:sp>
      <p:sp>
        <p:nvSpPr>
          <p:cNvPr id="18" name="Oval 17"/>
          <p:cNvSpPr/>
          <p:nvPr/>
        </p:nvSpPr>
        <p:spPr>
          <a:xfrm>
            <a:off x="502920" y="340139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9" name="TextBox 18"/>
          <p:cNvSpPr txBox="1"/>
          <p:nvPr/>
        </p:nvSpPr>
        <p:spPr>
          <a:xfrm>
            <a:off x="1051560" y="3401398"/>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Worst case time complexity is O(n log n) regardless of order.</a:t>
            </a:r>
          </a:p>
        </p:txBody>
      </p:sp>
      <p:sp>
        <p:nvSpPr>
          <p:cNvPr id="20" name="Oval 19"/>
          <p:cNvSpPr/>
          <p:nvPr/>
        </p:nvSpPr>
        <p:spPr>
          <a:xfrm>
            <a:off x="502920" y="4006765"/>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21" name="TextBox 20"/>
          <p:cNvSpPr txBox="1"/>
          <p:nvPr/>
        </p:nvSpPr>
        <p:spPr>
          <a:xfrm>
            <a:off x="1051560" y="4006765"/>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Average case time complexity remains O(n log n) consistently.</a:t>
            </a:r>
          </a:p>
        </p:txBody>
      </p:sp>
      <p:sp>
        <p:nvSpPr>
          <p:cNvPr id="22" name="Oval 21"/>
          <p:cNvSpPr/>
          <p:nvPr/>
        </p:nvSpPr>
        <p:spPr>
          <a:xfrm>
            <a:off x="502920" y="4612132"/>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3" name="TextBox 22"/>
          <p:cNvSpPr txBox="1"/>
          <p:nvPr/>
        </p:nvSpPr>
        <p:spPr>
          <a:xfrm>
            <a:off x="1051560" y="4612132"/>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The O(n) term represents the linear time required for merging.</a:t>
            </a:r>
          </a:p>
        </p:txBody>
      </p:sp>
      <p:sp>
        <p:nvSpPr>
          <p:cNvPr id="24" name="Oval 23"/>
          <p:cNvSpPr/>
          <p:nvPr/>
        </p:nvSpPr>
        <p:spPr>
          <a:xfrm>
            <a:off x="502920" y="521749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5" name="TextBox 24"/>
          <p:cNvSpPr txBox="1"/>
          <p:nvPr/>
        </p:nvSpPr>
        <p:spPr>
          <a:xfrm>
            <a:off x="1051560" y="5217498"/>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The log n factor comes from the depth of the recursion tree.</a:t>
            </a:r>
          </a:p>
        </p:txBody>
      </p:sp>
      <p:sp>
        <p:nvSpPr>
          <p:cNvPr id="26" name="Oval 25"/>
          <p:cNvSpPr/>
          <p:nvPr/>
        </p:nvSpPr>
        <p:spPr>
          <a:xfrm>
            <a:off x="502920" y="5822865"/>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7" name="TextBox 26"/>
          <p:cNvSpPr txBox="1"/>
          <p:nvPr/>
        </p:nvSpPr>
        <p:spPr>
          <a:xfrm>
            <a:off x="1051560" y="5822865"/>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This consistency makes it superior to Quick Sort in worst cases.</a:t>
            </a:r>
          </a:p>
        </p:txBody>
      </p:sp>
      <p:pic>
        <p:nvPicPr>
          <p:cNvPr id="28" name="Picture 27"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9" name="TextBox 28"/>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opendsa-server.cs.vt.edu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Space Complexity Considerations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Merge Sort requires O(n) auxiliary space for temporary arrays.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space is needed to store the merged results during recursion.</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is a trade-off for achieving guaranteed O(n log n) time.</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In-place variants exist but are significantly more complex to implement.</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recursion stack also consumes O(log n) space implicitly.</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Memory usage scales linearly with the size of the input array.</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makes it less suitable for very large datasets with limited RAM.</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d8it4huxumps7.cloudfront.net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Stability of Merge Sort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Merge Sort is a stable sorting algorithm by design.</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Stability means equal elements retain their original relative order.</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merge logic prioritizes the left element when values are equal.</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property is vital for sorting records with multiple keys.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Quick Sort is generally unstable without specific modifications.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Stability allows for multi-key sorting without complex re-sorting.</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ensures predictable behavior when sorting objects with identical keys.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Initial Split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START WITH ARRAY</a:t>
            </a:r>
          </a:p>
          <a:p>
            <a:pPr algn="l">
              <a:lnSpc>
                <a:spcPct val="135000"/>
              </a:lnSpc>
            </a:pPr>
            <a:r>
              <a:rPr sz="1300">
                <a:solidFill>
                  <a:srgbClr val="1A1A1A"/>
                </a:solidFill>
                <a:latin typeface="Calibri"/>
              </a:rPr>
              <a:t>[38, 27, 43, 3, 9, 82, 10].</a:t>
            </a:r>
          </a:p>
        </p:txBody>
      </p:sp>
      <p:sp>
        <p:nvSpPr>
          <p:cNvPr id="16" name="Rectangle 15"/>
          <p:cNvSpPr/>
          <p:nvPr/>
        </p:nvSpPr>
        <p:spPr>
          <a:xfrm>
            <a:off x="3669715"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DIVIDE INTO LEFT HALF</a:t>
            </a:r>
          </a:p>
          <a:p>
            <a:pPr algn="l">
              <a:lnSpc>
                <a:spcPct val="135000"/>
              </a:lnSpc>
            </a:pPr>
            <a:r>
              <a:rPr sz="1300">
                <a:solidFill>
                  <a:srgbClr val="1A1A1A"/>
                </a:solidFill>
                <a:latin typeface="Calibri"/>
              </a:rPr>
              <a:t>[38, 27, 43, 3] and right half: [9, 82, 10].</a:t>
            </a:r>
          </a:p>
        </p:txBody>
      </p:sp>
      <p:sp>
        <p:nvSpPr>
          <p:cNvPr id="19" name="Rectangle 18"/>
          <p:cNvSpPr/>
          <p:nvPr/>
        </p:nvSpPr>
        <p:spPr>
          <a:xfrm>
            <a:off x="502920" y="4045204"/>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2567355"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Recursively split left half into [38, 27] and [43, 3].</a:t>
            </a:r>
          </a:p>
          <a:p>
            <a:pPr algn="l">
              <a:lnSpc>
                <a:spcPct val="135000"/>
              </a:lnSpc>
            </a:pPr>
            <a:r>
              <a:rPr sz="1300">
                <a:solidFill>
                  <a:srgbClr val="1A1A1A"/>
                </a:solidFill>
                <a:latin typeface="Calibri"/>
              </a:rPr>
              <a:t>•  Recursively split right half into [9] and [82, 10].</a:t>
            </a:r>
          </a:p>
          <a:p>
            <a:pPr algn="l">
              <a:lnSpc>
                <a:spcPct val="135000"/>
              </a:lnSpc>
            </a:pPr>
            <a:r>
              <a:rPr sz="1300">
                <a:solidFill>
                  <a:srgbClr val="1A1A1A"/>
                </a:solidFill>
                <a:latin typeface="Calibri"/>
              </a:rPr>
              <a:t>•  Continue splitting until every sublist contains exactly one element.</a:t>
            </a:r>
          </a:p>
          <a:p>
            <a:pPr algn="l">
              <a:lnSpc>
                <a:spcPct val="135000"/>
              </a:lnSpc>
            </a:pPr>
            <a:r>
              <a:rPr sz="1300">
                <a:solidFill>
                  <a:srgbClr val="1A1A1A"/>
                </a:solidFill>
                <a:latin typeface="Calibri"/>
              </a:rPr>
              <a:t>•  The recursion tree depth for 7 elements is 3 levels.</a:t>
            </a:r>
          </a:p>
          <a:p>
            <a:pPr algn="l">
              <a:lnSpc>
                <a:spcPct val="135000"/>
              </a:lnSpc>
            </a:pPr>
            <a:r>
              <a:rPr sz="1300">
                <a:solidFill>
                  <a:srgbClr val="1A1A1A"/>
                </a:solidFill>
                <a:latin typeface="Calibri"/>
              </a:rPr>
              <a:t>•  This phase creates the base cases required for merging.</a:t>
            </a:r>
          </a:p>
        </p:txBody>
      </p:sp>
      <p:pic>
        <p:nvPicPr>
          <p:cNvPr id="22" name="Picture 21"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3" name="TextBox 22"/>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First Merges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Merge [38] and [27] to produce [27, 38].</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Merge [43] and [3] to produce [3, 43].</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Merge [9] and [10] to produce [9, 10].</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Merge [82] with the result of [9, 10] to get [9, 10, 82].</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Compare 27 and 38 with 3 and 43 in the next step.</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sorted subarrays grow in size at each merge level.</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Each merge operation maintains the sorted order of elements.</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www.w3schools.com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Final Merge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THE FINAL SORTED ARRAY IS</a:t>
            </a:r>
          </a:p>
          <a:p>
            <a:pPr algn="l">
              <a:lnSpc>
                <a:spcPct val="135000"/>
              </a:lnSpc>
            </a:pPr>
            <a:r>
              <a:rPr sz="1300">
                <a:solidFill>
                  <a:srgbClr val="1A1A1A"/>
                </a:solidFill>
                <a:latin typeface="Calibri"/>
              </a:rPr>
              <a:t>[3, 9, 10, 27, 38, 43, 82].</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Merge [27, 38] and [3, 43] to get [3, 27, 38, 43].</a:t>
            </a:r>
          </a:p>
          <a:p>
            <a:pPr algn="l">
              <a:lnSpc>
                <a:spcPct val="135000"/>
              </a:lnSpc>
            </a:pPr>
            <a:r>
              <a:rPr sz="1300">
                <a:solidFill>
                  <a:srgbClr val="1A1A1A"/>
                </a:solidFill>
                <a:latin typeface="Calibri"/>
              </a:rPr>
              <a:t>•  Merge [9, 10] and [82] to get [9, 10, 82].</a:t>
            </a:r>
          </a:p>
          <a:p>
            <a:pPr algn="l">
              <a:lnSpc>
                <a:spcPct val="135000"/>
              </a:lnSpc>
            </a:pPr>
            <a:r>
              <a:rPr sz="1300">
                <a:solidFill>
                  <a:srgbClr val="1A1A1A"/>
                </a:solidFill>
                <a:latin typeface="Calibri"/>
              </a:rPr>
              <a:t>•  Compare elements from [3, 27, 38, 43] and [9, 10, 82].</a:t>
            </a:r>
          </a:p>
          <a:p>
            <a:pPr algn="l">
              <a:lnSpc>
                <a:spcPct val="135000"/>
              </a:lnSpc>
            </a:pPr>
            <a:r>
              <a:rPr sz="1300">
                <a:solidFill>
                  <a:srgbClr val="1A1A1A"/>
                </a:solidFill>
                <a:latin typeface="Calibri"/>
              </a:rPr>
              <a:t>•  Select 3, then 9, then 10, then 27, then 38.</a:t>
            </a:r>
          </a:p>
          <a:p>
            <a:pPr algn="l">
              <a:lnSpc>
                <a:spcPct val="135000"/>
              </a:lnSpc>
            </a:pPr>
            <a:r>
              <a:rPr sz="1300">
                <a:solidFill>
                  <a:srgbClr val="1A1A1A"/>
                </a:solidFill>
                <a:latin typeface="Calibri"/>
              </a:rPr>
              <a:t>•  Finally select 43 and 82 to complete the array.</a:t>
            </a:r>
          </a:p>
          <a:p>
            <a:pPr algn="l">
              <a:lnSpc>
                <a:spcPct val="135000"/>
              </a:lnSpc>
            </a:pPr>
            <a:r>
              <a:rPr sz="1300">
                <a:solidFill>
                  <a:srgbClr val="1A1A1A"/>
                </a:solidFill>
                <a:latin typeface="Calibri"/>
              </a:rPr>
              <a:t>•  The process demonstrates the complete divide-and-conquer cycle.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and Errors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Incorrect base case handling can cause infinite recursion loops.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Off-by-one errors in index calculation lead to array bounds.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Failing to copy remaining elements results in incomplete output.</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Using the same array for input and output causes data loss.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stability requirements can lead to incorrect relative ordering.</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Not allocating sufficient temporary memory causes runtime crashes.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Misunderstanding the merge logic leads to unsorted final results.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Merge Sort uses a divide-and-conquer strategy for sorting.</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guarantees O(n log n) time complexity in all cases.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algorithm is stable, preserving order of equal elements.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requires O(n) auxiliary space for temporary storage.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merge process combines two sorted subarrays into 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DATA STRUCTURES</a:t>
            </a:r>
          </a:p>
          <a:p>
            <a:pPr algn="l">
              <a:lnSpc>
                <a:spcPct val="135000"/>
              </a:lnSpc>
            </a:pPr>
            <a:r>
              <a:rPr sz="1300">
                <a:solidFill>
                  <a:srgbClr val="1A1A1A"/>
                </a:solidFill>
                <a:latin typeface="Calibri"/>
              </a:rPr>
              <a:t>A Pseudocode Approach with C — Gilberg, Forouzan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Data Structures — Lipschutz</a:t>
            </a:r>
          </a:p>
          <a:p>
            <a:pPr algn="l">
              <a:lnSpc>
                <a:spcPct val="135000"/>
              </a:lnSpc>
            </a:pPr>
            <a:r>
              <a:rPr sz="1300">
                <a:solidFill>
                  <a:srgbClr val="1A1A1A"/>
                </a:solidFill>
                <a:latin typeface="Calibri"/>
              </a:rPr>
              <a:t>•  Data Structure Using C — AK Sharma</a:t>
            </a:r>
          </a:p>
          <a:p>
            <a:pPr algn="l">
              <a:lnSpc>
                <a:spcPct val="135000"/>
              </a:lnSpc>
            </a:pPr>
            <a:r>
              <a:rPr sz="1300">
                <a:solidFill>
                  <a:srgbClr val="1A1A1A"/>
                </a:solidFill>
                <a:latin typeface="Calibri"/>
              </a:rPr>
              <a:t>•  C and Data structure — P. S. Deshpandey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Merge Sort and Merging</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