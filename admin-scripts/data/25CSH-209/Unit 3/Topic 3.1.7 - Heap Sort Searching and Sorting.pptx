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Heap Sort. We are focusing on Unit-3, specifically the Searching and Sorting chapter. This topic is crucial for understanding efficient sorting algorithms in engineering applications. Remember our motto: Discover. Learn. Empower.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CO4 by applying tree structures to sorting. We will see how a binary heap is a specialized tree structure used for efficient sorting. While CO5 focuses on graphs, the tree traversal concepts here build the foundation for those graph algorithms later.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analyze how Heap Sort works. You will learn to construct a max-heap and apply the heapify process step-by-step. We will also evaluate why this algorithm is efficient for large datasets.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Heap Sort is unique because it uses a tree structure to sort data without needing extra memory. Unlike Quick Sort, it guarantees O(n log n) performance even in the worst case. Think of it as organizing a messy pile of books by size using a specific stacking rule.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to Heap Sort is the Max-Heap property where the largest element is always at the root. This allows us to easily find the maximum value without scanning the whole array. Remember the array indexing rule: children of index i are at 2i+1 and 2i+2.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Heapify is the engine of this algorithm. It ensures that if a node violates the heap property, it moves down until the structure is valid again. Imagine a heavy ball sinking through a fluid until it hits the bottom; that is how the largest element bubbles up or sinks down.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build the heap from the bottom up, starting with the last non-leaf node. This is efficient because leaf nodes are already valid heaps of size one. By the time we reach the root, the entire array satisfies the Max-Heap property.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the heap is built, we extract the maximum element by swapping it with the end. We then shrink the heap and fix the structure. This repeats until the entire array is sorted. It is like peeling an onion layer by layer.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a concrete example with the array [4, 10, 3, 5, 1]. We visualize this as a tree where 4 is the root. We need to check if the heap property holds. Currently, 10 is greater than 4, so we must swap them.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swapping 4 and 10, we check the next node. Node 4 has children 5 and 1. Since 5 is larger, we swap them. Now the array is [10, 5, 3, 4, 1]. The root 10 is the largest, so the Max-Heap is built.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sort. We swap 10 to the end. The heap is now [1, 5, 3, 4]. We heapify the root 1. It swaps with 5, then with 4. The largest remaining element 5 moves to the root. We repeat this until the array is sorted.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total time is dominated by the extraction phase. Building the heap is surprisingly linear, O(n). Extracting n elements takes n × log n. This makes it very reliable for large datasets where worst-case performance matters.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Heap Sort is a robust sorting method that guarantees efficiency. It builds a heap and then extracts elements one by one. Remember, it is in-place and stable in terms of time complexity, making it ideal for systems with memory constraints.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please refer to the standard textbooks listed here. Gilberg and Forouzan provide excellent pseudocode approaches. Lipschutz and Sharma offer deep insights into C implementations. Deshpandey is also a great resource for practical examples.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Heap Sort: Searching and Sorting</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 Structure | Searching and Sorting</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 Structure   |   Chapter: Searching and Sorting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and apply basic data structures, algorithms, complexity analysis, ADTs, arrays and linked lists.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Apply and implement stacks and queues in problem-solving.</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Analyse and apply searching, sorting, and hashing techniques.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Construct and apply tree structures and traversal techniques.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Represent and solve graph problems using DFS, BFS, and graph algorithms.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fundamental principles of the Heap Sort algorithm.</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Construct a max-heap from an unsorted array of integers.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the heapify process to sort elements in ascending order.</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time complexity and space efficiency of the method.</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Compare Heap Sort performance against other sorting techniques.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What is Heap Sort?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Heap Sort is a comparison-based sorting algorithm using a binary heap data structure.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utilizes the properties of a complete binary tree to organize elements efficiently.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algorithm works by first building a heap and then repeatedly extracting the root.</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is an in-place sorting algorithm requiring only constant extra space O(1).</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time complexity is O(n log n) in all cases: best, average, and worst.</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Difference between Heaps and Sorted Array - GeeksforGeeks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Binary Heap Properties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binary heap is a complete binary tree where all levels are fully filled except possibly the last.</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 a Max-Heap, every parent node is greater than or equal to its children nodes.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 a Min-Heap, every parent node is less than or equal to its children nodes.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root of a Max-Heap always contains the maximum element in the entire tree.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Array indexing maps perfectly to tree nodes: parent at i, children at 2i+1 and 2i+2.</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The Heapify Process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Heapify is the recursive procedure that ensures the heap property is maintained for a subtree.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compares the root with its children and swaps if the root is smaller than a child.</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process continues down the tree until the node is larger than both its children.</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operation runs in O(log n) time because the height of the tree is logarithmic.</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Building a heap requires calling Heapify on all non-leaf nodes starting from the last one.</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cdn.prod.website-files.com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Building the Max-Heap</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Start by treating the entire array as a binary tree structure.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Identify the last non-leaf node at index floor(n/2) - 1.</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the Heapify function to each node moving backwards to the root.</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bottom-up approach ensures that subtrees are valid before processing their parents.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After this phase, the largest element is guaranteed to be at the root index 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Sorting Phase Logic</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Swap the root element (maximum) with the last element of the current heap.</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Reduce the heap size by one to exclude the sorted element from further processing.</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Call Heapify on the new root to restore the Max-Heap property for the remaining elements.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Repeat the swap and heapify steps until the heap size reduces to one.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array becomes sorted in ascending order after all elements are moved to the end.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Initial Array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CONSIDER THE UNSORTED ARRAY</a:t>
            </a:r>
          </a:p>
          <a:p>
            <a:pPr algn="l">
              <a:lnSpc>
                <a:spcPct val="135000"/>
              </a:lnSpc>
            </a:pPr>
            <a:r>
              <a:rPr sz="1300">
                <a:solidFill>
                  <a:srgbClr val="1A1A1A"/>
                </a:solidFill>
                <a:latin typeface="Calibri"/>
              </a:rPr>
              <a:t>[4, 10, 3, 5, 1].</a:t>
            </a:r>
          </a:p>
        </p:txBody>
      </p:sp>
      <p:sp>
        <p:nvSpPr>
          <p:cNvPr id="16" name="Rectangle 15"/>
          <p:cNvSpPr/>
          <p:nvPr/>
        </p:nvSpPr>
        <p:spPr>
          <a:xfrm>
            <a:off x="3669715" y="1625600"/>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MAP THESE VALUES TO A BINARY TREE</a:t>
            </a:r>
          </a:p>
          <a:p>
            <a:pPr algn="l">
              <a:lnSpc>
                <a:spcPct val="135000"/>
              </a:lnSpc>
            </a:pPr>
            <a:r>
              <a:rPr sz="1300">
                <a:solidFill>
                  <a:srgbClr val="1A1A1A"/>
                </a:solidFill>
                <a:latin typeface="Calibri"/>
              </a:rPr>
              <a:t>Root is 4, children are 10 and 3.</a:t>
            </a:r>
          </a:p>
        </p:txBody>
      </p:sp>
      <p:sp>
        <p:nvSpPr>
          <p:cNvPr id="19" name="Rectangle 18"/>
          <p:cNvSpPr/>
          <p:nvPr/>
        </p:nvSpPr>
        <p:spPr>
          <a:xfrm>
            <a:off x="502920" y="4045204"/>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2567355"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The last non-leaf node is at index 1 (value 10) in a 0-indexed array.</a:t>
            </a:r>
          </a:p>
          <a:p>
            <a:pPr algn="l">
              <a:lnSpc>
                <a:spcPct val="135000"/>
              </a:lnSpc>
            </a:pPr>
            <a:r>
              <a:rPr sz="1300">
                <a:solidFill>
                  <a:srgbClr val="1A1A1A"/>
                </a:solidFill>
                <a:latin typeface="Calibri"/>
              </a:rPr>
              <a:t>•  We start the heapify process from index 1 and move up to index 0.</a:t>
            </a:r>
          </a:p>
          <a:p>
            <a:pPr algn="l">
              <a:lnSpc>
                <a:spcPct val="135000"/>
              </a:lnSpc>
            </a:pPr>
            <a:r>
              <a:rPr sz="1300">
                <a:solidFill>
                  <a:srgbClr val="1A1A1A"/>
                </a:solidFill>
                <a:latin typeface="Calibri"/>
              </a:rPr>
              <a:t>•  The goal is to transform this into a valid Max-Heap structure.</a:t>
            </a:r>
          </a:p>
        </p:txBody>
      </p:sp>
      <p:pic>
        <p:nvPicPr>
          <p:cNvPr id="22" name="Picture 21"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3" name="TextBox 22"/>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Building Heap</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Swap 4 and 10: Array becomes [10, 4, 3, 5, 1].</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Check node 4 (index 1): It has children 5 and 1.</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Since 5 is greater than 4, swap 4 and 5.</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Array becomes [10, 5, 3, 4, 1].</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Now check the root 10: It is greater than 5 and 3, so it is valid.</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www.slideteam.net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Sorting Steps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REPEAT UNTIL THE ARRAY IS FULLY SORTED</a:t>
            </a:r>
          </a:p>
          <a:p>
            <a:pPr algn="l">
              <a:lnSpc>
                <a:spcPct val="135000"/>
              </a:lnSpc>
            </a:pPr>
            <a:r>
              <a:rPr sz="1300">
                <a:solidFill>
                  <a:srgbClr val="1A1A1A"/>
                </a:solidFill>
                <a:latin typeface="Calibri"/>
              </a:rPr>
              <a:t>[1, 3, 4, 5, 10].</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Swap root 10 with last element 1: Array becomes [1, 5, 3, 4, 10].</a:t>
            </a:r>
          </a:p>
          <a:p>
            <a:pPr algn="l">
              <a:lnSpc>
                <a:spcPct val="135000"/>
              </a:lnSpc>
            </a:pPr>
            <a:r>
              <a:rPr sz="1300">
                <a:solidFill>
                  <a:srgbClr val="1A1A1A"/>
                </a:solidFill>
                <a:latin typeface="Calibri"/>
              </a:rPr>
              <a:t>•  Heap size reduces to 4. Heapify the root 1.</a:t>
            </a:r>
          </a:p>
          <a:p>
            <a:pPr algn="l">
              <a:lnSpc>
                <a:spcPct val="135000"/>
              </a:lnSpc>
            </a:pPr>
            <a:r>
              <a:rPr sz="1300">
                <a:solidFill>
                  <a:srgbClr val="1A1A1A"/>
                </a:solidFill>
                <a:latin typeface="Calibri"/>
              </a:rPr>
              <a:t>•  Swap 1 with 5: Array becomes [5, 1, 3, 4, 10].</a:t>
            </a:r>
          </a:p>
          <a:p>
            <a:pPr algn="l">
              <a:lnSpc>
                <a:spcPct val="135000"/>
              </a:lnSpc>
            </a:pPr>
            <a:r>
              <a:rPr sz="1300">
                <a:solidFill>
                  <a:srgbClr val="1A1A1A"/>
                </a:solidFill>
                <a:latin typeface="Calibri"/>
              </a:rPr>
              <a:t>•  Swap 1 with 4: Array becomes [5, 4, 3, 1, 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Time Complexity Analysis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11183112"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10817352"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10817352" cy="548640"/>
          </a:xfrm>
          <a:prstGeom prst="rect">
            <a:avLst/>
          </a:prstGeom>
          <a:noFill/>
        </p:spPr>
        <p:txBody>
          <a:bodyPr wrap="square">
            <a:spAutoFit/>
          </a:bodyPr>
          <a:lstStyle/>
          <a:p>
            <a:pPr algn="ctr"/>
            <a:r>
              <a:rPr b="1" sz="1800">
                <a:solidFill>
                  <a:srgbClr val="1A1A1A"/>
                </a:solidFill>
                <a:latin typeface="Cambria Math"/>
              </a:rPr>
              <a:t>Total time complexity is O(n) + O(n log n) = O(n log n)</a:t>
            </a:r>
          </a:p>
        </p:txBody>
      </p:sp>
      <p:sp>
        <p:nvSpPr>
          <p:cNvPr id="16" name="Oval 15"/>
          <p:cNvSpPr/>
          <p:nvPr/>
        </p:nvSpPr>
        <p:spPr>
          <a:xfrm>
            <a:off x="502920" y="27960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7" name="TextBox 16"/>
          <p:cNvSpPr txBox="1"/>
          <p:nvPr/>
        </p:nvSpPr>
        <p:spPr>
          <a:xfrm>
            <a:off x="1078992" y="2796032"/>
            <a:ext cx="10607040"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Building the heap takes O(n) time using the bottom-up approach.</a:t>
            </a:r>
          </a:p>
        </p:txBody>
      </p:sp>
      <p:sp>
        <p:nvSpPr>
          <p:cNvPr id="18" name="Oval 17"/>
          <p:cNvSpPr/>
          <p:nvPr/>
        </p:nvSpPr>
        <p:spPr>
          <a:xfrm>
            <a:off x="502920" y="37040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9" name="TextBox 18"/>
          <p:cNvSpPr txBox="1"/>
          <p:nvPr/>
        </p:nvSpPr>
        <p:spPr>
          <a:xfrm>
            <a:off x="1078992" y="3704082"/>
            <a:ext cx="10607040"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Extracting each of the n elements requires O(log n) heapify operations.</a:t>
            </a:r>
          </a:p>
        </p:txBody>
      </p:sp>
      <p:sp>
        <p:nvSpPr>
          <p:cNvPr id="20" name="Oval 19"/>
          <p:cNvSpPr/>
          <p:nvPr/>
        </p:nvSpPr>
        <p:spPr>
          <a:xfrm>
            <a:off x="502920" y="46121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21" name="TextBox 20"/>
          <p:cNvSpPr txBox="1"/>
          <p:nvPr/>
        </p:nvSpPr>
        <p:spPr>
          <a:xfrm>
            <a:off x="1078992" y="4612132"/>
            <a:ext cx="10607040"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The algorithm performs consistently regardless of the initial order of input data.</a:t>
            </a:r>
          </a:p>
        </p:txBody>
      </p:sp>
      <p:sp>
        <p:nvSpPr>
          <p:cNvPr id="22" name="Oval 21"/>
          <p:cNvSpPr/>
          <p:nvPr/>
        </p:nvSpPr>
        <p:spPr>
          <a:xfrm>
            <a:off x="502920" y="55201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3" name="TextBox 22"/>
          <p:cNvSpPr txBox="1"/>
          <p:nvPr/>
        </p:nvSpPr>
        <p:spPr>
          <a:xfrm>
            <a:off x="1078992" y="5520182"/>
            <a:ext cx="10607040"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Space complexity is O(1) as it sorts the array in place without recursion stack.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THE ALGORITHM CONSISTS OF TWO PHASES</a:t>
            </a:r>
          </a:p>
          <a:p>
            <a:pPr algn="l">
              <a:lnSpc>
                <a:spcPct val="135000"/>
              </a:lnSpc>
            </a:pPr>
            <a:r>
              <a:rPr sz="1300">
                <a:solidFill>
                  <a:srgbClr val="1A1A1A"/>
                </a:solidFill>
                <a:latin typeface="Calibri"/>
              </a:rPr>
              <a:t>building the heap and extracting elements.</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Heap Sort uses a binary heap to achieve O(n log n) sorting efficiency.</a:t>
            </a:r>
          </a:p>
          <a:p>
            <a:pPr algn="l">
              <a:lnSpc>
                <a:spcPct val="135000"/>
              </a:lnSpc>
            </a:pPr>
            <a:r>
              <a:rPr sz="1300">
                <a:solidFill>
                  <a:srgbClr val="1A1A1A"/>
                </a:solidFill>
                <a:latin typeface="Calibri"/>
              </a:rPr>
              <a:t>•  It is an in-place algorithm with constant space complexity O(1).</a:t>
            </a:r>
          </a:p>
          <a:p>
            <a:pPr algn="l">
              <a:lnSpc>
                <a:spcPct val="135000"/>
              </a:lnSpc>
            </a:pPr>
            <a:r>
              <a:rPr sz="1300">
                <a:solidFill>
                  <a:srgbClr val="1A1A1A"/>
                </a:solidFill>
                <a:latin typeface="Calibri"/>
              </a:rPr>
              <a:t>•  Unlike Quick Sort, it guarantees O(n log n) performance in all cases.</a:t>
            </a:r>
          </a:p>
          <a:p>
            <a:pPr algn="l">
              <a:lnSpc>
                <a:spcPct val="135000"/>
              </a:lnSpc>
            </a:pPr>
            <a:r>
              <a:rPr sz="1300">
                <a:solidFill>
                  <a:srgbClr val="1A1A1A"/>
                </a:solidFill>
                <a:latin typeface="Calibri"/>
              </a:rPr>
              <a:t>•  The heapify process is critical for maintaining the tree structure during sorting.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DATA STRUCTURES</a:t>
            </a:r>
          </a:p>
          <a:p>
            <a:pPr algn="l">
              <a:lnSpc>
                <a:spcPct val="135000"/>
              </a:lnSpc>
            </a:pPr>
            <a:r>
              <a:rPr sz="1300">
                <a:solidFill>
                  <a:srgbClr val="1A1A1A"/>
                </a:solidFill>
                <a:latin typeface="Calibri"/>
              </a:rPr>
              <a:t>A Pseudocode Approach with C — Gilberg, Forouzan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Data Structures — Lipschutz</a:t>
            </a:r>
          </a:p>
          <a:p>
            <a:pPr algn="l">
              <a:lnSpc>
                <a:spcPct val="135000"/>
              </a:lnSpc>
            </a:pPr>
            <a:r>
              <a:rPr sz="1300">
                <a:solidFill>
                  <a:srgbClr val="1A1A1A"/>
                </a:solidFill>
                <a:latin typeface="Calibri"/>
              </a:rPr>
              <a:t>•  Data Structure Using C — AK Sharma</a:t>
            </a:r>
          </a:p>
          <a:p>
            <a:pPr algn="l">
              <a:lnSpc>
                <a:spcPct val="135000"/>
              </a:lnSpc>
            </a:pPr>
            <a:r>
              <a:rPr sz="1300">
                <a:solidFill>
                  <a:srgbClr val="1A1A1A"/>
                </a:solidFill>
                <a:latin typeface="Calibri"/>
              </a:rPr>
              <a:t>•  C and Data structure — P. S. Deshpandey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Heap Sort: Searching and Sorting</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