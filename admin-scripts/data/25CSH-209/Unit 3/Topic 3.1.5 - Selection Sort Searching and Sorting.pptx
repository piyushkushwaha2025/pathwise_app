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Selection Sort within our Data Structure course. We are focusing on Unit-3, specifically the Searching and Sorting chapter. Remember our motto: Discover. Learn. Empower. as we dive into this fundamental algorithm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our Course Outcomes. CO2 focuses on implementing data structures, while CO3 specifically targets the analysis and application of sorting techniques like Selection Sort. Mastering this algorithm will help you achieve both outcomes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Selection Sort and explain its mechanism clearly. We will analyze why it has quadratic time complexity and demonstrate it with a concrete example. Finally, we will identify common pitfalls to avoid in your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Selection Sort works by maintaining two subarrays: one sorted and one unsorted. In each pass, it finds the smallest element in the unsorted part and swaps it to the correct position. This simple concept makes it easy to understand but computationally expensive for large datasets.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the logic: we assume the first element is the minimum, then scan the rest. If we find a smaller value, we update our minimum index. Once the scan is complete, we swap the found minimum with the first element of the unsorted section. This ensures the smallest element is placed correctly.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pseudocode uses a nested loop structure. The outer loop controls the position we are filling, while the inner loop searches for the minimum. We only swap if the minimum index is different from the current index to avoid unnecessary operations. This logic ensures correctness regardless of the initial array order.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our first pass. We scan the entire array [64, 25, 12, 22, 11] and find 11 is the smallest. We swap 64 and 11. Now, 11 is in its final sorted position at the beginning. The sorted region has grown to include just one element.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second pass, we ignore the first element since it's already sorted. We look at [25, 12, 22, 64] and find 12 is the minimum. We swap 25 and 12. Now the first two elements [11, 12] are sorted and in their correct positions.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Continuing this process, we swap 25 and 22 in the third pass. In the final pass, we check the remaining two elements. Since 25 is already smaller than 64, no swap occurs. The array is now fully sorted: [11, 12, 22, 25, 64].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Selection Sort always performs the same number of comparisons regardless of the input order. The number of comparisons is roughly n²/2, making it O(n²). While the number of swaps is low, the quadratic comparison cost makes it inefficient for large datasets compared to algorithms like Merge Sort.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major advantage is that it uses constant extra space, making it memory efficient. However, it is unstable, meaning the relative order of equal elements is not preserved. For instance, if you have two 5s, their original order might be swapped. This is a critical consideration for specific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swapping elements even when the minimum is already in the correct position, wasting CPU cycles. Another error is off-by-one errors in loop bounds, which can crash the program. Always verify your loop conditions and ensure you only swap when necessary to optimize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Selection Sort is a simple algorithm that works by repeatedly selecting the minimum element. While it is memory efficient with O(1) space, its quadratic time complexity makes it unsuitable for large datasets. Remember that it is unstable and does not benefit from pre-sorted data.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and detailed explanations, please refer to the textbooks listed here. Gilberg and Forouzan provide excellent pseudocode approaches, while Lipschutz offers a comprehensive theoretical foundation. Sharma and Deshpandey provide practical C implementations that complement our lecture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gif"/><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Selection Sort: Searching and Sorting</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Searching and Sorting</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Searching and Sorting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Selection Sort as a comparison-based sorting algorithm.</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step-by-step selection and swapping mechanism.</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time complexity as O(n²) for all cases.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the algorithm using a numerical array example.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pitfalls like unnecessary swaps in sorted arrays.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and Core Concept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Selection Sort divides the input list into sorted and unsorted regions.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algorithm repeatedly selects the minimum element from the unsorted region.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swaps the selected minimum element with the first unsorted element.</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process expands the sorted region by one element in each iteration.</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algorithm terminates when the unsorted region becomes empty.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an in-place sorting algorithm requiring constant extra memory.</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Quicksort 2 - Sorting | HackerRank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Working Principle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Step-by-Step</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Start with the first element as the current minimum candidate.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Scan the entire unsorted portion to find the true minimum value.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Compare the found minimum with the current position's element.</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Swap them only if the minimum is smaller than the current element.</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Move the boundary of the sorted region one step to the right.</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Repeat until the entire array is sorted in ascending order.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Governing Logic and Pseudocode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Outer loop runs from index i = 0 to n-2</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CONDITION</a:t>
            </a:r>
          </a:p>
          <a:p>
            <a:pPr algn="l">
              <a:lnSpc>
                <a:spcPct val="135000"/>
              </a:lnSpc>
            </a:pPr>
            <a:r>
              <a:rPr sz="1300">
                <a:solidFill>
                  <a:srgbClr val="1A1A1A"/>
                </a:solidFill>
                <a:latin typeface="Calibri"/>
              </a:rPr>
              <a:t>if arr[j] &lt; arr[min_index], update min_index.</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SWAP LOGIC</a:t>
            </a:r>
          </a:p>
          <a:p>
            <a:pPr algn="l">
              <a:lnSpc>
                <a:spcPct val="135000"/>
              </a:lnSpc>
            </a:pPr>
            <a:r>
              <a:rPr sz="1300">
                <a:solidFill>
                  <a:srgbClr val="1A1A1A"/>
                </a:solidFill>
                <a:latin typeface="Calibri"/>
              </a:rPr>
              <a:t>temp = arr[i]; arr[i] = arr[min_index]; arr[min_index] = temp.</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Inner loop runs from index j = i+1 to n-1.</a:t>
            </a:r>
          </a:p>
          <a:p>
            <a:pPr algn="l">
              <a:lnSpc>
                <a:spcPct val="135000"/>
              </a:lnSpc>
            </a:pPr>
            <a:r>
              <a:rPr sz="1300">
                <a:solidFill>
                  <a:srgbClr val="1A1A1A"/>
                </a:solidFill>
                <a:latin typeface="Calibri"/>
              </a:rPr>
              <a:t>•  The algorithm performs exactly n-1 swaps in the worst case.</a:t>
            </a:r>
          </a:p>
          <a:p>
            <a:pPr algn="l">
              <a:lnSpc>
                <a:spcPct val="135000"/>
              </a:lnSpc>
            </a:pPr>
            <a:r>
              <a:rPr sz="1300">
                <a:solidFill>
                  <a:srgbClr val="1A1A1A"/>
                </a:solidFill>
                <a:latin typeface="Calibri"/>
              </a:rPr>
              <a:t>•  No conditional logic is needed for the swap if min_index equals i.</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d8it4huxumps7.cloudfront.net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Numerical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Pass 1</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INITIAL ARRAY</a:t>
            </a:r>
          </a:p>
          <a:p>
            <a:pPr algn="l">
              <a:lnSpc>
                <a:spcPct val="135000"/>
              </a:lnSpc>
            </a:pPr>
            <a:r>
              <a:rPr sz="1300">
                <a:solidFill>
                  <a:srgbClr val="1A1A1A"/>
                </a:solidFill>
                <a:latin typeface="Calibri"/>
              </a:rPr>
              <a:t>[64, 25, 12, 22, 11]</a:t>
            </a:r>
          </a:p>
        </p:txBody>
      </p:sp>
      <p:sp>
        <p:nvSpPr>
          <p:cNvPr id="16" name="Rectangle 15"/>
          <p:cNvSpPr/>
          <p:nvPr/>
        </p:nvSpPr>
        <p:spPr>
          <a:xfrm>
            <a:off x="3669715"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ARRAY BECOMES</a:t>
            </a:r>
          </a:p>
          <a:p>
            <a:pPr algn="l">
              <a:lnSpc>
                <a:spcPct val="135000"/>
              </a:lnSpc>
            </a:pPr>
            <a:r>
              <a:rPr sz="1300">
                <a:solidFill>
                  <a:srgbClr val="1A1A1A"/>
                </a:solidFill>
                <a:latin typeface="Calibri"/>
              </a:rPr>
              <a:t>[11, 25, 12, 22, 64]</a:t>
            </a:r>
          </a:p>
        </p:txBody>
      </p:sp>
      <p:sp>
        <p:nvSpPr>
          <p:cNvPr id="19" name="Rectangle 18"/>
          <p:cNvSpPr/>
          <p:nvPr/>
        </p:nvSpPr>
        <p:spPr>
          <a:xfrm>
            <a:off x="502920"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SORTED REGION NOW CONTAINS</a:t>
            </a:r>
          </a:p>
          <a:p>
            <a:pPr algn="l">
              <a:lnSpc>
                <a:spcPct val="135000"/>
              </a:lnSpc>
            </a:pPr>
            <a:r>
              <a:rPr sz="1300">
                <a:solidFill>
                  <a:srgbClr val="1A1A1A"/>
                </a:solidFill>
                <a:latin typeface="Calibri"/>
              </a:rPr>
              <a:t>[11]</a:t>
            </a:r>
          </a:p>
        </p:txBody>
      </p:sp>
      <p:sp>
        <p:nvSpPr>
          <p:cNvPr id="22" name="Rectangle 21"/>
          <p:cNvSpPr/>
          <p:nvPr/>
        </p:nvSpPr>
        <p:spPr>
          <a:xfrm>
            <a:off x="3669715"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UNSORTED REGION REMAINS</a:t>
            </a:r>
          </a:p>
          <a:p>
            <a:pPr algn="l">
              <a:lnSpc>
                <a:spcPct val="135000"/>
              </a:lnSpc>
            </a:pPr>
            <a:r>
              <a:rPr sz="1300">
                <a:solidFill>
                  <a:srgbClr val="1A1A1A"/>
                </a:solidFill>
                <a:latin typeface="Calibri"/>
              </a:rPr>
              <a:t>[25, 12, 22, 64]</a:t>
            </a:r>
          </a:p>
        </p:txBody>
      </p:sp>
      <p:sp>
        <p:nvSpPr>
          <p:cNvPr id="25" name="Rectangle 24"/>
          <p:cNvSpPr/>
          <p:nvPr/>
        </p:nvSpPr>
        <p:spPr>
          <a:xfrm>
            <a:off x="502920" y="4851738"/>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851738"/>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970610"/>
            <a:ext cx="2567355" cy="1192445"/>
          </a:xfrm>
          <a:prstGeom prst="rect">
            <a:avLst/>
          </a:prstGeom>
          <a:noFill/>
        </p:spPr>
        <p:txBody>
          <a:bodyPr wrap="square" lIns="0" rIns="0" tIns="0" bIns="0">
            <a:spAutoFit/>
          </a:bodyPr>
          <a:lstStyle/>
          <a:p>
            <a:pPr algn="l">
              <a:lnSpc>
                <a:spcPct val="135000"/>
              </a:lnSpc>
            </a:pPr>
            <a:r>
              <a:rPr sz="1300">
                <a:solidFill>
                  <a:srgbClr val="1A1A1A"/>
                </a:solidFill>
                <a:latin typeface="Calibri"/>
              </a:rPr>
              <a:t>•  Pass 1: Find minimum in [64, 25, 12, 22, 11] which is 11.</a:t>
            </a:r>
          </a:p>
          <a:p>
            <a:pPr algn="l">
              <a:lnSpc>
                <a:spcPct val="135000"/>
              </a:lnSpc>
            </a:pPr>
            <a:r>
              <a:rPr sz="1300">
                <a:solidFill>
                  <a:srgbClr val="1A1A1A"/>
                </a:solidFill>
                <a:latin typeface="Calibri"/>
              </a:rPr>
              <a:t>•  Swap 64 (index 0) with 11 (index 4).</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www.w3resource.com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Numerical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Pass 2</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CURRENT ARRAY</a:t>
            </a:r>
          </a:p>
          <a:p>
            <a:pPr algn="l">
              <a:lnSpc>
                <a:spcPct val="135000"/>
              </a:lnSpc>
            </a:pPr>
            <a:r>
              <a:rPr sz="1300">
                <a:solidFill>
                  <a:srgbClr val="1A1A1A"/>
                </a:solidFill>
                <a:latin typeface="Calibri"/>
              </a:rPr>
              <a:t>[11, 25, 12, 22, 64]</a:t>
            </a:r>
          </a:p>
        </p:txBody>
      </p:sp>
      <p:sp>
        <p:nvSpPr>
          <p:cNvPr id="16" name="Rectangle 15"/>
          <p:cNvSpPr/>
          <p:nvPr/>
        </p:nvSpPr>
        <p:spPr>
          <a:xfrm>
            <a:off x="3669715"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ARRAY BECOMES</a:t>
            </a:r>
          </a:p>
          <a:p>
            <a:pPr algn="l">
              <a:lnSpc>
                <a:spcPct val="135000"/>
              </a:lnSpc>
            </a:pPr>
            <a:r>
              <a:rPr sz="1300">
                <a:solidFill>
                  <a:srgbClr val="1A1A1A"/>
                </a:solidFill>
                <a:latin typeface="Calibri"/>
              </a:rPr>
              <a:t>[11, 12, 25, 22, 64]</a:t>
            </a:r>
          </a:p>
        </p:txBody>
      </p:sp>
      <p:sp>
        <p:nvSpPr>
          <p:cNvPr id="19" name="Rectangle 18"/>
          <p:cNvSpPr/>
          <p:nvPr/>
        </p:nvSpPr>
        <p:spPr>
          <a:xfrm>
            <a:off x="502920"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SORTED REGION NOW CONTAINS</a:t>
            </a:r>
          </a:p>
          <a:p>
            <a:pPr algn="l">
              <a:lnSpc>
                <a:spcPct val="135000"/>
              </a:lnSpc>
            </a:pPr>
            <a:r>
              <a:rPr sz="1300">
                <a:solidFill>
                  <a:srgbClr val="1A1A1A"/>
                </a:solidFill>
                <a:latin typeface="Calibri"/>
              </a:rPr>
              <a:t>[11, 12]</a:t>
            </a:r>
          </a:p>
        </p:txBody>
      </p:sp>
      <p:sp>
        <p:nvSpPr>
          <p:cNvPr id="22" name="Rectangle 21"/>
          <p:cNvSpPr/>
          <p:nvPr/>
        </p:nvSpPr>
        <p:spPr>
          <a:xfrm>
            <a:off x="3669715"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UNSORTED REGION REMAINS</a:t>
            </a:r>
          </a:p>
          <a:p>
            <a:pPr algn="l">
              <a:lnSpc>
                <a:spcPct val="135000"/>
              </a:lnSpc>
            </a:pPr>
            <a:r>
              <a:rPr sz="1300">
                <a:solidFill>
                  <a:srgbClr val="1A1A1A"/>
                </a:solidFill>
                <a:latin typeface="Calibri"/>
              </a:rPr>
              <a:t>[25, 22, 64]</a:t>
            </a:r>
          </a:p>
        </p:txBody>
      </p:sp>
      <p:sp>
        <p:nvSpPr>
          <p:cNvPr id="25" name="Rectangle 24"/>
          <p:cNvSpPr/>
          <p:nvPr/>
        </p:nvSpPr>
        <p:spPr>
          <a:xfrm>
            <a:off x="502920" y="4851738"/>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851738"/>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970610"/>
            <a:ext cx="2567355" cy="1192445"/>
          </a:xfrm>
          <a:prstGeom prst="rect">
            <a:avLst/>
          </a:prstGeom>
          <a:noFill/>
        </p:spPr>
        <p:txBody>
          <a:bodyPr wrap="square" lIns="0" rIns="0" tIns="0" bIns="0">
            <a:spAutoFit/>
          </a:bodyPr>
          <a:lstStyle/>
          <a:p>
            <a:pPr algn="l">
              <a:lnSpc>
                <a:spcPct val="135000"/>
              </a:lnSpc>
            </a:pPr>
            <a:r>
              <a:rPr sz="1300">
                <a:solidFill>
                  <a:srgbClr val="1A1A1A"/>
                </a:solidFill>
                <a:latin typeface="Calibri"/>
              </a:rPr>
              <a:t>•  Pass 2: Find minimum in [25, 12, 22, 64] which is 12.</a:t>
            </a:r>
          </a:p>
          <a:p>
            <a:pPr algn="l">
              <a:lnSpc>
                <a:spcPct val="135000"/>
              </a:lnSpc>
            </a:pPr>
            <a:r>
              <a:rPr sz="1300">
                <a:solidFill>
                  <a:srgbClr val="1A1A1A"/>
                </a:solidFill>
                <a:latin typeface="Calibri"/>
              </a:rPr>
              <a:t>•  Swap 25 (index 1) with 12 (index 2).</a:t>
            </a:r>
          </a:p>
        </p:txBody>
      </p:sp>
      <p:pic>
        <p:nvPicPr>
          <p:cNvPr id="28" name="Picture 27" descr="image.gif"/>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static.afteracademy.com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Numerical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Final Pass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CURRENT ARRAY</a:t>
            </a:r>
          </a:p>
          <a:p>
            <a:pPr algn="l">
              <a:lnSpc>
                <a:spcPct val="135000"/>
              </a:lnSpc>
            </a:pPr>
            <a:r>
              <a:rPr sz="1300">
                <a:solidFill>
                  <a:srgbClr val="1A1A1A"/>
                </a:solidFill>
                <a:latin typeface="Calibri"/>
              </a:rPr>
              <a:t>[11, 12, 25, 22, 64]</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ARRAY BECOMES</a:t>
            </a:r>
          </a:p>
          <a:p>
            <a:pPr algn="l">
              <a:lnSpc>
                <a:spcPct val="135000"/>
              </a:lnSpc>
            </a:pPr>
            <a:r>
              <a:rPr sz="1300">
                <a:solidFill>
                  <a:srgbClr val="1A1A1A"/>
                </a:solidFill>
                <a:latin typeface="Calibri"/>
              </a:rPr>
              <a:t>[11, 12, 22, 25, 64]</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Pass 3: Find minimum in [25, 22, 64] which is 22.</a:t>
            </a:r>
          </a:p>
          <a:p>
            <a:pPr algn="l">
              <a:lnSpc>
                <a:spcPct val="135000"/>
              </a:lnSpc>
            </a:pPr>
            <a:r>
              <a:rPr sz="1300">
                <a:solidFill>
                  <a:srgbClr val="1A1A1A"/>
                </a:solidFill>
                <a:latin typeface="Calibri"/>
              </a:rPr>
              <a:t>•  Swap 25 (index 2) with 22 (index 3).</a:t>
            </a:r>
          </a:p>
          <a:p>
            <a:pPr algn="l">
              <a:lnSpc>
                <a:spcPct val="135000"/>
              </a:lnSpc>
            </a:pPr>
            <a:r>
              <a:rPr sz="1300">
                <a:solidFill>
                  <a:srgbClr val="1A1A1A"/>
                </a:solidFill>
                <a:latin typeface="Calibri"/>
              </a:rPr>
              <a:t>•  Pass 4: Find minimum in [25, 64] which is 25.</a:t>
            </a:r>
          </a:p>
          <a:p>
            <a:pPr algn="l">
              <a:lnSpc>
                <a:spcPct val="135000"/>
              </a:lnSpc>
            </a:pPr>
            <a:r>
              <a:rPr sz="1300">
                <a:solidFill>
                  <a:srgbClr val="1A1A1A"/>
                </a:solidFill>
                <a:latin typeface="Calibri"/>
              </a:rPr>
              <a:t>•  No swap needed as 25 is already at index 3.</a:t>
            </a:r>
          </a:p>
        </p:txBody>
      </p:sp>
      <p:pic>
        <p:nvPicPr>
          <p:cNvPr id="22" name="Picture 21"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www.visual-paradigm.com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Time Complexity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Total comparisons = (n-1) + (n-2) + ... + 1 = n(n-1)/2</a:t>
            </a:r>
          </a:p>
        </p:txBody>
      </p:sp>
      <p:sp>
        <p:nvSpPr>
          <p:cNvPr id="16" name="Rectangle 15"/>
          <p:cNvSpPr/>
          <p:nvPr/>
        </p:nvSpPr>
        <p:spPr>
          <a:xfrm>
            <a:off x="502920" y="279603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BEST CASE TIME COMPLEXITY</a:t>
            </a:r>
          </a:p>
          <a:p>
            <a:pPr algn="l">
              <a:lnSpc>
                <a:spcPct val="135000"/>
              </a:lnSpc>
            </a:pPr>
            <a:r>
              <a:rPr sz="1300">
                <a:solidFill>
                  <a:srgbClr val="1A1A1A"/>
                </a:solidFill>
                <a:latin typeface="Calibri"/>
              </a:rPr>
              <a:t>O(n²) comparisons.</a:t>
            </a:r>
          </a:p>
        </p:txBody>
      </p:sp>
      <p:sp>
        <p:nvSpPr>
          <p:cNvPr id="19" name="Rectangle 18"/>
          <p:cNvSpPr/>
          <p:nvPr/>
        </p:nvSpPr>
        <p:spPr>
          <a:xfrm>
            <a:off x="3669715" y="279603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AVERAGE CASE TIME COMPLEXITY</a:t>
            </a:r>
          </a:p>
          <a:p>
            <a:pPr algn="l">
              <a:lnSpc>
                <a:spcPct val="135000"/>
              </a:lnSpc>
            </a:pPr>
            <a:r>
              <a:rPr sz="1300">
                <a:solidFill>
                  <a:srgbClr val="1A1A1A"/>
                </a:solidFill>
                <a:latin typeface="Calibri"/>
              </a:rPr>
              <a:t>O(n²) comparisons.</a:t>
            </a:r>
          </a:p>
        </p:txBody>
      </p:sp>
      <p:sp>
        <p:nvSpPr>
          <p:cNvPr id="22" name="Rectangle 21"/>
          <p:cNvSpPr/>
          <p:nvPr/>
        </p:nvSpPr>
        <p:spPr>
          <a:xfrm>
            <a:off x="502920" y="4018957"/>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137829"/>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WORST CASE TIME COMPLEXITY</a:t>
            </a:r>
          </a:p>
          <a:p>
            <a:pPr algn="l">
              <a:lnSpc>
                <a:spcPct val="135000"/>
              </a:lnSpc>
            </a:pPr>
            <a:r>
              <a:rPr sz="1300">
                <a:solidFill>
                  <a:srgbClr val="1A1A1A"/>
                </a:solidFill>
                <a:latin typeface="Calibri"/>
              </a:rPr>
              <a:t>O(n²) comparisons.</a:t>
            </a:r>
          </a:p>
        </p:txBody>
      </p:sp>
      <p:sp>
        <p:nvSpPr>
          <p:cNvPr id="25" name="Rectangle 24"/>
          <p:cNvSpPr/>
          <p:nvPr/>
        </p:nvSpPr>
        <p:spPr>
          <a:xfrm>
            <a:off x="3669715" y="4018957"/>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137829"/>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SWAPS ARE MINIMAL</a:t>
            </a:r>
          </a:p>
          <a:p>
            <a:pPr algn="l">
              <a:lnSpc>
                <a:spcPct val="135000"/>
              </a:lnSpc>
            </a:pPr>
            <a:r>
              <a:rPr sz="1300">
                <a:solidFill>
                  <a:srgbClr val="1A1A1A"/>
                </a:solidFill>
                <a:latin typeface="Calibri"/>
              </a:rPr>
              <a:t>O(n) in all cases.</a:t>
            </a:r>
          </a:p>
        </p:txBody>
      </p:sp>
      <p:sp>
        <p:nvSpPr>
          <p:cNvPr id="28" name="Rectangle 27"/>
          <p:cNvSpPr/>
          <p:nvPr/>
        </p:nvSpPr>
        <p:spPr>
          <a:xfrm>
            <a:off x="502920" y="524188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524188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6600" y="5360754"/>
            <a:ext cx="2567355" cy="802301"/>
          </a:xfrm>
          <a:prstGeom prst="rect">
            <a:avLst/>
          </a:prstGeom>
          <a:noFill/>
        </p:spPr>
        <p:txBody>
          <a:bodyPr wrap="square" lIns="0" rIns="0" tIns="0" bIns="0">
            <a:spAutoFit/>
          </a:bodyPr>
          <a:lstStyle/>
          <a:p>
            <a:pPr algn="l">
              <a:lnSpc>
                <a:spcPct val="135000"/>
              </a:lnSpc>
            </a:pPr>
            <a:r>
              <a:rPr sz="1300">
                <a:solidFill>
                  <a:srgbClr val="1A1A1A"/>
                </a:solidFill>
                <a:latin typeface="Calibri"/>
              </a:rPr>
              <a:t>•  Performance does not improve even if the array is already sorted.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Space Complexity and Stability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SPACE COMPLEXITY</a:t>
            </a:r>
          </a:p>
          <a:p>
            <a:pPr algn="l">
              <a:lnSpc>
                <a:spcPct val="135000"/>
              </a:lnSpc>
            </a:pPr>
            <a:r>
              <a:rPr sz="1300">
                <a:solidFill>
                  <a:srgbClr val="1A1A1A"/>
                </a:solidFill>
                <a:latin typeface="Calibri"/>
              </a:rPr>
              <a:t>O(1) auxiliary space required.</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[5a, 2, 5b] might become [2, 5b, 5a] after sorting.</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Algorithm is in-place as it modifies the original array.</a:t>
            </a:r>
          </a:p>
          <a:p>
            <a:pPr algn="l">
              <a:lnSpc>
                <a:spcPct val="135000"/>
              </a:lnSpc>
            </a:pPr>
            <a:r>
              <a:rPr sz="1300">
                <a:solidFill>
                  <a:srgbClr val="1A1A1A"/>
                </a:solidFill>
                <a:latin typeface="Calibri"/>
              </a:rPr>
              <a:t>•  Selection Sort is an unstable sorting algorithm.</a:t>
            </a:r>
          </a:p>
          <a:p>
            <a:pPr algn="l">
              <a:lnSpc>
                <a:spcPct val="135000"/>
              </a:lnSpc>
            </a:pPr>
            <a:r>
              <a:rPr sz="1300">
                <a:solidFill>
                  <a:srgbClr val="1A1A1A"/>
                </a:solidFill>
                <a:latin typeface="Calibri"/>
              </a:rPr>
              <a:t>•  Unstable means equal elements may change relative order after sorting.</a:t>
            </a:r>
          </a:p>
          <a:p>
            <a:pPr algn="l">
              <a:lnSpc>
                <a:spcPct val="135000"/>
              </a:lnSpc>
            </a:pPr>
            <a:r>
              <a:rPr sz="1300">
                <a:solidFill>
                  <a:srgbClr val="1A1A1A"/>
                </a:solidFill>
                <a:latin typeface="Calibri"/>
              </a:rPr>
              <a:t>•  It is not suitable for linked lists due to random access needs.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and Errors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Performing a swap even when min_index equals the current index.</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Incorrect loop bounds causing out-of-bounds array access errors.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update the min_index correctly during the inner scan.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the algorithm is fast for nearly sorted data.</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Selection Sort with Bubble Sort regarding swap counts.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floating point comparisons without handling precision issues.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Selection Sort repeatedly finds the minimum element and swaps it.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divides the array into sorted and unsorted subarrays.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Time complexity is O(n²) for all cases, making it slow for large data.</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Space complexity is O(1), making it memory efficient and in-place.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algorithm is unstable and performs poorly on nearly sorted arrays.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Selection Sort: Searching and Sorting</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