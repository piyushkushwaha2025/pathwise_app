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Welcome everyone to today's lecture on Insertion Sort. This topic is a fundamental part of our unit on Searching and Sorting. As we begin, remember that mastering these basic algorithms is crucial for your engineering career. Let us dive into how we can sort data efficiently.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Today's lecture directly addresses our Course Outcomes. CO1 is met as we analyze the Insertion Sort algorithm and its complexity. Although CO5 focuses on graphs, the logical thinking required for sorting algorithms builds the foundation for solving complex graph traversal problems later.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By the end of this session, you will be able to define Insertion Sort clearly. You will trace how an unsorted array becomes sorted step-by-step. We will also analyze the time complexity to understand when this algorithm is most useful. Finally, we will compare it briefly with other methods to see its place in the broader context.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Think of Insertion Sort like sorting a hand of playing cards. You pick up one card at a time and place it in the correct spot among the cards you are already holding. The left side of the array is always sorted, while the right side remains unsorted. We take the first element of the unsorted part and insert it into the sorted part.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look at the logic in detail. We start with the second element, treating it as our 'key'. We compare this key with the elements to its left. If the key is smaller, we shift the larger element to the right. We keep shifting until we find the correct spot for the key. This ensures the left side remains sorted after every iteration.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Let's trace this with the array [12, 11, 13, 5, 6]. First, we take 11 and place it before 12. Next, 13 is already in order. Then comes 5, which is smaller than all previous elements, so we shift 12, 11, and 13 to the right. Finally, 6 is inserted between 5 and 11. The array is now fully sorted.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performance of Insertion Sort depends heavily on the initial order of data. If the array is already sorted, we only need one pass, making it O(n). However, if the array is reverse sorted, we must shift every element for every key, leading to O(n²). Despite the quadratic time, it uses constant space, making it memory efficient.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Why use Insertion Sort? It is incredibly simple and stable, meaning equal elements keep their original order. It is also very fast for small lists or lists that are almost sorted. However, for large datasets, the quadratic time complexity makes it impractical compared to faster algorithms like Merge Sort or Quick Sort.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Insertion Sort is a simple, stable algorithm that builds the sorted array incrementally. Remember that its efficiency drops significantly for large datasets due to the O(n²) complexity. However, for small or nearly sorted lists, it is often the most efficient choice. Always consider the data size before selecting this algorithm.</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four books provide comprehensive coverage of data structures and algorithms. I recommend Gilberg and Forouzan for a pseudocode approach, and Lipschutz for clear theoretical explanations. Sharma and Deshpandey offer excellent practical examples using the C language. Please refer to these texts for further study and practice problems.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jp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jpg"/><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274320"/>
            <a:ext cx="1097280" cy="548640"/>
          </a:xfrm>
          <a:prstGeom prst="rect">
            <a:avLst/>
          </a:prstGeom>
        </p:spPr>
      </p:pic>
      <p:sp>
        <p:nvSpPr>
          <p:cNvPr id="3" name="TextBox 2"/>
          <p:cNvSpPr txBox="1"/>
          <p:nvPr/>
        </p:nvSpPr>
        <p:spPr>
          <a:xfrm>
            <a:off x="457200" y="1783080"/>
            <a:ext cx="11274552" cy="2194560"/>
          </a:xfrm>
          <a:prstGeom prst="rect">
            <a:avLst/>
          </a:prstGeom>
          <a:noFill/>
        </p:spPr>
        <p:txBody>
          <a:bodyPr wrap="square">
            <a:normAutofit/>
          </a:bodyPr>
          <a:lstStyle/>
          <a:p>
            <a:pPr algn="ctr"/>
            <a:r>
              <a:rPr b="1" sz="4000">
                <a:solidFill>
                  <a:srgbClr val="1A1A2E"/>
                </a:solidFill>
                <a:latin typeface="Calibri"/>
              </a:rPr>
              <a:t>Sorting Techniques: Insertion Sort</a:t>
            </a:r>
          </a:p>
        </p:txBody>
      </p:sp>
      <p:sp>
        <p:nvSpPr>
          <p:cNvPr id="4" name="TextBox 3"/>
          <p:cNvSpPr txBox="1"/>
          <p:nvPr/>
        </p:nvSpPr>
        <p:spPr>
          <a:xfrm>
            <a:off x="457200" y="4069080"/>
            <a:ext cx="11274552" cy="777240"/>
          </a:xfrm>
          <a:prstGeom prst="rect">
            <a:avLst/>
          </a:prstGeom>
          <a:noFill/>
        </p:spPr>
        <p:txBody>
          <a:bodyPr wrap="square">
            <a:normAutofit/>
          </a:bodyPr>
          <a:lstStyle/>
          <a:p>
            <a:pPr algn="ctr"/>
            <a:r>
              <a:rPr sz="1800" i="1">
                <a:solidFill>
                  <a:srgbClr val="C8102E"/>
                </a:solidFill>
                <a:latin typeface="Calibri"/>
              </a:rPr>
              <a:t>Data Structure | Searching and Sorting</a:t>
            </a:r>
          </a:p>
        </p:txBody>
      </p:sp>
      <p:sp>
        <p:nvSpPr>
          <p:cNvPr id="5" name="TextBox 4"/>
          <p:cNvSpPr txBox="1"/>
          <p:nvPr/>
        </p:nvSpPr>
        <p:spPr>
          <a:xfrm>
            <a:off x="457200" y="5212080"/>
            <a:ext cx="11274552" cy="411480"/>
          </a:xfrm>
          <a:prstGeom prst="rect">
            <a:avLst/>
          </a:prstGeom>
          <a:noFill/>
        </p:spPr>
        <p:txBody>
          <a:bodyPr wrap="square">
            <a:spAutoFit/>
          </a:bodyPr>
          <a:lstStyle/>
          <a:p>
            <a:pPr algn="ctr"/>
            <a:r>
              <a:rPr sz="1100" i="1">
                <a:solidFill>
                  <a:srgbClr val="666666"/>
                </a:solidFill>
                <a:latin typeface="Calibri"/>
              </a:rPr>
              <a:t>Course: Data Structure   |   Chapter: Searching and Sorting   |   Program: Bachelor of Engineering</a:t>
            </a:r>
          </a:p>
        </p:txBody>
      </p:sp>
      <p:sp>
        <p:nvSpPr>
          <p:cNvPr id="6" name="TextBox 5"/>
          <p:cNvSpPr txBox="1"/>
          <p:nvPr/>
        </p:nvSpPr>
        <p:spPr>
          <a:xfrm>
            <a:off x="8074152" y="6217920"/>
            <a:ext cx="3840480" cy="457200"/>
          </a:xfrm>
          <a:prstGeom prst="rect">
            <a:avLst/>
          </a:prstGeom>
          <a:noFill/>
        </p:spPr>
        <p:txBody>
          <a:bodyPr wrap="none">
            <a:spAutoFit/>
          </a:bodyPr>
          <a:lstStyle/>
          <a:p>
            <a:pPr algn="r"/>
            <a:r>
              <a:rPr sz="1200" b="1">
                <a:solidFill>
                  <a:srgbClr val="C8102E"/>
                </a:solidFill>
                <a:latin typeface="Calibri"/>
              </a:rPr>
              <a:t>DISCOVER  ·  LEARN  ·  EMPOWER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Course Outcomes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2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47548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2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Course Outcome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graphicFrame>
        <p:nvGraphicFramePr>
          <p:cNvPr id="13" name="Table 12"/>
          <p:cNvGraphicFramePr>
            <a:graphicFrameLocks noGrp="1"/>
          </p:cNvGraphicFramePr>
          <p:nvPr/>
        </p:nvGraphicFramePr>
        <p:xfrm>
          <a:off x="502920" y="1625600"/>
          <a:ext cx="11183112" cy="4656328"/>
        </p:xfrm>
        <a:graphic>
          <a:graphicData uri="http://schemas.openxmlformats.org/drawingml/2006/table">
            <a:tbl>
              <a:tblPr firstRow="1" bandRow="1">
                <a:tableStyleId>{5C22544A-7EE6-4342-B048-85BDC9FD1C3A}</a:tableStyleId>
              </a:tblPr>
              <a:tblGrid>
                <a:gridCol w="1565635"/>
                <a:gridCol w="1565635"/>
                <a:gridCol w="8051842"/>
              </a:tblGrid>
              <a:tr h="776054">
                <a:tc>
                  <a:txBody>
                    <a:bodyPr/>
                    <a:lstStyle/>
                    <a:p>
                      <a:r>
                        <a:rPr b="1" sz="1100">
                          <a:solidFill>
                            <a:srgbClr val="FFFFFF"/>
                          </a:solidFill>
                          <a:latin typeface="Calibri"/>
                        </a:rPr>
                        <a:t>CO</a:t>
                      </a:r>
                    </a:p>
                  </a:txBody>
                  <a:tcPr marL="109728" marR="109728">
                    <a:solidFill>
                      <a:srgbClr val="C8102E"/>
                    </a:solidFill>
                  </a:tcPr>
                </a:tc>
                <a:tc>
                  <a:txBody>
                    <a:bodyPr/>
                    <a:lstStyle/>
                    <a:p>
                      <a:r>
                        <a:rPr b="1" sz="1100">
                          <a:solidFill>
                            <a:srgbClr val="FFFFFF"/>
                          </a:solidFill>
                          <a:latin typeface="Calibri"/>
                        </a:rPr>
                        <a:t>BT LEVEL</a:t>
                      </a:r>
                    </a:p>
                  </a:txBody>
                  <a:tcPr marL="109728" marR="109728">
                    <a:solidFill>
                      <a:srgbClr val="C8102E"/>
                    </a:solidFill>
                  </a:tcPr>
                </a:tc>
                <a:tc>
                  <a:txBody>
                    <a:bodyPr/>
                    <a:lstStyle/>
                    <a:p>
                      <a:r>
                        <a:rPr b="1" sz="1100">
                          <a:solidFill>
                            <a:srgbClr val="FFFFFF"/>
                          </a:solidFill>
                          <a:latin typeface="Calibri"/>
                        </a:rPr>
                        <a:t>DESCRIPTION</a:t>
                      </a:r>
                    </a:p>
                  </a:txBody>
                  <a:tcPr marL="109728" marR="109728">
                    <a:solidFill>
                      <a:srgbClr val="C8102E"/>
                    </a:solidFill>
                  </a:tcPr>
                </a:tc>
              </a:tr>
              <a:tr h="776054">
                <a:tc>
                  <a:txBody>
                    <a:bodyPr/>
                    <a:lstStyle/>
                    <a:p>
                      <a:pPr algn="ctr"/>
                      <a:r>
                        <a:rPr sz="1100" b="1">
                          <a:solidFill>
                            <a:srgbClr val="8B0000"/>
                          </a:solidFill>
                          <a:latin typeface="Calibri"/>
                        </a:rPr>
                        <a:t>CO1</a:t>
                      </a:r>
                    </a:p>
                  </a:txBody>
                  <a:tcPr marL="109728" marR="109728">
                    <a:solidFill>
                      <a:srgbClr val="FFE4E1"/>
                    </a:solidFill>
                  </a:tcPr>
                </a:tc>
                <a:tc>
                  <a:txBody>
                    <a:bodyPr/>
                    <a:lstStyle/>
                    <a:p>
                      <a:pPr algn="ctr"/>
                      <a:r>
                        <a:rPr sz="1100" b="1">
                          <a:solidFill>
                            <a:srgbClr val="1565C0"/>
                          </a:solidFill>
                          <a:latin typeface="Calibri"/>
                        </a:rPr>
                        <a:t>BT1</a:t>
                      </a:r>
                    </a:p>
                  </a:txBody>
                  <a:tcPr marL="109728" marR="109728">
                    <a:solidFill>
                      <a:srgbClr val="E3F2FD"/>
                    </a:solidFill>
                  </a:tcPr>
                </a:tc>
                <a:tc>
                  <a:txBody>
                    <a:bodyPr/>
                    <a:lstStyle/>
                    <a:p>
                      <a:pPr algn="l"/>
                      <a:r>
                        <a:rPr sz="1200" b="0">
                          <a:solidFill>
                            <a:srgbClr val="1A1A1A"/>
                          </a:solidFill>
                          <a:latin typeface="Calibri"/>
                        </a:rPr>
                        <a:t>Understand and apply basic data structures, algorithms, complexity analysis, ADTs, arrays and linked lists.</a:t>
                      </a:r>
                    </a:p>
                  </a:txBody>
                  <a:tcPr marL="109728" marR="109728">
                    <a:solidFill>
                      <a:srgbClr val="FFFFFF"/>
                    </a:solidFill>
                  </a:tcPr>
                </a:tc>
              </a:tr>
              <a:tr h="776054">
                <a:tc>
                  <a:txBody>
                    <a:bodyPr/>
                    <a:lstStyle/>
                    <a:p>
                      <a:pPr algn="ctr"/>
                      <a:r>
                        <a:rPr sz="1100" b="1">
                          <a:solidFill>
                            <a:srgbClr val="8B0000"/>
                          </a:solidFill>
                          <a:latin typeface="Calibri"/>
                        </a:rPr>
                        <a:t>CO2</a:t>
                      </a:r>
                    </a:p>
                  </a:txBody>
                  <a:tcPr marL="109728" marR="109728">
                    <a:solidFill>
                      <a:srgbClr val="FFE4E1"/>
                    </a:solidFill>
                  </a:tcPr>
                </a:tc>
                <a:tc>
                  <a:txBody>
                    <a:bodyPr/>
                    <a:lstStyle/>
                    <a:p>
                      <a:pPr algn="ctr"/>
                      <a:r>
                        <a:rPr sz="1100" b="1">
                          <a:solidFill>
                            <a:srgbClr val="2E7D32"/>
                          </a:solidFill>
                          <a:latin typeface="Calibri"/>
                        </a:rPr>
                        <a:t>BT2</a:t>
                      </a:r>
                    </a:p>
                  </a:txBody>
                  <a:tcPr marL="109728" marR="109728">
                    <a:solidFill>
                      <a:srgbClr val="E8F5E9"/>
                    </a:solidFill>
                  </a:tcPr>
                </a:tc>
                <a:tc>
                  <a:txBody>
                    <a:bodyPr/>
                    <a:lstStyle/>
                    <a:p>
                      <a:pPr algn="l"/>
                      <a:r>
                        <a:rPr sz="1200" b="0">
                          <a:solidFill>
                            <a:srgbClr val="1A1A1A"/>
                          </a:solidFill>
                          <a:latin typeface="Calibri"/>
                        </a:rPr>
                        <a:t>Apply and implement stacks and queues in problem-solving.</a:t>
                      </a:r>
                    </a:p>
                  </a:txBody>
                  <a:tcPr marL="109728" marR="109728">
                    <a:solidFill>
                      <a:srgbClr val="F5F5F5"/>
                    </a:solidFill>
                  </a:tcPr>
                </a:tc>
              </a:tr>
              <a:tr h="776054">
                <a:tc>
                  <a:txBody>
                    <a:bodyPr/>
                    <a:lstStyle/>
                    <a:p>
                      <a:pPr algn="ctr"/>
                      <a:r>
                        <a:rPr sz="1100" b="1">
                          <a:solidFill>
                            <a:srgbClr val="8B0000"/>
                          </a:solidFill>
                          <a:latin typeface="Calibri"/>
                        </a:rPr>
                        <a:t>CO3</a:t>
                      </a:r>
                    </a:p>
                  </a:txBody>
                  <a:tcPr marL="109728" marR="109728">
                    <a:solidFill>
                      <a:srgbClr val="FFE4E1"/>
                    </a:solidFill>
                  </a:tcPr>
                </a:tc>
                <a:tc>
                  <a:txBody>
                    <a:bodyPr/>
                    <a:lstStyle/>
                    <a:p>
                      <a:pPr algn="ctr"/>
                      <a:r>
                        <a:rPr sz="1100" b="1">
                          <a:solidFill>
                            <a:srgbClr val="E65100"/>
                          </a:solidFill>
                          <a:latin typeface="Calibri"/>
                        </a:rPr>
                        <a:t>BT3</a:t>
                      </a:r>
                    </a:p>
                  </a:txBody>
                  <a:tcPr marL="109728" marR="109728">
                    <a:solidFill>
                      <a:srgbClr val="FFF3E0"/>
                    </a:solidFill>
                  </a:tcPr>
                </a:tc>
                <a:tc>
                  <a:txBody>
                    <a:bodyPr/>
                    <a:lstStyle/>
                    <a:p>
                      <a:pPr algn="l"/>
                      <a:r>
                        <a:rPr sz="1200" b="0">
                          <a:solidFill>
                            <a:srgbClr val="1A1A1A"/>
                          </a:solidFill>
                          <a:latin typeface="Calibri"/>
                        </a:rPr>
                        <a:t>Analyse and apply searching, sorting, and hashing techniques.</a:t>
                      </a:r>
                    </a:p>
                  </a:txBody>
                  <a:tcPr marL="109728" marR="109728">
                    <a:solidFill>
                      <a:srgbClr val="FFFFFF"/>
                    </a:solidFill>
                  </a:tcPr>
                </a:tc>
              </a:tr>
              <a:tr h="776054">
                <a:tc>
                  <a:txBody>
                    <a:bodyPr/>
                    <a:lstStyle/>
                    <a:p>
                      <a:pPr algn="ctr"/>
                      <a:r>
                        <a:rPr sz="1100" b="1">
                          <a:solidFill>
                            <a:srgbClr val="8B0000"/>
                          </a:solidFill>
                          <a:latin typeface="Calibri"/>
                        </a:rPr>
                        <a:t>CO4</a:t>
                      </a:r>
                    </a:p>
                  </a:txBody>
                  <a:tcPr marL="109728" marR="109728">
                    <a:solidFill>
                      <a:srgbClr val="FFE4E1"/>
                    </a:solidFill>
                  </a:tcPr>
                </a:tc>
                <a:tc>
                  <a:txBody>
                    <a:bodyPr/>
                    <a:lstStyle/>
                    <a:p>
                      <a:pPr algn="ctr"/>
                      <a:r>
                        <a:rPr sz="1100" b="1">
                          <a:solidFill>
                            <a:srgbClr val="6A1B9A"/>
                          </a:solidFill>
                          <a:latin typeface="Calibri"/>
                        </a:rPr>
                        <a:t>BT4</a:t>
                      </a:r>
                    </a:p>
                  </a:txBody>
                  <a:tcPr marL="109728" marR="109728">
                    <a:solidFill>
                      <a:srgbClr val="F3E5F5"/>
                    </a:solidFill>
                  </a:tcPr>
                </a:tc>
                <a:tc>
                  <a:txBody>
                    <a:bodyPr/>
                    <a:lstStyle/>
                    <a:p>
                      <a:pPr algn="l"/>
                      <a:r>
                        <a:rPr sz="1200" b="0">
                          <a:solidFill>
                            <a:srgbClr val="1A1A1A"/>
                          </a:solidFill>
                          <a:latin typeface="Calibri"/>
                        </a:rPr>
                        <a:t>Construct and apply tree structures and traversal techniques.</a:t>
                      </a:r>
                    </a:p>
                  </a:txBody>
                  <a:tcPr marL="109728" marR="109728">
                    <a:solidFill>
                      <a:srgbClr val="F5F5F5"/>
                    </a:solidFill>
                  </a:tcPr>
                </a:tc>
              </a:tr>
              <a:tr h="776058">
                <a:tc>
                  <a:txBody>
                    <a:bodyPr/>
                    <a:lstStyle/>
                    <a:p>
                      <a:pPr algn="ctr"/>
                      <a:r>
                        <a:rPr sz="1100" b="1">
                          <a:solidFill>
                            <a:srgbClr val="8B0000"/>
                          </a:solidFill>
                          <a:latin typeface="Calibri"/>
                        </a:rPr>
                        <a:t>CO5</a:t>
                      </a:r>
                    </a:p>
                  </a:txBody>
                  <a:tcPr marL="109728" marR="109728">
                    <a:solidFill>
                      <a:srgbClr val="FFE4E1"/>
                    </a:solidFill>
                  </a:tcPr>
                </a:tc>
                <a:tc>
                  <a:txBody>
                    <a:bodyPr/>
                    <a:lstStyle/>
                    <a:p>
                      <a:pPr algn="ctr"/>
                      <a:r>
                        <a:rPr sz="1100" b="1">
                          <a:solidFill>
                            <a:srgbClr val="00838F"/>
                          </a:solidFill>
                          <a:latin typeface="Calibri"/>
                        </a:rPr>
                        <a:t>BT5</a:t>
                      </a:r>
                    </a:p>
                  </a:txBody>
                  <a:tcPr marL="109728" marR="109728">
                    <a:solidFill>
                      <a:srgbClr val="E0F7FA"/>
                    </a:solidFill>
                  </a:tcPr>
                </a:tc>
                <a:tc>
                  <a:txBody>
                    <a:bodyPr/>
                    <a:lstStyle/>
                    <a:p>
                      <a:pPr algn="l"/>
                      <a:r>
                        <a:rPr sz="1200" b="0">
                          <a:solidFill>
                            <a:srgbClr val="1A1A1A"/>
                          </a:solidFill>
                          <a:latin typeface="Calibri"/>
                        </a:rPr>
                        <a:t>Represent and solve graph problems using DFS, BFS, and graph algorithms.</a:t>
                      </a:r>
                    </a:p>
                  </a:txBody>
                  <a:tcPr marL="109728" marR="109728">
                    <a:solidFill>
                      <a:srgbClr val="FFFFFF"/>
                    </a:solidFill>
                  </a:tcPr>
                </a:tc>
              </a:tr>
            </a:tbl>
          </a:graphicData>
        </a:graphic>
      </p:graphicFrame>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Learning Objectives</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3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71323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3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Learning Outcomes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Define the concept of Insertion Sort and its basic working principle.</a:t>
            </a:r>
          </a:p>
        </p:txBody>
      </p:sp>
      <p:sp>
        <p:nvSpPr>
          <p:cNvPr id="15" name="Oval 14"/>
          <p:cNvSpPr/>
          <p:nvPr/>
        </p:nvSpPr>
        <p:spPr>
          <a:xfrm>
            <a:off x="502920" y="2640584"/>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640584"/>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Trace the step-by-step execution of the algorithm on a sample array.</a:t>
            </a:r>
          </a:p>
        </p:txBody>
      </p:sp>
      <p:sp>
        <p:nvSpPr>
          <p:cNvPr id="17" name="Oval 16"/>
          <p:cNvSpPr/>
          <p:nvPr/>
        </p:nvSpPr>
        <p:spPr>
          <a:xfrm>
            <a:off x="502920" y="3655568"/>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655568"/>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Analyze the time complexity for best, average, and worst cases.</a:t>
            </a:r>
          </a:p>
        </p:txBody>
      </p:sp>
      <p:sp>
        <p:nvSpPr>
          <p:cNvPr id="19" name="Oval 18"/>
          <p:cNvSpPr/>
          <p:nvPr/>
        </p:nvSpPr>
        <p:spPr>
          <a:xfrm>
            <a:off x="502920" y="46705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670552"/>
            <a:ext cx="10607040" cy="868680"/>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efficiency of Insertion Sort with other basic sorting methods.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4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95097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4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Definition and Working Principle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Sort builds the final sorted array one item at a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works by picking an element and inserting it into its correct position.</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maintains a sorted sub-list on the left side of the array.</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Elements are compared with the sorted sub-list to find the insertion point.</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This process repeats until all elements are placed in their correct positions.</a:t>
            </a:r>
          </a:p>
        </p:txBody>
      </p:sp>
      <p:pic>
        <p:nvPicPr>
          <p:cNvPr id="23" name="Picture 22" descr="image.pn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4" name="TextBox 23"/>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Quicksort 2 - Sorting | HackerRank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5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18872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5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Step-by-Step Execution Logic</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Start with the second element as the key to be inserted into the sorted part.</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Compare the key with elements in the sorted sub-list from right to left.</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Shift elements greater than the key one position ahead to make space.</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 the key into the correct position once the proper spot is found.</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Repeat this process for every subsequent element until the entire array is sorted.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6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426464"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6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Worked Numerical Example</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INITIAL ARRAY</a:t>
            </a:r>
          </a:p>
          <a:p>
            <a:pPr algn="l">
              <a:lnSpc>
                <a:spcPct val="135000"/>
              </a:lnSpc>
            </a:pPr>
            <a:r>
              <a:rPr sz="1300">
                <a:solidFill>
                  <a:srgbClr val="1A1A1A"/>
                </a:solidFill>
                <a:latin typeface="Calibri"/>
              </a:rPr>
              <a:t>[12, 11, 13, 5, 6]</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Iteration 1: Key is 11; shift 12 right; Array becomes [11, 12, 13, 5, 6].</a:t>
            </a:r>
          </a:p>
          <a:p>
            <a:pPr algn="l">
              <a:lnSpc>
                <a:spcPct val="135000"/>
              </a:lnSpc>
            </a:pPr>
            <a:r>
              <a:rPr sz="1300">
                <a:solidFill>
                  <a:srgbClr val="1A1A1A"/>
                </a:solidFill>
                <a:latin typeface="Calibri"/>
              </a:rPr>
              <a:t>•  Iteration 2: Key is 13; no shift needed; Array remains [11, 12, 13, 5, 6].</a:t>
            </a:r>
          </a:p>
          <a:p>
            <a:pPr algn="l">
              <a:lnSpc>
                <a:spcPct val="135000"/>
              </a:lnSpc>
            </a:pPr>
            <a:r>
              <a:rPr sz="1300">
                <a:solidFill>
                  <a:srgbClr val="1A1A1A"/>
                </a:solidFill>
                <a:latin typeface="Calibri"/>
              </a:rPr>
              <a:t>•  Iteration 3: Key is 5; shift 13, 12, 11 right; Array becomes [5, 11, 12, 13, 6].</a:t>
            </a:r>
          </a:p>
          <a:p>
            <a:pPr algn="l">
              <a:lnSpc>
                <a:spcPct val="135000"/>
              </a:lnSpc>
            </a:pPr>
            <a:r>
              <a:rPr sz="1300">
                <a:solidFill>
                  <a:srgbClr val="1A1A1A"/>
                </a:solidFill>
                <a:latin typeface="Calibri"/>
              </a:rPr>
              <a:t>•  Iteration 4: Key is 6; shift 13, 12, 11 right; Final Array [5, 6, 11, 12, 13].</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7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664208"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7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Time Complexity Analysis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BEST CASE</a:t>
            </a:r>
          </a:p>
          <a:p>
            <a:pPr algn="l">
              <a:lnSpc>
                <a:spcPct val="135000"/>
              </a:lnSpc>
            </a:pPr>
            <a:r>
              <a:rPr sz="1300">
                <a:solidFill>
                  <a:srgbClr val="1A1A1A"/>
                </a:solidFill>
                <a:latin typeface="Calibri"/>
              </a:rPr>
              <a:t>O(n) occurs when the array is already sorted.</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AVERAGE CASE</a:t>
            </a:r>
          </a:p>
          <a:p>
            <a:pPr algn="l">
              <a:lnSpc>
                <a:spcPct val="135000"/>
              </a:lnSpc>
            </a:pPr>
            <a:r>
              <a:rPr sz="1300">
                <a:solidFill>
                  <a:srgbClr val="1A1A1A"/>
                </a:solidFill>
                <a:latin typeface="Calibri"/>
              </a:rPr>
              <a:t>O(n²) occurs when elements are in random order.</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WORST CASE</a:t>
            </a:r>
          </a:p>
          <a:p>
            <a:pPr algn="l">
              <a:lnSpc>
                <a:spcPct val="135000"/>
              </a:lnSpc>
            </a:pPr>
            <a:r>
              <a:rPr sz="1300">
                <a:solidFill>
                  <a:srgbClr val="1A1A1A"/>
                </a:solidFill>
                <a:latin typeface="Calibri"/>
              </a:rPr>
              <a:t>O(n²) occurs when the array is sorted in reverse order.</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SPACE COMPLEXITY</a:t>
            </a:r>
          </a:p>
          <a:p>
            <a:pPr algn="l">
              <a:lnSpc>
                <a:spcPct val="135000"/>
              </a:lnSpc>
            </a:pPr>
            <a:r>
              <a:rPr sz="1300">
                <a:solidFill>
                  <a:srgbClr val="1A1A1A"/>
                </a:solidFill>
                <a:latin typeface="Calibri"/>
              </a:rPr>
              <a:t>O(1) as the sorting is done in-place without extra memory.</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lnSpc>
                <a:spcPct val="135000"/>
              </a:lnSpc>
            </a:pPr>
            <a:r>
              <a:rPr sz="1300">
                <a:solidFill>
                  <a:srgbClr val="1A1A1A"/>
                </a:solidFill>
                <a:latin typeface="Calibri"/>
              </a:rPr>
              <a:t>•  The number of comparisons and shifts determines the total execution time.</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www.slideteam.net</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8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1901952"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8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Advantages and Disadvantages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ADVANTAGE</a:t>
            </a:r>
          </a:p>
          <a:p>
            <a:pPr algn="l">
              <a:lnSpc>
                <a:spcPct val="135000"/>
              </a:lnSpc>
            </a:pPr>
            <a:r>
              <a:rPr sz="1300">
                <a:solidFill>
                  <a:srgbClr val="1A1A1A"/>
                </a:solidFill>
                <a:latin typeface="Calibri"/>
              </a:rPr>
              <a:t>Simple to implement and requires minimal code logic.</a:t>
            </a:r>
          </a:p>
        </p:txBody>
      </p:sp>
      <p:sp>
        <p:nvSpPr>
          <p:cNvPr id="16" name="Rectangle 15"/>
          <p:cNvSpPr/>
          <p:nvPr/>
        </p:nvSpPr>
        <p:spPr>
          <a:xfrm>
            <a:off x="3669715" y="1625600"/>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3669715" y="1625600"/>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903395" y="1744472"/>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ADVANTAGE</a:t>
            </a:r>
          </a:p>
          <a:p>
            <a:pPr algn="l">
              <a:lnSpc>
                <a:spcPct val="135000"/>
              </a:lnSpc>
            </a:pPr>
            <a:r>
              <a:rPr sz="1300">
                <a:solidFill>
                  <a:srgbClr val="1A1A1A"/>
                </a:solidFill>
                <a:latin typeface="Calibri"/>
              </a:rPr>
              <a:t>Efficient for small data sets or nearly sorted data arrays.</a:t>
            </a:r>
          </a:p>
        </p:txBody>
      </p:sp>
      <p:sp>
        <p:nvSpPr>
          <p:cNvPr id="19" name="Rectangle 18"/>
          <p:cNvSpPr/>
          <p:nvPr/>
        </p:nvSpPr>
        <p:spPr>
          <a:xfrm>
            <a:off x="502920"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502920"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36600"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ADVANTAGE</a:t>
            </a:r>
          </a:p>
          <a:p>
            <a:pPr algn="l">
              <a:lnSpc>
                <a:spcPct val="135000"/>
              </a:lnSpc>
            </a:pPr>
            <a:r>
              <a:rPr sz="1300">
                <a:solidFill>
                  <a:srgbClr val="1A1A1A"/>
                </a:solidFill>
                <a:latin typeface="Calibri"/>
              </a:rPr>
              <a:t>Stable sort that maintains the relative order of equal elements.</a:t>
            </a:r>
          </a:p>
        </p:txBody>
      </p:sp>
      <p:sp>
        <p:nvSpPr>
          <p:cNvPr id="22" name="Rectangle 21"/>
          <p:cNvSpPr/>
          <p:nvPr/>
        </p:nvSpPr>
        <p:spPr>
          <a:xfrm>
            <a:off x="3669715" y="3238669"/>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3669715" y="3238669"/>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3903395" y="3357541"/>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DISADVANTAGE</a:t>
            </a:r>
          </a:p>
          <a:p>
            <a:pPr algn="l">
              <a:lnSpc>
                <a:spcPct val="135000"/>
              </a:lnSpc>
            </a:pPr>
            <a:r>
              <a:rPr sz="1300">
                <a:solidFill>
                  <a:srgbClr val="1A1A1A"/>
                </a:solidFill>
                <a:latin typeface="Calibri"/>
              </a:rPr>
              <a:t>Inefficient for large data sets due to O(n²) complexity.</a:t>
            </a:r>
          </a:p>
        </p:txBody>
      </p:sp>
      <p:sp>
        <p:nvSpPr>
          <p:cNvPr id="25" name="Rectangle 24"/>
          <p:cNvSpPr/>
          <p:nvPr/>
        </p:nvSpPr>
        <p:spPr>
          <a:xfrm>
            <a:off x="502920" y="4851738"/>
            <a:ext cx="2983915" cy="1430189"/>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02920" y="4851738"/>
            <a:ext cx="50800" cy="1430189"/>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36600" y="4970610"/>
            <a:ext cx="2567355" cy="1192445"/>
          </a:xfrm>
          <a:prstGeom prst="rect">
            <a:avLst/>
          </a:prstGeom>
          <a:noFill/>
        </p:spPr>
        <p:txBody>
          <a:bodyPr wrap="square" lIns="0" rIns="0" tIns="0" bIns="0">
            <a:spAutoFit/>
          </a:bodyPr>
          <a:lstStyle/>
          <a:p>
            <a:pPr algn="l">
              <a:spcAft>
                <a:spcPts val="400"/>
              </a:spcAft>
            </a:pPr>
            <a:r>
              <a:rPr b="1" sz="1100">
                <a:solidFill>
                  <a:srgbClr val="C8102E"/>
                </a:solidFill>
                <a:latin typeface="Calibri"/>
              </a:rPr>
              <a:t>DISADVANTAGE</a:t>
            </a:r>
          </a:p>
          <a:p>
            <a:pPr algn="l">
              <a:lnSpc>
                <a:spcPct val="135000"/>
              </a:lnSpc>
            </a:pPr>
            <a:r>
              <a:rPr sz="1300">
                <a:solidFill>
                  <a:srgbClr val="1A1A1A"/>
                </a:solidFill>
                <a:latin typeface="Calibri"/>
              </a:rPr>
              <a:t>Requires many element shifts which can be time-consuming.</a:t>
            </a:r>
          </a:p>
        </p:txBody>
      </p:sp>
      <p:pic>
        <p:nvPicPr>
          <p:cNvPr id="28" name="Picture 27" descr="image.jpg"/>
          <p:cNvPicPr>
            <a:picLocks noChangeAspect="1"/>
          </p:cNvPicPr>
          <p:nvPr/>
        </p:nvPicPr>
        <p:blipFill>
          <a:blip r:embed="rId3"/>
          <a:stretch>
            <a:fillRect/>
          </a:stretch>
        </p:blipFill>
        <p:spPr>
          <a:xfrm>
            <a:off x="6927951" y="1625600"/>
            <a:ext cx="4758080" cy="4107688"/>
          </a:xfrm>
          <a:prstGeom prst="rect">
            <a:avLst/>
          </a:prstGeom>
          <a:ln w="6350">
            <a:solidFill>
              <a:srgbClr val="DDDDDD"/>
            </a:solidFill>
          </a:ln>
        </p:spPr>
      </p:pic>
      <p:sp>
        <p:nvSpPr>
          <p:cNvPr id="29" name="TextBox 28"/>
          <p:cNvSpPr txBox="1"/>
          <p:nvPr/>
        </p:nvSpPr>
        <p:spPr>
          <a:xfrm>
            <a:off x="6927951" y="5779008"/>
            <a:ext cx="4758080" cy="502920"/>
          </a:xfrm>
          <a:prstGeom prst="rect">
            <a:avLst/>
          </a:prstGeom>
          <a:noFill/>
        </p:spPr>
        <p:txBody>
          <a:bodyPr wrap="square">
            <a:spAutoFit/>
          </a:bodyPr>
          <a:lstStyle/>
          <a:p>
            <a:pPr algn="ctr"/>
            <a:r>
              <a:rPr i="1" sz="1000">
                <a:solidFill>
                  <a:srgbClr val="555555"/>
                </a:solidFill>
                <a:latin typeface="Calibri"/>
              </a:rPr>
              <a:t>Source: blog.infodiagram.com</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9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139696"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9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Key Takeaways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Oval 12"/>
          <p:cNvSpPr/>
          <p:nvPr/>
        </p:nvSpPr>
        <p:spPr>
          <a:xfrm>
            <a:off x="502920" y="1625600"/>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1</a:t>
            </a:r>
          </a:p>
        </p:txBody>
      </p:sp>
      <p:sp>
        <p:nvSpPr>
          <p:cNvPr id="14" name="TextBox 13"/>
          <p:cNvSpPr txBox="1"/>
          <p:nvPr/>
        </p:nvSpPr>
        <p:spPr>
          <a:xfrm>
            <a:off x="1078992" y="1625600"/>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Insertion Sort builds the sorted array one element at a time.</a:t>
            </a:r>
          </a:p>
        </p:txBody>
      </p:sp>
      <p:sp>
        <p:nvSpPr>
          <p:cNvPr id="15" name="Oval 14"/>
          <p:cNvSpPr/>
          <p:nvPr/>
        </p:nvSpPr>
        <p:spPr>
          <a:xfrm>
            <a:off x="502920" y="2586126"/>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2</a:t>
            </a:r>
          </a:p>
        </p:txBody>
      </p:sp>
      <p:sp>
        <p:nvSpPr>
          <p:cNvPr id="16" name="TextBox 15"/>
          <p:cNvSpPr txBox="1"/>
          <p:nvPr/>
        </p:nvSpPr>
        <p:spPr>
          <a:xfrm>
            <a:off x="1078992" y="2586126"/>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works by shifting larger elements to the right to make space.</a:t>
            </a:r>
          </a:p>
        </p:txBody>
      </p:sp>
      <p:sp>
        <p:nvSpPr>
          <p:cNvPr id="17" name="Oval 16"/>
          <p:cNvSpPr/>
          <p:nvPr/>
        </p:nvSpPr>
        <p:spPr>
          <a:xfrm>
            <a:off x="502920" y="3546652"/>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3</a:t>
            </a:r>
          </a:p>
        </p:txBody>
      </p:sp>
      <p:sp>
        <p:nvSpPr>
          <p:cNvPr id="18" name="TextBox 17"/>
          <p:cNvSpPr txBox="1"/>
          <p:nvPr/>
        </p:nvSpPr>
        <p:spPr>
          <a:xfrm>
            <a:off x="1078992" y="3546652"/>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Time complexity is O(n) for best case and O(n²) for average/worst cases.</a:t>
            </a:r>
          </a:p>
        </p:txBody>
      </p:sp>
      <p:sp>
        <p:nvSpPr>
          <p:cNvPr id="19" name="Oval 18"/>
          <p:cNvSpPr/>
          <p:nvPr/>
        </p:nvSpPr>
        <p:spPr>
          <a:xfrm>
            <a:off x="502920" y="4507179"/>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4</a:t>
            </a:r>
          </a:p>
        </p:txBody>
      </p:sp>
      <p:sp>
        <p:nvSpPr>
          <p:cNvPr id="20" name="TextBox 19"/>
          <p:cNvSpPr txBox="1"/>
          <p:nvPr/>
        </p:nvSpPr>
        <p:spPr>
          <a:xfrm>
            <a:off x="1078992" y="4507179"/>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The algorithm is stable and sorts in-place with O(1) extra space.</a:t>
            </a:r>
          </a:p>
        </p:txBody>
      </p:sp>
      <p:sp>
        <p:nvSpPr>
          <p:cNvPr id="21" name="Oval 20"/>
          <p:cNvSpPr/>
          <p:nvPr/>
        </p:nvSpPr>
        <p:spPr>
          <a:xfrm>
            <a:off x="502920" y="5467705"/>
            <a:ext cx="411480" cy="411480"/>
          </a:xfrm>
          <a:prstGeom prst="ellipse">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tIns="0" bIns="0" lIns="0" rIns="0"/>
          <a:lstStyle/>
          <a:p>
            <a:pPr algn="ctr"/>
            <a:r>
              <a:rPr b="1" sz="1400">
                <a:solidFill>
                  <a:srgbClr val="FFFFFF"/>
                </a:solidFill>
                <a:latin typeface="Calibri"/>
              </a:rPr>
              <a:t>5</a:t>
            </a:r>
          </a:p>
        </p:txBody>
      </p:sp>
      <p:sp>
        <p:nvSpPr>
          <p:cNvPr id="22" name="TextBox 21"/>
          <p:cNvSpPr txBox="1"/>
          <p:nvPr/>
        </p:nvSpPr>
        <p:spPr>
          <a:xfrm>
            <a:off x="1078992" y="5467705"/>
            <a:ext cx="5574639" cy="814222"/>
          </a:xfrm>
          <a:prstGeom prst="rect">
            <a:avLst/>
          </a:prstGeom>
          <a:noFill/>
        </p:spPr>
        <p:txBody>
          <a:bodyPr wrap="square" tIns="0" lIns="0" rIns="0" bIns="0">
            <a:spAutoFit/>
          </a:bodyPr>
          <a:lstStyle/>
          <a:p>
            <a:pPr algn="l">
              <a:lnSpc>
                <a:spcPct val="130000"/>
              </a:lnSpc>
            </a:pPr>
            <a:r>
              <a:rPr sz="1600">
                <a:solidFill>
                  <a:srgbClr val="1A1A1A"/>
                </a:solidFill>
                <a:latin typeface="Calibri"/>
              </a:rPr>
              <a:t>It is ideal for small datasets or nearly sorted data sequences.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u_logo.png"/>
          <p:cNvPicPr>
            <a:picLocks noChangeAspect="1"/>
          </p:cNvPicPr>
          <p:nvPr/>
        </p:nvPicPr>
        <p:blipFill>
          <a:blip r:embed="rId2"/>
          <a:stretch>
            <a:fillRect/>
          </a:stretch>
        </p:blipFill>
        <p:spPr>
          <a:xfrm>
            <a:off x="274320" y="114300"/>
            <a:ext cx="1097280" cy="548640"/>
          </a:xfrm>
          <a:prstGeom prst="rect">
            <a:avLst/>
          </a:prstGeom>
        </p:spPr>
      </p:pic>
      <p:sp>
        <p:nvSpPr>
          <p:cNvPr id="3" name="TextBox 2"/>
          <p:cNvSpPr txBox="1"/>
          <p:nvPr/>
        </p:nvSpPr>
        <p:spPr>
          <a:xfrm>
            <a:off x="1536192" y="54864"/>
            <a:ext cx="8823960" cy="685800"/>
          </a:xfrm>
          <a:prstGeom prst="rect">
            <a:avLst/>
          </a:prstGeom>
          <a:noFill/>
        </p:spPr>
        <p:txBody>
          <a:bodyPr wrap="none" lIns="0" rIns="0" tIns="0" bIns="0" anchor="ctr">
            <a:spAutoFit/>
          </a:bodyPr>
          <a:lstStyle/>
          <a:p>
            <a:pPr algn="l"/>
            <a:r>
              <a:rPr b="1" sz="1300">
                <a:solidFill>
                  <a:srgbClr val="C8102E"/>
                </a:solidFill>
                <a:latin typeface="Calibri"/>
              </a:rPr>
              <a:t>Lecture</a:t>
            </a:r>
          </a:p>
        </p:txBody>
      </p:sp>
      <p:sp>
        <p:nvSpPr>
          <p:cNvPr id="4" name="Rounded Rectangle 3"/>
          <p:cNvSpPr/>
          <p:nvPr/>
        </p:nvSpPr>
        <p:spPr>
          <a:xfrm>
            <a:off x="10497312" y="242316"/>
            <a:ext cx="1417320" cy="292608"/>
          </a:xfrm>
          <a:prstGeom prst="round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wrap="none" lIns="54864" rIns="54864" tIns="0" bIns="0"/>
          <a:lstStyle/>
          <a:p>
            <a:pPr algn="ctr"/>
            <a:r>
              <a:rPr b="1" sz="1000">
                <a:solidFill>
                  <a:srgbClr val="FFFFFF"/>
                </a:solidFill>
                <a:latin typeface="Calibri"/>
              </a:rPr>
              <a:t>SLIDE 10 / 10</a:t>
            </a:r>
          </a:p>
        </p:txBody>
      </p:sp>
      <p:sp>
        <p:nvSpPr>
          <p:cNvPr id="5" name="Rectangle 4"/>
          <p:cNvSpPr/>
          <p:nvPr/>
        </p:nvSpPr>
        <p:spPr>
          <a:xfrm>
            <a:off x="0" y="739140"/>
            <a:ext cx="12188952" cy="381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0" y="6446520"/>
            <a:ext cx="12188952" cy="127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274320" y="6510528"/>
            <a:ext cx="5486400" cy="274320"/>
          </a:xfrm>
          <a:prstGeom prst="rect">
            <a:avLst/>
          </a:prstGeom>
          <a:noFill/>
        </p:spPr>
        <p:txBody>
          <a:bodyPr wrap="none">
            <a:spAutoFit/>
          </a:bodyPr>
          <a:lstStyle/>
          <a:p>
            <a:pPr algn="l"/>
            <a:r>
              <a:rPr sz="900">
                <a:solidFill>
                  <a:srgbClr val="555555"/>
                </a:solidFill>
                <a:latin typeface="Calibri"/>
              </a:rPr>
              <a:t>Chandigarh University</a:t>
            </a:r>
          </a:p>
        </p:txBody>
      </p:sp>
      <p:sp>
        <p:nvSpPr>
          <p:cNvPr id="8" name="Rectangle 7"/>
          <p:cNvSpPr/>
          <p:nvPr/>
        </p:nvSpPr>
        <p:spPr>
          <a:xfrm>
            <a:off x="4905756" y="6626860"/>
            <a:ext cx="2377440" cy="50800"/>
          </a:xfrm>
          <a:prstGeom prst="rect">
            <a:avLst/>
          </a:prstGeom>
          <a:solidFill>
            <a:srgbClr val="E0E0E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905756" y="6626860"/>
            <a:ext cx="2377440" cy="50800"/>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0725912" y="6510528"/>
            <a:ext cx="1188720" cy="274320"/>
          </a:xfrm>
          <a:prstGeom prst="rect">
            <a:avLst/>
          </a:prstGeom>
          <a:noFill/>
        </p:spPr>
        <p:txBody>
          <a:bodyPr wrap="none">
            <a:spAutoFit/>
          </a:bodyPr>
          <a:lstStyle/>
          <a:p>
            <a:pPr algn="r"/>
            <a:r>
              <a:rPr sz="900" b="1">
                <a:solidFill>
                  <a:srgbClr val="555555"/>
                </a:solidFill>
                <a:latin typeface="Calibri"/>
              </a:rPr>
              <a:t>10 / 10</a:t>
            </a:r>
          </a:p>
        </p:txBody>
      </p:sp>
      <p:sp>
        <p:nvSpPr>
          <p:cNvPr id="11" name="TextBox 10"/>
          <p:cNvSpPr txBox="1"/>
          <p:nvPr/>
        </p:nvSpPr>
        <p:spPr>
          <a:xfrm>
            <a:off x="502920" y="1051560"/>
            <a:ext cx="11183112" cy="365760"/>
          </a:xfrm>
          <a:prstGeom prst="rect">
            <a:avLst/>
          </a:prstGeom>
          <a:noFill/>
        </p:spPr>
        <p:txBody>
          <a:bodyPr wrap="square" tIns="0" bIns="0" lIns="0" rIns="0">
            <a:spAutoFit/>
          </a:bodyPr>
          <a:lstStyle/>
          <a:p>
            <a:pPr algn="l"/>
            <a:r>
              <a:rPr b="1" sz="2200">
                <a:solidFill>
                  <a:srgbClr val="C8102E"/>
                </a:solidFill>
                <a:latin typeface="Calibri"/>
              </a:rPr>
              <a:t>References</a:t>
            </a:r>
          </a:p>
        </p:txBody>
      </p:sp>
      <p:sp>
        <p:nvSpPr>
          <p:cNvPr id="12" name="Rectangle 11"/>
          <p:cNvSpPr/>
          <p:nvPr/>
        </p:nvSpPr>
        <p:spPr>
          <a:xfrm>
            <a:off x="502920" y="1417320"/>
            <a:ext cx="11183112" cy="25400"/>
          </a:xfrm>
          <a:prstGeom prst="rect">
            <a:avLst/>
          </a:prstGeom>
          <a:solidFill>
            <a:srgbClr val="FFE4E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502920"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02920"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36600" y="1744472"/>
            <a:ext cx="5083556" cy="4418584"/>
          </a:xfrm>
          <a:prstGeom prst="rect">
            <a:avLst/>
          </a:prstGeom>
          <a:noFill/>
        </p:spPr>
        <p:txBody>
          <a:bodyPr wrap="square" lIns="0" rIns="0" tIns="0" bIns="0">
            <a:spAutoFit/>
          </a:bodyPr>
          <a:lstStyle/>
          <a:p>
            <a:pPr algn="l">
              <a:spcAft>
                <a:spcPts val="400"/>
              </a:spcAft>
            </a:pPr>
            <a:r>
              <a:rPr b="1" sz="1100">
                <a:solidFill>
                  <a:srgbClr val="C8102E"/>
                </a:solidFill>
                <a:latin typeface="Calibri"/>
              </a:rPr>
              <a:t>DATA STRUCTURES</a:t>
            </a:r>
          </a:p>
          <a:p>
            <a:pPr algn="l">
              <a:lnSpc>
                <a:spcPct val="135000"/>
              </a:lnSpc>
            </a:pPr>
            <a:r>
              <a:rPr sz="1300">
                <a:solidFill>
                  <a:srgbClr val="1A1A1A"/>
                </a:solidFill>
                <a:latin typeface="Calibri"/>
              </a:rPr>
              <a:t>A Pseudocode Approach with C — Gilberg, Forouzan</a:t>
            </a:r>
          </a:p>
        </p:txBody>
      </p:sp>
      <p:sp>
        <p:nvSpPr>
          <p:cNvPr id="16" name="Rectangle 15"/>
          <p:cNvSpPr/>
          <p:nvPr/>
        </p:nvSpPr>
        <p:spPr>
          <a:xfrm>
            <a:off x="6185916" y="1625600"/>
            <a:ext cx="5500116" cy="4656328"/>
          </a:xfrm>
          <a:prstGeom prst="rect">
            <a:avLst/>
          </a:prstGeom>
          <a:solidFill>
            <a:srgbClr val="F5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85916" y="1625600"/>
            <a:ext cx="50800" cy="4656328"/>
          </a:xfrm>
          <a:prstGeom prst="rect">
            <a:avLst/>
          </a:prstGeom>
          <a:solidFill>
            <a:srgbClr val="C8102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19596" y="1744472"/>
            <a:ext cx="5083556" cy="4418584"/>
          </a:xfrm>
          <a:prstGeom prst="rect">
            <a:avLst/>
          </a:prstGeom>
          <a:noFill/>
        </p:spPr>
        <p:txBody>
          <a:bodyPr wrap="square" lIns="0" rIns="0" tIns="0" bIns="0">
            <a:spAutoFit/>
          </a:bodyPr>
          <a:lstStyle/>
          <a:p>
            <a:pPr algn="l">
              <a:lnSpc>
                <a:spcPct val="135000"/>
              </a:lnSpc>
            </a:pPr>
            <a:r>
              <a:rPr sz="1300">
                <a:solidFill>
                  <a:srgbClr val="1A1A1A"/>
                </a:solidFill>
                <a:latin typeface="Calibri"/>
              </a:rPr>
              <a:t>•  Data Structures — Lipschutz</a:t>
            </a:r>
          </a:p>
          <a:p>
            <a:pPr algn="l">
              <a:lnSpc>
                <a:spcPct val="135000"/>
              </a:lnSpc>
            </a:pPr>
            <a:r>
              <a:rPr sz="1300">
                <a:solidFill>
                  <a:srgbClr val="1A1A1A"/>
                </a:solidFill>
                <a:latin typeface="Calibri"/>
              </a:rPr>
              <a:t>•  Data Structure Using C — AK Sharma</a:t>
            </a:r>
          </a:p>
          <a:p>
            <a:pPr algn="l">
              <a:lnSpc>
                <a:spcPct val="135000"/>
              </a:lnSpc>
            </a:pPr>
            <a:r>
              <a:rPr sz="1300">
                <a:solidFill>
                  <a:srgbClr val="1A1A1A"/>
                </a:solidFill>
                <a:latin typeface="Calibri"/>
              </a:rPr>
              <a:t>•  C and Data structure — P. S. Deshpandey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Sorting Techniques: Insertion Sort</dc:title>
  <dc:subject>AI-generated lecture — Chandigarh University</dc:subject>
  <dc:creator>CU AI Lesson Builder</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