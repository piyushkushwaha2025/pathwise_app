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students to Unit-3 of our Data Structure course. Today we dive into two specialized sorting algorithms: Radix and Shell sort. These methods offer unique approaches to organizing data efficiently. Remember, mastering these is key to solving complex engineering problems.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directly addresses our Course Outcomes. CO1 ensures you understand how these algorithms fit into basic data structures and complexity analysis. CO4 connects these sorting techniques to broader structural applications, even though we focus on arrays here. Both outcomes are critical for your engineering foundation.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both algorithms clearly. You will understand why Radix sort is non-comparative and how Shell sort improves insertion sort. We will walk through a numerical example to see these in action. Finally, we will discuss where students often make mistakes.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Unlike Quick sort, Radix sort does not compare two numbers to decide their order. Instead, it looks at the digits one by one. Imagine sorting a deck of cards by first sorting by suit, then by number. This digit-by-digit approach is the core of its efficiency.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main strategies: LSD and MSD. LSD stands for Least Significant Digit, which is what we will focus on today. It starts from the rightmost digit and moves left. This is the most common method for sorting integers because it is straightforward and reliable.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Shell sort as a smart version of insertion sort. Instead of just comparing neighbors, it compares elements far apart. This moves elements to their approximate correct positions quickly. Once the list is partially sorted, the final pass is very fast.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sequence is the heart of Shell sort. If you choose a bad sequence, the algorithm might not be much faster than insertion sort. We often use Knuth's sequence, which grows as 1, 4, 13, 40. This ensures a balanced reduction in the gap size.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our example list. We start with the ones digit. 170 goes to bucket 0, 45 to bucket 5. We collect them back in order. Notice how 170 and 90 are now together because they both end in 0. This is the first step of the process.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we look at the tens digit. 170 has a 7, so it goes to bucket 7. 90 has a 9, so it goes to bucket 9. We collect them again. This step refines the order. We repeat this for every digit until the most significant digit is processed.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processing the hundreds digit, we get our final sorted list. The numbers are now in perfect order. This demonstrates how Radix sort works. It takes three passes because our largest number, 802, has three digits. Each pass refines the order further.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try Shell sort on our list. We start with a gap of 4. We compare the first element with the fifth. 23 and 34 are in order. But 8 and 3 are not. We swap them. This moves smaller elements to the left faster than insertion sort.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reduce the gap to 2. We compare 23 and 1, swap them. We compare 12 and 3, swap them. The list is getting much closer to sorted. The final pass with a gap of 1 will just be a quick insertion sort because the list is almost ready.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Radix sort is unique because it doesn't compare elements. Shell sort is a smart version of insertion sort. Both are powerful tools. Remember that the gap sequence in Shell sort is crucial for its performance. These concepts are fundamental for your data structure knowledge.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primary textbooks for our course. Please refer to Gilberg and Forouzan for pseudocode approaches. Lipschutz provides excellent theoretical foundations. Sharma and Deshpandey offer practical C implementations. Use these resources to deepen your understanding of these algorithms.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gif"/><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Introduction to Radix and Shell sort</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Searching and Sorting</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Searching and Sorting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fundamental concept of Radix sort and its non-comparative nature.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Explain the working principle of Shell sort and its gap sequence strategy.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time complexity differences between Radix and Shell sort methods.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Demonstrate the step-by-step execution of Radix sort on a numerical list.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common pitfalls when implementing Shell sort gap sequences in code.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Radix Sort</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Non-Comparative Approach</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Radix sort sorts integers by processing individual digits from least to most significant.</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does not compare elements directly, making it faster than comparison-based sorts for specific data.</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algorithm relies on a stable sorting subroutine, typically Counting Sort, for each digit.</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processes numbers digit by digit, starting from the ones place up to the highest place.</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stability of the subroutine ensures that relative order of equal elements is preserved.</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is highly efficient for sorting large datasets of fixed-length integers or strings.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Time complexity is O(d × (n + b)) where d is digits and b is base.</a:t>
            </a:r>
          </a:p>
        </p:txBody>
      </p:sp>
      <p:pic>
        <p:nvPicPr>
          <p:cNvPr id="27" name="Picture 26" descr="image.gif"/>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In-Place N-bit Radix Sort | Algorithm Performance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Radix Sort</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LSD vs MSD Strategy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LSD Radix sort processes digits from the Least Significant Digit to the Most Significant.</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MSD Radix sort processes digits from the Most Significant Digit to the Least Significant.</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LSD is generally preferred for fixed-length integers and is easier to implement recursively.</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MSD is more flexible for variable-length strings but requires more complex logic.</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LSD requires a stable sort subroutine to maintain the order established by previous passes.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choice between LSD and MSD depends on the specific data characteristics and constraints.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LSD is the standard approach taught for integer sorting in introductory data structure courses.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cdn2.caymanchem.com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Shell Sort</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Generalized Insertion Sort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Shell sort is an optimization of the standard Insertion sort algorithm for large lists.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works by sorting elements that are far apart before sorting elements that are close.</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algorithm uses a 'gap' sequence to determine which elements to compare and swap.</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As the gap decreases, the list becomes more sorted, making the final insertion sort fast.</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reduces the number of swaps required compared to a standard insertion sort.</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efficiency depends heavily on the chosen gap sequence used during the process.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is an in-place sorting algorithm that requires only O(1) extra memory space.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Shell Sort</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Gap Sequence Logic</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Knuth's sequence (h = 3h + 1) is often recommended for optimal performance</a:t>
            </a:r>
          </a:p>
        </p:txBody>
      </p:sp>
      <p:sp>
        <p:nvSpPr>
          <p:cNvPr id="16" name="Oval 15"/>
          <p:cNvSpPr/>
          <p:nvPr/>
        </p:nvSpPr>
        <p:spPr>
          <a:xfrm>
            <a:off x="502920" y="27960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7" name="TextBox 16"/>
          <p:cNvSpPr txBox="1"/>
          <p:nvPr/>
        </p:nvSpPr>
        <p:spPr>
          <a:xfrm>
            <a:off x="1051560" y="2796032"/>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The gap sequence determines the distance between elements compared in each pass.</a:t>
            </a:r>
          </a:p>
        </p:txBody>
      </p:sp>
      <p:sp>
        <p:nvSpPr>
          <p:cNvPr id="18" name="Oval 17"/>
          <p:cNvSpPr/>
          <p:nvPr/>
        </p:nvSpPr>
        <p:spPr>
          <a:xfrm>
            <a:off x="502920" y="34013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9" name="TextBox 18"/>
          <p:cNvSpPr txBox="1"/>
          <p:nvPr/>
        </p:nvSpPr>
        <p:spPr>
          <a:xfrm>
            <a:off x="1051560" y="3401398"/>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Common sequences include Shell's original (n/2), Hibbard's, and Knuth's sequences.</a:t>
            </a:r>
          </a:p>
        </p:txBody>
      </p:sp>
      <p:sp>
        <p:nvSpPr>
          <p:cNvPr id="20" name="Oval 19"/>
          <p:cNvSpPr/>
          <p:nvPr/>
        </p:nvSpPr>
        <p:spPr>
          <a:xfrm>
            <a:off x="502920" y="40067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21" name="TextBox 20"/>
          <p:cNvSpPr txBox="1"/>
          <p:nvPr/>
        </p:nvSpPr>
        <p:spPr>
          <a:xfrm>
            <a:off x="1051560" y="4006765"/>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A poor gap sequence can result in O(n²) complexity, negating the algorithm's benefits.</a:t>
            </a:r>
          </a:p>
        </p:txBody>
      </p:sp>
      <p:sp>
        <p:nvSpPr>
          <p:cNvPr id="22" name="Oval 21"/>
          <p:cNvSpPr/>
          <p:nvPr/>
        </p:nvSpPr>
        <p:spPr>
          <a:xfrm>
            <a:off x="502920" y="46121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3" name="TextBox 22"/>
          <p:cNvSpPr txBox="1"/>
          <p:nvPr/>
        </p:nvSpPr>
        <p:spPr>
          <a:xfrm>
            <a:off x="1051560" y="4612132"/>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The gap size is halved or reduced in each iteration until it reaches one.</a:t>
            </a:r>
          </a:p>
        </p:txBody>
      </p:sp>
      <p:sp>
        <p:nvSpPr>
          <p:cNvPr id="24" name="Oval 23"/>
          <p:cNvSpPr/>
          <p:nvPr/>
        </p:nvSpPr>
        <p:spPr>
          <a:xfrm>
            <a:off x="502920" y="52174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5" name="TextBox 24"/>
          <p:cNvSpPr txBox="1"/>
          <p:nvPr/>
        </p:nvSpPr>
        <p:spPr>
          <a:xfrm>
            <a:off x="1051560" y="5217498"/>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The final pass is a standard insertion sort on a nearly sorted array.</a:t>
            </a:r>
          </a:p>
        </p:txBody>
      </p:sp>
      <p:sp>
        <p:nvSpPr>
          <p:cNvPr id="26" name="Oval 25"/>
          <p:cNvSpPr/>
          <p:nvPr/>
        </p:nvSpPr>
        <p:spPr>
          <a:xfrm>
            <a:off x="502920" y="58228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7" name="TextBox 26"/>
          <p:cNvSpPr txBox="1"/>
          <p:nvPr/>
        </p:nvSpPr>
        <p:spPr>
          <a:xfrm>
            <a:off x="1051560" y="5822865"/>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The choice of gap sequence is critical for achieving better than O(n²) performance.</a:t>
            </a:r>
          </a:p>
        </p:txBody>
      </p:sp>
      <p:pic>
        <p:nvPicPr>
          <p:cNvPr id="28" name="Picture 27"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www.adlit.org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Radix Sort Step 1</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CONSIDER THE LIST</a:t>
            </a:r>
          </a:p>
          <a:p>
            <a:pPr algn="l">
              <a:lnSpc>
                <a:spcPct val="135000"/>
              </a:lnSpc>
            </a:pPr>
            <a:r>
              <a:rPr sz="1300">
                <a:solidFill>
                  <a:srgbClr val="1A1A1A"/>
                </a:solidFill>
                <a:latin typeface="Calibri"/>
              </a:rPr>
              <a:t>[170, 45, 75, 90, 802, 24, 2, 66].</a:t>
            </a:r>
          </a:p>
        </p:txBody>
      </p:sp>
      <p:sp>
        <p:nvSpPr>
          <p:cNvPr id="16" name="Rectangle 15"/>
          <p:cNvSpPr/>
          <p:nvPr/>
        </p:nvSpPr>
        <p:spPr>
          <a:xfrm>
            <a:off x="3669715"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THE LIST AFTER FIRST PASS</a:t>
            </a:r>
          </a:p>
          <a:p>
            <a:pPr algn="l">
              <a:lnSpc>
                <a:spcPct val="135000"/>
              </a:lnSpc>
            </a:pPr>
            <a:r>
              <a:rPr sz="1300">
                <a:solidFill>
                  <a:srgbClr val="1A1A1A"/>
                </a:solidFill>
                <a:latin typeface="Calibri"/>
              </a:rPr>
              <a:t>[170, 90, 802, 2, 24, 45, 75, 66].</a:t>
            </a:r>
          </a:p>
        </p:txBody>
      </p:sp>
      <p:sp>
        <p:nvSpPr>
          <p:cNvPr id="19" name="Rectangle 18"/>
          <p:cNvSpPr/>
          <p:nvPr/>
        </p:nvSpPr>
        <p:spPr>
          <a:xfrm>
            <a:off x="502920" y="4045204"/>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2567355"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We start with the Least Significant Digit (ones place) for all numbers.</a:t>
            </a:r>
          </a:p>
          <a:p>
            <a:pPr algn="l">
              <a:lnSpc>
                <a:spcPct val="135000"/>
              </a:lnSpc>
            </a:pPr>
            <a:r>
              <a:rPr sz="1300">
                <a:solidFill>
                  <a:srgbClr val="1A1A1A"/>
                </a:solidFill>
                <a:latin typeface="Calibri"/>
              </a:rPr>
              <a:t>•  We distribute numbers into buckets based on their ones digit (0-9).</a:t>
            </a:r>
          </a:p>
          <a:p>
            <a:pPr algn="l">
              <a:lnSpc>
                <a:spcPct val="135000"/>
              </a:lnSpc>
            </a:pPr>
            <a:r>
              <a:rPr sz="1300">
                <a:solidFill>
                  <a:srgbClr val="1A1A1A"/>
                </a:solidFill>
                <a:latin typeface="Calibri"/>
              </a:rPr>
              <a:t>•  Bucket 0: [170, 90], Bucket 2: [2], Bucket 4: [24], Bucket 5: [45, 75].</a:t>
            </a:r>
          </a:p>
          <a:p>
            <a:pPr algn="l">
              <a:lnSpc>
                <a:spcPct val="135000"/>
              </a:lnSpc>
            </a:pPr>
            <a:r>
              <a:rPr sz="1300">
                <a:solidFill>
                  <a:srgbClr val="1A1A1A"/>
                </a:solidFill>
                <a:latin typeface="Calibri"/>
              </a:rPr>
              <a:t>•  Bucket 6: [66], Bucket 8: [802], Bucket 7: [170, 90] (re-ordered by tens later).</a:t>
            </a:r>
          </a:p>
          <a:p>
            <a:pPr algn="l">
              <a:lnSpc>
                <a:spcPct val="135000"/>
              </a:lnSpc>
            </a:pPr>
            <a:r>
              <a:rPr sz="1300">
                <a:solidFill>
                  <a:srgbClr val="1A1A1A"/>
                </a:solidFill>
                <a:latin typeface="Calibri"/>
              </a:rPr>
              <a:t>•  Collect numbers from buckets in order to form the intermediate list.</a:t>
            </a:r>
          </a:p>
        </p:txBody>
      </p:sp>
      <p:pic>
        <p:nvPicPr>
          <p:cNvPr id="22" name="Picture 21"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3" name="TextBox 22"/>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www.growingwiththeweb.com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Radix Sort Step 2</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THE LIST AFTER SECOND PASS</a:t>
            </a:r>
          </a:p>
          <a:p>
            <a:pPr algn="l">
              <a:lnSpc>
                <a:spcPct val="135000"/>
              </a:lnSpc>
            </a:pPr>
            <a:r>
              <a:rPr sz="1300">
                <a:solidFill>
                  <a:srgbClr val="1A1A1A"/>
                </a:solidFill>
                <a:latin typeface="Calibri"/>
              </a:rPr>
              <a:t>[170, 90, 802, 2, 24, 45, 75, 66].</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Now we process the tens digit for the intermediate list from the previous step.</a:t>
            </a:r>
          </a:p>
          <a:p>
            <a:pPr algn="l">
              <a:lnSpc>
                <a:spcPct val="135000"/>
              </a:lnSpc>
            </a:pPr>
            <a:r>
              <a:rPr sz="1300">
                <a:solidFill>
                  <a:srgbClr val="1A1A1A"/>
                </a:solidFill>
                <a:latin typeface="Calibri"/>
              </a:rPr>
              <a:t>•  Numbers are redistributed into buckets based on their tens digit (0-9).</a:t>
            </a:r>
          </a:p>
          <a:p>
            <a:pPr algn="l">
              <a:lnSpc>
                <a:spcPct val="135000"/>
              </a:lnSpc>
            </a:pPr>
            <a:r>
              <a:rPr sz="1300">
                <a:solidFill>
                  <a:srgbClr val="1A1A1A"/>
                </a:solidFill>
                <a:latin typeface="Calibri"/>
              </a:rPr>
              <a:t>•  Bucket 0: [170, 90], Bucket 2: [2, 24], Bucket 4: [45], Bucket 6: [66].</a:t>
            </a:r>
          </a:p>
          <a:p>
            <a:pPr algn="l">
              <a:lnSpc>
                <a:spcPct val="135000"/>
              </a:lnSpc>
            </a:pPr>
            <a:r>
              <a:rPr sz="1300">
                <a:solidFill>
                  <a:srgbClr val="1A1A1A"/>
                </a:solidFill>
                <a:latin typeface="Calibri"/>
              </a:rPr>
              <a:t>•  Bucket 7: [75], Bucket 8: [802], Bucket 0: [170, 90] (re-ordered by hundreds later).</a:t>
            </a:r>
          </a:p>
          <a:p>
            <a:pPr algn="l">
              <a:lnSpc>
                <a:spcPct val="135000"/>
              </a:lnSpc>
            </a:pPr>
            <a:r>
              <a:rPr sz="1300">
                <a:solidFill>
                  <a:srgbClr val="1A1A1A"/>
                </a:solidFill>
                <a:latin typeface="Calibri"/>
              </a:rPr>
              <a:t>•  Collect numbers from buckets to form the new intermediate list.</a:t>
            </a:r>
          </a:p>
          <a:p>
            <a:pPr algn="l">
              <a:lnSpc>
                <a:spcPct val="135000"/>
              </a:lnSpc>
            </a:pPr>
            <a:r>
              <a:rPr sz="1300">
                <a:solidFill>
                  <a:srgbClr val="1A1A1A"/>
                </a:solidFill>
                <a:latin typeface="Calibri"/>
              </a:rPr>
              <a:t>•  This process repeats for the hundreds digit to complete the sort.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Radix Sort Final</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FINAL RESULT</a:t>
            </a:r>
          </a:p>
          <a:p>
            <a:pPr algn="l">
              <a:lnSpc>
                <a:spcPct val="135000"/>
              </a:lnSpc>
            </a:pPr>
            <a:r>
              <a:rPr sz="1300">
                <a:solidFill>
                  <a:srgbClr val="1A1A1A"/>
                </a:solidFill>
                <a:latin typeface="Calibri"/>
              </a:rPr>
              <a:t>[2, 24, 45, 66, 75, 90, 170, 802].</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Finally, we process the hundreds digit for the list from the previous step.</a:t>
            </a:r>
          </a:p>
          <a:p>
            <a:pPr algn="l">
              <a:lnSpc>
                <a:spcPct val="135000"/>
              </a:lnSpc>
            </a:pPr>
            <a:r>
              <a:rPr sz="1300">
                <a:solidFill>
                  <a:srgbClr val="1A1A1A"/>
                </a:solidFill>
                <a:latin typeface="Calibri"/>
              </a:rPr>
              <a:t>•  Bucket 0: [2, 24, 45, 66, 75, 90], Bucket 1: [170], Bucket 8: [802].</a:t>
            </a:r>
          </a:p>
          <a:p>
            <a:pPr algn="l">
              <a:lnSpc>
                <a:spcPct val="135000"/>
              </a:lnSpc>
            </a:pPr>
            <a:r>
              <a:rPr sz="1300">
                <a:solidFill>
                  <a:srgbClr val="1A1A1A"/>
                </a:solidFill>
                <a:latin typeface="Calibri"/>
              </a:rPr>
              <a:t>•  Collecting from buckets yields the fully sorted list.</a:t>
            </a:r>
          </a:p>
          <a:p>
            <a:pPr algn="l">
              <a:lnSpc>
                <a:spcPct val="135000"/>
              </a:lnSpc>
            </a:pPr>
            <a:r>
              <a:rPr sz="1300">
                <a:solidFill>
                  <a:srgbClr val="1A1A1A"/>
                </a:solidFill>
                <a:latin typeface="Calibri"/>
              </a:rPr>
              <a:t>•  The algorithm terminates when the most significant digit has been processed.</a:t>
            </a:r>
          </a:p>
          <a:p>
            <a:pPr algn="l">
              <a:lnSpc>
                <a:spcPct val="135000"/>
              </a:lnSpc>
            </a:pPr>
            <a:r>
              <a:rPr sz="1300">
                <a:solidFill>
                  <a:srgbClr val="1A1A1A"/>
                </a:solidFill>
                <a:latin typeface="Calibri"/>
              </a:rPr>
              <a:t>•  The list is now completely sorted in ascending order.</a:t>
            </a:r>
          </a:p>
          <a:p>
            <a:pPr algn="l">
              <a:lnSpc>
                <a:spcPct val="135000"/>
              </a:lnSpc>
            </a:pPr>
            <a:r>
              <a:rPr sz="1300">
                <a:solidFill>
                  <a:srgbClr val="1A1A1A"/>
                </a:solidFill>
                <a:latin typeface="Calibri"/>
              </a:rPr>
              <a:t>•  Total passes required equals the number of digits in the largest number.</a:t>
            </a:r>
          </a:p>
        </p:txBody>
      </p:sp>
      <p:pic>
        <p:nvPicPr>
          <p:cNvPr id="19" name="Picture 18"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static.vecteezy.com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Shell Sort Step 1</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11183112"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10817352"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10817352" cy="548640"/>
          </a:xfrm>
          <a:prstGeom prst="rect">
            <a:avLst/>
          </a:prstGeom>
          <a:noFill/>
        </p:spPr>
        <p:txBody>
          <a:bodyPr wrap="square">
            <a:spAutoFit/>
          </a:bodyPr>
          <a:lstStyle/>
          <a:p>
            <a:pPr algn="ctr"/>
            <a:r>
              <a:rPr b="1" sz="1800">
                <a:solidFill>
                  <a:srgbClr val="1A1A1A"/>
                </a:solidFill>
                <a:latin typeface="Cambria Math"/>
              </a:rPr>
              <a:t>We choose an initial gap, for example, gap = 4 (half the list size)</a:t>
            </a:r>
          </a:p>
        </p:txBody>
      </p:sp>
      <p:sp>
        <p:nvSpPr>
          <p:cNvPr id="16" name="Rectangle 15"/>
          <p:cNvSpPr/>
          <p:nvPr/>
        </p:nvSpPr>
        <p:spPr>
          <a:xfrm>
            <a:off x="502920" y="2796032"/>
            <a:ext cx="5500116"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5083556" cy="3248152"/>
          </a:xfrm>
          <a:prstGeom prst="rect">
            <a:avLst/>
          </a:prstGeom>
          <a:noFill/>
        </p:spPr>
        <p:txBody>
          <a:bodyPr wrap="square" lIns="0" rIns="0" tIns="0" bIns="0">
            <a:spAutoFit/>
          </a:bodyPr>
          <a:lstStyle/>
          <a:p>
            <a:pPr algn="l">
              <a:spcAft>
                <a:spcPts val="400"/>
              </a:spcAft>
            </a:pPr>
            <a:r>
              <a:rPr b="1" sz="1100">
                <a:solidFill>
                  <a:srgbClr val="C8102E"/>
                </a:solidFill>
                <a:latin typeface="Calibri"/>
              </a:rPr>
              <a:t>CONSIDER THE LIST</a:t>
            </a:r>
          </a:p>
          <a:p>
            <a:pPr algn="l">
              <a:lnSpc>
                <a:spcPct val="135000"/>
              </a:lnSpc>
            </a:pPr>
            <a:r>
              <a:rPr sz="1300">
                <a:solidFill>
                  <a:srgbClr val="1A1A1A"/>
                </a:solidFill>
                <a:latin typeface="Calibri"/>
              </a:rPr>
              <a:t>[23, 12, 1, 8, 34, 54, 2, 3].</a:t>
            </a:r>
          </a:p>
        </p:txBody>
      </p:sp>
      <p:sp>
        <p:nvSpPr>
          <p:cNvPr id="19" name="Rectangle 18"/>
          <p:cNvSpPr/>
          <p:nvPr/>
        </p:nvSpPr>
        <p:spPr>
          <a:xfrm>
            <a:off x="6185916" y="2796032"/>
            <a:ext cx="5500116"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85916"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9596" y="2914904"/>
            <a:ext cx="5083556" cy="3248152"/>
          </a:xfrm>
          <a:prstGeom prst="rect">
            <a:avLst/>
          </a:prstGeom>
          <a:noFill/>
        </p:spPr>
        <p:txBody>
          <a:bodyPr wrap="square" lIns="0" rIns="0" tIns="0" bIns="0">
            <a:spAutoFit/>
          </a:bodyPr>
          <a:lstStyle/>
          <a:p>
            <a:pPr algn="l">
              <a:lnSpc>
                <a:spcPct val="135000"/>
              </a:lnSpc>
            </a:pPr>
            <a:r>
              <a:rPr sz="1300">
                <a:solidFill>
                  <a:srgbClr val="1A1A1A"/>
                </a:solidFill>
                <a:latin typeface="Calibri"/>
              </a:rPr>
              <a:t>•  We compare and swap elements that are 4 positions apart.</a:t>
            </a:r>
          </a:p>
          <a:p>
            <a:pPr algn="l">
              <a:lnSpc>
                <a:spcPct val="135000"/>
              </a:lnSpc>
            </a:pPr>
            <a:r>
              <a:rPr sz="1300">
                <a:solidFill>
                  <a:srgbClr val="1A1A1A"/>
                </a:solidFill>
                <a:latin typeface="Calibri"/>
              </a:rPr>
              <a:t>•  Compare 23 and 34 (no swap), 12 and 54 (no swap), 1 and 2 (no swap).</a:t>
            </a:r>
          </a:p>
          <a:p>
            <a:pPr algn="l">
              <a:lnSpc>
                <a:spcPct val="135000"/>
              </a:lnSpc>
            </a:pPr>
            <a:r>
              <a:rPr sz="1300">
                <a:solidFill>
                  <a:srgbClr val="1A1A1A"/>
                </a:solidFill>
                <a:latin typeface="Calibri"/>
              </a:rPr>
              <a:t>•  Compare 8 and 3 (swap), resulting in list: [23, 12, 1, 3, 34, 54, 2, 8].</a:t>
            </a:r>
          </a:p>
          <a:p>
            <a:pPr algn="l">
              <a:lnSpc>
                <a:spcPct val="135000"/>
              </a:lnSpc>
            </a:pPr>
            <a:r>
              <a:rPr sz="1300">
                <a:solidFill>
                  <a:srgbClr val="1A1A1A"/>
                </a:solidFill>
                <a:latin typeface="Calibri"/>
              </a:rPr>
              <a:t>•  This step moves elements closer to their final positions.</a:t>
            </a:r>
          </a:p>
          <a:p>
            <a:pPr algn="l">
              <a:lnSpc>
                <a:spcPct val="135000"/>
              </a:lnSpc>
            </a:pPr>
            <a:r>
              <a:rPr sz="1300">
                <a:solidFill>
                  <a:srgbClr val="1A1A1A"/>
                </a:solidFill>
                <a:latin typeface="Calibri"/>
              </a:rPr>
              <a:t>•  The gap is then reduced for the next iteration.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Shell Sort Step 2</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LIST BECOMES</a:t>
            </a:r>
          </a:p>
          <a:p>
            <a:pPr algn="l">
              <a:lnSpc>
                <a:spcPct val="135000"/>
              </a:lnSpc>
            </a:pPr>
            <a:r>
              <a:rPr sz="1300">
                <a:solidFill>
                  <a:srgbClr val="1A1A1A"/>
                </a:solidFill>
                <a:latin typeface="Calibri"/>
              </a:rPr>
              <a:t>[1, 3, 23, 12, 34, 54, 2, 8].</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Reduce the gap to 2 for the next iteration.</a:t>
            </a:r>
          </a:p>
          <a:p>
            <a:pPr algn="l">
              <a:lnSpc>
                <a:spcPct val="135000"/>
              </a:lnSpc>
            </a:pPr>
            <a:r>
              <a:rPr sz="1300">
                <a:solidFill>
                  <a:srgbClr val="1A1A1A"/>
                </a:solidFill>
                <a:latin typeface="Calibri"/>
              </a:rPr>
              <a:t>•  Compare elements 2 positions apart: 23 and 1 (swap), 12 and 3 (swap).</a:t>
            </a:r>
          </a:p>
          <a:p>
            <a:pPr algn="l">
              <a:lnSpc>
                <a:spcPct val="135000"/>
              </a:lnSpc>
            </a:pPr>
            <a:r>
              <a:rPr sz="1300">
                <a:solidFill>
                  <a:srgbClr val="1A1A1A"/>
                </a:solidFill>
                <a:latin typeface="Calibri"/>
              </a:rPr>
              <a:t>•  Continue comparing and swapping with gap 2 until no more swaps are needed.</a:t>
            </a:r>
          </a:p>
          <a:p>
            <a:pPr algn="l">
              <a:lnSpc>
                <a:spcPct val="135000"/>
              </a:lnSpc>
            </a:pPr>
            <a:r>
              <a:rPr sz="1300">
                <a:solidFill>
                  <a:srgbClr val="1A1A1A"/>
                </a:solidFill>
                <a:latin typeface="Calibri"/>
              </a:rPr>
              <a:t>•  The list is now significantly more sorted than the initial state.</a:t>
            </a:r>
          </a:p>
          <a:p>
            <a:pPr algn="l">
              <a:lnSpc>
                <a:spcPct val="135000"/>
              </a:lnSpc>
            </a:pPr>
            <a:r>
              <a:rPr sz="1300">
                <a:solidFill>
                  <a:srgbClr val="1A1A1A"/>
                </a:solidFill>
                <a:latin typeface="Calibri"/>
              </a:rPr>
              <a:t>•  The final pass will use a gap of 1, which is standard insertion sort.</a:t>
            </a:r>
          </a:p>
          <a:p>
            <a:pPr algn="l">
              <a:lnSpc>
                <a:spcPct val="135000"/>
              </a:lnSpc>
            </a:pPr>
            <a:r>
              <a:rPr sz="1300">
                <a:solidFill>
                  <a:srgbClr val="1A1A1A"/>
                </a:solidFill>
                <a:latin typeface="Calibri"/>
              </a:rPr>
              <a:t>•  This final pass will be very fast because the list is nearly sorted.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Radix sort is a non-comparative algorithm that sorts by processing digits individually.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Shell sort is an optimized insertion sort that uses a gap sequence to improve speed.</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Radix sort has linear time complexity O(d × (n + b)) for fixed-length integers.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Shell sort performance depends critically on the chosen gap sequence.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Both algorithms are essential tools for handling specific data sorting challenges efficiently.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Radix and Shell sort</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