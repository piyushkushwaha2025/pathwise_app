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0"/>
  </p:notesMasterIdLst>
  <p:sldIdLst>
    <p:sldId id="328" r:id="rId3"/>
    <p:sldId id="397" r:id="rId4"/>
    <p:sldId id="391" r:id="rId5"/>
    <p:sldId id="259" r:id="rId6"/>
    <p:sldId id="260" r:id="rId7"/>
    <p:sldId id="410" r:id="rId8"/>
    <p:sldId id="411" r:id="rId9"/>
    <p:sldId id="409" r:id="rId10"/>
    <p:sldId id="412" r:id="rId11"/>
    <p:sldId id="413" r:id="rId12"/>
    <p:sldId id="414" r:id="rId13"/>
    <p:sldId id="415" r:id="rId14"/>
    <p:sldId id="270" r:id="rId15"/>
    <p:sldId id="264" r:id="rId16"/>
    <p:sldId id="265" r:id="rId17"/>
    <p:sldId id="398" r:id="rId18"/>
    <p:sldId id="267" r:id="rId19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Cambria Math" panose="02040503050406030204" pitchFamily="18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46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AA8B0D0B-60CE-7339-732D-270ADF79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1980E126-C4CD-0985-1521-DF2858A30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8AC6EAC3-25FE-47BE-7B2C-035C5B71C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1616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DFD17ACA-0942-3F20-2C6D-78B96C00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016A45B6-1D35-2F4B-D10C-36E3FCFB8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7E91A8A0-CC1F-361B-0261-CD572AA21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4052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8DF496B4-BB06-544A-6067-B59BD063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08DFC73C-A515-ACB9-ECC1-890605738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09C429EC-EE58-6048-77BD-67BC1E0D8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842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CC00047F-7C17-F251-84CD-2F8B26E3D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7963F0EC-1CEF-AD91-5D14-FDD1B0499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99AB7E8E-7AFE-E2C6-B795-FB8013B40F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9454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EC2EF0E4-82B3-4F1D-D19D-9E8A9336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D5212302-756D-A15C-26E1-290A8FF30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4E019B68-E288-331D-8195-D007E4A1F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8088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D4C8B49F-E0EB-8371-9978-65D5C019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3678FC3F-BB48-07BF-D017-9F303638B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1DB30098-8858-30BF-7B28-9264653A9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2488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B38DC9DA-4B4F-FE9A-B22C-A9A1660E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B70187BD-B2E5-F805-8E5F-BE0B900C9F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6328EB84-F831-B115-4684-C198E4F368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4069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" Target="slide14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" Target="slide14.xm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jp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" Target="slide14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" Target="slide14.xm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jp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zm_o2dthNGIi-OXsgP8McUz4SUlb9q3p/view?usp=sharing" TargetMode="External"/><Relationship Id="rId5" Type="http://schemas.openxmlformats.org/officeDocument/2006/relationships/hyperlink" Target="https://youtu.be/5m2UWlqy6ww?si=dSH76_n1wgMZY_WY" TargetMode="External"/><Relationship Id="rId4" Type="http://schemas.openxmlformats.org/officeDocument/2006/relationships/hyperlink" Target="https://youtu.be/A68kxz0-Smo?si=jNmRORHF-b0We6V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- 4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4.1.2)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Homomorphism</a:t>
            </a: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FA9DFD-B600-FAC1-6953-6165CA05A7B6}"/>
              </a:ext>
            </a:extLst>
          </p:cNvPr>
          <p:cNvSpPr txBox="1"/>
          <p:nvPr/>
        </p:nvSpPr>
        <p:spPr>
          <a:xfrm>
            <a:off x="646143" y="1141001"/>
            <a:ext cx="810073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graph without loops and parallel edges.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graph which consists of multiple edges but not self loops is called multigraph.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pseudo graph is a type of graph that allows both loops and multiple edges.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48EC5-949C-E409-6DEB-6E4A4C793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691" y="1974181"/>
            <a:ext cx="1986641" cy="1193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A16C93-B4D9-C538-F8C8-5AE2EDBF0F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086" y="5241962"/>
            <a:ext cx="1278273" cy="1055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3B83CB-7A5D-50F4-7007-AE03DB20F6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471" y="3602214"/>
            <a:ext cx="1389548" cy="972031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CF6DCA0E-6F47-2EB8-2238-3274A444E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0012EDE2-CF9B-78F8-B230-1E7CC64047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62560085-99EF-222A-99FE-6086AF53EF5C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28F6B1DA-D550-3ACC-3671-8C5253172099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194A834-13C5-C135-06B9-C1ADAB51D7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BF38D0-8C15-7D7C-8747-8F3F1A0546C1}"/>
              </a:ext>
            </a:extLst>
          </p:cNvPr>
          <p:cNvSpPr txBox="1"/>
          <p:nvPr/>
        </p:nvSpPr>
        <p:spPr>
          <a:xfrm>
            <a:off x="484742" y="1518771"/>
            <a:ext cx="8031297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graph where each edge is assigned a numerical label or “weight”. 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null graph is a graph having only vertices but not edges. It means it has only isolated vertices.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Trivial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trivial graph is a graph having only one vertex and no edges.</a:t>
            </a:r>
          </a:p>
          <a:p>
            <a:pPr algn="just"/>
            <a:endParaRPr lang="en-US" sz="2800" dirty="0">
              <a:latin typeface="Arial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8D89D3-F218-BEEF-C096-D7A2FA3891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93" y="2058398"/>
            <a:ext cx="2358159" cy="1269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9D79A5-2E67-FE0F-9B76-D331CC9113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895" y="5339229"/>
            <a:ext cx="582210" cy="683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E363DA-7F28-07AA-A689-1A58567279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061" y="3767768"/>
            <a:ext cx="1393586" cy="109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4461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A5D5DB96-34E2-4814-1B09-2DC15B57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E50FBC80-8F20-5A2C-698F-38323A0C0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BB867A44-B955-DF57-C278-AB4A0049D1C9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50DC5A45-5A23-CB81-10D9-DBCE70E8D05E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35E5E4C-0472-D1CE-5D20-5C015DE3EE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3760B5-CBB9-AE3D-0A46-7C22F23BB792}"/>
              </a:ext>
            </a:extLst>
          </p:cNvPr>
          <p:cNvSpPr txBox="1"/>
          <p:nvPr/>
        </p:nvSpPr>
        <p:spPr>
          <a:xfrm>
            <a:off x="605927" y="1581676"/>
            <a:ext cx="806600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Finite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finite graph is a graph with a finite number of vertices and edges.</a:t>
            </a: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Infinite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An infinite graph has either infinitely many vertices, infinitely many edges, or both.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Directed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directed graph (digraph) is a graph where each edge has a direction, otherwise un-directed.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9165A-5B9A-3CCA-2A6E-18EC9B9B85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028" y="1892967"/>
            <a:ext cx="1390409" cy="946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C75E9E-129F-1F8C-FC2D-9B765A7A56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3" y="3511599"/>
            <a:ext cx="1080480" cy="1014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5CB0D3-92FA-72F0-C4FA-B6388A755F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89" y="3830304"/>
            <a:ext cx="1818628" cy="588305"/>
          </a:xfrm>
          <a:prstGeom prst="rect">
            <a:avLst/>
          </a:prstGeom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9D1C3176-670C-1F24-3963-989D514C2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973542" y="4933825"/>
            <a:ext cx="1564531" cy="109791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35533815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DF9ACE5E-139E-AA62-F0CD-C3C77F4E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732A8507-A603-8E56-1B80-1D1A840D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1913CACD-4C04-AB5F-7412-56FC54E88CD5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381B1EB3-A4B8-C518-8C7F-DD623072CD62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EBA828E-F5ED-F6FA-BB5A-3FADD1D65E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F2EBBD-E8CB-45CC-2D99-47C362F01139}"/>
              </a:ext>
            </a:extLst>
          </p:cNvPr>
          <p:cNvSpPr txBox="1"/>
          <p:nvPr/>
        </p:nvSpPr>
        <p:spPr>
          <a:xfrm>
            <a:off x="605929" y="1553375"/>
            <a:ext cx="806600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K-regular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k-regular graph is a type of graph in which every vertex has exactly 𝑘 edges connected to it. The degree of every vertex in a K-regular graph is k.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Examples: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indent="-514350" algn="just">
              <a:buAutoNum type="arabicParenR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1-regular</a:t>
            </a:r>
          </a:p>
          <a:p>
            <a:pPr algn="just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just">
              <a:buAutoNum type="arabicParenR" startAt="2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2-regular</a:t>
            </a:r>
          </a:p>
          <a:p>
            <a:pPr algn="just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just">
              <a:buAutoNum type="arabicParenR" startAt="2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3-regular</a:t>
            </a:r>
          </a:p>
          <a:p>
            <a:pPr marL="514350" indent="-514350" algn="just">
              <a:buAutoNum type="arabicParenR" startAt="2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just">
              <a:buAutoNum type="arabicParenR" startAt="2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31692A-7C4B-C1CC-A169-79338329C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33896" y="2993590"/>
            <a:ext cx="2044670" cy="79104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C2809803-1323-C7D8-762C-87CBCF7F9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306947" y="3856095"/>
            <a:ext cx="1389020" cy="120990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6122F9B-C360-55A1-F7A7-3AA714C08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477992" y="5199552"/>
            <a:ext cx="1389020" cy="113278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7C594B-ADF1-B069-CF36-4B9BE8BC32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086" y="3762496"/>
            <a:ext cx="1363864" cy="1209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FDBA9-1355-2734-9CAF-4DE59F6CC1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123" y="5223767"/>
            <a:ext cx="1237113" cy="99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5306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87DB72A8-7C59-E107-CE22-A7552CB6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0350FE3F-CF90-8856-3D2E-6A538E10F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24E48F01-2C90-7D3B-D529-C27D2DF04A76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67578EAE-2306-072F-9F48-C07B6EB26565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139211F-9CA3-7951-56A7-5826DC99E0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5DB99E-A74A-0CBA-CB08-DC5E52D582C3}"/>
                  </a:ext>
                </a:extLst>
              </p:cNvPr>
              <p:cNvSpPr txBox="1"/>
              <p:nvPr/>
            </p:nvSpPr>
            <p:spPr>
              <a:xfrm>
                <a:off x="506775" y="1584460"/>
                <a:ext cx="8165161" cy="4647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Complete graph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lang="en-US" sz="2400" b="1" baseline="-25000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sz="2400" b="1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is a graph with n-vertices such that every pair of vertices is joined by an edge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A complete graph is always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 regular graph.</a:t>
                </a:r>
              </a:p>
              <a:p>
                <a:pPr algn="just"/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Some Examples: </a:t>
                </a:r>
              </a:p>
              <a:p>
                <a:pPr marL="514350" indent="-514350" algn="just">
                  <a:buFontTx/>
                  <a:buAutoNum type="arabicParenR"/>
                </a:pP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K</a:t>
                </a:r>
                <a:r>
                  <a:rPr lang="en-US" sz="2400" b="1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 algn="just">
                  <a:buAutoNum type="arabicParenR"/>
                </a:pPr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 algn="just">
                  <a:buAutoNum type="arabicParenR"/>
                </a:pPr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 algn="just">
                  <a:buFontTx/>
                  <a:buAutoNum type="arabicParenR"/>
                </a:pP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K</a:t>
                </a:r>
                <a:r>
                  <a:rPr lang="en-US" sz="2400" b="1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  <a:p>
                <a:pPr marL="514350" indent="-514350" algn="just">
                  <a:buFontTx/>
                  <a:buAutoNum type="arabicParenR"/>
                </a:pPr>
                <a:endParaRPr lang="en-US" sz="2400" b="1" baseline="-25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 algn="just">
                  <a:buFontTx/>
                  <a:buAutoNum type="arabicParenR"/>
                </a:pPr>
                <a:endParaRPr lang="en-US" sz="2400" b="1" baseline="-25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 algn="just">
                  <a:buFontTx/>
                  <a:buAutoNum type="arabicParenR"/>
                </a:pPr>
                <a:endParaRPr lang="en-US" sz="24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3)   K</a:t>
                </a:r>
                <a:r>
                  <a:rPr lang="en-US" sz="2400" b="1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:endParaRPr lang="en-IN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5DB99E-A74A-0CBA-CB08-DC5E52D58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75" y="1584460"/>
                <a:ext cx="8165161" cy="4647426"/>
              </a:xfrm>
              <a:prstGeom prst="rect">
                <a:avLst/>
              </a:prstGeom>
              <a:blipFill>
                <a:blip r:embed="rId5"/>
                <a:stretch>
                  <a:fillRect l="-1194" t="-1050" r="-11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11A6379-C887-508A-1E69-5C6F9C9038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4" y="3129513"/>
            <a:ext cx="1092150" cy="5906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287770-4094-9833-5E10-D1F2E54BC7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3" y="3587896"/>
            <a:ext cx="1181760" cy="12244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CC674A-D583-44D2-A1D1-782618DC8E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185" y="4922426"/>
            <a:ext cx="1143250" cy="117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9398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B0F41778-3EB1-F520-9CB8-8E945BB60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181F5C84-8B58-7163-DE42-0548B468EA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F5220EA2-46E9-0F27-8889-92D5E45D3A5E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BC9944E8-34CB-910B-78A0-181AD91D9DFE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9779B42-3DB2-D30D-F8B6-C1EC09E6BF8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834E08-7E75-49A6-9CDF-8A3E9D60094D}"/>
                  </a:ext>
                </a:extLst>
              </p:cNvPr>
              <p:cNvSpPr txBox="1"/>
              <p:nvPr/>
            </p:nvSpPr>
            <p:spPr>
              <a:xfrm>
                <a:off x="506775" y="1584460"/>
                <a:ext cx="8165161" cy="2444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Note: 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No. of edges in a complete graph </a:t>
                </a:r>
              </a:p>
              <a:p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		</a:t>
                </a:r>
                <a:r>
                  <a:rPr lang="en-US" sz="2800" b="1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lang="en-US" sz="2800" b="1" baseline="-25000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sz="28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IN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Example: No. of edges in </a:t>
                </a: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lang="en-US" sz="2400" b="1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</a:t>
                </a: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algn="ctr"/>
                <a:r>
                  <a:rPr lang="en-US" sz="3600" b="1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5 (5-1)/2 = 10.</a:t>
                </a:r>
              </a:p>
              <a:p>
                <a:endParaRPr lang="en-US" sz="2400" b="1" baseline="-25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834E08-7E75-49A6-9CDF-8A3E9D600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75" y="1584460"/>
                <a:ext cx="8165161" cy="2444323"/>
              </a:xfrm>
              <a:prstGeom prst="rect">
                <a:avLst/>
              </a:prstGeom>
              <a:blipFill>
                <a:blip r:embed="rId5"/>
                <a:stretch>
                  <a:fillRect l="-1119" t="-19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08450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794356EA-FA4C-6494-9C7A-4D161F321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7F9C43F1-004A-9100-7B77-6C4174775B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Isomorphic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DC31EC8F-1E85-63A8-83B9-284D64A7BF05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6FE871D3-E877-6691-38E9-350A43ABDE84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23FCF4D-C19F-CA2F-D0C8-F8DA2EE141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3860D2-C306-12D1-D72D-AB951947F352}"/>
              </a:ext>
            </a:extLst>
          </p:cNvPr>
          <p:cNvSpPr txBox="1"/>
          <p:nvPr/>
        </p:nvSpPr>
        <p:spPr>
          <a:xfrm>
            <a:off x="393405" y="1584460"/>
            <a:ext cx="842098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Isomorphic graphs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graphs G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G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are called isomorphic if there is one to one correspondence between the edge sets 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vertex sets 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such a way that if 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an edge between u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G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then correspondence edge 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u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G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If Two graph are isomorphic of each other then (not vice versa)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have same number of edges and same number of vertices.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have equal number of vertices with a given degree. </a:t>
            </a:r>
          </a:p>
          <a:p>
            <a:endParaRPr lang="en-US" sz="2400" b="1" baseline="-25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75609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85E1012-2346-4617-6C74-A4E29F36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3DB32C2B-2F8E-A209-7FEF-A582EEFAD0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Isomorphic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4FE0016A-689E-8A28-C643-E41302467C2F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3E30575F-A4B0-BE52-955E-C517CDBE18D7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601F45C-DBFA-A938-272C-982C1C6D7B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F0F7C6-210E-D8F4-ABFE-60F36B238B7E}"/>
              </a:ext>
            </a:extLst>
          </p:cNvPr>
          <p:cNvSpPr txBox="1"/>
          <p:nvPr/>
        </p:nvSpPr>
        <p:spPr>
          <a:xfrm>
            <a:off x="382773" y="1544689"/>
            <a:ext cx="84706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algn="just"/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                                are isomorphic as</a:t>
            </a: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are isomorphic as</a:t>
            </a:r>
          </a:p>
          <a:p>
            <a:pPr lvl="0" algn="just"/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</a:t>
            </a:r>
          </a:p>
          <a:p>
            <a:pPr lvl="0" algn="just"/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B39E70-EF18-60D6-D280-17B8BE575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42" y="2124709"/>
            <a:ext cx="1434203" cy="15342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B2F913-01BC-00F5-E6B3-20C9EC060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989" y="2206114"/>
            <a:ext cx="1596027" cy="14362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7B9A90-78B1-4EA7-DFFD-431889E5B5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290" y="2910540"/>
            <a:ext cx="3722530" cy="4652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F3BF3C-E87B-5BBF-576E-8C05D9508B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378" y="4008751"/>
            <a:ext cx="3397401" cy="17612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30EB5E-A5BF-5E7F-95DC-67D902F7F9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1195" y="5144859"/>
            <a:ext cx="4165254" cy="46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34236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9F2308D-B784-83B4-5E35-1C146AC04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687" y="1888648"/>
            <a:ext cx="762354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the following pair of graphs for isomorphism.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C49BD-C3D1-3151-3B0E-D14FD26F4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847" y="3887899"/>
            <a:ext cx="5295076" cy="1705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59903-7755-D616-C4F6-3969BB26F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848" y="2434980"/>
            <a:ext cx="5221241" cy="145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03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Types of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 and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 Isomorphic 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https://youtu.be/A68kxz0-Smo?si=jNmRORHF-b0We6VL</a:t>
            </a:r>
            <a:endParaRPr lang="en-US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https://youtu.be/5m2UWlqy6ww?si=dSH76_n1wgMZY_WY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732</Words>
  <Application>Microsoft Office PowerPoint</Application>
  <PresentationFormat>On-screen Show (4:3)</PresentationFormat>
  <Paragraphs>193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Calibri</vt:lpstr>
      <vt:lpstr>Casper</vt:lpstr>
      <vt:lpstr>Noto Sans Symbols</vt:lpstr>
      <vt:lpstr>Arial</vt:lpstr>
      <vt:lpstr>Cambria Math</vt:lpstr>
      <vt:lpstr>Arial Black</vt:lpstr>
      <vt:lpstr>Cambria</vt:lpstr>
      <vt:lpstr>Times New Roman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Types of Graph</vt:lpstr>
      <vt:lpstr>Types of Graph</vt:lpstr>
      <vt:lpstr>Types of Graph</vt:lpstr>
      <vt:lpstr>Types of Graph</vt:lpstr>
      <vt:lpstr>Types of Graph</vt:lpstr>
      <vt:lpstr>Types of Graph</vt:lpstr>
      <vt:lpstr>Isomorphic Graphs</vt:lpstr>
      <vt:lpstr>Isomorphic Graphs</vt:lpstr>
      <vt:lpstr>Activity-1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9</cp:revision>
  <dcterms:created xsi:type="dcterms:W3CDTF">2006-08-16T00:00:00Z</dcterms:created>
  <dcterms:modified xsi:type="dcterms:W3CDTF">2026-07-09T10:31:37Z</dcterms:modified>
</cp:coreProperties>
</file>