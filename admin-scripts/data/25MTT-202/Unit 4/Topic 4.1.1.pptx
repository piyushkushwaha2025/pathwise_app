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0"/>
  </p:notesMasterIdLst>
  <p:sldIdLst>
    <p:sldId id="328" r:id="rId3"/>
    <p:sldId id="397" r:id="rId4"/>
    <p:sldId id="391" r:id="rId5"/>
    <p:sldId id="259" r:id="rId6"/>
    <p:sldId id="260" r:id="rId7"/>
    <p:sldId id="406" r:id="rId8"/>
    <p:sldId id="407" r:id="rId9"/>
    <p:sldId id="408" r:id="rId10"/>
    <p:sldId id="409" r:id="rId11"/>
    <p:sldId id="410" r:id="rId12"/>
    <p:sldId id="411" r:id="rId13"/>
    <p:sldId id="270" r:id="rId14"/>
    <p:sldId id="412" r:id="rId15"/>
    <p:sldId id="264" r:id="rId16"/>
    <p:sldId id="265" r:id="rId17"/>
    <p:sldId id="398" r:id="rId18"/>
    <p:sldId id="267" r:id="rId19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27CF398A-64B9-C13D-C7FE-F6335081A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3DF59625-2C45-74E7-B948-9C064529C4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3511F389-98E0-36E3-BD19-A0F36E3D2A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696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E3DDF9B3-8DAA-34E4-37D1-80F768F27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D3E00CDE-8145-B448-B58F-39D9730FDA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84D2B58F-0F48-D5CC-9FBB-42CD9F7BC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792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0729734-73DA-5512-8094-112B1F748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F6EE2B84-8F87-35F8-C999-3B8C85CFF5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AA1092AB-A309-9080-B7ED-C11E81B1A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6426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DF496B4-BB06-544A-6067-B59BD063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08DFC73C-A515-ACB9-ECC1-890605738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09C429EC-EE58-6048-77BD-67BC1E0D8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842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643B9AAB-3353-445C-4695-49057BA8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27757843-3344-BC3F-48B7-0501D8350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B96AA687-FF39-8050-3443-0F004EF42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0262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2582C217-BA35-A545-7FA5-7F064367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ACEE7E2F-A1DD-7AE0-87A6-4337285D35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2AA60B08-472F-44B9-E740-3BEC314E1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4101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29262BFA-C0E7-0F5B-81A7-E59FF4A9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DD24125A-879E-1885-7934-38C8C4A4E1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88108087-32F5-0410-90E8-83227CE745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908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zm_o2dthNGIi-OXsgP8McUz4SUlb9q3p/view?usp=sharing" TargetMode="External"/><Relationship Id="rId5" Type="http://schemas.openxmlformats.org/officeDocument/2006/relationships/hyperlink" Target="https://youtu.be/j3lrgY_sH44?si=RHcyCOoz3itig_RY" TargetMode="External"/><Relationship Id="rId4" Type="http://schemas.openxmlformats.org/officeDocument/2006/relationships/hyperlink" Target="https://youtu.be/E40r8DWgG40?si=HM799le2HxgotZa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- 4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4.1.1)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and Multigraph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Simple and Multiple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7A9C22-CFD7-BD0C-F3FD-24F5DCE6A4C6}"/>
              </a:ext>
            </a:extLst>
          </p:cNvPr>
          <p:cNvSpPr txBox="1"/>
          <p:nvPr/>
        </p:nvSpPr>
        <p:spPr>
          <a:xfrm>
            <a:off x="750012" y="1917453"/>
            <a:ext cx="77878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Graphs are discrete structures consisting of vertices and edges that connect these vertices.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Mathematically, A graph G = (V , E) consists of V, a non-empty set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vertices (or nodes)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E, a set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edge has either one or two vertices associated with it, called its end points. An edge is said to connect its endpoints.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E406DF0-DB4B-3185-DE34-34FFF954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CA78678E-0F1B-6CF3-5332-1567592650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Simple and Multiple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4B3B80FF-9F6E-653C-A831-1072C451519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E57F19FC-ED86-FAAB-76FD-7DAE047376DB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D3FF813-4121-0899-1AC0-9704DD9C9A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37B9C4-7072-DC9C-B31C-649C35FD1BB6}"/>
              </a:ext>
            </a:extLst>
          </p:cNvPr>
          <p:cNvSpPr txBox="1"/>
          <p:nvPr/>
        </p:nvSpPr>
        <p:spPr>
          <a:xfrm>
            <a:off x="750012" y="1917453"/>
            <a:ext cx="77878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graph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 = {a, b, c, d}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 vertex set</a:t>
            </a: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= {{a, b}, {a, d}, {b, c}, {c, d}, {b, d}}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set of edges.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Remark: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edge is said to be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its end points.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CDC59D-252F-6BB5-3805-4ABB975F5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443" y="1887402"/>
            <a:ext cx="3476830" cy="196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0626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8F1ED1E-78EC-8018-DA6F-B52F354D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76423B25-2C97-B2E3-B921-0F5DC1708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Simple and Multiple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429A52BC-F301-B67B-7561-73FB3E6FA523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B4146AC8-B671-288B-706A-A397474B009A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A6EDDD8F-4284-84CA-92B9-FE9E3516110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8D3DEE-736C-6759-CF40-514EE9D1D826}"/>
              </a:ext>
            </a:extLst>
          </p:cNvPr>
          <p:cNvSpPr txBox="1"/>
          <p:nvPr/>
        </p:nvSpPr>
        <p:spPr>
          <a:xfrm>
            <a:off x="647272" y="1557856"/>
            <a:ext cx="799349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Parallel Edges: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Parallel edges are two or more edges that connect the same pair of vertices in a graph. </a:t>
            </a:r>
          </a:p>
          <a:p>
            <a:pPr algn="just"/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 / Self Loop: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loop is an edge that connects a vertex to itself. In other words, a loop starts and ends at the same vertex.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 the graph,                                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and b are joined by two parallel edges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has a loop.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BECFAF-3000-E276-7CE6-5E1BD8D54B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611" y="3578079"/>
            <a:ext cx="3095457" cy="210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9174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698C2F04-26C6-F480-F271-7717AF75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8B895782-AA50-5A1F-E401-51A440478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Order and Degree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0D6881E0-E90D-68C3-13E7-75361E8CFA8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1CF67A07-B7FD-22AF-AF0C-7EC98B2E256D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BD56992B-0DFD-2E34-8511-30A29C9EF3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BC7985-6709-524B-14E3-D9869025329F}"/>
              </a:ext>
            </a:extLst>
          </p:cNvPr>
          <p:cNvSpPr txBox="1"/>
          <p:nvPr/>
        </p:nvSpPr>
        <p:spPr>
          <a:xfrm>
            <a:off x="647272" y="1557856"/>
            <a:ext cx="79934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of a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the total number of vertices in a graph. The order of the above graph is 4.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Degree of a vertex: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degree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 vertex v, denoted by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(v) or d(v),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number of edges incident on v.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 this graph,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d(a) = 3, d(b) = 2, d(c) = 1,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d(d) = 4,d(e)=0.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B8396F6-025F-D871-C328-2E42AD5C5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0095" y="3637799"/>
            <a:ext cx="3102363" cy="227868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20935079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DF9ACE5E-139E-AA62-F0CD-C3C77F4E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1913CACD-4C04-AB5F-7412-56FC54E88CD5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381B1EB3-A4B8-C518-8C7F-DD623072CD62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EBA828E-F5ED-F6FA-BB5A-3FADD1D65E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33E1A9-1EE0-C6EE-3FD2-0A7EFFC32A98}"/>
              </a:ext>
            </a:extLst>
          </p:cNvPr>
          <p:cNvSpPr txBox="1"/>
          <p:nvPr/>
        </p:nvSpPr>
        <p:spPr>
          <a:xfrm>
            <a:off x="647272" y="1557856"/>
            <a:ext cx="799349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Note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Degree of a loop is taken as 2.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In a directed graph  degree of a vertex is equal to the sum of the in degree and out degree where,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    Out degree: No. of edges start from the vertex.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Symbol" pitchFamily="18" charset="2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      In degree =  No. of edges terminate on the vertex.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04;p5">
            <a:extLst>
              <a:ext uri="{FF2B5EF4-FFF2-40B4-BE49-F238E27FC236}">
                <a16:creationId xmlns:a16="http://schemas.microsoft.com/office/drawing/2014/main" id="{06996846-9D3B-6158-351F-885AC6124C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Order and Degree of Graph</a:t>
            </a:r>
            <a:endParaRPr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953067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F8EA24D-2C9E-0517-AB65-38CB7D7D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D0080AA7-4FF4-F760-5FFD-6F9089A5734F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535E6283-1E10-8499-D599-AFFBFE60E53F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DB1E8A0-99B7-5A4B-ACDA-D95604B4E3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972372-FC9B-415D-9F12-ABBD7604CE80}"/>
              </a:ext>
            </a:extLst>
          </p:cNvPr>
          <p:cNvSpPr txBox="1"/>
          <p:nvPr/>
        </p:nvSpPr>
        <p:spPr>
          <a:xfrm>
            <a:off x="647272" y="1557856"/>
            <a:ext cx="79934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0304BB-0D5D-239D-8A90-9C9139020C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543427"/>
            <a:ext cx="6030686" cy="3172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393A40-A6E6-7A56-C968-85BCE8B6A708}"/>
              </a:ext>
            </a:extLst>
          </p:cNvPr>
          <p:cNvSpPr txBox="1"/>
          <p:nvPr/>
        </p:nvSpPr>
        <p:spPr>
          <a:xfrm>
            <a:off x="1025978" y="5152545"/>
            <a:ext cx="75084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deg(A)=2,    deg(B)=4,  deg(D)=3,  deg(C)=2,  deg(E)=3 and number of edges = 7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Google Shape;204;p5">
            <a:extLst>
              <a:ext uri="{FF2B5EF4-FFF2-40B4-BE49-F238E27FC236}">
                <a16:creationId xmlns:a16="http://schemas.microsoft.com/office/drawing/2014/main" id="{F4F9E7E6-0ECC-6AE8-AF1F-5451C7743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Order and Degree of Graph</a:t>
            </a:r>
            <a:endParaRPr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874702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4AE9C9E-3B3C-68CF-92AD-302AE694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51AD5AC0-C770-3608-488B-0A20570C3C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132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Handshaking Theorem Statement</a:t>
            </a: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A3D1C627-27BF-46C1-7EE2-061C951675AC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424AAD6A-FBFC-02DD-BD85-49D38B5FB979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C13844D1-26C4-9741-FA88-B814EF80792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21AA30-587F-C275-F9BF-1B456A4604C0}"/>
              </a:ext>
            </a:extLst>
          </p:cNvPr>
          <p:cNvSpPr txBox="1"/>
          <p:nvPr/>
        </p:nvSpPr>
        <p:spPr>
          <a:xfrm>
            <a:off x="647272" y="1557856"/>
            <a:ext cx="79934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DBF263-216A-775D-A9E2-F9FB3BAA426F}"/>
                  </a:ext>
                </a:extLst>
              </p:cNvPr>
              <p:cNvSpPr txBox="1"/>
              <p:nvPr/>
            </p:nvSpPr>
            <p:spPr>
              <a:xfrm>
                <a:off x="647273" y="1508359"/>
                <a:ext cx="7993490" cy="4932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IN" sz="24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Handshaking Theorem Statement</a:t>
                </a:r>
                <a:endParaRPr lang="en-IN" sz="24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any finite and undirected graph </a:t>
                </a:r>
                <a:r>
                  <a:rPr lang="en-IN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SG" sz="24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kind of a graph where the links, or edges, do not possess any specific direction)</a:t>
                </a: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the sum of the degrees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vertices is equal to twice the number of edges.</a:t>
                </a:r>
                <a:endParaRPr lang="en-IN" sz="24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IN" sz="24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Mathematical Formulation:</a:t>
                </a:r>
                <a:endParaRPr lang="en-IN" sz="2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𝐝𝐞𝐠</m:t>
                    </m:r>
                    <m:d>
                      <m:dPr>
                        <m:ctrlPr>
                          <a:rPr lang="en-IN" sz="2400" b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𝐝𝐞𝐠</m:t>
                    </m:r>
                    <m:d>
                      <m:dPr>
                        <m:ctrlPr>
                          <a:rPr lang="en-IN" sz="2400" b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+…+</m:t>
                    </m:r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𝐝𝐞𝐠</m:t>
                    </m:r>
                    <m:d>
                      <m:dPr>
                        <m:ctrlPr>
                          <a:rPr lang="en-IN" sz="2400" b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b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en-IN" sz="2400" b="1" i="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𝐧</m:t>
                            </m:r>
                          </m:sub>
                        </m:sSub>
                      </m:e>
                    </m:d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IN" sz="2400" b="1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𝐄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endParaRPr lang="en-SG" sz="24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SG" sz="24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SG" sz="24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By logically connecting the degrees of vertices with the number of edges, the theorem reveals a fundamental relationship within graphs.</a:t>
                </a:r>
                <a:endParaRPr lang="en-IN" sz="24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DBF263-216A-775D-A9E2-F9FB3BAA4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73" y="1508359"/>
                <a:ext cx="7993490" cy="4932312"/>
              </a:xfrm>
              <a:prstGeom prst="rect">
                <a:avLst/>
              </a:prstGeom>
              <a:blipFill>
                <a:blip r:embed="rId5"/>
                <a:stretch>
                  <a:fillRect l="-1144" t="-864" r="-1602" b="-17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381202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827547-09A0-F6A0-F8B5-8E5E280A9157}"/>
              </a:ext>
            </a:extLst>
          </p:cNvPr>
          <p:cNvSpPr txBox="1"/>
          <p:nvPr/>
        </p:nvSpPr>
        <p:spPr>
          <a:xfrm>
            <a:off x="821933" y="1528917"/>
            <a:ext cx="720764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no. of vertices and edges, degree of each vertex in the given graphs. Identify all multiple edges, loops, adjacent vertices, adjacent edges, isolated and pendant vertices.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0B96B5-BE82-43F7-DA61-90B57BFAC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311" y="2952160"/>
            <a:ext cx="2281407" cy="15567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F9BCDA-6FBD-3787-41CD-150A22F89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3" y="4742999"/>
            <a:ext cx="2876764" cy="146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B1FFC975-4EAE-8444-D0BA-D8C87CD24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D663CA71-5D30-AFA1-C25E-4BFB09B197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Activity-2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C17008A8-629A-3ADE-0CBC-6701BE30AAAD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A4CCDD2-FA97-83F7-CF14-13DFEAAD46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B0ECCF-31FC-708C-2638-4284BC136F01}"/>
              </a:ext>
            </a:extLst>
          </p:cNvPr>
          <p:cNvSpPr txBox="1"/>
          <p:nvPr/>
        </p:nvSpPr>
        <p:spPr>
          <a:xfrm>
            <a:off x="533400" y="1528917"/>
            <a:ext cx="810736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1: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How many edges are there in a graph with 10 vertices each of degree 2? 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2: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complete graph with 𝑛 vertices, use the Handshaking Theorem to find the total number of edges.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3</a:t>
            </a:r>
            <a:r>
              <a:rPr lang="en-SG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graph has 6 vertices with degrees 3, 2, 2, 1, 4, 2. Is this a valid graph?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4</a:t>
            </a:r>
            <a:r>
              <a:rPr lang="en-SG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graph with 8 vertices, 5 vertices have odd degrees. Can this be possible? Why or why not?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5</a:t>
            </a:r>
            <a:r>
              <a:rPr lang="en-SG" sz="24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has 10 edges. What is the sum of all vertex degrees?</a:t>
            </a:r>
          </a:p>
        </p:txBody>
      </p:sp>
    </p:spTree>
    <p:extLst>
      <p:ext uri="{BB962C8B-B14F-4D97-AF65-F5344CB8AC3E}">
        <p14:creationId xmlns:p14="http://schemas.microsoft.com/office/powerpoint/2010/main" val="589627930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49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Types of Graph, degree and Order are discussed.</a:t>
            </a:r>
          </a:p>
          <a:p>
            <a:pPr marL="368068" marR="10067" lvl="0" indent="-342900" algn="just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Handshaking Theorem is discussed.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and applications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https://youtu.be/E40r8DWgG40?si=HM799le2HxgotZaf</a:t>
            </a:r>
            <a:endParaRPr lang="en-IN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https://youtu.be/j3lrgY_sH44?si=RHcyCOoz3itig_RY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980</Words>
  <Application>Microsoft Office PowerPoint</Application>
  <PresentationFormat>On-screen Show (4:3)</PresentationFormat>
  <Paragraphs>179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Calibri</vt:lpstr>
      <vt:lpstr>Casper</vt:lpstr>
      <vt:lpstr>Noto Sans Symbols</vt:lpstr>
      <vt:lpstr>Arial</vt:lpstr>
      <vt:lpstr>Cambria Math</vt:lpstr>
      <vt:lpstr>Arial Black</vt:lpstr>
      <vt:lpstr>Cambria</vt:lpstr>
      <vt:lpstr>Times New Roman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Simple and Multiple Graph</vt:lpstr>
      <vt:lpstr>Simple and Multiple Graph</vt:lpstr>
      <vt:lpstr>Simple and Multiple Graph</vt:lpstr>
      <vt:lpstr>Order and Degree of Graph</vt:lpstr>
      <vt:lpstr>Order and Degree of Graph</vt:lpstr>
      <vt:lpstr>Order and Degree of Graph</vt:lpstr>
      <vt:lpstr>Handshaking Theorem Statement</vt:lpstr>
      <vt:lpstr>Activity-1</vt:lpstr>
      <vt:lpstr>Activity-2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5</cp:revision>
  <dcterms:created xsi:type="dcterms:W3CDTF">2006-08-16T00:00:00Z</dcterms:created>
  <dcterms:modified xsi:type="dcterms:W3CDTF">2026-07-09T10:44:53Z</dcterms:modified>
</cp:coreProperties>
</file>