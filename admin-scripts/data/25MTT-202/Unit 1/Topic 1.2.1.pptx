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  <p:sldMasterId id="2147483829" r:id="rId2"/>
  </p:sldMasterIdLst>
  <p:notesMasterIdLst>
    <p:notesMasterId r:id="rId26"/>
  </p:notesMasterIdLst>
  <p:sldIdLst>
    <p:sldId id="328" r:id="rId3"/>
    <p:sldId id="410" r:id="rId4"/>
    <p:sldId id="391" r:id="rId5"/>
    <p:sldId id="398" r:id="rId6"/>
    <p:sldId id="411" r:id="rId7"/>
    <p:sldId id="414" r:id="rId8"/>
    <p:sldId id="415" r:id="rId9"/>
    <p:sldId id="401" r:id="rId10"/>
    <p:sldId id="402" r:id="rId11"/>
    <p:sldId id="403" r:id="rId12"/>
    <p:sldId id="416" r:id="rId13"/>
    <p:sldId id="405" r:id="rId14"/>
    <p:sldId id="417" r:id="rId15"/>
    <p:sldId id="395" r:id="rId16"/>
    <p:sldId id="397" r:id="rId17"/>
    <p:sldId id="406" r:id="rId18"/>
    <p:sldId id="407" r:id="rId19"/>
    <p:sldId id="408" r:id="rId20"/>
    <p:sldId id="409" r:id="rId21"/>
    <p:sldId id="399" r:id="rId22"/>
    <p:sldId id="387" r:id="rId23"/>
    <p:sldId id="266" r:id="rId24"/>
    <p:sldId id="392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59" autoAdjust="0"/>
    <p:restoredTop sz="91067" autoAdjust="0"/>
  </p:normalViewPr>
  <p:slideViewPr>
    <p:cSldViewPr>
      <p:cViewPr varScale="1">
        <p:scale>
          <a:sx n="60" d="100"/>
          <a:sy n="60" d="100"/>
        </p:scale>
        <p:origin x="1380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SARTAJ" userId="0be50391adb133e1" providerId="LiveId" clId="{849D2220-9185-4955-8F14-CE40930C4662}"/>
    <pc:docChg chg="undo custSel addSld delSld modSld">
      <pc:chgData name="MOHD SARTAJ" userId="0be50391adb133e1" providerId="LiveId" clId="{849D2220-9185-4955-8F14-CE40930C4662}" dt="2026-06-17T05:43:46.574" v="1537" actId="14100"/>
      <pc:docMkLst>
        <pc:docMk/>
      </pc:docMkLst>
      <pc:sldChg chg="modSp add">
        <pc:chgData name="MOHD SARTAJ" userId="0be50391adb133e1" providerId="LiveId" clId="{849D2220-9185-4955-8F14-CE40930C4662}" dt="2026-06-10T01:48:27.606" v="98"/>
        <pc:sldMkLst>
          <pc:docMk/>
          <pc:sldMk cId="0" sldId="257"/>
        </pc:sldMkLst>
      </pc:sldChg>
      <pc:sldChg chg="addSp modSp add mod">
        <pc:chgData name="MOHD SARTAJ" userId="0be50391adb133e1" providerId="LiveId" clId="{849D2220-9185-4955-8F14-CE40930C4662}" dt="2026-06-10T01:54:41.112" v="429" actId="207"/>
        <pc:sldMkLst>
          <pc:docMk/>
          <pc:sldMk cId="0" sldId="266"/>
        </pc:sldMkLst>
        <pc:spChg chg="mod">
          <ac:chgData name="MOHD SARTAJ" userId="0be50391adb133e1" providerId="LiveId" clId="{849D2220-9185-4955-8F14-CE40930C4662}" dt="2026-06-10T01:54:41.112" v="429" actId="207"/>
          <ac:spMkLst>
            <pc:docMk/>
            <pc:sldMk cId="0" sldId="266"/>
            <ac:spMk id="306" creationId="{00000000-0000-0000-0000-000000000000}"/>
          </ac:spMkLst>
        </pc:spChg>
        <pc:graphicFrameChg chg="mod modGraphic">
          <ac:chgData name="MOHD SARTAJ" userId="0be50391adb133e1" providerId="LiveId" clId="{849D2220-9185-4955-8F14-CE40930C4662}" dt="2026-06-10T01:46:31.854" v="90" actId="14100"/>
          <ac:graphicFrameMkLst>
            <pc:docMk/>
            <pc:sldMk cId="0" sldId="266"/>
            <ac:graphicFrameMk id="307" creationId="{00000000-0000-0000-0000-000000000000}"/>
          </ac:graphicFrameMkLst>
        </pc:graphicFrameChg>
      </pc:sldChg>
      <pc:sldChg chg="delSp modSp del mod">
        <pc:chgData name="MOHD SARTAJ" userId="0be50391adb133e1" providerId="LiveId" clId="{849D2220-9185-4955-8F14-CE40930C4662}" dt="2026-06-11T11:31:50.293" v="897" actId="47"/>
        <pc:sldMkLst>
          <pc:docMk/>
          <pc:sldMk cId="0" sldId="270"/>
        </pc:sldMkLst>
      </pc:sldChg>
      <pc:sldChg chg="addSp delSp modSp mod">
        <pc:chgData name="MOHD SARTAJ" userId="0be50391adb133e1" providerId="LiveId" clId="{849D2220-9185-4955-8F14-CE40930C4662}" dt="2026-06-11T11:12:22.614" v="437" actId="20577"/>
        <pc:sldMkLst>
          <pc:docMk/>
          <pc:sldMk cId="138525569" sldId="328"/>
        </pc:sldMkLst>
        <pc:spChg chg="mod">
          <ac:chgData name="MOHD SARTAJ" userId="0be50391adb133e1" providerId="LiveId" clId="{849D2220-9185-4955-8F14-CE40930C4662}" dt="2026-06-11T11:12:22.614" v="437" actId="20577"/>
          <ac:spMkLst>
            <pc:docMk/>
            <pc:sldMk cId="138525569" sldId="328"/>
            <ac:spMk id="26" creationId="{00000000-0000-0000-0000-000000000000}"/>
          </ac:spMkLst>
        </pc:spChg>
      </pc:sldChg>
      <pc:sldChg chg="del">
        <pc:chgData name="MOHD SARTAJ" userId="0be50391adb133e1" providerId="LiveId" clId="{849D2220-9185-4955-8F14-CE40930C4662}" dt="2026-06-08T11:46:47.292" v="14" actId="47"/>
        <pc:sldMkLst>
          <pc:docMk/>
          <pc:sldMk cId="0" sldId="334"/>
        </pc:sldMkLst>
      </pc:sldChg>
      <pc:sldChg chg="modSp mod">
        <pc:chgData name="MOHD SARTAJ" userId="0be50391adb133e1" providerId="LiveId" clId="{849D2220-9185-4955-8F14-CE40930C4662}" dt="2026-06-11T11:16:20.114" v="442" actId="5793"/>
        <pc:sldMkLst>
          <pc:docMk/>
          <pc:sldMk cId="3304736951" sldId="387"/>
        </pc:sldMkLst>
        <pc:spChg chg="mod">
          <ac:chgData name="MOHD SARTAJ" userId="0be50391adb133e1" providerId="LiveId" clId="{849D2220-9185-4955-8F14-CE40930C4662}" dt="2026-06-10T01:54:22.601" v="426" actId="1035"/>
          <ac:spMkLst>
            <pc:docMk/>
            <pc:sldMk cId="3304736951" sldId="387"/>
            <ac:spMk id="2" creationId="{00000000-0000-0000-0000-000000000000}"/>
          </ac:spMkLst>
        </pc:spChg>
        <pc:spChg chg="mod">
          <ac:chgData name="MOHD SARTAJ" userId="0be50391adb133e1" providerId="LiveId" clId="{849D2220-9185-4955-8F14-CE40930C4662}" dt="2026-06-11T11:16:20.114" v="442" actId="5793"/>
          <ac:spMkLst>
            <pc:docMk/>
            <pc:sldMk cId="3304736951" sldId="387"/>
            <ac:spMk id="5" creationId="{4097530B-3F21-DBFA-7A79-54A7A98F0EB3}"/>
          </ac:spMkLst>
        </pc:spChg>
      </pc:sldChg>
      <pc:sldChg chg="del">
        <pc:chgData name="MOHD SARTAJ" userId="0be50391adb133e1" providerId="LiveId" clId="{849D2220-9185-4955-8F14-CE40930C4662}" dt="2026-06-08T11:47:13.898" v="16" actId="47"/>
        <pc:sldMkLst>
          <pc:docMk/>
          <pc:sldMk cId="928345769" sldId="389"/>
        </pc:sldMkLst>
      </pc:sldChg>
      <pc:sldChg chg="modSp mod">
        <pc:chgData name="MOHD SARTAJ" userId="0be50391adb133e1" providerId="LiveId" clId="{849D2220-9185-4955-8F14-CE40930C4662}" dt="2026-06-10T01:54:55.340" v="430" actId="207"/>
        <pc:sldMkLst>
          <pc:docMk/>
          <pc:sldMk cId="3309513176" sldId="392"/>
        </pc:sldMkLst>
        <pc:spChg chg="mod">
          <ac:chgData name="MOHD SARTAJ" userId="0be50391adb133e1" providerId="LiveId" clId="{849D2220-9185-4955-8F14-CE40930C4662}" dt="2026-06-10T01:54:55.340" v="430" actId="207"/>
          <ac:spMkLst>
            <pc:docMk/>
            <pc:sldMk cId="3309513176" sldId="392"/>
            <ac:spMk id="4" creationId="{00000000-0000-0000-0000-000000000000}"/>
          </ac:spMkLst>
        </pc:spChg>
      </pc:sldChg>
      <pc:sldChg chg="addSp delSp modSp mod">
        <pc:chgData name="MOHD SARTAJ" userId="0be50391adb133e1" providerId="LiveId" clId="{849D2220-9185-4955-8F14-CE40930C4662}" dt="2026-06-17T05:37:21.319" v="1196" actId="2711"/>
        <pc:sldMkLst>
          <pc:docMk/>
          <pc:sldMk cId="419276167" sldId="393"/>
        </pc:sldMkLst>
        <pc:spChg chg="mod">
          <ac:chgData name="MOHD SARTAJ" userId="0be50391adb133e1" providerId="LiveId" clId="{849D2220-9185-4955-8F14-CE40930C4662}" dt="2026-06-17T05:36:43.849" v="1191" actId="207"/>
          <ac:spMkLst>
            <pc:docMk/>
            <pc:sldMk cId="419276167" sldId="393"/>
            <ac:spMk id="2" creationId="{00000000-0000-0000-0000-000000000000}"/>
          </ac:spMkLst>
        </pc:spChg>
        <pc:spChg chg="add mod">
          <ac:chgData name="MOHD SARTAJ" userId="0be50391adb133e1" providerId="LiveId" clId="{849D2220-9185-4955-8F14-CE40930C4662}" dt="2026-06-17T05:37:21.319" v="1196" actId="2711"/>
          <ac:spMkLst>
            <pc:docMk/>
            <pc:sldMk cId="419276167" sldId="393"/>
            <ac:spMk id="8" creationId="{20542E44-DBEB-6328-A1DA-90743F5497E3}"/>
          </ac:spMkLst>
        </pc:spChg>
      </pc:sldChg>
      <pc:sldChg chg="addSp delSp modSp del mod">
        <pc:chgData name="MOHD SARTAJ" userId="0be50391adb133e1" providerId="LiveId" clId="{849D2220-9185-4955-8F14-CE40930C4662}" dt="2026-06-11T11:25:41.942" v="786" actId="47"/>
        <pc:sldMkLst>
          <pc:docMk/>
          <pc:sldMk cId="1134222639" sldId="394"/>
        </pc:sldMkLst>
      </pc:sldChg>
      <pc:sldChg chg="addSp delSp modSp mod">
        <pc:chgData name="MOHD SARTAJ" userId="0be50391adb133e1" providerId="LiveId" clId="{849D2220-9185-4955-8F14-CE40930C4662}" dt="2026-06-11T11:27:59.828" v="862" actId="20577"/>
        <pc:sldMkLst>
          <pc:docMk/>
          <pc:sldMk cId="1130458306" sldId="395"/>
        </pc:sldMkLst>
        <pc:spChg chg="mod">
          <ac:chgData name="MOHD SARTAJ" userId="0be50391adb133e1" providerId="LiveId" clId="{849D2220-9185-4955-8F14-CE40930C4662}" dt="2026-06-11T11:27:37.623" v="852" actId="115"/>
          <ac:spMkLst>
            <pc:docMk/>
            <pc:sldMk cId="1130458306" sldId="395"/>
            <ac:spMk id="2" creationId="{00000000-0000-0000-0000-000000000000}"/>
          </ac:spMkLst>
        </pc:spChg>
        <pc:spChg chg="add mod">
          <ac:chgData name="MOHD SARTAJ" userId="0be50391adb133e1" providerId="LiveId" clId="{849D2220-9185-4955-8F14-CE40930C4662}" dt="2026-06-11T11:27:59.828" v="862" actId="20577"/>
          <ac:spMkLst>
            <pc:docMk/>
            <pc:sldMk cId="1130458306" sldId="395"/>
            <ac:spMk id="7" creationId="{29BD5ABC-B0DC-3CAB-A7EF-18D000D823DE}"/>
          </ac:spMkLst>
        </pc:spChg>
      </pc:sldChg>
      <pc:sldChg chg="addSp delSp modSp mod">
        <pc:chgData name="MOHD SARTAJ" userId="0be50391adb133e1" providerId="LiveId" clId="{849D2220-9185-4955-8F14-CE40930C4662}" dt="2026-06-11T11:12:52.410" v="438" actId="13926"/>
        <pc:sldMkLst>
          <pc:docMk/>
          <pc:sldMk cId="3625892683" sldId="396"/>
        </pc:sldMkLst>
      </pc:sldChg>
      <pc:sldChg chg="addSp delSp modSp mod modAnim">
        <pc:chgData name="MOHD SARTAJ" userId="0be50391adb133e1" providerId="LiveId" clId="{849D2220-9185-4955-8F14-CE40930C4662}" dt="2026-06-11T11:31:39.386" v="896" actId="20577"/>
        <pc:sldMkLst>
          <pc:docMk/>
          <pc:sldMk cId="3097046386" sldId="397"/>
        </pc:sldMkLst>
        <pc:spChg chg="add mod">
          <ac:chgData name="MOHD SARTAJ" userId="0be50391adb133e1" providerId="LiveId" clId="{849D2220-9185-4955-8F14-CE40930C4662}" dt="2026-06-11T11:31:39.386" v="896" actId="20577"/>
          <ac:spMkLst>
            <pc:docMk/>
            <pc:sldMk cId="3097046386" sldId="397"/>
            <ac:spMk id="2" creationId="{7537113C-24BD-A9C8-FA28-FAFF3FF6E45F}"/>
          </ac:spMkLst>
        </pc:spChg>
        <pc:spChg chg="mod">
          <ac:chgData name="MOHD SARTAJ" userId="0be50391adb133e1" providerId="LiveId" clId="{849D2220-9185-4955-8F14-CE40930C4662}" dt="2026-06-10T01:52:50.686" v="300" actId="207"/>
          <ac:spMkLst>
            <pc:docMk/>
            <pc:sldMk cId="3097046386" sldId="397"/>
            <ac:spMk id="3" creationId="{00000000-0000-0000-0000-000000000000}"/>
          </ac:spMkLst>
        </pc:spChg>
      </pc:sldChg>
      <pc:sldChg chg="delSp modSp mod">
        <pc:chgData name="MOHD SARTAJ" userId="0be50391adb133e1" providerId="LiveId" clId="{849D2220-9185-4955-8F14-CE40930C4662}" dt="2026-06-17T05:40:38.998" v="1352" actId="14100"/>
        <pc:sldMkLst>
          <pc:docMk/>
          <pc:sldMk cId="2379522457" sldId="398"/>
        </pc:sldMkLst>
        <pc:spChg chg="mod">
          <ac:chgData name="MOHD SARTAJ" userId="0be50391adb133e1" providerId="LiveId" clId="{849D2220-9185-4955-8F14-CE40930C4662}" dt="2026-06-10T01:51:35.459" v="179" actId="1038"/>
          <ac:spMkLst>
            <pc:docMk/>
            <pc:sldMk cId="2379522457" sldId="398"/>
            <ac:spMk id="3" creationId="{00000000-0000-0000-0000-000000000000}"/>
          </ac:spMkLst>
        </pc:spChg>
        <pc:spChg chg="mod">
          <ac:chgData name="MOHD SARTAJ" userId="0be50391adb133e1" providerId="LiveId" clId="{849D2220-9185-4955-8F14-CE40930C4662}" dt="2026-06-17T05:40:38.998" v="1352" actId="14100"/>
          <ac:spMkLst>
            <pc:docMk/>
            <pc:sldMk cId="2379522457" sldId="398"/>
            <ac:spMk id="5" creationId="{B3F64BE0-B5FE-416B-C8AC-E482358E482D}"/>
          </ac:spMkLst>
        </pc:spChg>
      </pc:sldChg>
      <pc:sldChg chg="delSp modSp mod">
        <pc:chgData name="MOHD SARTAJ" userId="0be50391adb133e1" providerId="LiveId" clId="{849D2220-9185-4955-8F14-CE40930C4662}" dt="2026-06-11T11:39:52.300" v="1185" actId="20577"/>
        <pc:sldMkLst>
          <pc:docMk/>
          <pc:sldMk cId="2143550743" sldId="399"/>
        </pc:sldMkLst>
        <pc:spChg chg="mod">
          <ac:chgData name="MOHD SARTAJ" userId="0be50391adb133e1" providerId="LiveId" clId="{849D2220-9185-4955-8F14-CE40930C4662}" dt="2026-06-10T01:54:09.515" v="418" actId="207"/>
          <ac:spMkLst>
            <pc:docMk/>
            <pc:sldMk cId="2143550743" sldId="399"/>
            <ac:spMk id="2" creationId="{84E858C6-1A6F-72D5-43AB-955168B146AB}"/>
          </ac:spMkLst>
        </pc:spChg>
        <pc:spChg chg="mod">
          <ac:chgData name="MOHD SARTAJ" userId="0be50391adb133e1" providerId="LiveId" clId="{849D2220-9185-4955-8F14-CE40930C4662}" dt="2026-06-11T11:39:52.300" v="1185" actId="20577"/>
          <ac:spMkLst>
            <pc:docMk/>
            <pc:sldMk cId="2143550743" sldId="399"/>
            <ac:spMk id="4" creationId="{08FC3131-36E1-1909-EA4D-0C67969A3173}"/>
          </ac:spMkLst>
        </pc:spChg>
      </pc:sldChg>
      <pc:sldChg chg="delSp modSp del mod">
        <pc:chgData name="MOHD SARTAJ" userId="0be50391adb133e1" providerId="LiveId" clId="{849D2220-9185-4955-8F14-CE40930C4662}" dt="2026-06-11T11:31:51.449" v="898" actId="47"/>
        <pc:sldMkLst>
          <pc:docMk/>
          <pc:sldMk cId="3995813745" sldId="400"/>
        </pc:sldMkLst>
      </pc:sldChg>
      <pc:sldChg chg="delSp modSp del mod">
        <pc:chgData name="MOHD SARTAJ" userId="0be50391adb133e1" providerId="LiveId" clId="{849D2220-9185-4955-8F14-CE40930C4662}" dt="2026-06-11T11:31:52.588" v="899" actId="47"/>
        <pc:sldMkLst>
          <pc:docMk/>
          <pc:sldMk cId="3798520047" sldId="401"/>
        </pc:sldMkLst>
      </pc:sldChg>
      <pc:sldChg chg="addSp delSp modSp add mod modAnim">
        <pc:chgData name="MOHD SARTAJ" userId="0be50391adb133e1" providerId="LiveId" clId="{849D2220-9185-4955-8F14-CE40930C4662}" dt="2026-06-11T11:21:37.707" v="542"/>
        <pc:sldMkLst>
          <pc:docMk/>
          <pc:sldMk cId="837744556" sldId="402"/>
        </pc:sldMkLst>
        <pc:picChg chg="add mod">
          <ac:chgData name="MOHD SARTAJ" userId="0be50391adb133e1" providerId="LiveId" clId="{849D2220-9185-4955-8F14-CE40930C4662}" dt="2026-06-11T11:21:36.568" v="540" actId="14100"/>
          <ac:picMkLst>
            <pc:docMk/>
            <pc:sldMk cId="837744556" sldId="402"/>
            <ac:picMk id="3" creationId="{2DEA08E9-E03C-C1B8-6321-4031DF155D66}"/>
          </ac:picMkLst>
        </pc:picChg>
      </pc:sldChg>
      <pc:sldChg chg="addSp delSp modSp add mod delAnim modAnim">
        <pc:chgData name="MOHD SARTAJ" userId="0be50391adb133e1" providerId="LiveId" clId="{849D2220-9185-4955-8F14-CE40930C4662}" dt="2026-06-11T11:22:13.622" v="605" actId="14100"/>
        <pc:sldMkLst>
          <pc:docMk/>
          <pc:sldMk cId="2964406146" sldId="403"/>
        </pc:sldMkLst>
        <pc:picChg chg="add mod">
          <ac:chgData name="MOHD SARTAJ" userId="0be50391adb133e1" providerId="LiveId" clId="{849D2220-9185-4955-8F14-CE40930C4662}" dt="2026-06-11T11:22:13.622" v="605" actId="14100"/>
          <ac:picMkLst>
            <pc:docMk/>
            <pc:sldMk cId="2964406146" sldId="403"/>
            <ac:picMk id="4" creationId="{C4A1BF00-1E49-AAFE-F4FC-ADCDDEC941F3}"/>
          </ac:picMkLst>
        </pc:picChg>
      </pc:sldChg>
      <pc:sldChg chg="addSp delSp modSp add mod delAnim">
        <pc:chgData name="MOHD SARTAJ" userId="0be50391adb133e1" providerId="LiveId" clId="{849D2220-9185-4955-8F14-CE40930C4662}" dt="2026-06-11T11:23:56.624" v="748" actId="1037"/>
        <pc:sldMkLst>
          <pc:docMk/>
          <pc:sldMk cId="2339274281" sldId="404"/>
        </pc:sldMkLst>
        <pc:spChg chg="add mod">
          <ac:chgData name="MOHD SARTAJ" userId="0be50391adb133e1" providerId="LiveId" clId="{849D2220-9185-4955-8F14-CE40930C4662}" dt="2026-06-11T11:23:44.532" v="739" actId="14100"/>
          <ac:spMkLst>
            <pc:docMk/>
            <pc:sldMk cId="2339274281" sldId="404"/>
            <ac:spMk id="5" creationId="{36F3384B-07F4-1C41-6B5E-8B20685A4C5A}"/>
          </ac:spMkLst>
        </pc:spChg>
        <pc:picChg chg="add mod">
          <ac:chgData name="MOHD SARTAJ" userId="0be50391adb133e1" providerId="LiveId" clId="{849D2220-9185-4955-8F14-CE40930C4662}" dt="2026-06-11T11:23:56.624" v="748" actId="1037"/>
          <ac:picMkLst>
            <pc:docMk/>
            <pc:sldMk cId="2339274281" sldId="404"/>
            <ac:picMk id="6" creationId="{664FE944-510E-0DBE-5970-F21313330E76}"/>
          </ac:picMkLst>
        </pc:picChg>
      </pc:sldChg>
      <pc:sldChg chg="addSp delSp modSp add mod">
        <pc:chgData name="MOHD SARTAJ" userId="0be50391adb133e1" providerId="LiveId" clId="{849D2220-9185-4955-8F14-CE40930C4662}" dt="2026-06-17T05:43:46.574" v="1537" actId="14100"/>
        <pc:sldMkLst>
          <pc:docMk/>
          <pc:sldMk cId="2810276905" sldId="405"/>
        </pc:sldMkLst>
        <pc:spChg chg="mod">
          <ac:chgData name="MOHD SARTAJ" userId="0be50391adb133e1" providerId="LiveId" clId="{849D2220-9185-4955-8F14-CE40930C4662}" dt="2026-06-11T11:24:54.730" v="782" actId="14100"/>
          <ac:spMkLst>
            <pc:docMk/>
            <pc:sldMk cId="2810276905" sldId="405"/>
            <ac:spMk id="2" creationId="{908935DF-E927-8A08-93B0-91CB054F269F}"/>
          </ac:spMkLst>
        </pc:spChg>
        <pc:spChg chg="mod">
          <ac:chgData name="MOHD SARTAJ" userId="0be50391adb133e1" providerId="LiveId" clId="{849D2220-9185-4955-8F14-CE40930C4662}" dt="2026-06-17T05:42:57.493" v="1510" actId="2711"/>
          <ac:spMkLst>
            <pc:docMk/>
            <pc:sldMk cId="2810276905" sldId="405"/>
            <ac:spMk id="5" creationId="{2B812141-C612-6D6A-0B50-EAC2C07FD080}"/>
          </ac:spMkLst>
        </pc:spChg>
        <pc:spChg chg="add mod">
          <ac:chgData name="MOHD SARTAJ" userId="0be50391adb133e1" providerId="LiveId" clId="{849D2220-9185-4955-8F14-CE40930C4662}" dt="2026-06-17T05:43:46.574" v="1537" actId="14100"/>
          <ac:spMkLst>
            <pc:docMk/>
            <pc:sldMk cId="2810276905" sldId="405"/>
            <ac:spMk id="6" creationId="{7FFBD4C9-83EF-3DA0-CF79-58D8D5D53B45}"/>
          </ac:spMkLst>
        </pc:spChg>
        <pc:picChg chg="add mod">
          <ac:chgData name="MOHD SARTAJ" userId="0be50391adb133e1" providerId="LiveId" clId="{849D2220-9185-4955-8F14-CE40930C4662}" dt="2026-06-17T05:43:09.194" v="1513" actId="1037"/>
          <ac:picMkLst>
            <pc:docMk/>
            <pc:sldMk cId="2810276905" sldId="405"/>
            <ac:picMk id="3" creationId="{D6D39704-9472-629F-94ED-2F600EBA2149}"/>
          </ac:picMkLst>
        </pc:picChg>
      </pc:sldChg>
      <pc:sldChg chg="addSp modSp add mod modAnim">
        <pc:chgData name="MOHD SARTAJ" userId="0be50391adb133e1" providerId="LiveId" clId="{849D2220-9185-4955-8F14-CE40930C4662}" dt="2026-06-11T11:34:11.869" v="976" actId="1036"/>
        <pc:sldMkLst>
          <pc:docMk/>
          <pc:sldMk cId="1172226471" sldId="406"/>
        </pc:sldMkLst>
        <pc:spChg chg="mod">
          <ac:chgData name="MOHD SARTAJ" userId="0be50391adb133e1" providerId="LiveId" clId="{849D2220-9185-4955-8F14-CE40930C4662}" dt="2026-06-11T11:34:09.195" v="973" actId="20577"/>
          <ac:spMkLst>
            <pc:docMk/>
            <pc:sldMk cId="1172226471" sldId="406"/>
            <ac:spMk id="2" creationId="{E2CF10F6-AB90-DFB9-9288-8E64AB8A5829}"/>
          </ac:spMkLst>
        </pc:spChg>
        <pc:picChg chg="add mod">
          <ac:chgData name="MOHD SARTAJ" userId="0be50391adb133e1" providerId="LiveId" clId="{849D2220-9185-4955-8F14-CE40930C4662}" dt="2026-06-11T11:34:11.869" v="976" actId="1036"/>
          <ac:picMkLst>
            <pc:docMk/>
            <pc:sldMk cId="1172226471" sldId="406"/>
            <ac:picMk id="5" creationId="{4B386F7E-F74B-5F60-11C1-E3FD7FBDA12C}"/>
          </ac:picMkLst>
        </pc:picChg>
      </pc:sldChg>
      <pc:sldChg chg="delSp modSp add mod modAnim">
        <pc:chgData name="MOHD SARTAJ" userId="0be50391adb133e1" providerId="LiveId" clId="{849D2220-9185-4955-8F14-CE40930C4662}" dt="2026-06-11T11:37:19.262" v="1076" actId="20577"/>
        <pc:sldMkLst>
          <pc:docMk/>
          <pc:sldMk cId="2349531866" sldId="407"/>
        </pc:sldMkLst>
        <pc:spChg chg="mod">
          <ac:chgData name="MOHD SARTAJ" userId="0be50391adb133e1" providerId="LiveId" clId="{849D2220-9185-4955-8F14-CE40930C4662}" dt="2026-06-11T11:37:19.262" v="1076" actId="20577"/>
          <ac:spMkLst>
            <pc:docMk/>
            <pc:sldMk cId="2349531866" sldId="407"/>
            <ac:spMk id="2" creationId="{F8AC9411-6E46-69B1-168C-074EDA27A9BF}"/>
          </ac:spMkLst>
        </pc:spChg>
      </pc:sldChg>
      <pc:sldChg chg="addSp delSp modSp add mod">
        <pc:chgData name="MOHD SARTAJ" userId="0be50391adb133e1" providerId="LiveId" clId="{849D2220-9185-4955-8F14-CE40930C4662}" dt="2026-06-11T11:38:23.712" v="1121" actId="1036"/>
        <pc:sldMkLst>
          <pc:docMk/>
          <pc:sldMk cId="1394712533" sldId="408"/>
        </pc:sldMkLst>
        <pc:picChg chg="add mod">
          <ac:chgData name="MOHD SARTAJ" userId="0be50391adb133e1" providerId="LiveId" clId="{849D2220-9185-4955-8F14-CE40930C4662}" dt="2026-06-11T11:38:23.712" v="1121" actId="1036"/>
          <ac:picMkLst>
            <pc:docMk/>
            <pc:sldMk cId="1394712533" sldId="408"/>
            <ac:picMk id="4" creationId="{636C6982-E722-FAD9-1A9E-25C30022CF98}"/>
          </ac:picMkLst>
        </pc:picChg>
      </pc:sldChg>
      <pc:sldChg chg="addSp delSp modSp add mod">
        <pc:chgData name="MOHD SARTAJ" userId="0be50391adb133e1" providerId="LiveId" clId="{849D2220-9185-4955-8F14-CE40930C4662}" dt="2026-06-11T11:39:15.660" v="1138" actId="20577"/>
        <pc:sldMkLst>
          <pc:docMk/>
          <pc:sldMk cId="2585716689" sldId="409"/>
        </pc:sldMkLst>
        <pc:spChg chg="mod">
          <ac:chgData name="MOHD SARTAJ" userId="0be50391adb133e1" providerId="LiveId" clId="{849D2220-9185-4955-8F14-CE40930C4662}" dt="2026-06-11T11:39:15.660" v="1138" actId="20577"/>
          <ac:spMkLst>
            <pc:docMk/>
            <pc:sldMk cId="2585716689" sldId="409"/>
            <ac:spMk id="3" creationId="{02410744-7329-C5D7-09A0-4CA86182AB1E}"/>
          </ac:spMkLst>
        </pc:spChg>
        <pc:spChg chg="add mod">
          <ac:chgData name="MOHD SARTAJ" userId="0be50391adb133e1" providerId="LiveId" clId="{849D2220-9185-4955-8F14-CE40930C4662}" dt="2026-06-11T11:39:07.104" v="1128" actId="2711"/>
          <ac:spMkLst>
            <pc:docMk/>
            <pc:sldMk cId="2585716689" sldId="409"/>
            <ac:spMk id="5" creationId="{E145CCAA-DE23-9CAC-72F2-6C4C054CB221}"/>
          </ac:spMkLst>
        </pc:spChg>
      </pc:sldChg>
      <pc:sldChg chg="add">
        <pc:chgData name="MOHD SARTAJ" userId="0be50391adb133e1" providerId="LiveId" clId="{849D2220-9185-4955-8F14-CE40930C4662}" dt="2026-06-17T05:35:59.242" v="1186" actId="2890"/>
        <pc:sldMkLst>
          <pc:docMk/>
          <pc:sldMk cId="1699393639" sldId="411"/>
        </pc:sldMkLst>
      </pc:sldChg>
      <pc:sldChg chg="addSp modSp add mod modAnim">
        <pc:chgData name="MOHD SARTAJ" userId="0be50391adb133e1" providerId="LiveId" clId="{849D2220-9185-4955-8F14-CE40930C4662}" dt="2026-06-17T05:39:54.525" v="1332" actId="20577"/>
        <pc:sldMkLst>
          <pc:docMk/>
          <pc:sldMk cId="1005287002" sldId="412"/>
        </pc:sldMkLst>
        <pc:spChg chg="mod">
          <ac:chgData name="MOHD SARTAJ" userId="0be50391adb133e1" providerId="LiveId" clId="{849D2220-9185-4955-8F14-CE40930C4662}" dt="2026-06-17T05:39:54.525" v="1332" actId="20577"/>
          <ac:spMkLst>
            <pc:docMk/>
            <pc:sldMk cId="1005287002" sldId="412"/>
            <ac:spMk id="8" creationId="{A6189339-9626-EF26-96AF-DEB9F7D2161F}"/>
          </ac:spMkLst>
        </pc:spChg>
        <pc:picChg chg="add mod">
          <ac:chgData name="MOHD SARTAJ" userId="0be50391adb133e1" providerId="LiveId" clId="{849D2220-9185-4955-8F14-CE40930C4662}" dt="2026-06-17T05:39:43.243" v="1326" actId="1037"/>
          <ac:picMkLst>
            <pc:docMk/>
            <pc:sldMk cId="1005287002" sldId="412"/>
            <ac:picMk id="3" creationId="{88C3DAC2-DF3A-F71A-B0D1-791DDCA2C67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2D1800-8745-41CE-98C4-1A8E9683EFA4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01827B-6B51-4CBA-A430-640550FD2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019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3429000"/>
            <a:ext cx="7772400" cy="1066799"/>
          </a:xfrm>
          <a:prstGeom prst="rect">
            <a:avLst/>
          </a:prstGeom>
          <a:ln w="19050" cap="sq" cmpd="thinThick">
            <a:solidFill>
              <a:schemeClr val="tx1"/>
            </a:solidFill>
            <a:bevel/>
          </a:ln>
          <a:scene3d>
            <a:camera prst="orthographicFront"/>
            <a:lightRig rig="threePt" dir="t"/>
          </a:scene3d>
          <a:sp3d extrusionH="76200">
            <a:bevelT prst="relaxedInset"/>
            <a:extrusionClr>
              <a:schemeClr val="tx1"/>
            </a:extrusionClr>
          </a:sp3d>
        </p:spPr>
        <p:txBody>
          <a:bodyPr anchor="ctr"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33B47FB-1014-4E3F-A202-97CAF294BBFC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9"/>
          <p:cNvSpPr txBox="1">
            <a:spLocks noChangeArrowheads="1"/>
          </p:cNvSpPr>
          <p:nvPr/>
        </p:nvSpPr>
        <p:spPr bwMode="auto">
          <a:xfrm>
            <a:off x="2804328" y="87868"/>
            <a:ext cx="6339671" cy="369332"/>
          </a:xfrm>
          <a:prstGeom prst="rect">
            <a:avLst/>
          </a:prstGeom>
          <a:noFill/>
          <a:ln w="50800" cmpd="dbl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800" b="0" dirty="0">
                <a:solidFill>
                  <a:schemeClr val="tx1"/>
                </a:solidFill>
                <a:latin typeface="Calibri" pitchFamily="34" charset="0"/>
              </a:rPr>
              <a:t>Department of Computer Science and Engineering (CSE)</a:t>
            </a:r>
            <a:endParaRPr lang="en-US" sz="1700" b="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066800"/>
            <a:ext cx="7924800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8001000" cy="449580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9"/>
          <p:cNvSpPr txBox="1">
            <a:spLocks noChangeArrowheads="1"/>
          </p:cNvSpPr>
          <p:nvPr/>
        </p:nvSpPr>
        <p:spPr bwMode="auto">
          <a:xfrm>
            <a:off x="2804329" y="0"/>
            <a:ext cx="6339671" cy="369332"/>
          </a:xfrm>
          <a:prstGeom prst="rect">
            <a:avLst/>
          </a:prstGeom>
          <a:noFill/>
          <a:ln w="50800" cmpd="dbl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800" b="0" dirty="0">
                <a:solidFill>
                  <a:schemeClr val="tx1"/>
                </a:solidFill>
                <a:latin typeface="Calibri" pitchFamily="34" charset="0"/>
              </a:rPr>
              <a:t>Department of Computer Science and Engineering (CSE)</a:t>
            </a:r>
            <a:endParaRPr lang="en-US" sz="1700" b="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447800"/>
            <a:ext cx="8229600" cy="4800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066800" y="609600"/>
            <a:ext cx="7924800" cy="685800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buNone/>
              <a:defRPr sz="3200" b="1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9"/>
          <p:cNvSpPr txBox="1">
            <a:spLocks noChangeArrowheads="1"/>
          </p:cNvSpPr>
          <p:nvPr/>
        </p:nvSpPr>
        <p:spPr bwMode="auto">
          <a:xfrm>
            <a:off x="2804329" y="87868"/>
            <a:ext cx="6187271" cy="369332"/>
          </a:xfrm>
          <a:prstGeom prst="rect">
            <a:avLst/>
          </a:prstGeom>
          <a:noFill/>
          <a:ln w="50800" cmpd="dbl">
            <a:solidFill>
              <a:srgbClr val="C0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800" b="0" dirty="0">
                <a:solidFill>
                  <a:schemeClr val="tx1"/>
                </a:solidFill>
                <a:latin typeface="Calibri" pitchFamily="34" charset="0"/>
              </a:rPr>
              <a:t>Department of Computer and Communication Engineering (CCE)</a:t>
            </a:r>
            <a:endParaRPr lang="en-US" sz="1700" b="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9FE22BF-3A22-45C1-BADC-3612C6923252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2895600" y="1371600"/>
            <a:ext cx="6019800" cy="472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28600" y="1371600"/>
            <a:ext cx="2590800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137160" indent="-137160">
              <a:defRPr sz="2000"/>
            </a:lvl1pPr>
            <a:lvl2pPr marL="320040" indent="-182880">
              <a:buFont typeface="Wingdings" pitchFamily="2" charset="2"/>
              <a:buChar char="§"/>
              <a:defRPr sz="1800"/>
            </a:lvl2pPr>
            <a:lvl3pPr marL="502920" indent="-182880"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804328" y="87868"/>
            <a:ext cx="6339671" cy="369332"/>
          </a:xfrm>
          <a:prstGeom prst="rect">
            <a:avLst/>
          </a:prstGeom>
          <a:noFill/>
          <a:ln w="50800" cmpd="dbl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800" b="0" dirty="0">
                <a:solidFill>
                  <a:schemeClr val="tx1"/>
                </a:solidFill>
                <a:latin typeface="Calibri" pitchFamily="34" charset="0"/>
              </a:rPr>
              <a:t>Department of Computer Science and Engineering (CSE)</a:t>
            </a:r>
            <a:endParaRPr lang="en-US" sz="1700" b="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9600" y="1524000"/>
            <a:ext cx="8305800" cy="4876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1066800" y="533400"/>
            <a:ext cx="7848600" cy="685800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Box 9"/>
          <p:cNvSpPr txBox="1">
            <a:spLocks noChangeArrowheads="1"/>
          </p:cNvSpPr>
          <p:nvPr/>
        </p:nvSpPr>
        <p:spPr bwMode="auto">
          <a:xfrm>
            <a:off x="3009795" y="0"/>
            <a:ext cx="6058005" cy="35394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700" b="1" dirty="0">
                <a:solidFill>
                  <a:schemeClr val="bg1"/>
                </a:solidFill>
                <a:latin typeface="Calibri" pitchFamily="34" charset="0"/>
              </a:rPr>
              <a:t>Department of Computer and </a:t>
            </a:r>
            <a:r>
              <a:rPr lang="en-US" sz="1700" b="1" dirty="0" err="1">
                <a:solidFill>
                  <a:schemeClr val="bg1"/>
                </a:solidFill>
                <a:latin typeface="Calibri" pitchFamily="34" charset="0"/>
              </a:rPr>
              <a:t>Communicationq</a:t>
            </a:r>
            <a:r>
              <a:rPr lang="en-US" sz="1700" b="1" dirty="0">
                <a:solidFill>
                  <a:schemeClr val="bg1"/>
                </a:solidFill>
                <a:latin typeface="Calibri" pitchFamily="34" charset="0"/>
              </a:rPr>
              <a:t> Engineering (CCE)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A8FBA39-DF72-4994-AE3E-EC956397032E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804328" y="87868"/>
            <a:ext cx="6339671" cy="369332"/>
          </a:xfrm>
          <a:prstGeom prst="rect">
            <a:avLst/>
          </a:prstGeom>
          <a:noFill/>
          <a:ln w="50800" cmpd="dbl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800" b="0" dirty="0">
                <a:solidFill>
                  <a:schemeClr val="tx1"/>
                </a:solidFill>
                <a:latin typeface="Calibri" pitchFamily="34" charset="0"/>
              </a:rPr>
              <a:t>Department of Computer Science and Engineering (CSE)</a:t>
            </a:r>
            <a:endParaRPr lang="en-US" sz="1700" b="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1EAA8C2-AD78-4A08-97C1-7880ACA86760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9941DD2-BE40-42EF-BE9B-37235D106842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1600"/>
            <a:ext cx="8229600" cy="685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2209800"/>
            <a:ext cx="8229600" cy="4267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A3FED77-7F8B-42FB-90D9-9BA3AA4B5ED2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E70A9A-FC41-4977-87E1-5137B94BBBE9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772400" cy="990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524000"/>
            <a:ext cx="3886200" cy="4648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724400" y="1524000"/>
            <a:ext cx="3886200" cy="4648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clip art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23622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FB01BE1-5921-4F4D-BEEE-4110B37F70CF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553200"/>
            <a:ext cx="38100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87529B5-CB12-4891-8714-5395C4349968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085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663" y="762000"/>
            <a:ext cx="8288337" cy="533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19828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18114-92B6-485C-9D7C-33C0F2D19E32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97420-AE2F-46C2-A51D-EA322C534D4A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3D806-A92A-4227-9EBD-5B09BCC1B63A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1BACD-3D2D-4E8C-BFC9-781CD37DA74B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B2B6-0301-42A6-AAC9-3B4B3CDB7139}" type="datetime1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6920-A8BE-44DD-AD21-3EDBA244350E}" type="datetime1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0E573-BDBB-443C-AF66-523F61CBD3C1}" type="datetime1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69C94-3EFE-4BF8-9DAB-DB051961D6B6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03AA5-C9EF-42E8-BEBB-2D7415ACA616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F760F-EA06-476B-88E2-C8C883D1FBCF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09D6-FB21-4FF6-A094-05A48687AB18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400800"/>
            <a:ext cx="9144000" cy="0"/>
          </a:xfrm>
          <a:prstGeom prst="line">
            <a:avLst/>
          </a:prstGeom>
          <a:ln w="88900" cmpd="thickThin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420" name="Picture 4" descr="https://encrypted-tbn3.gstatic.com/images?q=tbn:ANd9GcTyg3Gq4WoxkxO75aZWNEjYFvavmMfWdiMvs57jpDF8YRR3yCybqQ">
            <a:hlinkClick r:id="rId15"/>
          </p:cNvPr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152400" y="152400"/>
            <a:ext cx="768000" cy="12192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41" r:id="rId12"/>
    <p:sldLayoutId id="2147483842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chemeClr val="tx1"/>
          </a:solidFill>
          <a:latin typeface="Cambria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Cambria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185A7-633E-4B7E-B771-6D7F5F578687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PQ3ptUMltA&amp;utm_source=chatgpt.com" TargetMode="External"/><Relationship Id="rId2" Type="http://schemas.openxmlformats.org/officeDocument/2006/relationships/hyperlink" Target="https://www.youtube.com/watch?v=PJRSu0Vf0r0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jpg"/><Relationship Id="rId5" Type="http://schemas.openxmlformats.org/officeDocument/2006/relationships/hyperlink" Target="https://youtu.be/x4dr53P1Fm0?si=Xh6mSos07OhSBRCS" TargetMode="External"/><Relationship Id="rId4" Type="http://schemas.openxmlformats.org/officeDocument/2006/relationships/hyperlink" Target="https://youtu.be/YYQfYBNlfZg?si=bzEHNN2yciHgzZjb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 txBox="1">
            <a:spLocks/>
          </p:cNvSpPr>
          <p:nvPr/>
        </p:nvSpPr>
        <p:spPr>
          <a:xfrm>
            <a:off x="6572250" y="573881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7130143" y="5312160"/>
            <a:ext cx="968829" cy="868205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ID" sz="1350" kern="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616787"/>
              </p:ext>
            </p:extLst>
          </p:nvPr>
        </p:nvGraphicFramePr>
        <p:xfrm>
          <a:off x="0" y="3695609"/>
          <a:ext cx="2685609" cy="2559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95609"/>
                        <a:ext cx="2685609" cy="25595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1593056" y="2376394"/>
            <a:ext cx="5122069" cy="118550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567050" y="6037986"/>
            <a:ext cx="36964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9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200" b="1" dirty="0">
              <a:latin typeface="Casper" panose="02000506000000020004" pitchFamily="2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38200" y="1353293"/>
            <a:ext cx="7551419" cy="4873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3200"/>
            </a:pPr>
            <a:r>
              <a:rPr lang="en-US" sz="4000" b="1" dirty="0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Chandigarh University </a:t>
            </a:r>
          </a:p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3200"/>
            </a:pPr>
            <a:r>
              <a:rPr lang="en-US" sz="4000" b="1" dirty="0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Mathematics </a:t>
            </a:r>
            <a:endParaRPr lang="en-US" sz="4000" dirty="0">
              <a:solidFill>
                <a:srgbClr val="FF0000"/>
              </a:solidFill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US" sz="2800" dirty="0">
                <a:solidFill>
                  <a:srgbClr val="002060"/>
                </a:solidFill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B.Tech. CSE (Core/DS/IT/CC)</a:t>
            </a:r>
          </a:p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US" sz="2800" dirty="0">
                <a:solidFill>
                  <a:srgbClr val="002060"/>
                </a:solidFill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Semester-3</a:t>
            </a:r>
            <a:endParaRPr lang="en-US" dirty="0">
              <a:solidFill>
                <a:srgbClr val="002060"/>
              </a:solidFill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800" dirty="0">
                <a:solidFill>
                  <a:srgbClr val="002060"/>
                </a:solidFill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Subject Code:25MTT-202</a:t>
            </a: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8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Discrete Mathematics</a:t>
            </a:r>
            <a:endParaRPr lang="en-US" sz="2800" dirty="0">
              <a:solidFill>
                <a:srgbClr val="002060"/>
              </a:solidFill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800" dirty="0">
                <a:solidFill>
                  <a:srgbClr val="002060"/>
                </a:solidFill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Chapter:</a:t>
            </a:r>
            <a:r>
              <a:rPr lang="en-US" sz="2000" b="1" kern="0" dirty="0">
                <a:solidFill>
                  <a:srgbClr val="00206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1.2.1</a:t>
            </a:r>
            <a:endParaRPr lang="en-US" sz="2800" kern="100" dirty="0">
              <a:solidFill>
                <a:srgbClr val="002060"/>
              </a:solidFill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8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solidFill>
                  <a:srgbClr val="002060"/>
                </a:solidFill>
                <a:cs typeface="Times New Roman" panose="02020603050405020304" pitchFamily="18" charset="0"/>
              </a:rPr>
              <a:t>Dr. SARTAJ</a:t>
            </a:r>
          </a:p>
        </p:txBody>
      </p:sp>
      <p:pic>
        <p:nvPicPr>
          <p:cNvPr id="2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E996201-B665-1C65-47F5-CF0B3A1C6A7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7753" y="147596"/>
            <a:ext cx="3110606" cy="131334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852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>
            <a:spLocks noGrp="1"/>
          </p:cNvSpPr>
          <p:nvPr>
            <p:ph type="ctrTitle"/>
          </p:nvPr>
        </p:nvSpPr>
        <p:spPr>
          <a:xfrm>
            <a:off x="3581400" y="228600"/>
            <a:ext cx="411244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mbria"/>
              <a:buNone/>
            </a:pPr>
            <a:r>
              <a:rPr lang="en-US" dirty="0">
                <a:solidFill>
                  <a:srgbClr val="FF0000"/>
                </a:solidFill>
                <a:latin typeface="+mj-lt"/>
              </a:rPr>
              <a:t>CO mappings</a:t>
            </a:r>
            <a:endParaRPr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76" name="Google Shape;176;p2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0CDDA6-98BC-7AF9-E703-0C24F6935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676400"/>
            <a:ext cx="8382000" cy="38380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2250C-970C-8B81-CD6B-892C1690A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9959" y="381000"/>
            <a:ext cx="4112441" cy="6096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CO-PO mappings</a:t>
            </a:r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C85ACC-20E4-728F-39A5-6AA21150321A}"/>
              </a:ext>
            </a:extLst>
          </p:cNvPr>
          <p:cNvSpPr txBox="1"/>
          <p:nvPr/>
        </p:nvSpPr>
        <p:spPr>
          <a:xfrm>
            <a:off x="664536" y="5456872"/>
            <a:ext cx="809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29565">
              <a:buNone/>
            </a:pPr>
            <a:r>
              <a:rPr lang="en-IN" sz="16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Note: </a:t>
            </a:r>
            <a:r>
              <a:rPr lang="en-IN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Degree of relevance/correlation: 1-Low, 2-Medium, 3-High, Blank or ‘- ‘- Nil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36AD0-68B4-9895-2CB4-1669BB7A5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76400"/>
            <a:ext cx="8250864" cy="3401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5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35413" y="228600"/>
            <a:ext cx="5651387" cy="58830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GB" sz="3600" spc="-69" dirty="0">
                <a:solidFill>
                  <a:srgbClr val="FF0000"/>
                </a:solidFill>
                <a:latin typeface="+mj-lt"/>
              </a:rPr>
              <a:t>Topics Covered</a:t>
            </a:r>
            <a:endParaRPr sz="3600" spc="-2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4294967295"/>
          </p:nvPr>
        </p:nvSpPr>
        <p:spPr>
          <a:xfrm>
            <a:off x="0" y="6642100"/>
            <a:ext cx="3052763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r>
              <a:rPr kern="0" dirty="0">
                <a:solidFill>
                  <a:prstClr val="white"/>
                </a:solidFill>
              </a:rPr>
              <a:t>Dr.</a:t>
            </a:r>
            <a:r>
              <a:rPr kern="0" spc="149" dirty="0">
                <a:solidFill>
                  <a:prstClr val="white"/>
                </a:solidFill>
              </a:rPr>
              <a:t> </a:t>
            </a:r>
            <a:r>
              <a:rPr kern="0" spc="-40" dirty="0">
                <a:solidFill>
                  <a:prstClr val="white"/>
                </a:solidFill>
              </a:rPr>
              <a:t>Shyam</a:t>
            </a:r>
            <a:r>
              <a:rPr kern="0" spc="50" dirty="0">
                <a:solidFill>
                  <a:prstClr val="white"/>
                </a:solidFill>
              </a:rPr>
              <a:t> </a:t>
            </a:r>
            <a:r>
              <a:rPr kern="0" dirty="0">
                <a:solidFill>
                  <a:prstClr val="white"/>
                </a:solidFill>
              </a:rPr>
              <a:t>S.</a:t>
            </a:r>
            <a:r>
              <a:rPr kern="0" spc="50" dirty="0">
                <a:solidFill>
                  <a:prstClr val="white"/>
                </a:solidFill>
              </a:rPr>
              <a:t> </a:t>
            </a:r>
            <a:r>
              <a:rPr kern="0" dirty="0">
                <a:solidFill>
                  <a:prstClr val="white"/>
                </a:solidFill>
              </a:rPr>
              <a:t>Das</a:t>
            </a:r>
            <a:r>
              <a:rPr kern="0" spc="149" dirty="0">
                <a:solidFill>
                  <a:prstClr val="white"/>
                </a:solidFill>
              </a:rPr>
              <a:t> </a:t>
            </a:r>
            <a:r>
              <a:rPr kern="0" dirty="0">
                <a:solidFill>
                  <a:prstClr val="white"/>
                </a:solidFill>
              </a:rPr>
              <a:t>(School</a:t>
            </a:r>
            <a:r>
              <a:rPr kern="0" spc="50" dirty="0">
                <a:solidFill>
                  <a:prstClr val="white"/>
                </a:solidFill>
              </a:rPr>
              <a:t> </a:t>
            </a:r>
            <a:r>
              <a:rPr kern="0" dirty="0">
                <a:solidFill>
                  <a:prstClr val="white"/>
                </a:solidFill>
              </a:rPr>
              <a:t>of</a:t>
            </a:r>
            <a:r>
              <a:rPr kern="0" spc="50" dirty="0">
                <a:solidFill>
                  <a:prstClr val="white"/>
                </a:solidFill>
              </a:rPr>
              <a:t> </a:t>
            </a:r>
            <a:r>
              <a:rPr kern="0" spc="-20" dirty="0">
                <a:solidFill>
                  <a:prstClr val="white"/>
                </a:solidFill>
              </a:rPr>
              <a:t>Basic</a:t>
            </a:r>
            <a:r>
              <a:rPr kern="0" spc="50" dirty="0">
                <a:solidFill>
                  <a:prstClr val="white"/>
                </a:solidFill>
              </a:rPr>
              <a:t> </a:t>
            </a:r>
            <a:r>
              <a:rPr kern="0" spc="-40" dirty="0">
                <a:solidFill>
                  <a:prstClr val="white"/>
                </a:solidFill>
              </a:rPr>
              <a:t>Sciences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4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F64BE0-B5FE-416B-C8AC-E482358E482D}"/>
              </a:ext>
            </a:extLst>
          </p:cNvPr>
          <p:cNvSpPr txBox="1"/>
          <p:nvPr/>
        </p:nvSpPr>
        <p:spPr>
          <a:xfrm>
            <a:off x="609600" y="1600200"/>
            <a:ext cx="7772400" cy="3682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+mj-lt"/>
                <a:ea typeface="Cambria" panose="02040503050406030204" pitchFamily="18" charset="0"/>
              </a:rPr>
              <a:t>Logical equivalence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+mj-lt"/>
                <a:ea typeface="Cambria" panose="02040503050406030204" pitchFamily="18" charset="0"/>
              </a:rPr>
              <a:t>Quantifiers: Universal and existential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ambria" panose="02040503050406030204" pitchFamily="18" charset="0"/>
              </a:rPr>
              <a:t>Conclusions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ambria" panose="02040503050406030204" pitchFamily="18" charset="0"/>
              </a:rPr>
              <a:t>Video links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ambria" panose="02040503050406030204" pitchFamily="18" charset="0"/>
              </a:rPr>
              <a:t>References </a:t>
            </a:r>
            <a:endParaRPr lang="en-US" sz="2400" dirty="0">
              <a:effectLst/>
              <a:latin typeface="+mj-lt"/>
              <a:ea typeface="Cambria" panose="02040503050406030204" pitchFamily="18" charset="0"/>
            </a:endParaRPr>
          </a:p>
        </p:txBody>
      </p:sp>
      <p:pic>
        <p:nvPicPr>
          <p:cNvPr id="17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379522457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D6E44-783F-55DD-D042-96AF7FEBC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>
            <a:extLst>
              <a:ext uri="{FF2B5EF4-FFF2-40B4-BE49-F238E27FC236}">
                <a16:creationId xmlns:a16="http://schemas.microsoft.com/office/drawing/2014/main" id="{B1F41BCA-E960-1858-B37B-D37959EBA517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143875" y="13161963"/>
            <a:ext cx="1000125" cy="166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445" defTabSz="1812066">
              <a:lnSpc>
                <a:spcPts val="1338"/>
              </a:lnSpc>
            </a:pPr>
            <a:fld id="{81D60167-4931-47E6-BA6A-407CBD079E47}" type="slidenum">
              <a:rPr kern="0" spc="-20" dirty="0"/>
              <a:pPr marL="104445" defTabSz="1812066">
                <a:lnSpc>
                  <a:spcPts val="1338"/>
                </a:lnSpc>
              </a:pPr>
              <a:t>5</a:t>
            </a:fld>
            <a:r>
              <a:rPr kern="0" spc="-168" dirty="0"/>
              <a:t> </a:t>
            </a:r>
            <a:r>
              <a:rPr kern="0" spc="178" dirty="0"/>
              <a:t>/</a:t>
            </a:r>
            <a:r>
              <a:rPr kern="0" spc="-168" dirty="0"/>
              <a:t> </a:t>
            </a:r>
            <a:r>
              <a:rPr kern="0" spc="-50" dirty="0"/>
              <a:t>10</a:t>
            </a:r>
          </a:p>
        </p:txBody>
      </p:sp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DFDD30B2-435A-B9C7-A02A-F295B17D13E4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63F24C-C6C9-AB8A-B0EB-9710BB6F2E61}"/>
                  </a:ext>
                </a:extLst>
              </p:cNvPr>
              <p:cNvSpPr txBox="1"/>
              <p:nvPr/>
            </p:nvSpPr>
            <p:spPr>
              <a:xfrm>
                <a:off x="609600" y="2133600"/>
                <a:ext cx="8001000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solidFill>
                      <a:srgbClr val="FF0000"/>
                    </a:solidFill>
                    <a:latin typeface="+mj-lt"/>
                  </a:rPr>
                  <a:t> Logical Equivalence:</a:t>
                </a:r>
                <a:r>
                  <a:rPr lang="en-US" sz="2400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400" dirty="0">
                    <a:latin typeface="+mj-lt"/>
                  </a:rPr>
                  <a:t>Two propositions </a:t>
                </a:r>
                <a:r>
                  <a:rPr lang="en-US" sz="2400" b="1" dirty="0">
                    <a:latin typeface="+mj-lt"/>
                  </a:rPr>
                  <a:t>p</a:t>
                </a:r>
                <a:r>
                  <a:rPr lang="en-US" sz="2400" dirty="0">
                    <a:latin typeface="+mj-lt"/>
                  </a:rPr>
                  <a:t> and </a:t>
                </a:r>
                <a:r>
                  <a:rPr lang="en-US" sz="2400" b="1" dirty="0">
                    <a:latin typeface="+mj-lt"/>
                  </a:rPr>
                  <a:t>q</a:t>
                </a:r>
                <a:r>
                  <a:rPr lang="en-US" sz="2400" dirty="0">
                    <a:latin typeface="+mj-lt"/>
                  </a:rPr>
                  <a:t> are </a:t>
                </a:r>
                <a:r>
                  <a:rPr lang="en-US" sz="2400" b="1" dirty="0">
                    <a:latin typeface="+mj-lt"/>
                  </a:rPr>
                  <a:t>equivalent</a:t>
                </a:r>
                <a:r>
                  <a:rPr lang="en-US" sz="2400" dirty="0">
                    <a:latin typeface="+mj-lt"/>
                  </a:rPr>
                  <a:t> if they always have the same truth value (or </a:t>
                </a:r>
                <a:r>
                  <a:rPr lang="en-US" sz="2400" b="1" dirty="0">
                    <a:latin typeface="+mj-lt"/>
                  </a:rPr>
                  <a:t>tautology</a:t>
                </a:r>
                <a:r>
                  <a:rPr lang="en-US" sz="2400" dirty="0">
                    <a:latin typeface="+mj-lt"/>
                  </a:rPr>
                  <a:t>), denoted as </a:t>
                </a:r>
                <a:r>
                  <a:rPr lang="en-US" sz="2400" b="1" dirty="0">
                    <a:latin typeface="+mj-lt"/>
                  </a:rPr>
                  <a:t>p</a:t>
                </a:r>
                <a14:m>
                  <m:oMath xmlns:m="http://schemas.openxmlformats.org/officeDocument/2006/math">
                    <m:r>
                      <a:rPr lang="en-US" sz="2400" b="1">
                        <a:latin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 sz="2400" b="1" dirty="0">
                    <a:latin typeface="+mj-lt"/>
                  </a:rPr>
                  <a:t>q</a:t>
                </a:r>
                <a:r>
                  <a:rPr lang="en-US" sz="2400" dirty="0">
                    <a:latin typeface="+mj-lt"/>
                  </a:rPr>
                  <a:t>.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endParaRPr lang="en-US" sz="2400" dirty="0">
                  <a:latin typeface="+mj-lt"/>
                </a:endParaRP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solidFill>
                      <a:srgbClr val="FF0000"/>
                    </a:solidFill>
                    <a:latin typeface="+mj-lt"/>
                  </a:rPr>
                  <a:t> Truth Table Method: </a:t>
                </a:r>
                <a:r>
                  <a:rPr lang="en-US" sz="2400" dirty="0">
                    <a:latin typeface="+mj-lt"/>
                  </a:rPr>
                  <a:t>Checking equivalence by constructing truth tables for both expressions.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endParaRPr lang="en-US" sz="2400" dirty="0">
                  <a:latin typeface="+mj-lt"/>
                </a:endParaRP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solidFill>
                      <a:srgbClr val="FF0000"/>
                    </a:solidFill>
                    <a:latin typeface="+mj-lt"/>
                  </a:rPr>
                  <a:t> Algebraic Method: </a:t>
                </a:r>
                <a:r>
                  <a:rPr lang="en-US" sz="2400" dirty="0">
                    <a:latin typeface="+mj-lt"/>
                  </a:rPr>
                  <a:t>Using logical laws to transform one expression into another.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63F24C-C6C9-AB8A-B0EB-9710BB6F2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133600"/>
                <a:ext cx="8001000" cy="3416320"/>
              </a:xfrm>
              <a:prstGeom prst="rect">
                <a:avLst/>
              </a:prstGeom>
              <a:blipFill>
                <a:blip r:embed="rId3"/>
                <a:stretch>
                  <a:fillRect l="-1142" t="-1429" r="-1066" b="-32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3">
            <a:extLst>
              <a:ext uri="{FF2B5EF4-FFF2-40B4-BE49-F238E27FC236}">
                <a16:creationId xmlns:a16="http://schemas.microsoft.com/office/drawing/2014/main" id="{ED6917BA-0675-04C6-985F-E34770A1A076}"/>
              </a:ext>
            </a:extLst>
          </p:cNvPr>
          <p:cNvSpPr txBox="1">
            <a:spLocks/>
          </p:cNvSpPr>
          <p:nvPr/>
        </p:nvSpPr>
        <p:spPr>
          <a:xfrm>
            <a:off x="3360131" y="228600"/>
            <a:ext cx="5280631" cy="58830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FF0000"/>
                </a:solidFill>
                <a:latin typeface="+mj-lt"/>
              </a:rPr>
              <a:t>Propositional Equivalences</a:t>
            </a:r>
          </a:p>
        </p:txBody>
      </p:sp>
    </p:spTree>
    <p:extLst>
      <p:ext uri="{BB962C8B-B14F-4D97-AF65-F5344CB8AC3E}">
        <p14:creationId xmlns:p14="http://schemas.microsoft.com/office/powerpoint/2010/main" val="1699393639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3FD0F-B5A3-0EF5-DC36-7D83CCECD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05488FEF-4D7E-4ED7-ABB6-9A064F6B40D1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6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pic>
        <p:nvPicPr>
          <p:cNvPr id="14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F7306D50-F61A-2BDF-DA39-E8D7795171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D5370AE9-3EC4-FDD3-2D02-C54B9CDAD89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42513"/>
            <a:ext cx="2971800" cy="1425391"/>
          </a:xfrm>
          <a:prstGeom prst="rect">
            <a:avLst/>
          </a:prstGeom>
          <a:ln/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E95D6921-3284-D0F2-FB69-F0B05B11EDF4}"/>
              </a:ext>
            </a:extLst>
          </p:cNvPr>
          <p:cNvSpPr txBox="1">
            <a:spLocks/>
          </p:cNvSpPr>
          <p:nvPr/>
        </p:nvSpPr>
        <p:spPr>
          <a:xfrm>
            <a:off x="609600" y="1600200"/>
            <a:ext cx="7543800" cy="446628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solidFill>
                  <a:srgbClr val="FF0000"/>
                </a:solidFill>
                <a:latin typeface="+mj-lt"/>
              </a:rPr>
              <a:t>Propositional Equivalences:</a:t>
            </a:r>
          </a:p>
          <a:p>
            <a:pPr algn="l"/>
            <a:r>
              <a:rPr lang="en-US" sz="2400" b="0" dirty="0">
                <a:latin typeface="+mj-lt"/>
              </a:rPr>
              <a:t>Two statements X and Y are logically equivalent if any of the following two conditions hold −</a:t>
            </a:r>
          </a:p>
          <a:p>
            <a:pPr algn="l"/>
            <a:endParaRPr lang="en-US" sz="2400" b="0" dirty="0">
              <a:latin typeface="+mj-lt"/>
            </a:endParaRPr>
          </a:p>
          <a:p>
            <a:pPr lvl="0" algn="l" eaLnBrk="0" fontAlgn="base" hangingPunct="0">
              <a:spcAft>
                <a:spcPct val="0"/>
              </a:spcAft>
            </a:pPr>
            <a:r>
              <a:rPr lang="en-US" altLang="en-US" sz="2400" b="0" dirty="0">
                <a:solidFill>
                  <a:srgbClr val="000000"/>
                </a:solidFill>
                <a:latin typeface="+mj-lt"/>
              </a:rPr>
              <a:t>(I)The truth tables of each statement have the same truth values.</a:t>
            </a:r>
          </a:p>
          <a:p>
            <a:pPr lvl="0" algn="l" eaLnBrk="0" fontAlgn="base" hangingPunct="0">
              <a:spcAft>
                <a:spcPct val="0"/>
              </a:spcAft>
            </a:pPr>
            <a:r>
              <a:rPr lang="en-US" altLang="en-US" sz="2400" b="0" dirty="0">
                <a:solidFill>
                  <a:srgbClr val="000000"/>
                </a:solidFill>
                <a:latin typeface="+mj-lt"/>
              </a:rPr>
              <a:t>(II)The bi-conditional statement X⇔Y is a tautology.</a:t>
            </a:r>
          </a:p>
          <a:p>
            <a:pPr lvl="0" algn="l" eaLnBrk="0" fontAlgn="base" hangingPunct="0">
              <a:spcAft>
                <a:spcPct val="0"/>
              </a:spcAft>
            </a:pPr>
            <a:endParaRPr lang="en-US" altLang="en-US" sz="2400" b="0" dirty="0">
              <a:solidFill>
                <a:srgbClr val="000000"/>
              </a:solidFill>
              <a:latin typeface="+mj-lt"/>
            </a:endParaRPr>
          </a:p>
          <a:p>
            <a:pPr lvl="0" algn="l" eaLnBrk="0" fontAlgn="base" hangingPunct="0">
              <a:spcAft>
                <a:spcPct val="0"/>
              </a:spcAft>
            </a:pPr>
            <a:endParaRPr lang="en-US" altLang="en-US" sz="2400" b="0" dirty="0">
              <a:solidFill>
                <a:srgbClr val="374151"/>
              </a:solidFill>
              <a:latin typeface="+mj-lt"/>
            </a:endParaRPr>
          </a:p>
          <a:p>
            <a:pPr algn="l"/>
            <a:endParaRPr lang="en-US" sz="2400" b="0" dirty="0">
              <a:latin typeface="+mj-lt"/>
            </a:endParaRPr>
          </a:p>
          <a:p>
            <a:pPr algn="l"/>
            <a:endParaRPr lang="en-US" sz="2400" b="0" dirty="0">
              <a:latin typeface="+mj-lt"/>
            </a:endParaRPr>
          </a:p>
          <a:p>
            <a:pPr algn="l"/>
            <a:endParaRPr lang="en-US" sz="2400" b="0" dirty="0">
              <a:latin typeface="+mj-lt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CB71B721-419A-81A2-C99B-7AD0409A60FD}"/>
              </a:ext>
            </a:extLst>
          </p:cNvPr>
          <p:cNvSpPr txBox="1">
            <a:spLocks/>
          </p:cNvSpPr>
          <p:nvPr/>
        </p:nvSpPr>
        <p:spPr>
          <a:xfrm>
            <a:off x="3360131" y="228600"/>
            <a:ext cx="5280631" cy="58830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FF0000"/>
                </a:solidFill>
                <a:latin typeface="+mj-lt"/>
              </a:rPr>
              <a:t>Propositional Equivalences</a:t>
            </a:r>
          </a:p>
        </p:txBody>
      </p:sp>
    </p:spTree>
    <p:extLst>
      <p:ext uri="{BB962C8B-B14F-4D97-AF65-F5344CB8AC3E}">
        <p14:creationId xmlns:p14="http://schemas.microsoft.com/office/powerpoint/2010/main" val="2103721662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B2A2C-5151-44DB-EF6F-91178454E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376BCAD2-5094-DAF2-C7E4-3E5DEA8A9993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7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pic>
        <p:nvPicPr>
          <p:cNvPr id="14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50C91471-31CB-4E2F-B9C8-A79E571656AD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0E2386F8-21B9-BFEF-4138-DDC03D61B0B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42513"/>
            <a:ext cx="2971800" cy="1425391"/>
          </a:xfrm>
          <a:prstGeom prst="rect">
            <a:avLst/>
          </a:prstGeom>
          <a:ln/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DA0B9033-FECD-8256-3C06-FAA489EDFC82}"/>
              </a:ext>
            </a:extLst>
          </p:cNvPr>
          <p:cNvSpPr txBox="1">
            <a:spLocks/>
          </p:cNvSpPr>
          <p:nvPr/>
        </p:nvSpPr>
        <p:spPr>
          <a:xfrm>
            <a:off x="609600" y="1600200"/>
            <a:ext cx="7543800" cy="2619630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</a:lstStyle>
          <a:p>
            <a:pPr lvl="0" algn="l" eaLnBrk="0" fontAlgn="base" hangingPunct="0">
              <a:spcAft>
                <a:spcPct val="0"/>
              </a:spcAft>
            </a:pPr>
            <a:r>
              <a:rPr lang="en-US" altLang="en-US" sz="2400" dirty="0">
                <a:solidFill>
                  <a:srgbClr val="374151"/>
                </a:solidFill>
                <a:latin typeface="+mj-lt"/>
              </a:rPr>
              <a:t>Example</a:t>
            </a:r>
            <a:r>
              <a:rPr lang="en-US" altLang="en-US" sz="2400" b="0" dirty="0">
                <a:solidFill>
                  <a:srgbClr val="374151"/>
                </a:solidFill>
                <a:latin typeface="+mj-lt"/>
              </a:rPr>
              <a:t>: Show ¬(A∨B)and[(¬A) ∧ (¬B)] are equivalent.</a:t>
            </a:r>
          </a:p>
          <a:p>
            <a:pPr lvl="0" algn="l" eaLnBrk="0" fontAlgn="base" hangingPunct="0">
              <a:spcAft>
                <a:spcPct val="0"/>
              </a:spcAft>
            </a:pPr>
            <a:endParaRPr lang="en-US" altLang="en-US" sz="2400" b="0" dirty="0">
              <a:latin typeface="+mj-lt"/>
            </a:endParaRPr>
          </a:p>
          <a:p>
            <a:pPr lvl="0" algn="l" eaLnBrk="0" fontAlgn="base" hangingPunct="0">
              <a:spcAft>
                <a:spcPct val="0"/>
              </a:spcAft>
            </a:pPr>
            <a:endParaRPr lang="en-US" altLang="en-US" sz="2400" b="0" dirty="0">
              <a:solidFill>
                <a:srgbClr val="000000"/>
              </a:solidFill>
              <a:latin typeface="+mj-lt"/>
            </a:endParaRPr>
          </a:p>
          <a:p>
            <a:pPr lvl="0" algn="l" eaLnBrk="0" fontAlgn="base" hangingPunct="0">
              <a:spcAft>
                <a:spcPct val="0"/>
              </a:spcAft>
            </a:pPr>
            <a:endParaRPr lang="en-US" altLang="en-US" sz="2400" b="0" dirty="0">
              <a:solidFill>
                <a:srgbClr val="374151"/>
              </a:solidFill>
              <a:latin typeface="+mj-lt"/>
            </a:endParaRPr>
          </a:p>
          <a:p>
            <a:pPr algn="l"/>
            <a:endParaRPr lang="en-US" sz="2400" b="0" dirty="0">
              <a:latin typeface="+mj-lt"/>
            </a:endParaRPr>
          </a:p>
          <a:p>
            <a:pPr algn="l"/>
            <a:endParaRPr lang="en-US" sz="2400" b="0" dirty="0">
              <a:latin typeface="+mj-lt"/>
            </a:endParaRPr>
          </a:p>
          <a:p>
            <a:pPr algn="l"/>
            <a:endParaRPr lang="en-US" sz="2400" b="0" dirty="0">
              <a:latin typeface="+mj-lt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7689285E-F12C-48E0-B24D-4041C1941387}"/>
              </a:ext>
            </a:extLst>
          </p:cNvPr>
          <p:cNvSpPr txBox="1">
            <a:spLocks/>
          </p:cNvSpPr>
          <p:nvPr/>
        </p:nvSpPr>
        <p:spPr>
          <a:xfrm>
            <a:off x="3360131" y="228600"/>
            <a:ext cx="5280631" cy="58830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FF0000"/>
                </a:solidFill>
                <a:latin typeface="+mj-lt"/>
              </a:rPr>
              <a:t>Propositional Equivalences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C6E551F-E3C8-9642-6038-FA7653949671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2387600"/>
          <a:ext cx="7696200" cy="2032000"/>
        </p:xfrm>
        <a:graphic>
          <a:graphicData uri="http://schemas.openxmlformats.org/drawingml/2006/table">
            <a:tbl>
              <a:tblPr/>
              <a:tblGrid>
                <a:gridCol w="855133">
                  <a:extLst>
                    <a:ext uri="{9D8B030D-6E8A-4147-A177-3AD203B41FA5}">
                      <a16:colId xmlns:a16="http://schemas.microsoft.com/office/drawing/2014/main" val="23926114"/>
                    </a:ext>
                  </a:extLst>
                </a:gridCol>
                <a:gridCol w="821267">
                  <a:extLst>
                    <a:ext uri="{9D8B030D-6E8A-4147-A177-3AD203B41FA5}">
                      <a16:colId xmlns:a16="http://schemas.microsoft.com/office/drawing/2014/main" val="129878018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6705478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10941112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7310688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8110816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33348537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 dirty="0">
                          <a:effectLst/>
                        </a:rPr>
                        <a:t>A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>
                          <a:effectLst/>
                        </a:rPr>
                        <a:t>B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>
                          <a:effectLst/>
                        </a:rPr>
                        <a:t>A ∨ B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>
                          <a:effectLst/>
                        </a:rPr>
                        <a:t>¬ (A ∨ B)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>
                          <a:effectLst/>
                        </a:rPr>
                        <a:t>¬ A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>
                          <a:effectLst/>
                        </a:rPr>
                        <a:t>¬ B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>
                          <a:effectLst/>
                        </a:rPr>
                        <a:t>[(¬ A) ∧ (¬ B)]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04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954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248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050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24009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7EB8E17-9283-DEC0-C618-433886A795CC}"/>
              </a:ext>
            </a:extLst>
          </p:cNvPr>
          <p:cNvSpPr txBox="1"/>
          <p:nvPr/>
        </p:nvSpPr>
        <p:spPr>
          <a:xfrm>
            <a:off x="685800" y="4699337"/>
            <a:ext cx="79549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+mj-lt"/>
              </a:rPr>
              <a:t>Here, we can see the truth values of ¬(A∨B)and[(¬A)∧(¬B)] are same, hence the statements are equivalent</a:t>
            </a:r>
            <a:r>
              <a:rPr lang="en-US" altLang="en-US" sz="2400" dirty="0">
                <a:latin typeface="+mj-lt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56766857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25D06-CA95-A5C5-B1B9-F505B6E98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E32A2FDC-C6C7-DC39-CC65-CA667236038F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8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pic>
        <p:nvPicPr>
          <p:cNvPr id="14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195575EC-B908-30C3-AD04-0DA8DF80190E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970D8BED-B225-668F-95E0-4777E519D45A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42513"/>
            <a:ext cx="2971800" cy="1425391"/>
          </a:xfrm>
          <a:prstGeom prst="rect">
            <a:avLst/>
          </a:prstGeom>
          <a:ln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B6FF00-D7EE-2140-72D5-BBAF4ED70E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05000"/>
            <a:ext cx="8305800" cy="41147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A398110-883F-281C-61A9-EF2D552CC997}"/>
              </a:ext>
            </a:extLst>
          </p:cNvPr>
          <p:cNvSpPr/>
          <p:nvPr/>
        </p:nvSpPr>
        <p:spPr>
          <a:xfrm>
            <a:off x="609600" y="1981200"/>
            <a:ext cx="990600" cy="43709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700" dirty="0"/>
              <a:t>Example: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5DF86939-A066-FB95-65A6-934A11AFD6FC}"/>
              </a:ext>
            </a:extLst>
          </p:cNvPr>
          <p:cNvSpPr txBox="1">
            <a:spLocks/>
          </p:cNvSpPr>
          <p:nvPr/>
        </p:nvSpPr>
        <p:spPr>
          <a:xfrm>
            <a:off x="3360131" y="228600"/>
            <a:ext cx="5280631" cy="58830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FF0000"/>
                </a:solidFill>
                <a:latin typeface="+mj-lt"/>
              </a:rPr>
              <a:t>Propositional Equivalences</a:t>
            </a:r>
          </a:p>
        </p:txBody>
      </p:sp>
    </p:spTree>
    <p:extLst>
      <p:ext uri="{BB962C8B-B14F-4D97-AF65-F5344CB8AC3E}">
        <p14:creationId xmlns:p14="http://schemas.microsoft.com/office/powerpoint/2010/main" val="3798520047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33361-E541-ACB8-C943-5267DCD4A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>
            <a:extLst>
              <a:ext uri="{FF2B5EF4-FFF2-40B4-BE49-F238E27FC236}">
                <a16:creationId xmlns:a16="http://schemas.microsoft.com/office/drawing/2014/main" id="{9A08C153-FC36-B14D-54B8-7D622CCD0996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143875" y="13161963"/>
            <a:ext cx="1000125" cy="166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445" defTabSz="1812066">
              <a:lnSpc>
                <a:spcPts val="1338"/>
              </a:lnSpc>
            </a:pPr>
            <a:fld id="{81D60167-4931-47E6-BA6A-407CBD079E47}" type="slidenum">
              <a:rPr kern="0" spc="-20" dirty="0"/>
              <a:pPr marL="104445" defTabSz="1812066">
                <a:lnSpc>
                  <a:spcPts val="1338"/>
                </a:lnSpc>
              </a:pPr>
              <a:t>9</a:t>
            </a:fld>
            <a:r>
              <a:rPr kern="0" spc="-168" dirty="0"/>
              <a:t> </a:t>
            </a:r>
            <a:r>
              <a:rPr kern="0" spc="178" dirty="0"/>
              <a:t>/</a:t>
            </a:r>
            <a:r>
              <a:rPr kern="0" spc="-168" dirty="0"/>
              <a:t> </a:t>
            </a:r>
            <a:r>
              <a:rPr kern="0" spc="-50" dirty="0"/>
              <a:t>10</a:t>
            </a:r>
          </a:p>
        </p:txBody>
      </p:sp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475F93E8-0B3F-E0B3-6E4C-1E19E2E28696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DEA08E9-E03C-C1B8-6321-4031DF155D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676400"/>
            <a:ext cx="6858000" cy="4592279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5FFC34D3-7F88-AF32-E1B3-F3B01EC02414}"/>
              </a:ext>
            </a:extLst>
          </p:cNvPr>
          <p:cNvSpPr txBox="1">
            <a:spLocks/>
          </p:cNvSpPr>
          <p:nvPr/>
        </p:nvSpPr>
        <p:spPr>
          <a:xfrm>
            <a:off x="3360131" y="228600"/>
            <a:ext cx="5280631" cy="58830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FF0000"/>
                </a:solidFill>
                <a:latin typeface="+mj-lt"/>
              </a:rPr>
              <a:t>Propositional Equivalences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3D7F4C-B0BA-D327-9713-008C445E45A0}"/>
              </a:ext>
            </a:extLst>
          </p:cNvPr>
          <p:cNvSpPr/>
          <p:nvPr/>
        </p:nvSpPr>
        <p:spPr>
          <a:xfrm>
            <a:off x="1295400" y="1828800"/>
            <a:ext cx="37338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solidFill>
                  <a:srgbClr val="FF0000"/>
                </a:solidFill>
              </a:rPr>
              <a:t>  </a:t>
            </a:r>
            <a:r>
              <a:rPr lang="en-IN" sz="1850" b="1" dirty="0">
                <a:solidFill>
                  <a:srgbClr val="FF0000"/>
                </a:solidFill>
              </a:rPr>
              <a:t>Properties of Logical Equivalences:</a:t>
            </a:r>
          </a:p>
        </p:txBody>
      </p:sp>
    </p:spTree>
    <p:extLst>
      <p:ext uri="{BB962C8B-B14F-4D97-AF65-F5344CB8AC3E}">
        <p14:creationId xmlns:p14="http://schemas.microsoft.com/office/powerpoint/2010/main" val="837744556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55B31-1AFF-50BD-B25C-13F864B2A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>
            <a:extLst>
              <a:ext uri="{FF2B5EF4-FFF2-40B4-BE49-F238E27FC236}">
                <a16:creationId xmlns:a16="http://schemas.microsoft.com/office/drawing/2014/main" id="{B88A3200-43BC-4387-B45A-3EBF889AC03E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143875" y="13161963"/>
            <a:ext cx="1000125" cy="166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445" defTabSz="1812066">
              <a:lnSpc>
                <a:spcPts val="1338"/>
              </a:lnSpc>
            </a:pPr>
            <a:fld id="{81D60167-4931-47E6-BA6A-407CBD079E47}" type="slidenum">
              <a:rPr kern="0" spc="-20" dirty="0"/>
              <a:pPr marL="104445" defTabSz="1812066">
                <a:lnSpc>
                  <a:spcPts val="1338"/>
                </a:lnSpc>
              </a:pPr>
              <a:t>10</a:t>
            </a:fld>
            <a:r>
              <a:rPr kern="0" spc="-168" dirty="0"/>
              <a:t> </a:t>
            </a:r>
            <a:r>
              <a:rPr kern="0" spc="178" dirty="0"/>
              <a:t>/</a:t>
            </a:r>
            <a:r>
              <a:rPr kern="0" spc="-168" dirty="0"/>
              <a:t> </a:t>
            </a:r>
            <a:r>
              <a:rPr kern="0" spc="-50" dirty="0"/>
              <a:t>10</a:t>
            </a:r>
          </a:p>
        </p:txBody>
      </p:sp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A7C5CF3A-B746-3854-5358-AA45092BB32D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A1BF00-1E49-AAFE-F4FC-ADCDDEC941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679154"/>
            <a:ext cx="7153275" cy="4569246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1ECE0282-7FE5-7E31-DF73-7354DAE669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0" y="279400"/>
            <a:ext cx="5791200" cy="711200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FF0000"/>
                </a:solidFill>
                <a:latin typeface="+mj-lt"/>
              </a:rPr>
              <a:t>Propositional Equivalences</a:t>
            </a:r>
          </a:p>
        </p:txBody>
      </p:sp>
    </p:spTree>
    <p:extLst>
      <p:ext uri="{BB962C8B-B14F-4D97-AF65-F5344CB8AC3E}">
        <p14:creationId xmlns:p14="http://schemas.microsoft.com/office/powerpoint/2010/main" val="2964406146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98019-3371-1549-26AA-552DF74A8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>
            <a:extLst>
              <a:ext uri="{FF2B5EF4-FFF2-40B4-BE49-F238E27FC236}">
                <a16:creationId xmlns:a16="http://schemas.microsoft.com/office/drawing/2014/main" id="{147EEA21-A488-4FF9-12CE-3C2906EAC82C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143875" y="13161963"/>
            <a:ext cx="1000125" cy="166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445" defTabSz="1812066">
              <a:lnSpc>
                <a:spcPts val="1338"/>
              </a:lnSpc>
            </a:pPr>
            <a:fld id="{81D60167-4931-47E6-BA6A-407CBD079E47}" type="slidenum">
              <a:rPr kern="0" spc="-20" dirty="0"/>
              <a:pPr marL="104445" defTabSz="1812066">
                <a:lnSpc>
                  <a:spcPts val="1338"/>
                </a:lnSpc>
              </a:pPr>
              <a:t>11</a:t>
            </a:fld>
            <a:r>
              <a:rPr kern="0" spc="-168" dirty="0"/>
              <a:t> </a:t>
            </a:r>
            <a:r>
              <a:rPr kern="0" spc="178" dirty="0"/>
              <a:t>/</a:t>
            </a:r>
            <a:r>
              <a:rPr kern="0" spc="-168" dirty="0"/>
              <a:t> </a:t>
            </a:r>
            <a:r>
              <a:rPr kern="0" spc="-50" dirty="0"/>
              <a:t>10</a:t>
            </a:r>
          </a:p>
        </p:txBody>
      </p:sp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8DE55A6-BAF6-27A4-51BD-7F101983BE92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FEC8F5A1-0B7F-BECA-B331-B9AB2211D7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0" y="279400"/>
            <a:ext cx="5791200" cy="711200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FF0000"/>
                </a:solidFill>
                <a:latin typeface="+mj-lt"/>
              </a:rPr>
              <a:t>Propositional Equivalences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AC4AE9-DB3A-74B7-FE92-A0E1A94FE0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2785998"/>
            <a:ext cx="8763000" cy="353860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3">
                <a:extLst>
                  <a:ext uri="{FF2B5EF4-FFF2-40B4-BE49-F238E27FC236}">
                    <a16:creationId xmlns:a16="http://schemas.microsoft.com/office/drawing/2014/main" id="{4040B1D8-0D97-6A3D-5963-DFCFBE9581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5800" y="1879600"/>
                <a:ext cx="8153400" cy="772971"/>
              </a:xfrm>
              <a:prstGeom prst="rect">
                <a:avLst/>
              </a:prstGeom>
            </p:spPr>
            <p:txBody>
              <a:bodyPr vert="horz" wrap="square" lIns="0" tIns="33975" rIns="0" bIns="0" rtlCol="0">
                <a:sp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b="1" kern="1200">
                    <a:solidFill>
                      <a:schemeClr val="tx1"/>
                    </a:solidFill>
                    <a:latin typeface="Cambria" pitchFamily="18" charset="0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sz="2400" dirty="0">
                    <a:solidFill>
                      <a:srgbClr val="FF0000"/>
                    </a:solidFill>
                    <a:latin typeface="+mj-lt"/>
                  </a:rPr>
                  <a:t>Questions: </a:t>
                </a:r>
                <a:r>
                  <a:rPr lang="en-US" sz="2400" b="0" dirty="0">
                    <a:solidFill>
                      <a:schemeClr val="tx1"/>
                    </a:solidFill>
                    <a:latin typeface="+mj-lt"/>
                  </a:rPr>
                  <a:t>Using Algebraic method to prove that </a:t>
                </a:r>
                <a:endParaRPr lang="en-IN" sz="2400" b="0" i="1" dirty="0">
                  <a:solidFill>
                    <a:schemeClr val="tx1"/>
                  </a:solidFill>
                  <a:latin typeface="+mj-lt"/>
                </a:endParaRPr>
              </a:p>
              <a:p>
                <a:pPr algn="l"/>
                <a14:m>
                  <m:oMath xmlns:m="http://schemas.openxmlformats.org/officeDocument/2006/math">
                    <m:r>
                      <a:rPr lang="en-IN" sz="2400" b="0" i="1" dirty="0">
                        <a:solidFill>
                          <a:schemeClr val="tx1"/>
                        </a:solidFill>
                        <a:latin typeface="+mj-lt"/>
                      </a:rPr>
                      <m:t>￢</m:t>
                    </m:r>
                    <m:r>
                      <a:rPr lang="en-IN" sz="2400" b="0" i="1" dirty="0">
                        <a:solidFill>
                          <a:schemeClr val="tx1"/>
                        </a:solidFill>
                        <a:latin typeface="+mj-lt"/>
                      </a:rPr>
                      <m:t>(</m:t>
                    </m:r>
                    <m:r>
                      <a:rPr lang="en-IN" sz="2400" b="0" i="1" dirty="0">
                        <a:solidFill>
                          <a:schemeClr val="tx1"/>
                        </a:solidFill>
                        <a:latin typeface="+mj-lt"/>
                      </a:rPr>
                      <m:t>𝑝</m:t>
                    </m:r>
                    <m:r>
                      <a:rPr lang="en-IN" sz="2400" b="0" i="1" dirty="0">
                        <a:solidFill>
                          <a:schemeClr val="tx1"/>
                        </a:solidFill>
                        <a:latin typeface="+mj-lt"/>
                      </a:rPr>
                      <m:t> ∨ (</m:t>
                    </m:r>
                    <m:r>
                      <a:rPr lang="en-IN" sz="2400" b="0" i="1" dirty="0">
                        <a:solidFill>
                          <a:schemeClr val="tx1"/>
                        </a:solidFill>
                        <a:latin typeface="+mj-lt"/>
                      </a:rPr>
                      <m:t>￢</m:t>
                    </m:r>
                    <m:r>
                      <a:rPr lang="en-IN" sz="2400" b="0" i="1" dirty="0">
                        <a:solidFill>
                          <a:schemeClr val="tx1"/>
                        </a:solidFill>
                        <a:latin typeface="+mj-lt"/>
                      </a:rPr>
                      <m:t>𝑝</m:t>
                    </m:r>
                    <m:r>
                      <a:rPr lang="en-IN" sz="2400" b="0" i="1" dirty="0">
                        <a:solidFill>
                          <a:schemeClr val="tx1"/>
                        </a:solidFill>
                        <a:latin typeface="+mj-lt"/>
                      </a:rPr>
                      <m:t> ∧ </m:t>
                    </m:r>
                    <m:r>
                      <a:rPr lang="en-IN" sz="2400" b="0" i="1" dirty="0">
                        <a:solidFill>
                          <a:schemeClr val="tx1"/>
                        </a:solidFill>
                        <a:latin typeface="+mj-lt"/>
                      </a:rPr>
                      <m:t>𝑞</m:t>
                    </m:r>
                    <m:r>
                      <a:rPr lang="en-IN" sz="2400" b="0" i="1" dirty="0">
                        <a:solidFill>
                          <a:schemeClr val="tx1"/>
                        </a:solidFill>
                        <a:latin typeface="+mj-lt"/>
                      </a:rPr>
                      <m:t>)) </m:t>
                    </m:r>
                  </m:oMath>
                </a14:m>
                <a:r>
                  <a:rPr lang="en-IN" sz="2400" b="0" dirty="0">
                    <a:solidFill>
                      <a:schemeClr val="tx1"/>
                    </a:solidFill>
                    <a:latin typeface="+mj-lt"/>
                  </a:rPr>
                  <a:t>is logically equivalent to </a:t>
                </a:r>
                <a14:m>
                  <m:oMath xmlns:m="http://schemas.openxmlformats.org/officeDocument/2006/math">
                    <m:r>
                      <a:rPr lang="en-IN" sz="2400" b="0" i="1" dirty="0">
                        <a:solidFill>
                          <a:schemeClr val="tx1"/>
                        </a:solidFill>
                        <a:latin typeface="+mj-lt"/>
                      </a:rPr>
                      <m:t>￢</m:t>
                    </m:r>
                    <m:r>
                      <a:rPr lang="en-IN" sz="2400" b="0" i="1" dirty="0">
                        <a:solidFill>
                          <a:schemeClr val="tx1"/>
                        </a:solidFill>
                        <a:latin typeface="+mj-lt"/>
                      </a:rPr>
                      <m:t>𝑝</m:t>
                    </m:r>
                    <m:r>
                      <a:rPr lang="en-IN" sz="2400" b="0" i="1" dirty="0">
                        <a:solidFill>
                          <a:schemeClr val="tx1"/>
                        </a:solidFill>
                        <a:latin typeface="+mj-lt"/>
                      </a:rPr>
                      <m:t> ∧</m:t>
                    </m:r>
                    <m:r>
                      <a:rPr lang="en-IN" sz="2400" b="0" i="1" dirty="0">
                        <a:solidFill>
                          <a:schemeClr val="tx1"/>
                        </a:solidFill>
                        <a:latin typeface="+mj-lt"/>
                      </a:rPr>
                      <m:t>￢</m:t>
                    </m:r>
                    <m:r>
                      <a:rPr lang="en-IN" sz="2400" b="0" i="1" dirty="0">
                        <a:solidFill>
                          <a:schemeClr val="tx1"/>
                        </a:solidFill>
                        <a:latin typeface="+mj-lt"/>
                      </a:rPr>
                      <m:t>𝑞</m:t>
                    </m:r>
                    <m:r>
                      <a:rPr lang="en-IN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b="0" dirty="0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5" name="object 3">
                <a:extLst>
                  <a:ext uri="{FF2B5EF4-FFF2-40B4-BE49-F238E27FC236}">
                    <a16:creationId xmlns:a16="http://schemas.microsoft.com/office/drawing/2014/main" id="{4040B1D8-0D97-6A3D-5963-DFCFBE958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879600"/>
                <a:ext cx="8153400" cy="772971"/>
              </a:xfrm>
              <a:prstGeom prst="rect">
                <a:avLst/>
              </a:prstGeom>
              <a:blipFill>
                <a:blip r:embed="rId4"/>
                <a:stretch>
                  <a:fillRect l="-2319" t="-7874" b="-228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3381330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73B47-6A3A-D269-B5A1-4B1D04575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08935DF-E927-8A08-93B0-91CB054F26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76600" y="279185"/>
            <a:ext cx="5334000" cy="58830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IN" sz="3600" spc="-20" dirty="0">
                <a:solidFill>
                  <a:srgbClr val="FF0000"/>
                </a:solidFill>
                <a:latin typeface="+mj-lt"/>
              </a:rPr>
              <a:t>Learning Activity</a:t>
            </a:r>
            <a:endParaRPr sz="3600" spc="-89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081C91DE-B3E7-4992-3BA5-420485466AC8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143875" y="13161963"/>
            <a:ext cx="1000125" cy="166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445" defTabSz="1812066">
              <a:lnSpc>
                <a:spcPts val="1338"/>
              </a:lnSpc>
            </a:pPr>
            <a:fld id="{81D60167-4931-47E6-BA6A-407CBD079E47}" type="slidenum">
              <a:rPr kern="0" spc="-20" dirty="0"/>
              <a:pPr marL="104445" defTabSz="1812066">
                <a:lnSpc>
                  <a:spcPts val="1338"/>
                </a:lnSpc>
              </a:pPr>
              <a:t>12</a:t>
            </a:fld>
            <a:r>
              <a:rPr kern="0" spc="-168" dirty="0"/>
              <a:t> </a:t>
            </a:r>
            <a:r>
              <a:rPr kern="0" spc="178" dirty="0"/>
              <a:t>/</a:t>
            </a:r>
            <a:r>
              <a:rPr kern="0" spc="-168" dirty="0"/>
              <a:t> </a:t>
            </a:r>
            <a:r>
              <a:rPr kern="0" spc="-50" dirty="0"/>
              <a:t>10</a:t>
            </a:r>
          </a:p>
        </p:txBody>
      </p:sp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4B6201D8-2FDA-576B-B53A-4E7A11F4CE53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B812141-C612-6D6A-0B50-EAC2C07FD080}"/>
                  </a:ext>
                </a:extLst>
              </p:cNvPr>
              <p:cNvSpPr txBox="1"/>
              <p:nvPr/>
            </p:nvSpPr>
            <p:spPr>
              <a:xfrm>
                <a:off x="595234" y="1676400"/>
                <a:ext cx="801536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 algn="just">
                  <a:buAutoNum type="arabicPeriod"/>
                </a:pPr>
                <a:r>
                  <a:rPr lang="en-IN" sz="2400" dirty="0">
                    <a:latin typeface="+mj-lt"/>
                  </a:rPr>
                  <a:t>Show that </a:t>
                </a:r>
                <a14:m>
                  <m:oMath xmlns:m="http://schemas.openxmlformats.org/officeDocument/2006/math">
                    <m:r>
                      <a:rPr lang="en-IN" sz="2400" i="1" dirty="0">
                        <a:latin typeface="+mj-lt"/>
                      </a:rPr>
                      <m:t>￢</m:t>
                    </m:r>
                    <m:r>
                      <a:rPr lang="en-IN" sz="2400" i="1" dirty="0">
                        <a:latin typeface="+mj-lt"/>
                      </a:rPr>
                      <m:t>(</m:t>
                    </m:r>
                    <m:r>
                      <a:rPr lang="en-IN" sz="2400" i="1" dirty="0">
                        <a:latin typeface="+mj-lt"/>
                      </a:rPr>
                      <m:t>𝑝</m:t>
                    </m:r>
                    <m:r>
                      <a:rPr lang="en-IN" sz="2400" i="1" dirty="0">
                        <a:latin typeface="+mj-lt"/>
                      </a:rPr>
                      <m:t> ∨ (</m:t>
                    </m:r>
                    <m:r>
                      <a:rPr lang="en-IN" sz="2400" i="1" dirty="0">
                        <a:latin typeface="+mj-lt"/>
                      </a:rPr>
                      <m:t>￢</m:t>
                    </m:r>
                    <m:r>
                      <a:rPr lang="en-IN" sz="2400" i="1" dirty="0">
                        <a:latin typeface="+mj-lt"/>
                      </a:rPr>
                      <m:t>𝑝</m:t>
                    </m:r>
                    <m:r>
                      <a:rPr lang="en-IN" sz="2400" i="1" dirty="0">
                        <a:latin typeface="+mj-lt"/>
                      </a:rPr>
                      <m:t> ∧ </m:t>
                    </m:r>
                    <m:r>
                      <a:rPr lang="en-IN" sz="2400" i="1" dirty="0">
                        <a:latin typeface="+mj-lt"/>
                      </a:rPr>
                      <m:t>𝑞</m:t>
                    </m:r>
                    <m:r>
                      <a:rPr lang="en-IN" sz="2400" i="1" dirty="0">
                        <a:latin typeface="+mj-lt"/>
                      </a:rPr>
                      <m:t>)) </m:t>
                    </m:r>
                  </m:oMath>
                </a14:m>
                <a:r>
                  <a:rPr lang="en-IN" sz="2400" dirty="0">
                    <a:latin typeface="+mj-lt"/>
                  </a:rPr>
                  <a:t>is logically equivalent to </a:t>
                </a:r>
                <a14:m>
                  <m:oMath xmlns:m="http://schemas.openxmlformats.org/officeDocument/2006/math">
                    <m:r>
                      <a:rPr lang="en-IN" sz="2400" i="1" dirty="0">
                        <a:latin typeface="+mj-lt"/>
                      </a:rPr>
                      <m:t>￢</m:t>
                    </m:r>
                    <m:r>
                      <a:rPr lang="en-IN" sz="2400" i="1" dirty="0">
                        <a:latin typeface="+mj-lt"/>
                      </a:rPr>
                      <m:t>𝑝</m:t>
                    </m:r>
                    <m:r>
                      <a:rPr lang="en-IN" sz="2400" i="1" dirty="0">
                        <a:latin typeface="+mj-lt"/>
                      </a:rPr>
                      <m:t> ∧</m:t>
                    </m:r>
                    <m:r>
                      <a:rPr lang="en-IN" sz="2400" i="1" dirty="0">
                        <a:latin typeface="+mj-lt"/>
                      </a:rPr>
                      <m:t>￢</m:t>
                    </m:r>
                    <m:r>
                      <a:rPr lang="en-IN" sz="2400" i="1" dirty="0">
                        <a:latin typeface="+mj-lt"/>
                      </a:rPr>
                      <m:t>𝑞</m:t>
                    </m:r>
                    <m:r>
                      <a:rPr lang="en-IN" sz="2400" i="1" dirty="0">
                        <a:latin typeface="+mj-lt"/>
                      </a:rPr>
                      <m:t> </m:t>
                    </m:r>
                  </m:oMath>
                </a14:m>
                <a:r>
                  <a:rPr lang="en-IN" sz="2400" dirty="0">
                    <a:latin typeface="+mj-lt"/>
                  </a:rPr>
                  <a:t>using a </a:t>
                </a:r>
                <a:r>
                  <a:rPr lang="en-IN" sz="2400" b="1" dirty="0">
                    <a:latin typeface="+mj-lt"/>
                  </a:rPr>
                  <a:t>truth table</a:t>
                </a:r>
                <a:r>
                  <a:rPr lang="en-IN" sz="2400" dirty="0">
                    <a:latin typeface="+mj-lt"/>
                  </a:rPr>
                  <a:t> and verify it using </a:t>
                </a:r>
                <a:r>
                  <a:rPr lang="en-IN" sz="2400" b="1" dirty="0">
                    <a:latin typeface="+mj-lt"/>
                  </a:rPr>
                  <a:t>algebraic simplification</a:t>
                </a:r>
                <a:r>
                  <a:rPr lang="en-IN" sz="2400" dirty="0">
                    <a:latin typeface="+mj-lt"/>
                  </a:rPr>
                  <a:t>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B812141-C612-6D6A-0B50-EAC2C07FD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234" y="1676400"/>
                <a:ext cx="8015366" cy="1200329"/>
              </a:xfrm>
              <a:prstGeom prst="rect">
                <a:avLst/>
              </a:prstGeom>
              <a:blipFill>
                <a:blip r:embed="rId3"/>
                <a:stretch>
                  <a:fillRect l="-1217" t="-4569" r="-1141" b="-106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FBD4C9-83EF-3DA0-CF79-58D8D5D53B45}"/>
                  </a:ext>
                </a:extLst>
              </p:cNvPr>
              <p:cNvSpPr txBox="1"/>
              <p:nvPr/>
            </p:nvSpPr>
            <p:spPr>
              <a:xfrm>
                <a:off x="609600" y="3230940"/>
                <a:ext cx="7924800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400" dirty="0"/>
                  <a:t>2</a:t>
                </a:r>
                <a:r>
                  <a:rPr lang="en-US" sz="2400" dirty="0">
                    <a:latin typeface="+mj-lt"/>
                  </a:rPr>
                  <a:t>. </a:t>
                </a:r>
                <a:r>
                  <a:rPr lang="en-US" sz="2400" dirty="0">
                    <a:latin typeface="+mj-lt"/>
                    <a:ea typeface="Cambria" panose="02040503050406030204" pitchFamily="18" charset="0"/>
                  </a:rPr>
                  <a:t>Is the above logical rule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+mj-lt"/>
                      </a:rPr>
                      <m:t>(</m:t>
                    </m:r>
                    <m:r>
                      <a:rPr lang="en-US" sz="2400" b="1" i="1" dirty="0">
                        <a:latin typeface="+mj-lt"/>
                      </a:rPr>
                      <m:t>𝒑</m:t>
                    </m:r>
                    <m:r>
                      <a:rPr lang="en-US" sz="2400" b="1" i="1" dirty="0">
                        <a:latin typeface="+mj-lt"/>
                      </a:rPr>
                      <m:t> ∧</m:t>
                    </m:r>
                    <m:r>
                      <a:rPr lang="en-US" sz="2400" b="1" i="1" dirty="0">
                        <a:latin typeface="+mj-lt"/>
                      </a:rPr>
                      <m:t>𝒒</m:t>
                    </m:r>
                    <m:r>
                      <a:rPr lang="en-US" sz="2400" b="1" i="1" dirty="0">
                        <a:latin typeface="+mj-lt"/>
                      </a:rPr>
                      <m:t>)→(</m:t>
                    </m:r>
                    <m:r>
                      <a:rPr lang="en-US" sz="2400" b="1" i="1" dirty="0">
                        <a:latin typeface="+mj-lt"/>
                      </a:rPr>
                      <m:t>𝒑</m:t>
                    </m:r>
                    <m:r>
                      <a:rPr lang="en-US" sz="2400" b="1" i="1" dirty="0">
                        <a:latin typeface="+mj-lt"/>
                      </a:rPr>
                      <m:t>∨</m:t>
                    </m:r>
                    <m:r>
                      <a:rPr lang="en-US" sz="2400" b="1" i="1" dirty="0">
                        <a:latin typeface="+mj-lt"/>
                      </a:rPr>
                      <m:t>𝒒</m:t>
                    </m:r>
                    <m:r>
                      <a:rPr lang="en-US" sz="2400" b="1" i="1" dirty="0">
                        <a:latin typeface="+mj-lt"/>
                      </a:rPr>
                      <m:t>)</m:t>
                    </m:r>
                  </m:oMath>
                </a14:m>
                <a:r>
                  <a:rPr lang="en-US" sz="2400" dirty="0">
                    <a:latin typeface="+mj-lt"/>
                    <a:ea typeface="Cambria" panose="02040503050406030204" pitchFamily="18" charset="0"/>
                  </a:rPr>
                  <a:t> tautology? Verify it by using both Truth table method and Algebraic method.</a:t>
                </a:r>
              </a:p>
              <a:p>
                <a:pPr algn="just"/>
                <a:endParaRPr lang="en-US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FBD4C9-83EF-3DA0-CF79-58D8D5D53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230940"/>
                <a:ext cx="7924800" cy="1569660"/>
              </a:xfrm>
              <a:prstGeom prst="rect">
                <a:avLst/>
              </a:prstGeom>
              <a:blipFill>
                <a:blip r:embed="rId4"/>
                <a:stretch>
                  <a:fillRect l="-1154" t="-3101" r="-11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0276905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5BF94-9778-C8D5-5B07-88127D097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79CBCA8-B015-05D3-A208-98F7CFCF73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76600" y="279185"/>
            <a:ext cx="5334000" cy="58830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IN" sz="3600" spc="-20" dirty="0">
                <a:solidFill>
                  <a:srgbClr val="FF0000"/>
                </a:solidFill>
                <a:latin typeface="+mj-lt"/>
              </a:rPr>
              <a:t>Learning Activity</a:t>
            </a:r>
            <a:endParaRPr sz="3600" spc="-89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620B06D1-17FD-2167-D51C-10FADF7E5395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143875" y="13161963"/>
            <a:ext cx="1000125" cy="166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445" defTabSz="1812066">
              <a:lnSpc>
                <a:spcPts val="1338"/>
              </a:lnSpc>
            </a:pPr>
            <a:fld id="{81D60167-4931-47E6-BA6A-407CBD079E47}" type="slidenum">
              <a:rPr kern="0" spc="-20" dirty="0"/>
              <a:pPr marL="104445" defTabSz="1812066">
                <a:lnSpc>
                  <a:spcPts val="1338"/>
                </a:lnSpc>
              </a:pPr>
              <a:t>13</a:t>
            </a:fld>
            <a:r>
              <a:rPr kern="0" spc="-168" dirty="0"/>
              <a:t> </a:t>
            </a:r>
            <a:r>
              <a:rPr kern="0" spc="178" dirty="0"/>
              <a:t>/</a:t>
            </a:r>
            <a:r>
              <a:rPr kern="0" spc="-168" dirty="0"/>
              <a:t> </a:t>
            </a:r>
            <a:r>
              <a:rPr kern="0" spc="-50" dirty="0"/>
              <a:t>10</a:t>
            </a:r>
          </a:p>
        </p:txBody>
      </p:sp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A334FFE6-261B-BB66-FE90-84E036A56F89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8AA794-AF8B-01D6-8FB7-B9B6EF97F9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905064"/>
            <a:ext cx="3657600" cy="26575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61C956-78F8-C54E-EB57-90B6E27899BA}"/>
              </a:ext>
            </a:extLst>
          </p:cNvPr>
          <p:cNvSpPr txBox="1"/>
          <p:nvPr/>
        </p:nvSpPr>
        <p:spPr>
          <a:xfrm>
            <a:off x="609600" y="1905000"/>
            <a:ext cx="7924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3. Determine whether the following statements (a) to (e) are logically equivalent.</a:t>
            </a:r>
          </a:p>
        </p:txBody>
      </p:sp>
    </p:spTree>
    <p:extLst>
      <p:ext uri="{BB962C8B-B14F-4D97-AF65-F5344CB8AC3E}">
        <p14:creationId xmlns:p14="http://schemas.microsoft.com/office/powerpoint/2010/main" val="3282508140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1800" y="279185"/>
            <a:ext cx="5791199" cy="71141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US" dirty="0">
                <a:solidFill>
                  <a:srgbClr val="FF0000"/>
                </a:solidFill>
                <a:latin typeface="+mj-lt"/>
              </a:rPr>
              <a:t>Applications </a:t>
            </a:r>
            <a:endParaRPr spc="-2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03649" y="6642068"/>
            <a:ext cx="424063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r>
              <a:rPr sz="1189" kern="0" spc="-20" dirty="0">
                <a:solidFill>
                  <a:srgbClr val="7A0000"/>
                </a:solidFill>
                <a:latin typeface="Tahoma"/>
                <a:cs typeface="Tahoma"/>
              </a:rPr>
              <a:t>5</a:t>
            </a:r>
            <a:r>
              <a:rPr sz="1189" kern="0" spc="-168" dirty="0">
                <a:solidFill>
                  <a:srgbClr val="7A0000"/>
                </a:solidFill>
                <a:latin typeface="Tahoma"/>
                <a:cs typeface="Tahoma"/>
              </a:rPr>
              <a:t> </a:t>
            </a:r>
            <a:r>
              <a:rPr sz="1189" kern="0" spc="178" dirty="0">
                <a:solidFill>
                  <a:srgbClr val="7A0000"/>
                </a:solidFill>
                <a:latin typeface="Tahoma"/>
                <a:cs typeface="Tahoma"/>
              </a:rPr>
              <a:t>/</a:t>
            </a:r>
            <a:r>
              <a:rPr sz="1189" kern="0" spc="-168" dirty="0">
                <a:solidFill>
                  <a:srgbClr val="7A0000"/>
                </a:solidFill>
                <a:latin typeface="Tahoma"/>
                <a:cs typeface="Tahoma"/>
              </a:rPr>
              <a:t> </a:t>
            </a:r>
            <a:r>
              <a:rPr sz="1189" kern="0" spc="-50" dirty="0">
                <a:solidFill>
                  <a:srgbClr val="7A0000"/>
                </a:solidFill>
                <a:latin typeface="Tahoma"/>
                <a:cs typeface="Tahoma"/>
              </a:rPr>
              <a:t>10</a:t>
            </a:r>
            <a:endParaRPr sz="1189" kern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  <p:pic>
        <p:nvPicPr>
          <p:cNvPr id="14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BD5ABC-B0DC-3CAB-A7EF-18D000D823DE}"/>
              </a:ext>
            </a:extLst>
          </p:cNvPr>
          <p:cNvSpPr txBox="1"/>
          <p:nvPr/>
        </p:nvSpPr>
        <p:spPr>
          <a:xfrm>
            <a:off x="685800" y="1455034"/>
            <a:ext cx="762000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1800" b="1" u="sng" dirty="0">
              <a:solidFill>
                <a:srgbClr val="FF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b="1" dirty="0"/>
              <a:t>  Mathematical Proofs</a:t>
            </a:r>
            <a:r>
              <a:rPr lang="en-IN" sz="2400" dirty="0"/>
              <a:t> – Used in proving theorems and logical deductions.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b="1" dirty="0"/>
              <a:t>  Computer Science</a:t>
            </a:r>
            <a:r>
              <a:rPr lang="en-IN" sz="2400" dirty="0"/>
              <a:t> – Helps in Boolean algebra, circuit design, and programming conditions </a:t>
            </a:r>
            <a:r>
              <a:rPr lang="en-IN" sz="2400" i="1" dirty="0"/>
              <a:t>(if-else statements)</a:t>
            </a:r>
            <a:r>
              <a:rPr lang="en-IN" sz="2400" dirty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b="1" dirty="0"/>
              <a:t>  Artificial Intelligence</a:t>
            </a:r>
            <a:r>
              <a:rPr lang="en-IN" sz="2400" dirty="0"/>
              <a:t> – Simplifies logical conditions for reasoning systems.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b="1" dirty="0"/>
              <a:t> Digital Logic &amp; Circuits</a:t>
            </a:r>
            <a:r>
              <a:rPr lang="en-IN" sz="2400" dirty="0"/>
              <a:t> – Used in designing logic gates and optimizing circuits.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30458306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60132" y="228600"/>
            <a:ext cx="4869468" cy="1142302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IN" sz="3600" spc="-50" dirty="0">
                <a:solidFill>
                  <a:srgbClr val="FF0000"/>
                </a:solidFill>
                <a:latin typeface="+mj-lt"/>
              </a:rPr>
              <a:t>Predicate and </a:t>
            </a:r>
            <a:r>
              <a:rPr sz="3600" spc="-50" dirty="0">
                <a:solidFill>
                  <a:srgbClr val="FF0000"/>
                </a:solidFill>
                <a:latin typeface="+mj-lt"/>
              </a:rPr>
              <a:t>Quantifiers</a:t>
            </a:r>
            <a:r>
              <a:rPr sz="3600" spc="-59" dirty="0">
                <a:solidFill>
                  <a:srgbClr val="FF0000"/>
                </a:solidFill>
                <a:latin typeface="+mj-lt"/>
              </a:rPr>
              <a:t> </a:t>
            </a:r>
            <a:r>
              <a:rPr sz="3600" dirty="0">
                <a:solidFill>
                  <a:srgbClr val="FF0000"/>
                </a:solidFill>
                <a:latin typeface="+mj-lt"/>
              </a:rPr>
              <a:t>in</a:t>
            </a:r>
            <a:r>
              <a:rPr sz="3600" spc="-50" dirty="0">
                <a:solidFill>
                  <a:srgbClr val="FF0000"/>
                </a:solidFill>
                <a:latin typeface="+mj-lt"/>
              </a:rPr>
              <a:t> </a:t>
            </a:r>
            <a:r>
              <a:rPr sz="3600" spc="-20" dirty="0">
                <a:solidFill>
                  <a:srgbClr val="FF0000"/>
                </a:solidFill>
                <a:latin typeface="+mj-lt"/>
              </a:rPr>
              <a:t>Logic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603649" y="6642068"/>
            <a:ext cx="424063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r>
              <a:rPr sz="1189" kern="0" spc="-20" dirty="0">
                <a:solidFill>
                  <a:srgbClr val="7A0000"/>
                </a:solidFill>
                <a:latin typeface="Tahoma"/>
                <a:cs typeface="Tahoma"/>
              </a:rPr>
              <a:t>5</a:t>
            </a:r>
            <a:r>
              <a:rPr sz="1189" kern="0" spc="-168" dirty="0">
                <a:solidFill>
                  <a:srgbClr val="7A0000"/>
                </a:solidFill>
                <a:latin typeface="Tahoma"/>
                <a:cs typeface="Tahoma"/>
              </a:rPr>
              <a:t> </a:t>
            </a:r>
            <a:r>
              <a:rPr sz="1189" kern="0" spc="178" dirty="0">
                <a:solidFill>
                  <a:srgbClr val="7A0000"/>
                </a:solidFill>
                <a:latin typeface="Tahoma"/>
                <a:cs typeface="Tahoma"/>
              </a:rPr>
              <a:t>/</a:t>
            </a:r>
            <a:r>
              <a:rPr sz="1189" kern="0" spc="-168" dirty="0">
                <a:solidFill>
                  <a:srgbClr val="7A0000"/>
                </a:solidFill>
                <a:latin typeface="Tahoma"/>
                <a:cs typeface="Tahoma"/>
              </a:rPr>
              <a:t> </a:t>
            </a:r>
            <a:r>
              <a:rPr sz="1189" kern="0" spc="-50" dirty="0">
                <a:solidFill>
                  <a:srgbClr val="7A0000"/>
                </a:solidFill>
                <a:latin typeface="Tahoma"/>
                <a:cs typeface="Tahoma"/>
              </a:rPr>
              <a:t>10</a:t>
            </a:r>
            <a:endParaRPr sz="1189" kern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  <p:pic>
        <p:nvPicPr>
          <p:cNvPr id="17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42513"/>
            <a:ext cx="2971800" cy="1425391"/>
          </a:xfrm>
          <a:prstGeom prst="rect">
            <a:avLst/>
          </a:prstGeom>
          <a:ln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537113C-24BD-A9C8-FA28-FAFF3FF6E45F}"/>
                  </a:ext>
                </a:extLst>
              </p:cNvPr>
              <p:cNvSpPr txBox="1">
                <a:spLocks noGrp="1"/>
              </p:cNvSpPr>
              <p:nvPr>
                <p:ph type="body" idx="4294967295"/>
              </p:nvPr>
            </p:nvSpPr>
            <p:spPr>
              <a:xfrm>
                <a:off x="838200" y="1676400"/>
                <a:ext cx="7467600" cy="4154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In this session, we study a more powerful type of logic called </a:t>
                </a:r>
                <a:r>
                  <a:rPr lang="en-US" sz="2400" b="1" dirty="0">
                    <a:solidFill>
                      <a:srgbClr val="FF0000"/>
                    </a:solidFill>
                    <a:latin typeface="+mj-lt"/>
                    <a:cs typeface="Arial" panose="020B0604020202020204" pitchFamily="34" charset="0"/>
                  </a:rPr>
                  <a:t>predicate logic</a:t>
                </a:r>
                <a:r>
                  <a:rPr lang="en-US" sz="2400" b="1" dirty="0">
                    <a:latin typeface="+mj-lt"/>
                    <a:cs typeface="Arial" panose="020B0604020202020204" pitchFamily="34" charset="0"/>
                  </a:rPr>
                  <a:t>.</a:t>
                </a:r>
                <a:endParaRPr lang="en-US" sz="2400" b="0" i="0" u="none" strike="noStrike" baseline="0" dirty="0">
                  <a:latin typeface="+mj-lt"/>
                  <a:cs typeface="Arial" panose="020B0604020202020204" pitchFamily="34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solidFill>
                      <a:srgbClr val="FF0000"/>
                    </a:solidFill>
                    <a:latin typeface="+mj-lt"/>
                    <a:cs typeface="Arial" panose="020B0604020202020204" pitchFamily="34" charset="0"/>
                  </a:rPr>
                  <a:t>Predicate: </a:t>
                </a:r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A statement involving variables that becomes a proposition when values are assigned. Denoted as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𝑷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400" b="1" dirty="0">
                    <a:latin typeface="+mj-lt"/>
                    <a:cs typeface="Arial" panose="020B0604020202020204" pitchFamily="34" charset="0"/>
                  </a:rPr>
                  <a:t>, </a:t>
                </a:r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the value of the </a:t>
                </a:r>
                <a:r>
                  <a:rPr lang="en-US" sz="2400" b="1" dirty="0">
                    <a:solidFill>
                      <a:srgbClr val="FF0000"/>
                    </a:solidFill>
                    <a:latin typeface="+mj-lt"/>
                    <a:cs typeface="Arial" panose="020B0604020202020204" pitchFamily="34" charset="0"/>
                  </a:rPr>
                  <a:t>propositional function</a:t>
                </a:r>
                <a:r>
                  <a:rPr lang="en-US" sz="2400" b="1" dirty="0">
                    <a:latin typeface="+mj-lt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</m:oMath>
                </a14:m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 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solidFill>
                      <a:srgbClr val="FF0000"/>
                    </a:solidFill>
                    <a:latin typeface="+mj-lt"/>
                    <a:cs typeface="Arial" panose="020B0604020202020204" pitchFamily="34" charset="0"/>
                  </a:rPr>
                  <a:t>Example:</a:t>
                </a:r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 </a:t>
                </a:r>
                <a:r>
                  <a:rPr lang="en-US" sz="2400" i="1" dirty="0">
                    <a:latin typeface="+mj-lt"/>
                    <a:cs typeface="Arial" panose="020B0604020202020204" pitchFamily="34" charset="0"/>
                  </a:rPr>
                  <a:t>"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sz="2400" i="1" dirty="0">
                    <a:latin typeface="+mj-lt"/>
                    <a:cs typeface="Arial" panose="020B0604020202020204" pitchFamily="34" charset="0"/>
                  </a:rPr>
                  <a:t> is an even number" </a:t>
                </a:r>
              </a:p>
              <a:p>
                <a:pPr algn="just"/>
                <a:r>
                  <a:rPr lang="en-IN" sz="2400" dirty="0">
                    <a:latin typeface="+mj-lt"/>
                  </a:rPr>
                  <a:t>“</a:t>
                </a:r>
                <a14:m>
                  <m:oMath xmlns:m="http://schemas.openxmlformats.org/officeDocument/2006/math">
                    <m:r>
                      <a:rPr lang="en-I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+mj-lt"/>
                  </a:rPr>
                  <a:t>”—the </a:t>
                </a:r>
                <a:r>
                  <a:rPr lang="en-IN" sz="2400" dirty="0">
                    <a:latin typeface="+mj-lt"/>
                  </a:rPr>
                  <a:t>subject of the statement</a:t>
                </a:r>
              </a:p>
              <a:p>
                <a:pPr algn="just"/>
                <a:r>
                  <a:rPr lang="en-US" sz="2400" dirty="0">
                    <a:latin typeface="+mj-lt"/>
                  </a:rPr>
                  <a:t>“is an even number”—the </a:t>
                </a:r>
                <a:r>
                  <a:rPr lang="en-US" sz="2400" b="1" dirty="0">
                    <a:latin typeface="+mj-lt"/>
                  </a:rPr>
                  <a:t>predicate</a:t>
                </a:r>
                <a:r>
                  <a:rPr lang="en-US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:endParaRPr lang="en-I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537113C-24BD-A9C8-FA28-FAFF3FF6E45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838200" y="1676400"/>
                <a:ext cx="7467600" cy="4154984"/>
              </a:xfrm>
              <a:prstGeom prst="rect">
                <a:avLst/>
              </a:prstGeom>
              <a:blipFill>
                <a:blip r:embed="rId3"/>
                <a:stretch>
                  <a:fillRect l="-1143" t="-1173" r="-12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7046386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903AB-F106-8769-918F-6CE012D4C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F853E63B-5667-F1FD-737C-B6A1DF071333}"/>
              </a:ext>
            </a:extLst>
          </p:cNvPr>
          <p:cNvSpPr txBox="1"/>
          <p:nvPr/>
        </p:nvSpPr>
        <p:spPr>
          <a:xfrm>
            <a:off x="8603649" y="6642068"/>
            <a:ext cx="424063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r>
              <a:rPr sz="1189" kern="0" spc="-20" dirty="0">
                <a:solidFill>
                  <a:srgbClr val="7A0000"/>
                </a:solidFill>
                <a:latin typeface="Tahoma"/>
                <a:cs typeface="Tahoma"/>
              </a:rPr>
              <a:t>5</a:t>
            </a:r>
            <a:r>
              <a:rPr sz="1189" kern="0" spc="-168" dirty="0">
                <a:solidFill>
                  <a:srgbClr val="7A0000"/>
                </a:solidFill>
                <a:latin typeface="Tahoma"/>
                <a:cs typeface="Tahoma"/>
              </a:rPr>
              <a:t> </a:t>
            </a:r>
            <a:r>
              <a:rPr sz="1189" kern="0" spc="178" dirty="0">
                <a:solidFill>
                  <a:srgbClr val="7A0000"/>
                </a:solidFill>
                <a:latin typeface="Tahoma"/>
                <a:cs typeface="Tahoma"/>
              </a:rPr>
              <a:t>/</a:t>
            </a:r>
            <a:r>
              <a:rPr sz="1189" kern="0" spc="-168" dirty="0">
                <a:solidFill>
                  <a:srgbClr val="7A0000"/>
                </a:solidFill>
                <a:latin typeface="Tahoma"/>
                <a:cs typeface="Tahoma"/>
              </a:rPr>
              <a:t> </a:t>
            </a:r>
            <a:r>
              <a:rPr sz="1189" kern="0" spc="-50" dirty="0">
                <a:solidFill>
                  <a:srgbClr val="7A0000"/>
                </a:solidFill>
                <a:latin typeface="Tahoma"/>
                <a:cs typeface="Tahoma"/>
              </a:rPr>
              <a:t>10</a:t>
            </a:r>
            <a:endParaRPr sz="1189" kern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  <p:pic>
        <p:nvPicPr>
          <p:cNvPr id="17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F6B92010-DC7A-1CBB-80AD-A93BEBE47552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42513"/>
            <a:ext cx="2971800" cy="1425391"/>
          </a:xfrm>
          <a:prstGeom prst="rect">
            <a:avLst/>
          </a:prstGeom>
          <a:ln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2CF10F6-AB90-DFB9-9288-8E64AB8A5829}"/>
                  </a:ext>
                </a:extLst>
              </p:cNvPr>
              <p:cNvSpPr txBox="1">
                <a:spLocks noGrp="1"/>
              </p:cNvSpPr>
              <p:nvPr>
                <p:ph type="body" idx="4294967295"/>
              </p:nvPr>
            </p:nvSpPr>
            <p:spPr>
              <a:xfrm>
                <a:off x="533400" y="1676400"/>
                <a:ext cx="7467600" cy="43765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just">
                  <a:buNone/>
                </a:pPr>
                <a:r>
                  <a:rPr lang="en-IN" sz="2400" b="1" dirty="0">
                    <a:solidFill>
                      <a:srgbClr val="FF0000"/>
                    </a:solidFill>
                    <a:latin typeface="Georgia" panose="02040502050405020303" pitchFamily="18" charset="0"/>
                  </a:rPr>
                  <a:t>Example: </a:t>
                </a:r>
                <a:r>
                  <a:rPr lang="en-US" sz="2400" dirty="0"/>
                  <a:t>Determine whether the predicate is true or false for the given values.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&gt; 3</m:t>
                    </m:r>
                    <m:r>
                      <a:rPr lang="en-US" sz="2400" dirty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Times-Roman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400" dirty="0">
                    <a:latin typeface="Times-Roman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4.</m:t>
                    </m:r>
                  </m:oMath>
                </a14:m>
                <a:endParaRPr lang="en-US" sz="2400" dirty="0">
                  <a:latin typeface="Times-Roman"/>
                </a:endParaRPr>
              </a:p>
              <a:p>
                <a:pPr marL="0" indent="0" algn="just">
                  <a:buNone/>
                </a:pPr>
                <a:r>
                  <a:rPr lang="en-US" sz="2400" dirty="0">
                    <a:latin typeface="Times-Roman"/>
                  </a:rPr>
                  <a:t>What are the truth values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(4)</m:t>
                    </m:r>
                  </m:oMath>
                </a14:m>
                <a:r>
                  <a:rPr lang="en-US" sz="2400" i="1" dirty="0">
                    <a:latin typeface="MTMI"/>
                  </a:rPr>
                  <a:t> </a:t>
                </a:r>
                <a:r>
                  <a:rPr lang="en-US" sz="2400" dirty="0">
                    <a:latin typeface="Times-Roman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(2)</m:t>
                    </m:r>
                  </m:oMath>
                </a14:m>
                <a:r>
                  <a:rPr lang="en-US" sz="2400" dirty="0">
                    <a:latin typeface="Times-Roman"/>
                  </a:rPr>
                  <a:t>?</a:t>
                </a:r>
              </a:p>
              <a:p>
                <a:pPr marL="0" indent="0" algn="just">
                  <a:buNone/>
                </a:pPr>
                <a:r>
                  <a:rPr lang="en-US" sz="2400" dirty="0">
                    <a:latin typeface="Times-Roman"/>
                  </a:rPr>
                  <a:t>Solution:</a:t>
                </a:r>
              </a:p>
              <a:p>
                <a:pPr marL="0" indent="0" algn="just">
                  <a:buNone/>
                </a:pPr>
                <a:endParaRPr lang="en-US" sz="2400" dirty="0">
                  <a:latin typeface="Times-Roman"/>
                </a:endParaRPr>
              </a:p>
              <a:p>
                <a:pPr marL="0" indent="0" algn="just">
                  <a:buNone/>
                </a:pPr>
                <a:endParaRPr lang="en-US" sz="2400" dirty="0">
                  <a:latin typeface="Times-Roman"/>
                </a:endParaRPr>
              </a:p>
              <a:p>
                <a:pPr marL="0" indent="0" algn="just">
                  <a:buNone/>
                </a:pPr>
                <a:endParaRPr lang="en-US" sz="2400" dirty="0">
                  <a:latin typeface="Times-Roman"/>
                </a:endParaRPr>
              </a:p>
              <a:p>
                <a:pPr marL="0" indent="0" algn="just">
                  <a:buNone/>
                </a:pPr>
                <a:endParaRPr lang="en-US" sz="2400" dirty="0">
                  <a:latin typeface="Times-Roman"/>
                </a:endParaRPr>
              </a:p>
              <a:p>
                <a:pPr marL="0" indent="0" algn="just">
                  <a:buNone/>
                </a:pPr>
                <a:endParaRPr lang="en-I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2CF10F6-AB90-DFB9-9288-8E64AB8A5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533400" y="1676400"/>
                <a:ext cx="7467600" cy="4376583"/>
              </a:xfrm>
              <a:prstGeom prst="rect">
                <a:avLst/>
              </a:prstGeom>
              <a:blipFill>
                <a:blip r:embed="rId3"/>
                <a:stretch>
                  <a:fillRect l="-1306" t="-1253" r="-12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B386F7E-F74B-5F60-11C1-E3FD7FBDA1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860736"/>
            <a:ext cx="3505200" cy="1549464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6F94BE76-960B-2043-7CDA-19A7C5369A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60132" y="228600"/>
            <a:ext cx="4869468" cy="1142302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IN" sz="3600" spc="-50" dirty="0">
                <a:solidFill>
                  <a:srgbClr val="FF0000"/>
                </a:solidFill>
                <a:latin typeface="+mj-lt"/>
              </a:rPr>
              <a:t>Predicate and </a:t>
            </a:r>
            <a:r>
              <a:rPr sz="3600" spc="-50" dirty="0">
                <a:solidFill>
                  <a:srgbClr val="FF0000"/>
                </a:solidFill>
                <a:latin typeface="+mj-lt"/>
              </a:rPr>
              <a:t>Quantifiers</a:t>
            </a:r>
            <a:r>
              <a:rPr sz="3600" spc="-59" dirty="0">
                <a:solidFill>
                  <a:srgbClr val="FF0000"/>
                </a:solidFill>
                <a:latin typeface="+mj-lt"/>
              </a:rPr>
              <a:t> </a:t>
            </a:r>
            <a:r>
              <a:rPr sz="3600" dirty="0">
                <a:solidFill>
                  <a:srgbClr val="FF0000"/>
                </a:solidFill>
                <a:latin typeface="+mj-lt"/>
              </a:rPr>
              <a:t>in</a:t>
            </a:r>
            <a:r>
              <a:rPr sz="3600" spc="-50" dirty="0">
                <a:solidFill>
                  <a:srgbClr val="FF0000"/>
                </a:solidFill>
                <a:latin typeface="+mj-lt"/>
              </a:rPr>
              <a:t> </a:t>
            </a:r>
            <a:r>
              <a:rPr sz="3600" spc="-20" dirty="0">
                <a:solidFill>
                  <a:srgbClr val="FF0000"/>
                </a:solidFill>
                <a:latin typeface="+mj-lt"/>
              </a:rPr>
              <a:t>Logic</a:t>
            </a:r>
          </a:p>
        </p:txBody>
      </p:sp>
    </p:spTree>
    <p:extLst>
      <p:ext uri="{BB962C8B-B14F-4D97-AF65-F5344CB8AC3E}">
        <p14:creationId xmlns:p14="http://schemas.microsoft.com/office/powerpoint/2010/main" val="1172226471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4CC48-2195-9776-8C5F-E16685712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3A40BB29-B253-635E-BE29-B851DD9A05A3}"/>
              </a:ext>
            </a:extLst>
          </p:cNvPr>
          <p:cNvSpPr txBox="1"/>
          <p:nvPr/>
        </p:nvSpPr>
        <p:spPr>
          <a:xfrm>
            <a:off x="8603649" y="6642068"/>
            <a:ext cx="424063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r>
              <a:rPr sz="1189" kern="0" spc="-20" dirty="0">
                <a:solidFill>
                  <a:srgbClr val="7A0000"/>
                </a:solidFill>
                <a:latin typeface="Tahoma"/>
                <a:cs typeface="Tahoma"/>
              </a:rPr>
              <a:t>5</a:t>
            </a:r>
            <a:r>
              <a:rPr sz="1189" kern="0" spc="-168" dirty="0">
                <a:solidFill>
                  <a:srgbClr val="7A0000"/>
                </a:solidFill>
                <a:latin typeface="Tahoma"/>
                <a:cs typeface="Tahoma"/>
              </a:rPr>
              <a:t> </a:t>
            </a:r>
            <a:r>
              <a:rPr sz="1189" kern="0" spc="178" dirty="0">
                <a:solidFill>
                  <a:srgbClr val="7A0000"/>
                </a:solidFill>
                <a:latin typeface="Tahoma"/>
                <a:cs typeface="Tahoma"/>
              </a:rPr>
              <a:t>/</a:t>
            </a:r>
            <a:r>
              <a:rPr sz="1189" kern="0" spc="-168" dirty="0">
                <a:solidFill>
                  <a:srgbClr val="7A0000"/>
                </a:solidFill>
                <a:latin typeface="Tahoma"/>
                <a:cs typeface="Tahoma"/>
              </a:rPr>
              <a:t> </a:t>
            </a:r>
            <a:r>
              <a:rPr sz="1189" kern="0" spc="-50" dirty="0">
                <a:solidFill>
                  <a:srgbClr val="7A0000"/>
                </a:solidFill>
                <a:latin typeface="Tahoma"/>
                <a:cs typeface="Tahoma"/>
              </a:rPr>
              <a:t>10</a:t>
            </a:r>
            <a:endParaRPr sz="1189" kern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  <p:pic>
        <p:nvPicPr>
          <p:cNvPr id="17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3E91EA35-A91E-92C0-4B40-D9B3833C2D28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42513"/>
            <a:ext cx="2971800" cy="1425391"/>
          </a:xfrm>
          <a:prstGeom prst="rect">
            <a:avLst/>
          </a:prstGeom>
          <a:ln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8AC9411-6E46-69B1-168C-074EDA27A9BF}"/>
                  </a:ext>
                </a:extLst>
              </p:cNvPr>
              <p:cNvSpPr txBox="1">
                <a:spLocks noGrp="1"/>
              </p:cNvSpPr>
              <p:nvPr>
                <p:ph type="body" idx="4294967295"/>
              </p:nvPr>
            </p:nvSpPr>
            <p:spPr>
              <a:xfrm>
                <a:off x="533399" y="1676400"/>
                <a:ext cx="8070249" cy="43765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400" b="1" dirty="0">
                    <a:solidFill>
                      <a:srgbClr val="FF0000"/>
                    </a:solidFill>
                    <a:latin typeface="+mj-lt"/>
                  </a:rPr>
                  <a:t>Quantifiers:</a:t>
                </a:r>
                <a:r>
                  <a:rPr lang="en-US" sz="2400" dirty="0">
                    <a:latin typeface="+mj-lt"/>
                  </a:rPr>
                  <a:t> Used to express generality or existence in logical statements. </a:t>
                </a:r>
              </a:p>
              <a:p>
                <a:pPr algn="just"/>
                <a:r>
                  <a:rPr lang="en-US" sz="2400" b="1" dirty="0">
                    <a:solidFill>
                      <a:srgbClr val="FF0000"/>
                    </a:solidFill>
                    <a:latin typeface="+mj-lt"/>
                  </a:rPr>
                  <a:t>Universal Quantifier (</a:t>
                </a:r>
                <a14:m>
                  <m:oMath xmlns:m="http://schemas.openxmlformats.org/officeDocument/2006/math">
                    <m:r>
                      <a:rPr lang="en-IN" sz="24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  <a:latin typeface="+mj-lt"/>
                  </a:rPr>
                  <a:t>): </a:t>
                </a:r>
              </a:p>
              <a:p>
                <a:pPr marL="0" indent="0" algn="just">
                  <a:buNone/>
                </a:pPr>
                <a:r>
                  <a:rPr lang="en-US" sz="2400" b="1" dirty="0">
                    <a:solidFill>
                      <a:srgbClr val="FF0000"/>
                    </a:solidFill>
                    <a:latin typeface="+mj-lt"/>
                  </a:rPr>
                  <a:t>      </a:t>
                </a:r>
                <a:r>
                  <a:rPr lang="en-US" sz="2400" dirty="0">
                    <a:latin typeface="+mj-lt"/>
                  </a:rPr>
                  <a:t>For all x, P(x) or For every x, P(x)</a:t>
                </a:r>
              </a:p>
              <a:p>
                <a:pPr marL="0" indent="0" algn="just">
                  <a:buNone/>
                </a:pPr>
                <a:r>
                  <a:rPr lang="en-US" sz="2400" dirty="0">
                    <a:latin typeface="+mj-lt"/>
                  </a:rPr>
                  <a:t>      Denoted by </a:t>
                </a:r>
                <a14:m>
                  <m:oMath xmlns:m="http://schemas.openxmlformats.org/officeDocument/2006/math">
                    <m:r>
                      <a:rPr lang="en-IN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IN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IN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latin typeface="+mj-lt"/>
                </a:endParaRPr>
              </a:p>
              <a:p>
                <a:pPr algn="just"/>
                <a:r>
                  <a:rPr lang="en-US" sz="2400" b="1" dirty="0">
                    <a:solidFill>
                      <a:srgbClr val="FF0000"/>
                    </a:solidFill>
                    <a:latin typeface="+mj-lt"/>
                  </a:rPr>
                  <a:t>Existential Quantifier (</a:t>
                </a:r>
                <a:r>
                  <a:rPr lang="en-IN" sz="2400" b="1" dirty="0">
                    <a:solidFill>
                      <a:srgbClr val="FF0000"/>
                    </a:solidFill>
                    <a:latin typeface="+mj-lt"/>
                  </a:rPr>
                  <a:t>∃</a:t>
                </a:r>
                <a:r>
                  <a:rPr lang="en-US" sz="2400" b="1" dirty="0">
                    <a:solidFill>
                      <a:srgbClr val="FF0000"/>
                    </a:solidFill>
                    <a:latin typeface="+mj-lt"/>
                  </a:rPr>
                  <a:t>):	</a:t>
                </a:r>
              </a:p>
              <a:p>
                <a:pPr marL="0" indent="0" algn="just">
                  <a:buNone/>
                </a:pPr>
                <a:r>
                  <a:rPr lang="en-US" sz="2400" b="1" dirty="0">
                    <a:solidFill>
                      <a:srgbClr val="FF0000"/>
                    </a:solidFill>
                    <a:latin typeface="+mj-lt"/>
                  </a:rPr>
                  <a:t>      </a:t>
                </a:r>
                <a:r>
                  <a:rPr lang="en-US" sz="2400" dirty="0">
                    <a:latin typeface="+mj-lt"/>
                  </a:rPr>
                  <a:t>There exists an x such that P(x) </a:t>
                </a:r>
              </a:p>
              <a:p>
                <a:pPr marL="0" indent="0" algn="just">
                  <a:buNone/>
                </a:pPr>
                <a:r>
                  <a:rPr lang="en-US" sz="2400" dirty="0">
                    <a:latin typeface="+mj-lt"/>
                  </a:rPr>
                  <a:t>      or There is at least one x such that P(x),		</a:t>
                </a:r>
              </a:p>
              <a:p>
                <a:pPr marL="0" indent="0" algn="just">
                  <a:buNone/>
                </a:pPr>
                <a:r>
                  <a:rPr lang="en-US" sz="2400" dirty="0">
                    <a:latin typeface="+mj-lt"/>
                  </a:rPr>
                  <a:t>      or </a:t>
                </a:r>
                <a:r>
                  <a:rPr lang="en-IN" sz="2400" dirty="0">
                    <a:latin typeface="+mj-lt"/>
                  </a:rPr>
                  <a:t>For some x, P(x)				   	</a:t>
                </a:r>
              </a:p>
              <a:p>
                <a:pPr marL="0" indent="0" algn="just">
                  <a:buNone/>
                </a:pPr>
                <a:r>
                  <a:rPr lang="en-IN" sz="2400" dirty="0">
                    <a:latin typeface="+mj-lt"/>
                  </a:rPr>
                  <a:t>      </a:t>
                </a:r>
                <a:r>
                  <a:rPr lang="en-US" sz="2400" dirty="0">
                    <a:latin typeface="+mj-lt"/>
                  </a:rPr>
                  <a:t>Denoted by</a:t>
                </a:r>
                <a:r>
                  <a:rPr lang="en-US" sz="2400" b="1" i="1" dirty="0">
                    <a:latin typeface="+mj-lt"/>
                  </a:rPr>
                  <a:t>  </a:t>
                </a:r>
                <a14:m>
                  <m:oMath xmlns:m="http://schemas.openxmlformats.org/officeDocument/2006/math">
                    <m:r>
                      <a:rPr lang="en-IN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IN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IN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IN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IN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8AC9411-6E46-69B1-168C-074EDA27A9B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533399" y="1676400"/>
                <a:ext cx="8070249" cy="4376583"/>
              </a:xfrm>
              <a:prstGeom prst="rect">
                <a:avLst/>
              </a:prstGeom>
              <a:blipFill>
                <a:blip r:embed="rId3"/>
                <a:stretch>
                  <a:fillRect l="-982" t="-1114" r="-1208" b="-22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bject 3">
            <a:extLst>
              <a:ext uri="{FF2B5EF4-FFF2-40B4-BE49-F238E27FC236}">
                <a16:creationId xmlns:a16="http://schemas.microsoft.com/office/drawing/2014/main" id="{BA188B8B-1EFC-A674-EF8E-2A9FEF250B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60132" y="228600"/>
            <a:ext cx="4869468" cy="1142302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IN" sz="3600" spc="-50" dirty="0">
                <a:solidFill>
                  <a:srgbClr val="FF0000"/>
                </a:solidFill>
                <a:latin typeface="+mj-lt"/>
              </a:rPr>
              <a:t>Predicate and </a:t>
            </a:r>
            <a:r>
              <a:rPr sz="3600" spc="-50" dirty="0">
                <a:solidFill>
                  <a:srgbClr val="FF0000"/>
                </a:solidFill>
                <a:latin typeface="+mj-lt"/>
              </a:rPr>
              <a:t>Quantifiers</a:t>
            </a:r>
            <a:r>
              <a:rPr sz="3600" spc="-59" dirty="0">
                <a:solidFill>
                  <a:srgbClr val="FF0000"/>
                </a:solidFill>
                <a:latin typeface="+mj-lt"/>
              </a:rPr>
              <a:t> </a:t>
            </a:r>
            <a:r>
              <a:rPr sz="3600" dirty="0">
                <a:solidFill>
                  <a:srgbClr val="FF0000"/>
                </a:solidFill>
                <a:latin typeface="+mj-lt"/>
              </a:rPr>
              <a:t>in</a:t>
            </a:r>
            <a:r>
              <a:rPr sz="3600" spc="-50" dirty="0">
                <a:solidFill>
                  <a:srgbClr val="FF0000"/>
                </a:solidFill>
                <a:latin typeface="+mj-lt"/>
              </a:rPr>
              <a:t> </a:t>
            </a:r>
            <a:r>
              <a:rPr sz="3600" spc="-20" dirty="0">
                <a:solidFill>
                  <a:srgbClr val="FF0000"/>
                </a:solidFill>
                <a:latin typeface="+mj-lt"/>
              </a:rPr>
              <a:t>Logic</a:t>
            </a:r>
          </a:p>
        </p:txBody>
      </p:sp>
    </p:spTree>
    <p:extLst>
      <p:ext uri="{BB962C8B-B14F-4D97-AF65-F5344CB8AC3E}">
        <p14:creationId xmlns:p14="http://schemas.microsoft.com/office/powerpoint/2010/main" val="2349531866"/>
      </p:ext>
    </p:extLst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62BD7-FBC2-13CC-8BE2-71A81D90C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344C1BD8-33DF-B4A8-24A4-4B2D2D94C100}"/>
              </a:ext>
            </a:extLst>
          </p:cNvPr>
          <p:cNvSpPr txBox="1"/>
          <p:nvPr/>
        </p:nvSpPr>
        <p:spPr>
          <a:xfrm>
            <a:off x="8603649" y="6642068"/>
            <a:ext cx="424063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r>
              <a:rPr sz="1189" kern="0" spc="-20" dirty="0">
                <a:solidFill>
                  <a:srgbClr val="7A0000"/>
                </a:solidFill>
                <a:latin typeface="Tahoma"/>
                <a:cs typeface="Tahoma"/>
              </a:rPr>
              <a:t>5</a:t>
            </a:r>
            <a:r>
              <a:rPr sz="1189" kern="0" spc="-168" dirty="0">
                <a:solidFill>
                  <a:srgbClr val="7A0000"/>
                </a:solidFill>
                <a:latin typeface="Tahoma"/>
                <a:cs typeface="Tahoma"/>
              </a:rPr>
              <a:t> </a:t>
            </a:r>
            <a:r>
              <a:rPr sz="1189" kern="0" spc="178" dirty="0">
                <a:solidFill>
                  <a:srgbClr val="7A0000"/>
                </a:solidFill>
                <a:latin typeface="Tahoma"/>
                <a:cs typeface="Tahoma"/>
              </a:rPr>
              <a:t>/</a:t>
            </a:r>
            <a:r>
              <a:rPr sz="1189" kern="0" spc="-168" dirty="0">
                <a:solidFill>
                  <a:srgbClr val="7A0000"/>
                </a:solidFill>
                <a:latin typeface="Tahoma"/>
                <a:cs typeface="Tahoma"/>
              </a:rPr>
              <a:t> </a:t>
            </a:r>
            <a:r>
              <a:rPr sz="1189" kern="0" spc="-50" dirty="0">
                <a:solidFill>
                  <a:srgbClr val="7A0000"/>
                </a:solidFill>
                <a:latin typeface="Tahoma"/>
                <a:cs typeface="Tahoma"/>
              </a:rPr>
              <a:t>10</a:t>
            </a:r>
            <a:endParaRPr sz="1189" kern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  <p:pic>
        <p:nvPicPr>
          <p:cNvPr id="17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6AC7A637-46F0-914F-75FE-7E1F0A9FE21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42513"/>
            <a:ext cx="2971800" cy="1425391"/>
          </a:xfrm>
          <a:prstGeom prst="rect">
            <a:avLst/>
          </a:prstGeom>
          <a:ln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6C6982-E722-FAD9-1A9E-25C30022CF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068125"/>
            <a:ext cx="7994049" cy="2503875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23A9F7FA-6A66-1A18-D17B-5B344DC2BD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60132" y="228600"/>
            <a:ext cx="4869468" cy="1142302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IN" sz="3600" spc="-50" dirty="0">
                <a:solidFill>
                  <a:srgbClr val="FF0000"/>
                </a:solidFill>
                <a:latin typeface="+mj-lt"/>
              </a:rPr>
              <a:t>Predicate and </a:t>
            </a:r>
            <a:r>
              <a:rPr sz="3600" spc="-50" dirty="0">
                <a:solidFill>
                  <a:srgbClr val="FF0000"/>
                </a:solidFill>
                <a:latin typeface="+mj-lt"/>
              </a:rPr>
              <a:t>Quantifiers</a:t>
            </a:r>
            <a:r>
              <a:rPr sz="3600" spc="-59" dirty="0">
                <a:solidFill>
                  <a:srgbClr val="FF0000"/>
                </a:solidFill>
                <a:latin typeface="+mj-lt"/>
              </a:rPr>
              <a:t> </a:t>
            </a:r>
            <a:r>
              <a:rPr sz="3600" dirty="0">
                <a:solidFill>
                  <a:srgbClr val="FF0000"/>
                </a:solidFill>
                <a:latin typeface="+mj-lt"/>
              </a:rPr>
              <a:t>in</a:t>
            </a:r>
            <a:r>
              <a:rPr sz="3600" spc="-50" dirty="0">
                <a:solidFill>
                  <a:srgbClr val="FF0000"/>
                </a:solidFill>
                <a:latin typeface="+mj-lt"/>
              </a:rPr>
              <a:t> </a:t>
            </a:r>
            <a:r>
              <a:rPr sz="3600" spc="-20" dirty="0">
                <a:solidFill>
                  <a:srgbClr val="FF0000"/>
                </a:solidFill>
                <a:latin typeface="+mj-lt"/>
              </a:rPr>
              <a:t>Logic</a:t>
            </a:r>
          </a:p>
        </p:txBody>
      </p:sp>
    </p:spTree>
    <p:extLst>
      <p:ext uri="{BB962C8B-B14F-4D97-AF65-F5344CB8AC3E}">
        <p14:creationId xmlns:p14="http://schemas.microsoft.com/office/powerpoint/2010/main" val="1394712533"/>
      </p:ext>
    </p:extLst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C0BF8-8288-E894-AAD3-5A1234208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2410744-7329-C5D7-09A0-4CA86182AB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60132" y="228600"/>
            <a:ext cx="4488468" cy="58830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IN" sz="3600" spc="-50" dirty="0">
                <a:solidFill>
                  <a:srgbClr val="FF0000"/>
                </a:solidFill>
                <a:latin typeface="+mj-lt"/>
              </a:rPr>
              <a:t>Learning Activity-2</a:t>
            </a:r>
            <a:endParaRPr sz="3600" spc="-2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35E7CB26-2E58-4A31-1C18-55E9940252AD}"/>
              </a:ext>
            </a:extLst>
          </p:cNvPr>
          <p:cNvSpPr txBox="1"/>
          <p:nvPr/>
        </p:nvSpPr>
        <p:spPr>
          <a:xfrm>
            <a:off x="8603649" y="6642068"/>
            <a:ext cx="424063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r>
              <a:rPr sz="1189" kern="0" spc="-20" dirty="0">
                <a:solidFill>
                  <a:srgbClr val="7A0000"/>
                </a:solidFill>
                <a:latin typeface="Tahoma"/>
                <a:cs typeface="Tahoma"/>
              </a:rPr>
              <a:t>5</a:t>
            </a:r>
            <a:r>
              <a:rPr sz="1189" kern="0" spc="-168" dirty="0">
                <a:solidFill>
                  <a:srgbClr val="7A0000"/>
                </a:solidFill>
                <a:latin typeface="Tahoma"/>
                <a:cs typeface="Tahoma"/>
              </a:rPr>
              <a:t> </a:t>
            </a:r>
            <a:r>
              <a:rPr sz="1189" kern="0" spc="178" dirty="0">
                <a:solidFill>
                  <a:srgbClr val="7A0000"/>
                </a:solidFill>
                <a:latin typeface="Tahoma"/>
                <a:cs typeface="Tahoma"/>
              </a:rPr>
              <a:t>/</a:t>
            </a:r>
            <a:r>
              <a:rPr sz="1189" kern="0" spc="-168" dirty="0">
                <a:solidFill>
                  <a:srgbClr val="7A0000"/>
                </a:solidFill>
                <a:latin typeface="Tahoma"/>
                <a:cs typeface="Tahoma"/>
              </a:rPr>
              <a:t> </a:t>
            </a:r>
            <a:r>
              <a:rPr sz="1189" kern="0" spc="-50" dirty="0">
                <a:solidFill>
                  <a:srgbClr val="7A0000"/>
                </a:solidFill>
                <a:latin typeface="Tahoma"/>
                <a:cs typeface="Tahoma"/>
              </a:rPr>
              <a:t>10</a:t>
            </a:r>
            <a:endParaRPr sz="1189" kern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  <p:pic>
        <p:nvPicPr>
          <p:cNvPr id="17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91692BC8-881A-CE80-4ED7-1BE64C17027A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42513"/>
            <a:ext cx="2971800" cy="1425391"/>
          </a:xfrm>
          <a:prstGeom prst="rect">
            <a:avLst/>
          </a:prstGeom>
          <a:ln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45CCAA-DE23-9CAC-72F2-6C4C054CB221}"/>
              </a:ext>
            </a:extLst>
          </p:cNvPr>
          <p:cNvSpPr txBox="1"/>
          <p:nvPr/>
        </p:nvSpPr>
        <p:spPr>
          <a:xfrm>
            <a:off x="685800" y="2162920"/>
            <a:ext cx="76962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IN" sz="2400" dirty="0">
                <a:latin typeface="+mj-lt"/>
                <a:cs typeface="Arial" panose="020B0604020202020204" pitchFamily="34" charset="0"/>
              </a:rPr>
              <a:t>Let 𝑃(𝑥) be the statement “𝑥 + 1 &gt; 𝑥”. What is the truth value of the quantification ∀𝑥𝑃(𝑥), where the domain consists of all real numbers?</a:t>
            </a:r>
          </a:p>
          <a:p>
            <a:pPr marL="457200" indent="-457200" algn="just">
              <a:buFont typeface="+mj-lt"/>
              <a:buAutoNum type="arabicPeriod"/>
            </a:pPr>
            <a:endParaRPr lang="en-IN" sz="2400" dirty="0">
              <a:latin typeface="+mj-lt"/>
              <a:cs typeface="Arial" panose="020B060402020202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+mj-lt"/>
                <a:cs typeface="Arial" panose="020B0604020202020204" pitchFamily="34" charset="0"/>
              </a:rPr>
              <a:t>Let 𝑄(𝑥) denote the statement “𝑥 = 𝑥 + 1”. What is the truth value of the quantification ∃𝑥𝑄(𝑥), where the domain consists of all real numbers?</a:t>
            </a:r>
            <a:endParaRPr lang="en-IN" sz="2400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716689"/>
      </p:ext>
    </p:extLst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80740-E796-9314-DA84-BDEFF7310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4E858C6-1A6F-72D5-43AB-955168B146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81400" y="304800"/>
            <a:ext cx="4419600" cy="71141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spc="-69" dirty="0">
                <a:solidFill>
                  <a:srgbClr val="FF0000"/>
                </a:solidFill>
                <a:latin typeface="+mj-lt"/>
              </a:rPr>
              <a:t>Conclusion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72149860-0B8D-0011-8D03-B86A77BFB551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20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8FC3131-36E1-1909-EA4D-0C67969A3173}"/>
              </a:ext>
            </a:extLst>
          </p:cNvPr>
          <p:cNvSpPr txBox="1"/>
          <p:nvPr/>
        </p:nvSpPr>
        <p:spPr>
          <a:xfrm>
            <a:off x="802666" y="2548705"/>
            <a:ext cx="7332397" cy="2454262"/>
          </a:xfrm>
          <a:prstGeom prst="rect">
            <a:avLst/>
          </a:prstGeom>
        </p:spPr>
        <p:txBody>
          <a:bodyPr vert="horz" wrap="square" lIns="0" tIns="109474" rIns="0" bIns="0" rtlCol="0">
            <a:spAutoFit/>
          </a:bodyPr>
          <a:lstStyle/>
          <a:p>
            <a:pPr marL="368068" indent="-342900" defTabSz="1812066">
              <a:lnSpc>
                <a:spcPct val="150000"/>
              </a:lnSpc>
              <a:spcBef>
                <a:spcPts val="860"/>
              </a:spcBef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ysClr val="windowText" lastClr="000000"/>
                </a:solidFill>
                <a:latin typeface="+mj-lt"/>
                <a:cs typeface="Tahoma"/>
              </a:rPr>
              <a:t>Logical equivalence has been discussed. </a:t>
            </a:r>
          </a:p>
          <a:p>
            <a:pPr marL="368068" indent="-342900" defTabSz="1812066">
              <a:lnSpc>
                <a:spcPct val="150000"/>
              </a:lnSpc>
              <a:spcBef>
                <a:spcPts val="860"/>
              </a:spcBef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ysClr val="windowText" lastClr="000000"/>
                </a:solidFill>
                <a:latin typeface="+mj-lt"/>
                <a:cs typeface="Tahoma"/>
              </a:rPr>
              <a:t>Predicate and Quantifiers in logic has been presented. </a:t>
            </a:r>
          </a:p>
          <a:p>
            <a:pPr marL="368068" indent="-342900" defTabSz="1812066">
              <a:lnSpc>
                <a:spcPct val="150000"/>
              </a:lnSpc>
              <a:spcBef>
                <a:spcPts val="860"/>
              </a:spcBef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ysClr val="windowText" lastClr="000000"/>
                </a:solidFill>
                <a:latin typeface="+mj-lt"/>
                <a:cs typeface="Tahoma"/>
              </a:rPr>
              <a:t>Related applications and problems are discussed. </a:t>
            </a:r>
          </a:p>
          <a:p>
            <a:pPr marL="368068" indent="-342900" defTabSz="1812066">
              <a:spcBef>
                <a:spcPts val="860"/>
              </a:spcBef>
              <a:buFont typeface="Arial" panose="020B0604020202020204" pitchFamily="34" charset="0"/>
              <a:buChar char="•"/>
            </a:pPr>
            <a:endParaRPr sz="2180" kern="0" dirty="0">
              <a:solidFill>
                <a:sysClr val="windowText" lastClr="000000"/>
              </a:solidFill>
              <a:latin typeface="+mj-lt"/>
              <a:cs typeface="Tahoma"/>
            </a:endParaRPr>
          </a:p>
        </p:txBody>
      </p:sp>
      <p:pic>
        <p:nvPicPr>
          <p:cNvPr id="14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65B9D715-014E-D508-F395-0693D151CA0B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61438776-3DBB-583A-B897-56E0F7B9D45E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42513"/>
            <a:ext cx="2971800" cy="142539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143550743"/>
      </p:ext>
    </p:extLst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24199" y="304800"/>
            <a:ext cx="5410331" cy="106680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Video Links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B403E28-F907-57DD-5046-9F8F7D0E6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931" y="761137"/>
            <a:ext cx="60960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  <a:hlinkClick r:id="rId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97530B-3F21-DBFA-7A79-54A7A98F0EB3}"/>
              </a:ext>
            </a:extLst>
          </p:cNvPr>
          <p:cNvSpPr txBox="1"/>
          <p:nvPr/>
        </p:nvSpPr>
        <p:spPr>
          <a:xfrm>
            <a:off x="1219331" y="1902083"/>
            <a:ext cx="579093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u="sng" dirty="0">
                <a:hlinkClick r:id="rId3"/>
              </a:rPr>
              <a:t>https://www.youtube.com/watch?v=sPQ3ptUMltA&amp;utm_source=chatgpt.com</a:t>
            </a:r>
            <a:r>
              <a:rPr lang="en-IN" dirty="0"/>
              <a:t> </a:t>
            </a:r>
          </a:p>
          <a:p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u="sng" dirty="0">
                <a:hlinkClick r:id="rId4"/>
              </a:rPr>
              <a:t>https://youtu.be/YYQfYBNlfZg?si=bzEHNN2yciHgzZjb</a:t>
            </a:r>
            <a:endParaRPr lang="en-IN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hlinkClick r:id="rId5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3047369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>
            <a:spLocks noGrp="1"/>
          </p:cNvSpPr>
          <p:nvPr>
            <p:ph type="ctrTitle"/>
          </p:nvPr>
        </p:nvSpPr>
        <p:spPr>
          <a:xfrm>
            <a:off x="3124200" y="381001"/>
            <a:ext cx="5334000" cy="838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dirty="0">
                <a:solidFill>
                  <a:srgbClr val="FF0000"/>
                </a:solidFill>
              </a:rPr>
              <a:t>References</a:t>
            </a:r>
            <a:endParaRPr dirty="0">
              <a:solidFill>
                <a:srgbClr val="FF0000"/>
              </a:solidFill>
            </a:endParaRPr>
          </a:p>
        </p:txBody>
      </p:sp>
      <p:graphicFrame>
        <p:nvGraphicFramePr>
          <p:cNvPr id="307" name="Google Shape;307;p11"/>
          <p:cNvGraphicFramePr/>
          <p:nvPr>
            <p:extLst>
              <p:ext uri="{D42A27DB-BD31-4B8C-83A1-F6EECF244321}">
                <p14:modId xmlns:p14="http://schemas.microsoft.com/office/powerpoint/2010/main" val="835461178"/>
              </p:ext>
            </p:extLst>
          </p:nvPr>
        </p:nvGraphicFramePr>
        <p:xfrm>
          <a:off x="609600" y="1560813"/>
          <a:ext cx="7848600" cy="452088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53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87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5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6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734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Sr. No.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Author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Name of the Book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Publisher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Year of Publication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081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Kenneth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Rosen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Mathematics and Its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Applications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2019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341">
                <a:tc>
                  <a:txBody>
                    <a:bodyPr/>
                    <a:lstStyle/>
                    <a:p>
                      <a:pPr marL="444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C.</a:t>
                      </a:r>
                      <a:r>
                        <a:rPr lang="en-IN" sz="1600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L.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Liu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Elements of Discrete Mathematics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3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1996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   3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J.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Tremblay,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Manohar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Mathematical Structures with Applications to Computer Science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R="171450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R="171450" algn="ctr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Tata</a:t>
                      </a:r>
                      <a:r>
                        <a:rPr lang="en-IN" sz="1600" spc="-7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341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Kolman,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Busby,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Ross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Mathematical Structures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7341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Narsingh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Deo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Graph Theory with Applications to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Engineering and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2017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08" name="Google Shape;308;p11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4600" y="2438400"/>
            <a:ext cx="4191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i="1" dirty="0">
                <a:solidFill>
                  <a:srgbClr val="FF0000"/>
                </a:solidFill>
              </a:rPr>
              <a:t>Thanks!!!</a:t>
            </a:r>
            <a:endParaRPr lang="en-IN" sz="8000" b="1" i="1" dirty="0">
              <a:solidFill>
                <a:srgbClr val="FF0000"/>
              </a:solidFill>
            </a:endParaRPr>
          </a:p>
        </p:txBody>
      </p:sp>
      <p:pic>
        <p:nvPicPr>
          <p:cNvPr id="3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30951317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3247</TotalTime>
  <Words>1015</Words>
  <Application>Microsoft Office PowerPoint</Application>
  <PresentationFormat>On-screen Show (4:3)</PresentationFormat>
  <Paragraphs>210</Paragraphs>
  <Slides>23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7" baseType="lpstr">
      <vt:lpstr>Arial</vt:lpstr>
      <vt:lpstr>Calibri</vt:lpstr>
      <vt:lpstr>Cambria</vt:lpstr>
      <vt:lpstr>Cambria Math</vt:lpstr>
      <vt:lpstr>Casper</vt:lpstr>
      <vt:lpstr>Georgia</vt:lpstr>
      <vt:lpstr>MTMI</vt:lpstr>
      <vt:lpstr>Tahoma</vt:lpstr>
      <vt:lpstr>Times New Roman</vt:lpstr>
      <vt:lpstr>Times-Roman</vt:lpstr>
      <vt:lpstr>Wingdings</vt:lpstr>
      <vt:lpstr>Theme1</vt:lpstr>
      <vt:lpstr>Custom Design</vt:lpstr>
      <vt:lpstr>CorelDRAW</vt:lpstr>
      <vt:lpstr>PowerPoint Presentation</vt:lpstr>
      <vt:lpstr>CO mappings</vt:lpstr>
      <vt:lpstr>CO-PO mappings</vt:lpstr>
      <vt:lpstr>Topics Covered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Propositional Equivalences</vt:lpstr>
      <vt:lpstr>Propositional Equivalences</vt:lpstr>
      <vt:lpstr>Learning Activity</vt:lpstr>
      <vt:lpstr>Learning Activity</vt:lpstr>
      <vt:lpstr>Applications </vt:lpstr>
      <vt:lpstr>Predicate and Quantifiers in Logic</vt:lpstr>
      <vt:lpstr>Predicate and Quantifiers in Logic</vt:lpstr>
      <vt:lpstr>Predicate and Quantifiers in Logic</vt:lpstr>
      <vt:lpstr>Predicate and Quantifiers in Logic</vt:lpstr>
      <vt:lpstr>Learning Activity-2</vt:lpstr>
      <vt:lpstr>Conclusion</vt:lpstr>
      <vt:lpstr>Video Links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OPERATING SYSTEM</dc:title>
  <dc:creator>student</dc:creator>
  <cp:lastModifiedBy>MOHD SARTAJ</cp:lastModifiedBy>
  <cp:revision>267</cp:revision>
  <dcterms:created xsi:type="dcterms:W3CDTF">2006-08-16T00:00:00Z</dcterms:created>
  <dcterms:modified xsi:type="dcterms:W3CDTF">2026-07-22T10:09:32Z</dcterms:modified>
</cp:coreProperties>
</file>