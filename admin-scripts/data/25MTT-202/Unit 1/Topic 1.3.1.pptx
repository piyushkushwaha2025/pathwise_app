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18"/>
  </p:notesMasterIdLst>
  <p:sldIdLst>
    <p:sldId id="328" r:id="rId3"/>
    <p:sldId id="397" r:id="rId4"/>
    <p:sldId id="391" r:id="rId5"/>
    <p:sldId id="398" r:id="rId6"/>
    <p:sldId id="393" r:id="rId7"/>
    <p:sldId id="402" r:id="rId8"/>
    <p:sldId id="411" r:id="rId9"/>
    <p:sldId id="410" r:id="rId10"/>
    <p:sldId id="412" r:id="rId11"/>
    <p:sldId id="413" r:id="rId12"/>
    <p:sldId id="405" r:id="rId13"/>
    <p:sldId id="399" r:id="rId14"/>
    <p:sldId id="387" r:id="rId15"/>
    <p:sldId id="266" r:id="rId16"/>
    <p:sldId id="39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1067" autoAdjust="0"/>
  </p:normalViewPr>
  <p:slideViewPr>
    <p:cSldViewPr>
      <p:cViewPr>
        <p:scale>
          <a:sx n="60" d="100"/>
          <a:sy n="60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6-17T05:28:57.524" v="1249" actId="47"/>
      <pc:docMkLst>
        <pc:docMk/>
      </pc:docMkLst>
      <pc:sldChg chg="modSp add del">
        <pc:chgData name="MOHD SARTAJ" userId="0be50391adb133e1" providerId="LiveId" clId="{849D2220-9185-4955-8F14-CE40930C4662}" dt="2026-06-17T05:00:44.114" v="1213" actId="47"/>
        <pc:sldMkLst>
          <pc:docMk/>
          <pc:sldMk cId="0" sldId="257"/>
        </pc:sldMkLst>
      </pc:sldChg>
      <pc:sldChg chg="addSp modSp add mod">
        <pc:chgData name="MOHD SARTAJ" userId="0be50391adb133e1" providerId="LiveId" clId="{849D2220-9185-4955-8F14-CE40930C4662}" dt="2026-06-10T01:54:41.112" v="429" actId="207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6-10T01:54:41.112" v="429" actId="207"/>
          <ac:spMkLst>
            <pc:docMk/>
            <pc:sldMk cId="0" sldId="266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10T01:46:31.854" v="90" actId="14100"/>
          <ac:graphicFrameMkLst>
            <pc:docMk/>
            <pc:sldMk cId="0" sldId="266"/>
            <ac:graphicFrameMk id="307" creationId="{00000000-0000-0000-0000-000000000000}"/>
          </ac:graphicFrameMkLst>
        </pc:graphicFrameChg>
      </pc:sldChg>
      <pc:sldChg chg="delSp modSp del mod">
        <pc:chgData name="MOHD SARTAJ" userId="0be50391adb133e1" providerId="LiveId" clId="{849D2220-9185-4955-8F14-CE40930C4662}" dt="2026-06-11T11:31:50.293" v="897" actId="47"/>
        <pc:sldMkLst>
          <pc:docMk/>
          <pc:sldMk cId="0" sldId="270"/>
        </pc:sldMkLst>
      </pc:sldChg>
      <pc:sldChg chg="addSp delSp modSp mod">
        <pc:chgData name="MOHD SARTAJ" userId="0be50391adb133e1" providerId="LiveId" clId="{849D2220-9185-4955-8F14-CE40930C4662}" dt="2026-06-11T11:12:22.614" v="437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6-11T11:12:22.614" v="437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1:46:47.292" v="14" actId="47"/>
        <pc:sldMkLst>
          <pc:docMk/>
          <pc:sldMk cId="0" sldId="334"/>
        </pc:sldMkLst>
      </pc:sldChg>
      <pc:sldChg chg="modSp mod">
        <pc:chgData name="MOHD SARTAJ" userId="0be50391adb133e1" providerId="LiveId" clId="{849D2220-9185-4955-8F14-CE40930C4662}" dt="2026-06-11T11:16:20.114" v="442" actId="5793"/>
        <pc:sldMkLst>
          <pc:docMk/>
          <pc:sldMk cId="3304736951" sldId="387"/>
        </pc:sldMkLst>
        <pc:spChg chg="mod">
          <ac:chgData name="MOHD SARTAJ" userId="0be50391adb133e1" providerId="LiveId" clId="{849D2220-9185-4955-8F14-CE40930C4662}" dt="2026-06-10T01:54:22.601" v="426" actId="1035"/>
          <ac:spMkLst>
            <pc:docMk/>
            <pc:sldMk cId="3304736951" sldId="387"/>
            <ac:spMk id="2" creationId="{00000000-0000-0000-0000-000000000000}"/>
          </ac:spMkLst>
        </pc:spChg>
        <pc:spChg chg="mod">
          <ac:chgData name="MOHD SARTAJ" userId="0be50391adb133e1" providerId="LiveId" clId="{849D2220-9185-4955-8F14-CE40930C4662}" dt="2026-06-11T11:16:20.114" v="442" actId="5793"/>
          <ac:spMkLst>
            <pc:docMk/>
            <pc:sldMk cId="3304736951" sldId="387"/>
            <ac:spMk id="5" creationId="{4097530B-3F21-DBFA-7A79-54A7A98F0EB3}"/>
          </ac:spMkLst>
        </pc:spChg>
      </pc:sldChg>
      <pc:sldChg chg="del">
        <pc:chgData name="MOHD SARTAJ" userId="0be50391adb133e1" providerId="LiveId" clId="{849D2220-9185-4955-8F14-CE40930C4662}" dt="2026-06-08T11:47:13.898" v="16" actId="47"/>
        <pc:sldMkLst>
          <pc:docMk/>
          <pc:sldMk cId="928345769" sldId="389"/>
        </pc:sldMkLst>
      </pc:sldChg>
      <pc:sldChg chg="add">
        <pc:chgData name="MOHD SARTAJ" userId="0be50391adb133e1" providerId="LiveId" clId="{849D2220-9185-4955-8F14-CE40930C4662}" dt="2026-06-17T05:00:57.527" v="1214"/>
        <pc:sldMkLst>
          <pc:docMk/>
          <pc:sldMk cId="3429158645" sldId="391"/>
        </pc:sldMkLst>
      </pc:sldChg>
      <pc:sldChg chg="modSp mod">
        <pc:chgData name="MOHD SARTAJ" userId="0be50391adb133e1" providerId="LiveId" clId="{849D2220-9185-4955-8F14-CE40930C4662}" dt="2026-06-10T01:54:55.340" v="430" actId="207"/>
        <pc:sldMkLst>
          <pc:docMk/>
          <pc:sldMk cId="3309513176" sldId="392"/>
        </pc:sldMkLst>
        <pc:spChg chg="mod">
          <ac:chgData name="MOHD SARTAJ" userId="0be50391adb133e1" providerId="LiveId" clId="{849D2220-9185-4955-8F14-CE40930C4662}" dt="2026-06-10T01:54:55.340" v="430" actId="207"/>
          <ac:spMkLst>
            <pc:docMk/>
            <pc:sldMk cId="3309513176" sldId="392"/>
            <ac:spMk id="4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6-11T11:45:53.142" v="1211" actId="20577"/>
        <pc:sldMkLst>
          <pc:docMk/>
          <pc:sldMk cId="419276167" sldId="393"/>
        </pc:sldMkLst>
        <pc:spChg chg="mod">
          <ac:chgData name="MOHD SARTAJ" userId="0be50391adb133e1" providerId="LiveId" clId="{849D2220-9185-4955-8F14-CE40930C4662}" dt="2026-06-11T11:45:53.142" v="1211" actId="20577"/>
          <ac:spMkLst>
            <pc:docMk/>
            <pc:sldMk cId="419276167" sldId="393"/>
            <ac:spMk id="2" creationId="{00000000-0000-0000-0000-000000000000}"/>
          </ac:spMkLst>
        </pc:spChg>
        <pc:spChg chg="add mod">
          <ac:chgData name="MOHD SARTAJ" userId="0be50391adb133e1" providerId="LiveId" clId="{849D2220-9185-4955-8F14-CE40930C4662}" dt="2026-06-11T11:20:26.417" v="504" actId="14100"/>
          <ac:spMkLst>
            <pc:docMk/>
            <pc:sldMk cId="419276167" sldId="393"/>
            <ac:spMk id="8" creationId="{20542E44-DBEB-6328-A1DA-90743F5497E3}"/>
          </ac:spMkLst>
        </pc:spChg>
      </pc:sldChg>
      <pc:sldChg chg="addSp delSp modSp del mod">
        <pc:chgData name="MOHD SARTAJ" userId="0be50391adb133e1" providerId="LiveId" clId="{849D2220-9185-4955-8F14-CE40930C4662}" dt="2026-06-11T11:25:41.942" v="786" actId="47"/>
        <pc:sldMkLst>
          <pc:docMk/>
          <pc:sldMk cId="1134222639" sldId="394"/>
        </pc:sldMkLst>
      </pc:sldChg>
      <pc:sldChg chg="addSp delSp modSp mod">
        <pc:chgData name="MOHD SARTAJ" userId="0be50391adb133e1" providerId="LiveId" clId="{849D2220-9185-4955-8F14-CE40930C4662}" dt="2026-06-11T11:27:59.828" v="862" actId="20577"/>
        <pc:sldMkLst>
          <pc:docMk/>
          <pc:sldMk cId="1130458306" sldId="395"/>
        </pc:sldMkLst>
      </pc:sldChg>
      <pc:sldChg chg="addSp delSp modSp del mod">
        <pc:chgData name="MOHD SARTAJ" userId="0be50391adb133e1" providerId="LiveId" clId="{849D2220-9185-4955-8F14-CE40930C4662}" dt="2026-06-17T05:00:59.694" v="1215" actId="47"/>
        <pc:sldMkLst>
          <pc:docMk/>
          <pc:sldMk cId="3625892683" sldId="396"/>
        </pc:sldMkLst>
      </pc:sldChg>
      <pc:sldChg chg="add">
        <pc:chgData name="MOHD SARTAJ" userId="0be50391adb133e1" providerId="LiveId" clId="{849D2220-9185-4955-8F14-CE40930C4662}" dt="2026-06-17T05:00:41.347" v="1212"/>
        <pc:sldMkLst>
          <pc:docMk/>
          <pc:sldMk cId="0" sldId="397"/>
        </pc:sldMkLst>
      </pc:sldChg>
      <pc:sldChg chg="addSp delSp modSp mod modAnim">
        <pc:chgData name="MOHD SARTAJ" userId="0be50391adb133e1" providerId="LiveId" clId="{849D2220-9185-4955-8F14-CE40930C4662}" dt="2026-06-11T11:31:39.386" v="896" actId="20577"/>
        <pc:sldMkLst>
          <pc:docMk/>
          <pc:sldMk cId="3097046386" sldId="397"/>
        </pc:sldMkLst>
      </pc:sldChg>
      <pc:sldChg chg="delSp modSp mod">
        <pc:chgData name="MOHD SARTAJ" userId="0be50391adb133e1" providerId="LiveId" clId="{849D2220-9185-4955-8F14-CE40930C4662}" dt="2026-06-11T11:45:38.023" v="1199" actId="20577"/>
        <pc:sldMkLst>
          <pc:docMk/>
          <pc:sldMk cId="2379522457" sldId="398"/>
        </pc:sldMkLst>
        <pc:spChg chg="mod">
          <ac:chgData name="MOHD SARTAJ" userId="0be50391adb133e1" providerId="LiveId" clId="{849D2220-9185-4955-8F14-CE40930C4662}" dt="2026-06-10T01:51:35.459" v="179" actId="1038"/>
          <ac:spMkLst>
            <pc:docMk/>
            <pc:sldMk cId="2379522457" sldId="398"/>
            <ac:spMk id="3" creationId="{00000000-0000-0000-0000-000000000000}"/>
          </ac:spMkLst>
        </pc:spChg>
        <pc:spChg chg="mod">
          <ac:chgData name="MOHD SARTAJ" userId="0be50391adb133e1" providerId="LiveId" clId="{849D2220-9185-4955-8F14-CE40930C4662}" dt="2026-06-11T11:45:38.023" v="1199" actId="20577"/>
          <ac:spMkLst>
            <pc:docMk/>
            <pc:sldMk cId="2379522457" sldId="398"/>
            <ac:spMk id="5" creationId="{B3F64BE0-B5FE-416B-C8AC-E482358E482D}"/>
          </ac:spMkLst>
        </pc:spChg>
      </pc:sldChg>
      <pc:sldChg chg="delSp modSp mod">
        <pc:chgData name="MOHD SARTAJ" userId="0be50391adb133e1" providerId="LiveId" clId="{849D2220-9185-4955-8F14-CE40930C4662}" dt="2026-06-11T11:39:52.300" v="1185" actId="20577"/>
        <pc:sldMkLst>
          <pc:docMk/>
          <pc:sldMk cId="2143550743" sldId="399"/>
        </pc:sldMkLst>
        <pc:spChg chg="mod">
          <ac:chgData name="MOHD SARTAJ" userId="0be50391adb133e1" providerId="LiveId" clId="{849D2220-9185-4955-8F14-CE40930C4662}" dt="2026-06-10T01:54:09.515" v="418" actId="207"/>
          <ac:spMkLst>
            <pc:docMk/>
            <pc:sldMk cId="2143550743" sldId="399"/>
            <ac:spMk id="2" creationId="{84E858C6-1A6F-72D5-43AB-955168B146AB}"/>
          </ac:spMkLst>
        </pc:spChg>
        <pc:spChg chg="mod">
          <ac:chgData name="MOHD SARTAJ" userId="0be50391adb133e1" providerId="LiveId" clId="{849D2220-9185-4955-8F14-CE40930C4662}" dt="2026-06-11T11:39:52.300" v="1185" actId="20577"/>
          <ac:spMkLst>
            <pc:docMk/>
            <pc:sldMk cId="2143550743" sldId="399"/>
            <ac:spMk id="4" creationId="{08FC3131-36E1-1909-EA4D-0C67969A3173}"/>
          </ac:spMkLst>
        </pc:spChg>
      </pc:sldChg>
      <pc:sldChg chg="delSp modSp del mod">
        <pc:chgData name="MOHD SARTAJ" userId="0be50391adb133e1" providerId="LiveId" clId="{849D2220-9185-4955-8F14-CE40930C4662}" dt="2026-06-11T11:31:51.449" v="898" actId="47"/>
        <pc:sldMkLst>
          <pc:docMk/>
          <pc:sldMk cId="3995813745" sldId="400"/>
        </pc:sldMkLst>
      </pc:sldChg>
      <pc:sldChg chg="delSp modSp del mod">
        <pc:chgData name="MOHD SARTAJ" userId="0be50391adb133e1" providerId="LiveId" clId="{849D2220-9185-4955-8F14-CE40930C4662}" dt="2026-06-11T11:31:52.588" v="899" actId="47"/>
        <pc:sldMkLst>
          <pc:docMk/>
          <pc:sldMk cId="3798520047" sldId="401"/>
        </pc:sldMkLst>
      </pc:sldChg>
      <pc:sldChg chg="addSp delSp modSp add mod modAnim">
        <pc:chgData name="MOHD SARTAJ" userId="0be50391adb133e1" providerId="LiveId" clId="{849D2220-9185-4955-8F14-CE40930C4662}" dt="2026-06-11T11:21:37.707" v="542"/>
        <pc:sldMkLst>
          <pc:docMk/>
          <pc:sldMk cId="837744556" sldId="402"/>
        </pc:sldMkLst>
      </pc:sldChg>
      <pc:sldChg chg="addSp delSp modSp add mod delAnim modAnim">
        <pc:chgData name="MOHD SARTAJ" userId="0be50391adb133e1" providerId="LiveId" clId="{849D2220-9185-4955-8F14-CE40930C4662}" dt="2026-06-11T11:22:13.622" v="605" actId="14100"/>
        <pc:sldMkLst>
          <pc:docMk/>
          <pc:sldMk cId="2964406146" sldId="403"/>
        </pc:sldMkLst>
      </pc:sldChg>
      <pc:sldChg chg="addSp delSp modSp add mod delAnim">
        <pc:chgData name="MOHD SARTAJ" userId="0be50391adb133e1" providerId="LiveId" clId="{849D2220-9185-4955-8F14-CE40930C4662}" dt="2026-06-11T11:23:56.624" v="748" actId="1037"/>
        <pc:sldMkLst>
          <pc:docMk/>
          <pc:sldMk cId="2339274281" sldId="404"/>
        </pc:sldMkLst>
      </pc:sldChg>
      <pc:sldChg chg="delSp modSp add mod">
        <pc:chgData name="MOHD SARTAJ" userId="0be50391adb133e1" providerId="LiveId" clId="{849D2220-9185-4955-8F14-CE40930C4662}" dt="2026-06-11T11:24:54.730" v="782" actId="14100"/>
        <pc:sldMkLst>
          <pc:docMk/>
          <pc:sldMk cId="2810276905" sldId="405"/>
        </pc:sldMkLst>
        <pc:spChg chg="mod">
          <ac:chgData name="MOHD SARTAJ" userId="0be50391adb133e1" providerId="LiveId" clId="{849D2220-9185-4955-8F14-CE40930C4662}" dt="2026-06-11T11:24:54.730" v="782" actId="14100"/>
          <ac:spMkLst>
            <pc:docMk/>
            <pc:sldMk cId="2810276905" sldId="405"/>
            <ac:spMk id="2" creationId="{908935DF-E927-8A08-93B0-91CB054F269F}"/>
          </ac:spMkLst>
        </pc:spChg>
      </pc:sldChg>
      <pc:sldChg chg="addSp modSp add mod modAnim">
        <pc:chgData name="MOHD SARTAJ" userId="0be50391adb133e1" providerId="LiveId" clId="{849D2220-9185-4955-8F14-CE40930C4662}" dt="2026-06-11T11:34:11.869" v="976" actId="1036"/>
        <pc:sldMkLst>
          <pc:docMk/>
          <pc:sldMk cId="1172226471" sldId="406"/>
        </pc:sldMkLst>
      </pc:sldChg>
      <pc:sldChg chg="delSp modSp add mod modAnim">
        <pc:chgData name="MOHD SARTAJ" userId="0be50391adb133e1" providerId="LiveId" clId="{849D2220-9185-4955-8F14-CE40930C4662}" dt="2026-06-11T11:37:19.262" v="1076" actId="20577"/>
        <pc:sldMkLst>
          <pc:docMk/>
          <pc:sldMk cId="2349531866" sldId="407"/>
        </pc:sldMkLst>
      </pc:sldChg>
      <pc:sldChg chg="addSp delSp modSp add mod">
        <pc:chgData name="MOHD SARTAJ" userId="0be50391adb133e1" providerId="LiveId" clId="{849D2220-9185-4955-8F14-CE40930C4662}" dt="2026-06-11T11:38:23.712" v="1121" actId="1036"/>
        <pc:sldMkLst>
          <pc:docMk/>
          <pc:sldMk cId="1394712533" sldId="408"/>
        </pc:sldMkLst>
      </pc:sldChg>
      <pc:sldChg chg="addSp delSp modSp add mod">
        <pc:chgData name="MOHD SARTAJ" userId="0be50391adb133e1" providerId="LiveId" clId="{849D2220-9185-4955-8F14-CE40930C4662}" dt="2026-06-11T11:39:15.660" v="1138" actId="20577"/>
        <pc:sldMkLst>
          <pc:docMk/>
          <pc:sldMk cId="2585716689" sldId="409"/>
        </pc:sldMkLst>
      </pc:sldChg>
      <pc:sldChg chg="addSp delSp modSp add del mod">
        <pc:chgData name="MOHD SARTAJ" userId="0be50391adb133e1" providerId="LiveId" clId="{849D2220-9185-4955-8F14-CE40930C4662}" dt="2026-06-17T05:28:57.524" v="1249" actId="47"/>
        <pc:sldMkLst>
          <pc:docMk/>
          <pc:sldMk cId="540878259" sldId="411"/>
        </pc:sldMkLst>
        <pc:graphicFrameChg chg="del">
          <ac:chgData name="MOHD SARTAJ" userId="0be50391adb133e1" providerId="LiveId" clId="{849D2220-9185-4955-8F14-CE40930C4662}" dt="2026-06-17T05:27:38.027" v="1217" actId="478"/>
          <ac:graphicFrameMkLst>
            <pc:docMk/>
            <pc:sldMk cId="540878259" sldId="411"/>
            <ac:graphicFrameMk id="307" creationId="{617A103B-5D1E-1097-912A-3E373653E8EA}"/>
          </ac:graphicFrameMkLst>
        </pc:graphicFrameChg>
        <pc:picChg chg="add mod">
          <ac:chgData name="MOHD SARTAJ" userId="0be50391adb133e1" providerId="LiveId" clId="{849D2220-9185-4955-8F14-CE40930C4662}" dt="2026-06-17T05:28:20.607" v="1248" actId="1035"/>
          <ac:picMkLst>
            <pc:docMk/>
            <pc:sldMk cId="540878259" sldId="411"/>
            <ac:picMk id="3" creationId="{D7A67983-907A-B21C-892F-8FF76E7027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PQ3ptUMltA&amp;utm_source=chatgpt.com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hyperlink" Target="https://youtu.be/x4dr53P1Fm0?si=Xh6mSos07OhSBRCS" TargetMode="External"/><Relationship Id="rId4" Type="http://schemas.openxmlformats.org/officeDocument/2006/relationships/hyperlink" Target="https://youtu.be/YYQfYBNlfZg?si=bzEHNN2yciHgzZj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353293"/>
            <a:ext cx="7551419" cy="487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4000" dirty="0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Semester-3</a:t>
            </a:r>
            <a:endParaRPr lang="en-US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800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sz="2000" b="1" kern="0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1.3.1</a:t>
            </a:r>
            <a:endParaRPr lang="en-US" sz="28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Dr. SARTAJ</a:t>
            </a: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6" y="1676400"/>
            <a:ext cx="8805044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686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413" y="228600"/>
            <a:ext cx="5651387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pc="-69" dirty="0">
                <a:solidFill>
                  <a:srgbClr val="FF0000"/>
                </a:solidFill>
              </a:rPr>
              <a:t>Topics Covered</a:t>
            </a:r>
            <a:endParaRPr spc="-20" dirty="0">
              <a:solidFill>
                <a:srgbClr val="FF0000"/>
              </a:solidFill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642100"/>
            <a:ext cx="3052763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kern="0" dirty="0">
                <a:solidFill>
                  <a:prstClr val="white"/>
                </a:solidFill>
              </a:rPr>
              <a:t>Dr.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Shyam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S.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Das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(School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of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20" dirty="0">
                <a:solidFill>
                  <a:prstClr val="white"/>
                </a:solidFill>
              </a:rPr>
              <a:t>Basic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Sciences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838200" y="1873589"/>
            <a:ext cx="70104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Introduction to Proof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Direct Proof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Proof by Contradiction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Conclusions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Video links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References 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7952245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Introduction to Proof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5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42E44-DBEB-6328-A1DA-90743F5497E3}"/>
              </a:ext>
            </a:extLst>
          </p:cNvPr>
          <p:cNvSpPr txBox="1"/>
          <p:nvPr/>
        </p:nvSpPr>
        <p:spPr>
          <a:xfrm>
            <a:off x="533400" y="1600200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proof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is a logical argument that establishes the truth of a mathematical statement.</a:t>
            </a:r>
          </a:p>
          <a:p>
            <a:pPr algn="just"/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It consists of a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sequence of statements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, each justified by axioms, definitions, or previously proven theorems.</a:t>
            </a:r>
          </a:p>
          <a:p>
            <a:pPr algn="just"/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Why proofs matter:</a:t>
            </a:r>
          </a:p>
          <a:p>
            <a:pPr marL="1714500" lvl="3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Ensures mathematical statements are rigorously true.</a:t>
            </a:r>
          </a:p>
          <a:p>
            <a:pPr marL="1714500" lvl="3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Used in fields like cryptography, artificial intelligence, and software verification.</a:t>
            </a:r>
          </a:p>
          <a:p>
            <a:pPr marL="1714500" lvl="3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Helps develop logical reasoning skills.</a:t>
            </a:r>
          </a:p>
        </p:txBody>
      </p:sp>
    </p:spTree>
    <p:extLst>
      <p:ext uri="{BB962C8B-B14F-4D97-AF65-F5344CB8AC3E}">
        <p14:creationId xmlns:p14="http://schemas.microsoft.com/office/powerpoint/2010/main" val="41927616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3361-E541-ACB8-C943-5267DCD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1D10E1-4BC6-71B9-C6B2-2D13ACAEC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Direct Proof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08C153-FC36-B14D-54B8-7D622CCD099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6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75F93E8-0B3F-E0B3-6E4C-1E19E2E286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32E23-BF1B-6F51-0A4D-27D201F5FC28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38200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A proof that starts from known facts and logically derives the conclusion step by step.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General form: </a:t>
                </a:r>
              </a:p>
              <a:p>
                <a:pPr marL="1714500" lvl="3" indent="-342900" algn="just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true. </a:t>
                </a:r>
              </a:p>
              <a:p>
                <a:pPr marL="1714500" lvl="3" indent="-342900" algn="just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Use axioms, definitions, or algebraic manipulations to show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𝑄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true. </a:t>
                </a:r>
              </a:p>
              <a:p>
                <a:pPr marL="1714500" lvl="3" indent="-342900" algn="just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Conclude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→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𝑄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true.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32E23-BF1B-6F51-0A4D-27D201F5F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382000" cy="3046988"/>
              </a:xfrm>
              <a:prstGeom prst="rect">
                <a:avLst/>
              </a:prstGeom>
              <a:blipFill>
                <a:blip r:embed="rId3"/>
                <a:stretch>
                  <a:fillRect l="-945" t="-1600" r="-1091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74455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334D-B524-CB2F-70F7-1F3516B8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6A415F-00F8-EC3E-4530-C6C7A5D4A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Direct Proof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BE5D85A-D070-CED3-DE05-51C9D54694C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7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8D43844-E1FE-FE3E-BA43-DF1BB6DF276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543D7-AF70-1011-4CB5-3351444624BB}"/>
                  </a:ext>
                </a:extLst>
              </p:cNvPr>
              <p:cNvSpPr txBox="1"/>
              <p:nvPr/>
            </p:nvSpPr>
            <p:spPr>
              <a:xfrm>
                <a:off x="685800" y="1676400"/>
                <a:ext cx="8001000" cy="3102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Example:</a:t>
                </a:r>
                <a:r>
                  <a:rPr lang="en-US" sz="2400" b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Give a direct proof of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“if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is even,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is even”. </a:t>
                </a: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algn="just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Proof: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By definition of even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2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</a:t>
                </a:r>
              </a:p>
              <a:p>
                <a:pPr>
                  <a:buNone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𝑘</m:t>
                    </m:r>
                  </m:oMath>
                </a14:m>
                <a:r>
                  <a:rPr lang="en-US" sz="2400" i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is some integer.</a:t>
                </a:r>
              </a:p>
              <a:p>
                <a:pPr algn="just"/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Then,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  <m:t>2</m:t>
                            </m:r>
                            <m: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=4</m:t>
                    </m:r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=2</m:t>
                    </m:r>
                    <m:d>
                      <m:d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i="1" dirty="0">
                                <a:latin typeface="+mj-lt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which is even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C543D7-AF70-1011-4CB5-335144462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76400"/>
                <a:ext cx="8001000" cy="3102837"/>
              </a:xfrm>
              <a:prstGeom prst="rect">
                <a:avLst/>
              </a:prstGeom>
              <a:blipFill>
                <a:blip r:embed="rId3"/>
                <a:stretch>
                  <a:fillRect l="-1220" t="-1179" b="-3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58291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B401-84BE-CC96-9A71-4C8523B2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CA2087-D385-E1C2-F4C1-62AC988B5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Proof by Contraposition (or Contradiction)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A202A4D-FF53-351F-20DF-C3BB30B486A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8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48EA0B4-4BFE-9E88-6B01-7C6188BDA0E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58DECD-C39B-2FE7-DA59-D810ECBD6B86}"/>
                  </a:ext>
                </a:extLst>
              </p:cNvPr>
              <p:cNvSpPr txBox="1"/>
              <p:nvPr/>
            </p:nvSpPr>
            <p:spPr>
              <a:xfrm>
                <a:off x="457200" y="1947208"/>
                <a:ext cx="83820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Instead of proving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𝑷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→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𝑸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we prove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¬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→¬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+mj-lt"/>
                        <a:cs typeface="Arial" panose="020B0604020202020204" pitchFamily="34" charset="0"/>
                      </a:rPr>
                      <m:t>𝑷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.</a:t>
                </a:r>
              </a:p>
              <a:p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Or Assume the negation of the statement and show that it leads to a contradiction.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Why use it?</a:t>
                </a:r>
              </a:p>
              <a:p>
                <a:pPr algn="just"/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      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I. Useful for proving statements that are difficult to approach directly.</a:t>
                </a:r>
              </a:p>
              <a:p>
                <a:pPr algn="just"/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      II. Sometimes, proving the contrapositive is 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simpler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than proving the original statement.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58DECD-C39B-2FE7-DA59-D810ECBD6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47208"/>
                <a:ext cx="8382000" cy="3785652"/>
              </a:xfrm>
              <a:prstGeom prst="rect">
                <a:avLst/>
              </a:prstGeom>
              <a:blipFill>
                <a:blip r:embed="rId3"/>
                <a:stretch>
                  <a:fillRect l="-1091" t="-1288" r="-1091" b="-2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22705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5111-5059-8933-0D7B-AF846FF8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64D394-230A-5C55-D4D4-49FB67D39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Proof by Contraposition (or Contradiction)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93A2672-CD79-DF81-D2F1-AD16E65D1F0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9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4F0ACFA-6706-3F56-AAA2-DDCAFA2D39C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C3720-7276-59F3-1251-5CA33F39EE62}"/>
                  </a:ext>
                </a:extLst>
              </p:cNvPr>
              <p:cNvSpPr txBox="1"/>
              <p:nvPr/>
            </p:nvSpPr>
            <p:spPr>
              <a:xfrm>
                <a:off x="457200" y="1905000"/>
                <a:ext cx="8382000" cy="4367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Example: Prove that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is irrational”. </a:t>
                </a: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algn="just">
                  <a:buNone/>
                </a:pP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Proof: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Assume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​ is rational. Then,</a:t>
                </a: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 =</m:t>
                    </m:r>
                    <m:f>
                      <m:f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𝑎</m:t>
                        </m:r>
                      </m:num>
                      <m:den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​ </a:t>
                </a:r>
              </a:p>
              <a:p>
                <a:pPr algn="just"/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are co-prime integers.</a:t>
                </a:r>
              </a:p>
              <a:p>
                <a:pPr algn="just"/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Squaring both sides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2</m:t>
                    </m:r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so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even.</a:t>
                </a:r>
              </a:p>
              <a:p>
                <a:pPr algn="ctr"/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This implies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even, so 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𝑎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=2</m:t>
                    </m:r>
                    <m:r>
                      <a:rPr lang="en-US" sz="2400" i="1" dirty="0">
                        <a:latin typeface="+mj-lt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𝑘</m:t>
                    </m:r>
                  </m:oMath>
                </a14:m>
                <a:r>
                  <a:rPr lang="en-US" sz="2400" i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is some integer.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C3720-7276-59F3-1251-5CA33F39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05000"/>
                <a:ext cx="8382000" cy="4367734"/>
              </a:xfrm>
              <a:prstGeom prst="rect">
                <a:avLst/>
              </a:prstGeom>
              <a:blipFill>
                <a:blip r:embed="rId3"/>
                <a:stretch>
                  <a:fillRect l="-1091" t="-279" b="-2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211185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692F-8650-4DD2-942A-2BA0645D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FD9E24-3568-6122-1818-C644C71B8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Proof by Contraposition (or Contradiction)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66B6C9C-0140-58CA-4910-F744294FE2C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10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11941D9-9F31-1464-9B2A-7A95A593F2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EC835-E902-7072-8A08-6FCD1E1EE2ED}"/>
                  </a:ext>
                </a:extLst>
              </p:cNvPr>
              <p:cNvSpPr txBox="1"/>
              <p:nvPr/>
            </p:nvSpPr>
            <p:spPr>
              <a:xfrm>
                <a:off x="457200" y="1947208"/>
                <a:ext cx="8382000" cy="3082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Substituting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+mj-lt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, 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even.</a:t>
                </a:r>
              </a:p>
              <a:p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This means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is also even, contradicting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 are co-prime.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Contradiction! So,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​ must be irrational.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EC835-E902-7072-8A08-6FCD1E1EE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47208"/>
                <a:ext cx="8382000" cy="3082960"/>
              </a:xfrm>
              <a:prstGeom prst="rect">
                <a:avLst/>
              </a:prstGeom>
              <a:blipFill>
                <a:blip r:embed="rId3"/>
                <a:stretch>
                  <a:fillRect l="-1091" t="-15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047677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3B47-6A3A-D269-B5A1-4B1D0457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8935DF-E927-8A08-93B0-91CB054F2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79185"/>
            <a:ext cx="53340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Learning Activity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81C91DE-B3E7-4992-3BA5-420485466AC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11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B6201D8-2FDA-576B-B53A-4E7A11F4CE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2">
                <a:extLst>
                  <a:ext uri="{FF2B5EF4-FFF2-40B4-BE49-F238E27FC236}">
                    <a16:creationId xmlns:a16="http://schemas.microsoft.com/office/drawing/2014/main" id="{506BC349-B576-68C3-601B-17201CFFF8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766" y="1744662"/>
                <a:ext cx="8139034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ambria" pitchFamily="18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Q1. Prove that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𝑛</m:t>
                    </m:r>
                  </m:oMath>
                </a14:m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is an integer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+mj-lt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</a:rPr>
                  <a:t> is odd, 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𝑛</m:t>
                    </m:r>
                  </m:oMath>
                </a14:m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is odd.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Q2. Give a proof by contradiction that 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+mj-lt"/>
                          </a:rPr>
                        </m:ctrlPr>
                      </m:radPr>
                      <m:deg/>
                      <m:e>
                        <m:r>
                          <a:rPr lang="en-IN" sz="2400" i="1" dirty="0">
                            <a:latin typeface="+mj-lt"/>
                          </a:rPr>
                          <m:t>3</m:t>
                        </m:r>
                      </m:e>
                    </m:rad>
                    <m:r>
                      <a:rPr lang="en-IN" sz="2400" i="1" dirty="0">
                        <a:latin typeface="+mj-lt"/>
                      </a:rPr>
                      <m:t> </m:t>
                    </m:r>
                    <m:r>
                      <a:rPr lang="en-IN" sz="2400" i="1" dirty="0">
                        <a:latin typeface="+mj-lt"/>
                      </a:rPr>
                      <m:t>𝑖𝑠</m:t>
                    </m:r>
                    <m:r>
                      <a:rPr lang="en-IN" sz="2400" i="1" dirty="0">
                        <a:latin typeface="+mj-lt"/>
                      </a:rPr>
                      <m:t> </m:t>
                    </m:r>
                    <m:r>
                      <a:rPr lang="en-IN" sz="2400" i="1" dirty="0">
                        <a:latin typeface="+mj-lt"/>
                      </a:rPr>
                      <m:t>𝑛𝑜𝑡</m:t>
                    </m:r>
                    <m:r>
                      <a:rPr lang="en-IN" sz="2400" i="1" dirty="0">
                        <a:latin typeface="+mj-lt"/>
                      </a:rPr>
                      <m:t> </m:t>
                    </m:r>
                    <m:r>
                      <a:rPr lang="en-IN" sz="2400" i="1" dirty="0">
                        <a:latin typeface="+mj-lt"/>
                      </a:rPr>
                      <m:t>𝑟𝑎𝑡𝑖𝑜𝑛𝑎𝑙</m:t>
                    </m:r>
                    <m:r>
                      <a:rPr lang="en-IN" sz="2400" i="1" dirty="0">
                        <a:latin typeface="+mj-lt"/>
                      </a:rPr>
                      <m:t> </m:t>
                    </m:r>
                    <m:r>
                      <a:rPr lang="en-IN" sz="2400" i="1" dirty="0">
                        <a:latin typeface="+mj-lt"/>
                      </a:rPr>
                      <m:t>𝑛𝑢𝑚𝑏𝑒𝑟</m:t>
                    </m:r>
                  </m:oMath>
                </a14:m>
                <a:r>
                  <a:rPr lang="en-US" sz="2400" dirty="0">
                    <a:latin typeface="+mj-lt"/>
                  </a:rPr>
                  <a:t>.”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Q3. Prove the theorem “If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𝑛</m:t>
                    </m:r>
                  </m:oMath>
                </a14:m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is an integer, 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+mj-lt"/>
                      </a:rPr>
                      <m:t>𝑛</m:t>
                    </m:r>
                  </m:oMath>
                </a14:m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is odd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+mj-lt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+mj-lt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+mj-lt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</a:rPr>
                  <a:t> is odd.”</a:t>
                </a:r>
                <a:endParaRPr lang="en-IN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12">
                <a:extLst>
                  <a:ext uri="{FF2B5EF4-FFF2-40B4-BE49-F238E27FC236}">
                    <a16:creationId xmlns:a16="http://schemas.microsoft.com/office/drawing/2014/main" id="{506BC349-B576-68C3-601B-17201CFF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66" y="1744662"/>
                <a:ext cx="8139034" cy="4351338"/>
              </a:xfrm>
              <a:prstGeom prst="rect">
                <a:avLst/>
              </a:prstGeom>
              <a:blipFill>
                <a:blip r:embed="rId3"/>
                <a:stretch>
                  <a:fillRect l="-1199" t="-840" r="-11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276905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0740-E796-9314-DA84-BDEFF731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E858C6-1A6F-72D5-43AB-955168B14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149860-0B8D-0011-8D03-B86A77BFB5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12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FC3131-36E1-1909-EA4D-0C67969A3173}"/>
              </a:ext>
            </a:extLst>
          </p:cNvPr>
          <p:cNvSpPr txBox="1"/>
          <p:nvPr/>
        </p:nvSpPr>
        <p:spPr>
          <a:xfrm>
            <a:off x="802666" y="2548705"/>
            <a:ext cx="7332397" cy="1600182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Discuss Direct and Contradiction techniques of proofs.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Related applications and problems are discussed.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5B9D715-014E-D508-F395-0693D151CA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438776-3DBB-583A-B897-56E0F7B9D45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43550743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199" y="304800"/>
            <a:ext cx="54103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3"/>
              </a:rPr>
              <a:t>https://www.youtube.com/watch?v=sPQ3ptUMltA&amp;utm_source=chatgpt.com</a:t>
            </a:r>
            <a:r>
              <a:rPr lang="en-IN" dirty="0"/>
              <a:t> 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4"/>
              </a:rPr>
              <a:t>https://youtu.be/YYQfYBNlfZg?si=bzEHNN2yciHgzZjb</a:t>
            </a:r>
            <a:endParaRPr lang="en-IN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81001"/>
            <a:ext cx="53340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835461178"/>
              </p:ext>
            </p:extLst>
          </p:nvPr>
        </p:nvGraphicFramePr>
        <p:xfrm>
          <a:off x="609600" y="1560813"/>
          <a:ext cx="7848600" cy="45208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8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3053</TotalTime>
  <Words>690</Words>
  <Application>Microsoft Office PowerPoint</Application>
  <PresentationFormat>On-screen Show (4:3)</PresentationFormat>
  <Paragraphs>153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Casper</vt:lpstr>
      <vt:lpstr>Times New 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Introduction to Proof</vt:lpstr>
      <vt:lpstr>Direct Proof</vt:lpstr>
      <vt:lpstr>Direct Proof</vt:lpstr>
      <vt:lpstr>Proof by Contraposition (or Contradiction)</vt:lpstr>
      <vt:lpstr>Proof by Contraposition (or Contradiction)</vt:lpstr>
      <vt:lpstr>Proof by Contraposition (or Contradiction)</vt:lpstr>
      <vt:lpstr>Learning 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271</cp:revision>
  <dcterms:created xsi:type="dcterms:W3CDTF">2006-08-16T00:00:00Z</dcterms:created>
  <dcterms:modified xsi:type="dcterms:W3CDTF">2026-06-17T06:10:51Z</dcterms:modified>
</cp:coreProperties>
</file>