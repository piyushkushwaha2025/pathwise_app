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  <p:sldMasterId id="2147483829" r:id="rId2"/>
  </p:sldMasterIdLst>
  <p:notesMasterIdLst>
    <p:notesMasterId r:id="rId26"/>
  </p:notesMasterIdLst>
  <p:sldIdLst>
    <p:sldId id="328" r:id="rId3"/>
    <p:sldId id="397" r:id="rId4"/>
    <p:sldId id="391" r:id="rId5"/>
    <p:sldId id="257" r:id="rId6"/>
    <p:sldId id="398" r:id="rId7"/>
    <p:sldId id="399" r:id="rId8"/>
    <p:sldId id="400" r:id="rId9"/>
    <p:sldId id="401" r:id="rId10"/>
    <p:sldId id="395" r:id="rId11"/>
    <p:sldId id="403" r:id="rId12"/>
    <p:sldId id="396" r:id="rId13"/>
    <p:sldId id="402" r:id="rId14"/>
    <p:sldId id="408" r:id="rId15"/>
    <p:sldId id="405" r:id="rId16"/>
    <p:sldId id="409" r:id="rId17"/>
    <p:sldId id="410" r:id="rId18"/>
    <p:sldId id="407" r:id="rId19"/>
    <p:sldId id="406" r:id="rId20"/>
    <p:sldId id="404" r:id="rId21"/>
    <p:sldId id="270" r:id="rId22"/>
    <p:sldId id="387" r:id="rId23"/>
    <p:sldId id="266" r:id="rId24"/>
    <p:sldId id="39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067" autoAdjust="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6-17T04:54:43.755" v="799" actId="14100"/>
      <pc:docMkLst>
        <pc:docMk/>
      </pc:docMkLst>
      <pc:sldChg chg="delSp mod">
        <pc:chgData name="MOHD SARTAJ" userId="0be50391adb133e1" providerId="LiveId" clId="{849D2220-9185-4955-8F14-CE40930C4662}" dt="2026-06-08T11:44:55.019" v="18" actId="478"/>
        <pc:sldMkLst>
          <pc:docMk/>
          <pc:sldMk cId="0" sldId="257"/>
        </pc:sldMkLst>
      </pc:sldChg>
      <pc:sldChg chg="add">
        <pc:chgData name="MOHD SARTAJ" userId="0be50391adb133e1" providerId="LiveId" clId="{849D2220-9185-4955-8F14-CE40930C4662}" dt="2026-06-08T11:46:03.413" v="31"/>
        <pc:sldMkLst>
          <pc:docMk/>
          <pc:sldMk cId="0" sldId="266"/>
        </pc:sldMkLst>
      </pc:sldChg>
      <pc:sldChg chg="delSp modSp mod">
        <pc:chgData name="MOHD SARTAJ" userId="0be50391adb133e1" providerId="LiveId" clId="{849D2220-9185-4955-8F14-CE40930C4662}" dt="2026-06-09T05:05:03.140" v="612" actId="207"/>
        <pc:sldMkLst>
          <pc:docMk/>
          <pc:sldMk cId="0" sldId="270"/>
        </pc:sldMkLst>
        <pc:spChg chg="mod">
          <ac:chgData name="MOHD SARTAJ" userId="0be50391adb133e1" providerId="LiveId" clId="{849D2220-9185-4955-8F14-CE40930C4662}" dt="2026-06-09T05:05:03.140" v="612" actId="207"/>
          <ac:spMkLst>
            <pc:docMk/>
            <pc:sldMk cId="0" sldId="270"/>
            <ac:spMk id="2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6-08T11:58:33.139" v="39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6-08T11:58:33.139" v="39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del">
        <pc:chgData name="MOHD SARTAJ" userId="0be50391adb133e1" providerId="LiveId" clId="{849D2220-9185-4955-8F14-CE40930C4662}" dt="2026-06-08T11:46:05.839" v="32" actId="47"/>
        <pc:sldMkLst>
          <pc:docMk/>
          <pc:sldMk cId="0" sldId="334"/>
        </pc:sldMkLst>
      </pc:sldChg>
      <pc:sldChg chg="modSp mod">
        <pc:chgData name="MOHD SARTAJ" userId="0be50391adb133e1" providerId="LiveId" clId="{849D2220-9185-4955-8F14-CE40930C4662}" dt="2026-06-10T11:17:03.869" v="759" actId="12"/>
        <pc:sldMkLst>
          <pc:docMk/>
          <pc:sldMk cId="3304736951" sldId="387"/>
        </pc:sldMkLst>
        <pc:spChg chg="mod">
          <ac:chgData name="MOHD SARTAJ" userId="0be50391adb133e1" providerId="LiveId" clId="{849D2220-9185-4955-8F14-CE40930C4662}" dt="2026-06-10T11:17:03.869" v="759" actId="12"/>
          <ac:spMkLst>
            <pc:docMk/>
            <pc:sldMk cId="3304736951" sldId="387"/>
            <ac:spMk id="5" creationId="{4097530B-3F21-DBFA-7A79-54A7A98F0EB3}"/>
          </ac:spMkLst>
        </pc:spChg>
      </pc:sldChg>
      <pc:sldChg chg="del">
        <pc:chgData name="MOHD SARTAJ" userId="0be50391adb133e1" providerId="LiveId" clId="{849D2220-9185-4955-8F14-CE40930C4662}" dt="2026-06-08T11:44:12.589" v="14" actId="47"/>
        <pc:sldMkLst>
          <pc:docMk/>
          <pc:sldMk cId="928345769" sldId="389"/>
        </pc:sldMkLst>
      </pc:sldChg>
      <pc:sldChg chg="addSp delSp modSp mod">
        <pc:chgData name="MOHD SARTAJ" userId="0be50391adb133e1" providerId="LiveId" clId="{849D2220-9185-4955-8F14-CE40930C4662}" dt="2026-06-17T04:54:43.755" v="799" actId="14100"/>
        <pc:sldMkLst>
          <pc:docMk/>
          <pc:sldMk cId="3429158645" sldId="391"/>
        </pc:sldMkLst>
        <pc:graphicFrameChg chg="del">
          <ac:chgData name="MOHD SARTAJ" userId="0be50391adb133e1" providerId="LiveId" clId="{849D2220-9185-4955-8F14-CE40930C4662}" dt="2026-06-17T04:49:08.454" v="760" actId="478"/>
          <ac:graphicFrameMkLst>
            <pc:docMk/>
            <pc:sldMk cId="3429158645" sldId="391"/>
            <ac:graphicFrameMk id="8" creationId="{657423A0-3808-F3A6-531B-3DDC57AB1A08}"/>
          </ac:graphicFrameMkLst>
        </pc:graphicFrameChg>
        <pc:picChg chg="add mod">
          <ac:chgData name="MOHD SARTAJ" userId="0be50391adb133e1" providerId="LiveId" clId="{849D2220-9185-4955-8F14-CE40930C4662}" dt="2026-06-17T04:54:43.755" v="799" actId="14100"/>
          <ac:picMkLst>
            <pc:docMk/>
            <pc:sldMk cId="3429158645" sldId="391"/>
            <ac:picMk id="3" creationId="{E7136AD0-68B4-9895-2CB4-1669BB7A58D6}"/>
          </ac:picMkLst>
        </pc:picChg>
      </pc:sldChg>
      <pc:sldChg chg="delSp modSp del mod">
        <pc:chgData name="MOHD SARTAJ" userId="0be50391adb133e1" providerId="LiveId" clId="{849D2220-9185-4955-8F14-CE40930C4662}" dt="2026-06-09T04:54:13.353" v="161" actId="47"/>
        <pc:sldMkLst>
          <pc:docMk/>
          <pc:sldMk cId="3847617553" sldId="393"/>
        </pc:sldMkLst>
      </pc:sldChg>
      <pc:sldChg chg="delSp modSp mod">
        <pc:chgData name="MOHD SARTAJ" userId="0be50391adb133e1" providerId="LiveId" clId="{849D2220-9185-4955-8F14-CE40930C4662}" dt="2026-06-09T04:59:19.453" v="237" actId="20577"/>
        <pc:sldMkLst>
          <pc:docMk/>
          <pc:sldMk cId="3092581148" sldId="395"/>
        </pc:sldMkLst>
        <pc:spChg chg="mod">
          <ac:chgData name="MOHD SARTAJ" userId="0be50391adb133e1" providerId="LiveId" clId="{849D2220-9185-4955-8F14-CE40930C4662}" dt="2026-06-09T04:58:08.546" v="222" actId="207"/>
          <ac:spMkLst>
            <pc:docMk/>
            <pc:sldMk cId="3092581148" sldId="395"/>
            <ac:spMk id="3" creationId="{00000000-0000-0000-0000-000000000000}"/>
          </ac:spMkLst>
        </pc:spChg>
        <pc:spChg chg="mod">
          <ac:chgData name="MOHD SARTAJ" userId="0be50391adb133e1" providerId="LiveId" clId="{849D2220-9185-4955-8F14-CE40930C4662}" dt="2026-06-09T04:59:19.453" v="237" actId="20577"/>
          <ac:spMkLst>
            <pc:docMk/>
            <pc:sldMk cId="3092581148" sldId="395"/>
            <ac:spMk id="5" creationId="{00000000-0000-0000-0000-000000000000}"/>
          </ac:spMkLst>
        </pc:spChg>
      </pc:sldChg>
      <pc:sldChg chg="addSp delSp modSp mod modAnim">
        <pc:chgData name="MOHD SARTAJ" userId="0be50391adb133e1" providerId="LiveId" clId="{849D2220-9185-4955-8F14-CE40930C4662}" dt="2026-06-09T05:01:27.087" v="459" actId="20577"/>
        <pc:sldMkLst>
          <pc:docMk/>
          <pc:sldMk cId="2304998768" sldId="396"/>
        </pc:sldMkLst>
        <pc:spChg chg="mod">
          <ac:chgData name="MOHD SARTAJ" userId="0be50391adb133e1" providerId="LiveId" clId="{849D2220-9185-4955-8F14-CE40930C4662}" dt="2026-06-09T05:01:27.087" v="459" actId="20577"/>
          <ac:spMkLst>
            <pc:docMk/>
            <pc:sldMk cId="2304998768" sldId="396"/>
            <ac:spMk id="12" creationId="{85AAAFDC-16BA-7773-438B-D81E32C3A1B2}"/>
          </ac:spMkLst>
        </pc:spChg>
        <pc:picChg chg="add mod">
          <ac:chgData name="MOHD SARTAJ" userId="0be50391adb133e1" providerId="LiveId" clId="{849D2220-9185-4955-8F14-CE40930C4662}" dt="2026-06-09T05:00:10.222" v="368" actId="1037"/>
          <ac:picMkLst>
            <pc:docMk/>
            <pc:sldMk cId="2304998768" sldId="396"/>
            <ac:picMk id="2" creationId="{5142511B-C2DE-9F45-15B9-F1C4DB85FE2B}"/>
          </ac:picMkLst>
        </pc:picChg>
        <pc:picChg chg="add mod modCrop">
          <ac:chgData name="MOHD SARTAJ" userId="0be50391adb133e1" providerId="LiveId" clId="{849D2220-9185-4955-8F14-CE40930C4662}" dt="2026-06-09T05:01:18.720" v="458" actId="1035"/>
          <ac:picMkLst>
            <pc:docMk/>
            <pc:sldMk cId="2304998768" sldId="396"/>
            <ac:picMk id="4" creationId="{87A9A409-99DE-B43B-E937-A537D657792D}"/>
          </ac:picMkLst>
        </pc:picChg>
      </pc:sldChg>
      <pc:sldChg chg="addSp delSp modSp add mod">
        <pc:chgData name="MOHD SARTAJ" userId="0be50391adb133e1" providerId="LiveId" clId="{849D2220-9185-4955-8F14-CE40930C4662}" dt="2026-06-17T04:54:02.559" v="790" actId="1035"/>
        <pc:sldMkLst>
          <pc:docMk/>
          <pc:sldMk cId="0" sldId="397"/>
        </pc:sldMkLst>
        <pc:spChg chg="del">
          <ac:chgData name="MOHD SARTAJ" userId="0be50391adb133e1" providerId="LiveId" clId="{849D2220-9185-4955-8F14-CE40930C4662}" dt="2026-06-17T04:53:54.626" v="785" actId="478"/>
          <ac:spMkLst>
            <pc:docMk/>
            <pc:sldMk cId="0" sldId="397"/>
            <ac:spMk id="178" creationId="{00000000-0000-0000-0000-000000000000}"/>
          </ac:spMkLst>
        </pc:spChg>
        <pc:graphicFrameChg chg="del">
          <ac:chgData name="MOHD SARTAJ" userId="0be50391adb133e1" providerId="LiveId" clId="{849D2220-9185-4955-8F14-CE40930C4662}" dt="2026-06-17T04:53:08.921" v="778" actId="478"/>
          <ac:graphicFrameMkLst>
            <pc:docMk/>
            <pc:sldMk cId="0" sldId="397"/>
            <ac:graphicFrameMk id="2" creationId="{C5F9D354-9549-31C2-B913-726DED49C851}"/>
          </ac:graphicFrameMkLst>
        </pc:graphicFrameChg>
        <pc:picChg chg="add mod">
          <ac:chgData name="MOHD SARTAJ" userId="0be50391adb133e1" providerId="LiveId" clId="{849D2220-9185-4955-8F14-CE40930C4662}" dt="2026-06-17T04:54:02.559" v="790" actId="1035"/>
          <ac:picMkLst>
            <pc:docMk/>
            <pc:sldMk cId="0" sldId="397"/>
            <ac:picMk id="4" creationId="{240CDDA6-98BC-7AF9-E703-0C24F6935072}"/>
          </ac:picMkLst>
        </pc:picChg>
      </pc:sldChg>
      <pc:sldChg chg="addSp delSp modSp add mod delAnim modAnim">
        <pc:chgData name="MOHD SARTAJ" userId="0be50391adb133e1" providerId="LiveId" clId="{849D2220-9185-4955-8F14-CE40930C4662}" dt="2026-06-09T04:54:06.964" v="160" actId="14100"/>
        <pc:sldMkLst>
          <pc:docMk/>
          <pc:sldMk cId="1238478433" sldId="398"/>
        </pc:sldMkLst>
        <pc:spChg chg="add mod">
          <ac:chgData name="MOHD SARTAJ" userId="0be50391adb133e1" providerId="LiveId" clId="{849D2220-9185-4955-8F14-CE40930C4662}" dt="2026-06-09T04:52:37.427" v="126" actId="207"/>
          <ac:spMkLst>
            <pc:docMk/>
            <pc:sldMk cId="1238478433" sldId="398"/>
            <ac:spMk id="5" creationId="{75843C2A-E0A7-BCCB-90B7-A0F94D7F83CD}"/>
          </ac:spMkLst>
        </pc:spChg>
        <pc:spChg chg="add mod">
          <ac:chgData name="MOHD SARTAJ" userId="0be50391adb133e1" providerId="LiveId" clId="{849D2220-9185-4955-8F14-CE40930C4662}" dt="2026-06-09T04:54:06.964" v="160" actId="14100"/>
          <ac:spMkLst>
            <pc:docMk/>
            <pc:sldMk cId="1238478433" sldId="398"/>
            <ac:spMk id="7" creationId="{61418A52-DB9B-6F83-FF67-917391EA825B}"/>
          </ac:spMkLst>
        </pc:spChg>
      </pc:sldChg>
      <pc:sldChg chg="addSp delSp modSp add mod delAnim">
        <pc:chgData name="MOHD SARTAJ" userId="0be50391adb133e1" providerId="LiveId" clId="{849D2220-9185-4955-8F14-CE40930C4662}" dt="2026-06-09T04:55:11.160" v="168" actId="2711"/>
        <pc:sldMkLst>
          <pc:docMk/>
          <pc:sldMk cId="4052352796" sldId="399"/>
        </pc:sldMkLst>
        <pc:spChg chg="add mod">
          <ac:chgData name="MOHD SARTAJ" userId="0be50391adb133e1" providerId="LiveId" clId="{849D2220-9185-4955-8F14-CE40930C4662}" dt="2026-06-09T04:55:11.160" v="168" actId="2711"/>
          <ac:spMkLst>
            <pc:docMk/>
            <pc:sldMk cId="4052352796" sldId="399"/>
            <ac:spMk id="3" creationId="{9ADD4A1D-6EC2-D652-55A2-9458409CE936}"/>
          </ac:spMkLst>
        </pc:spChg>
      </pc:sldChg>
      <pc:sldChg chg="add">
        <pc:chgData name="MOHD SARTAJ" userId="0be50391adb133e1" providerId="LiveId" clId="{849D2220-9185-4955-8F14-CE40930C4662}" dt="2026-06-09T04:54:46.515" v="162" actId="2890"/>
        <pc:sldMkLst>
          <pc:docMk/>
          <pc:sldMk cId="3434987201" sldId="400"/>
        </pc:sldMkLst>
      </pc:sldChg>
      <pc:sldChg chg="addSp delSp modSp add mod delAnim modAnim">
        <pc:chgData name="MOHD SARTAJ" userId="0be50391adb133e1" providerId="LiveId" clId="{849D2220-9185-4955-8F14-CE40930C4662}" dt="2026-06-09T04:57:05.615" v="195" actId="14100"/>
        <pc:sldMkLst>
          <pc:docMk/>
          <pc:sldMk cId="4144697773" sldId="401"/>
        </pc:sldMkLst>
        <pc:spChg chg="add mod">
          <ac:chgData name="MOHD SARTAJ" userId="0be50391adb133e1" providerId="LiveId" clId="{849D2220-9185-4955-8F14-CE40930C4662}" dt="2026-06-09T04:57:05.615" v="195" actId="14100"/>
          <ac:spMkLst>
            <pc:docMk/>
            <pc:sldMk cId="4144697773" sldId="401"/>
            <ac:spMk id="3" creationId="{9386D610-0931-837C-F3EB-4C6F7D3F27F2}"/>
          </ac:spMkLst>
        </pc:spChg>
        <pc:spChg chg="mod">
          <ac:chgData name="MOHD SARTAJ" userId="0be50391adb133e1" providerId="LiveId" clId="{849D2220-9185-4955-8F14-CE40930C4662}" dt="2026-06-09T04:57:00.502" v="194" actId="313"/>
          <ac:spMkLst>
            <pc:docMk/>
            <pc:sldMk cId="4144697773" sldId="401"/>
            <ac:spMk id="5" creationId="{58C98CE3-27A2-B5DB-5577-2C4181A25E77}"/>
          </ac:spMkLst>
        </pc:spChg>
      </pc:sldChg>
      <pc:sldChg chg="addSp delSp modSp add mod delAnim modAnim">
        <pc:chgData name="MOHD SARTAJ" userId="0be50391adb133e1" providerId="LiveId" clId="{849D2220-9185-4955-8F14-CE40930C4662}" dt="2026-06-09T05:02:04.989" v="543" actId="14100"/>
        <pc:sldMkLst>
          <pc:docMk/>
          <pc:sldMk cId="977199325" sldId="402"/>
        </pc:sldMkLst>
        <pc:picChg chg="add mod">
          <ac:chgData name="MOHD SARTAJ" userId="0be50391adb133e1" providerId="LiveId" clId="{849D2220-9185-4955-8F14-CE40930C4662}" dt="2026-06-09T05:02:04.989" v="543" actId="14100"/>
          <ac:picMkLst>
            <pc:docMk/>
            <pc:sldMk cId="977199325" sldId="402"/>
            <ac:picMk id="3" creationId="{47D5966F-6DD0-A02A-CD28-1B79F5F00335}"/>
          </ac:picMkLst>
        </pc:picChg>
      </pc:sldChg>
      <pc:sldChg chg="addSp delSp modSp add mod">
        <pc:chgData name="MOHD SARTAJ" userId="0be50391adb133e1" providerId="LiveId" clId="{849D2220-9185-4955-8F14-CE40930C4662}" dt="2026-06-09T05:04:40.720" v="587" actId="14100"/>
        <pc:sldMkLst>
          <pc:docMk/>
          <pc:sldMk cId="2671781255" sldId="403"/>
        </pc:sldMkLst>
        <pc:spChg chg="mod">
          <ac:chgData name="MOHD SARTAJ" userId="0be50391adb133e1" providerId="LiveId" clId="{849D2220-9185-4955-8F14-CE40930C4662}" dt="2026-06-09T05:02:54.331" v="554" actId="20577"/>
          <ac:spMkLst>
            <pc:docMk/>
            <pc:sldMk cId="2671781255" sldId="403"/>
            <ac:spMk id="3" creationId="{86B4D3BC-20E0-5ED5-E116-E201E5F7C9B9}"/>
          </ac:spMkLst>
        </pc:spChg>
        <pc:graphicFrameChg chg="add mod modGraphic">
          <ac:chgData name="MOHD SARTAJ" userId="0be50391adb133e1" providerId="LiveId" clId="{849D2220-9185-4955-8F14-CE40930C4662}" dt="2026-06-09T05:04:40.720" v="587" actId="14100"/>
          <ac:graphicFrameMkLst>
            <pc:docMk/>
            <pc:sldMk cId="2671781255" sldId="403"/>
            <ac:graphicFrameMk id="2" creationId="{1F0F8702-C3B2-434D-3337-CB58F79765BB}"/>
          </ac:graphicFrameMkLst>
        </pc:graphicFrameChg>
      </pc:sldChg>
      <pc:sldChg chg="addSp delSp modSp add mod">
        <pc:chgData name="MOHD SARTAJ" userId="0be50391adb133e1" providerId="LiveId" clId="{849D2220-9185-4955-8F14-CE40930C4662}" dt="2026-06-09T05:10:09.673" v="756" actId="20577"/>
        <pc:sldMkLst>
          <pc:docMk/>
          <pc:sldMk cId="813764897" sldId="404"/>
        </pc:sldMkLst>
        <pc:spChg chg="mod">
          <ac:chgData name="MOHD SARTAJ" userId="0be50391adb133e1" providerId="LiveId" clId="{849D2220-9185-4955-8F14-CE40930C4662}" dt="2026-06-09T05:05:18.950" v="623" actId="20577"/>
          <ac:spMkLst>
            <pc:docMk/>
            <pc:sldMk cId="813764897" sldId="404"/>
            <ac:spMk id="3" creationId="{E1D83212-B57E-5255-2071-D678658E9944}"/>
          </ac:spMkLst>
        </pc:spChg>
        <pc:spChg chg="add mod">
          <ac:chgData name="MOHD SARTAJ" userId="0be50391adb133e1" providerId="LiveId" clId="{849D2220-9185-4955-8F14-CE40930C4662}" dt="2026-06-09T05:10:09.673" v="756" actId="20577"/>
          <ac:spMkLst>
            <pc:docMk/>
            <pc:sldMk cId="813764897" sldId="404"/>
            <ac:spMk id="4" creationId="{F9CD415D-E839-DF27-7D6D-77005CA001F7}"/>
          </ac:spMkLst>
        </pc:spChg>
        <pc:picChg chg="add mod">
          <ac:chgData name="MOHD SARTAJ" userId="0be50391adb133e1" providerId="LiveId" clId="{849D2220-9185-4955-8F14-CE40930C4662}" dt="2026-06-09T05:08:34.029" v="727" actId="1035"/>
          <ac:picMkLst>
            <pc:docMk/>
            <pc:sldMk cId="813764897" sldId="404"/>
            <ac:picMk id="5" creationId="{87E02143-1CFD-F200-B02B-DA31A63015C5}"/>
          </ac:picMkLst>
        </pc:picChg>
      </pc:sldChg>
      <pc:sldChg chg="addSp delSp modSp add del mod">
        <pc:chgData name="MOHD SARTAJ" userId="0be50391adb133e1" providerId="LiveId" clId="{849D2220-9185-4955-8F14-CE40930C4662}" dt="2026-06-17T04:50:20.256" v="777" actId="2696"/>
        <pc:sldMkLst>
          <pc:docMk/>
          <pc:sldMk cId="3194607642" sldId="405"/>
        </pc:sldMkLst>
        <pc:spChg chg="add del mod">
          <ac:chgData name="MOHD SARTAJ" userId="0be50391adb133e1" providerId="LiveId" clId="{849D2220-9185-4955-8F14-CE40930C4662}" dt="2026-06-17T04:50:10.783" v="776" actId="21"/>
          <ac:spMkLst>
            <pc:docMk/>
            <pc:sldMk cId="3194607642" sldId="405"/>
            <ac:spMk id="4" creationId="{7937790C-ADEB-DF97-F9CD-B70DB13EE31A}"/>
          </ac:spMkLst>
        </pc:spChg>
        <pc:picChg chg="del">
          <ac:chgData name="MOHD SARTAJ" userId="0be50391adb133e1" providerId="LiveId" clId="{849D2220-9185-4955-8F14-CE40930C4662}" dt="2026-06-17T04:49:56.038" v="772" actId="478"/>
          <ac:picMkLst>
            <pc:docMk/>
            <pc:sldMk cId="3194607642" sldId="405"/>
            <ac:picMk id="3" creationId="{F21657B9-28B5-B830-023F-B08BDBD9A4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D1800-8745-41CE-98C4-1A8E9683EFA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1827B-6B51-4CBA-A430-640550FD2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19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ln w="19050" cap="sq" cmpd="thinThick">
            <a:solidFill>
              <a:schemeClr val="tx1"/>
            </a:solidFill>
            <a:bevel/>
          </a:ln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3B47FB-1014-4E3F-A202-97CAF294BBFC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804329" y="0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2804329" y="87868"/>
            <a:ext cx="61872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and Communication Engineering (CCE)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9FE22BF-3A22-45C1-BADC-3612C6923252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137160" indent="-137160">
              <a:defRPr sz="2000"/>
            </a:lvl1pPr>
            <a:lvl2pPr marL="320040" indent="-182880">
              <a:buFont typeface="Wingdings" pitchFamily="2" charset="2"/>
              <a:buChar char="§"/>
              <a:defRPr sz="1800"/>
            </a:lvl2pPr>
            <a:lvl3pPr marL="502920" indent="-182880"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3009795" y="0"/>
            <a:ext cx="6058005" cy="35394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  <a:latin typeface="Calibri" pitchFamily="34" charset="0"/>
              </a:rPr>
              <a:t>Department of Computer and </a:t>
            </a: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</a:rPr>
              <a:t>Communicationq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</a:rPr>
              <a:t> Engineering (CCE)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8FBA39-DF72-4994-AE3E-EC956397032E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EAA8C2-AD78-4A08-97C1-7880ACA86760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941DD2-BE40-42EF-BE9B-37235D106842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09800"/>
            <a:ext cx="8229600" cy="4267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A3FED77-7F8B-42FB-90D9-9BA3AA4B5ED2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E70A9A-FC41-4977-87E1-5137B94BBBE9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clip art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FB01BE1-5921-4F4D-BEEE-4110B37F70CF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7529B5-CB12-4891-8714-5395C4349968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085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9828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8114-92B6-485C-9D7C-33C0F2D19E32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7420-AE2F-46C2-A51D-EA322C534D4A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3D806-A92A-4227-9EBD-5B09BCC1B63A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1BACD-3D2D-4E8C-BFC9-781CD37DA74B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2B6-0301-42A6-AAC9-3B4B3CDB7139}" type="datetime1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6920-A8BE-44DD-AD21-3EDBA244350E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E573-BDBB-443C-AF66-523F61CBD3C1}" type="datetime1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69C94-3EFE-4BF8-9DAB-DB051961D6B6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03AA5-C9EF-42E8-BEBB-2D7415ACA616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760F-EA06-476B-88E2-C8C883D1FBCF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09D6-FB21-4FF6-A094-05A48687AB18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00800"/>
            <a:ext cx="9144000" cy="0"/>
          </a:xfrm>
          <a:prstGeom prst="line">
            <a:avLst/>
          </a:prstGeom>
          <a:ln w="88900" cmpd="thickThin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420" name="Picture 4" descr="https://encrypted-tbn3.gstatic.com/images?q=tbn:ANd9GcTyg3Gq4WoxkxO75aZWNEjYFvavmMfWdiMvs57jpDF8YRR3yCybqQ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52400" y="152400"/>
            <a:ext cx="768000" cy="12192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41" r:id="rId12"/>
    <p:sldLayoutId id="2147483842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Cambr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185A7-633E-4B7E-B771-6D7F5F578687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hKu0lQW0a8&amp;list=PLFW6lRTa1g83LYdhDkUQfkXs7EbMBwYuF" TargetMode="External"/><Relationship Id="rId2" Type="http://schemas.openxmlformats.org/officeDocument/2006/relationships/hyperlink" Target="https://www.youtube.com/watch?v=PJRSu0Vf0r0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hyperlink" Target="https://youtu.be/E40r8DWgG40?si=xdQYxAO2ykEdTx9h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16787"/>
              </p:ext>
            </p:extLst>
          </p:nvPr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5094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6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Chapter:</a:t>
            </a:r>
            <a:r>
              <a:rPr lang="en-US" b="1" kern="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1.1.1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  <a:latin typeface="+mj-lt"/>
              </a:rPr>
              <a:t>CO mappings</a:t>
            </a:r>
            <a:endParaRPr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6" y="1676400"/>
            <a:ext cx="8805044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112441" cy="6096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76400"/>
            <a:ext cx="86868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4200" y="279185"/>
            <a:ext cx="54864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GB" spc="-69" dirty="0">
                <a:solidFill>
                  <a:srgbClr val="FF0000"/>
                </a:solidFill>
                <a:latin typeface="+mj-lt"/>
              </a:rPr>
              <a:t>Topics Overview </a:t>
            </a:r>
            <a:endParaRPr spc="-2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4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64BE0-B5FE-416B-C8AC-E482358E482D}"/>
              </a:ext>
            </a:extLst>
          </p:cNvPr>
          <p:cNvSpPr txBox="1"/>
          <p:nvPr/>
        </p:nvSpPr>
        <p:spPr>
          <a:xfrm>
            <a:off x="838200" y="1660694"/>
            <a:ext cx="78025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Propositions</a:t>
            </a:r>
            <a:endParaRPr lang="en-US" sz="2400" dirty="0">
              <a:effectLst/>
              <a:latin typeface="+mj-lt"/>
              <a:ea typeface="Cambria" panose="020405030504060302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j-lt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+mj-lt"/>
                <a:ea typeface="Cambria" panose="02040503050406030204" pitchFamily="18" charset="0"/>
              </a:rPr>
              <a:t>Logical connections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j-lt"/>
                <a:ea typeface="Cambria" panose="02040503050406030204" pitchFamily="18" charset="0"/>
              </a:rPr>
              <a:t>Truth Table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j-lt"/>
                <a:ea typeface="Cambria" panose="02040503050406030204" pitchFamily="18" charset="0"/>
              </a:rPr>
              <a:t> Conclusions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Video links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References </a:t>
            </a: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9389D-DCB8-82D7-566B-F09DF257B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9D256C79-49C8-AD53-AB69-6FD455E59457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5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CB29F8A6-B81D-E4A6-CA84-848031B9DDA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843C2A-E0A7-BCCB-90B7-A0F94D7F83CD}"/>
              </a:ext>
            </a:extLst>
          </p:cNvPr>
          <p:cNvSpPr txBox="1"/>
          <p:nvPr/>
        </p:nvSpPr>
        <p:spPr>
          <a:xfrm>
            <a:off x="3080779" y="228600"/>
            <a:ext cx="55298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44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Introduction to Propositions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18A52-DB9B-6F83-FF67-917391EA825B}"/>
              </a:ext>
            </a:extLst>
          </p:cNvPr>
          <p:cNvSpPr txBox="1"/>
          <p:nvPr/>
        </p:nvSpPr>
        <p:spPr>
          <a:xfrm>
            <a:off x="457200" y="1824856"/>
            <a:ext cx="8134349" cy="4347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i="0" u="sng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</a:t>
            </a:r>
            <a:r>
              <a:rPr lang="en-US" sz="24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is a declarative sentence (that is, a sentence that declares a fact) that is either 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 or false, but not both</a:t>
            </a:r>
            <a:r>
              <a:rPr lang="en-US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letters 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p, q, r, s, . . . .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to denote </a:t>
            </a:r>
            <a:r>
              <a:rPr lang="en-IN" sz="24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propositional variables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(or </a:t>
            </a:r>
            <a:r>
              <a:rPr lang="en-IN" sz="24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 variables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indent="-342900">
              <a:spcBef>
                <a:spcPts val="69"/>
              </a:spcBef>
              <a:buFont typeface="Arial" panose="020B0604020202020204" pitchFamily="34" charset="0"/>
              <a:buChar char="•"/>
            </a:pPr>
            <a:r>
              <a:rPr lang="en-US" sz="2400" b="1" spc="-20" dirty="0"/>
              <a:t>Examples:</a:t>
            </a:r>
          </a:p>
          <a:p>
            <a:pPr marL="230921" indent="0">
              <a:spcBef>
                <a:spcPts val="662"/>
              </a:spcBef>
              <a:buNone/>
            </a:pP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 “2</a:t>
            </a:r>
            <a:r>
              <a:rPr lang="en-US" sz="2400" spc="69" dirty="0"/>
              <a:t> </a:t>
            </a:r>
            <a:r>
              <a:rPr lang="en-US" sz="2400" dirty="0"/>
              <a:t>+</a:t>
            </a:r>
            <a:r>
              <a:rPr lang="en-US" sz="2400" spc="89" dirty="0"/>
              <a:t> </a:t>
            </a:r>
            <a:r>
              <a:rPr lang="en-US" sz="2400" dirty="0"/>
              <a:t>2</a:t>
            </a:r>
            <a:r>
              <a:rPr lang="en-US" sz="2400" spc="79" dirty="0"/>
              <a:t> </a:t>
            </a:r>
            <a:r>
              <a:rPr lang="en-US" sz="2400" dirty="0"/>
              <a:t>=</a:t>
            </a:r>
            <a:r>
              <a:rPr lang="en-US" sz="2400" spc="89" dirty="0"/>
              <a:t> </a:t>
            </a:r>
            <a:r>
              <a:rPr lang="en-US" sz="2400" dirty="0"/>
              <a:t>4”</a:t>
            </a:r>
            <a:r>
              <a:rPr lang="en-US" sz="2400" spc="89" dirty="0"/>
              <a:t> </a:t>
            </a:r>
            <a:r>
              <a:rPr lang="en-US" sz="2400" spc="-20" dirty="0"/>
              <a:t>(True)</a:t>
            </a:r>
          </a:p>
          <a:p>
            <a:pPr marL="230921" indent="0">
              <a:spcBef>
                <a:spcPts val="654"/>
              </a:spcBef>
              <a:buNone/>
            </a:pPr>
            <a:r>
              <a:rPr lang="en-US" sz="2400" dirty="0"/>
              <a:t>(ii) “x</a:t>
            </a:r>
            <a:r>
              <a:rPr lang="en-US" sz="2400" spc="-10" dirty="0"/>
              <a:t> </a:t>
            </a:r>
            <a:r>
              <a:rPr lang="en-US" sz="2400" dirty="0"/>
              <a:t>+</a:t>
            </a:r>
            <a:r>
              <a:rPr lang="en-US" sz="2400" spc="10" dirty="0"/>
              <a:t> </a:t>
            </a:r>
            <a:r>
              <a:rPr lang="en-US" sz="2400" dirty="0"/>
              <a:t>3 =</a:t>
            </a:r>
            <a:r>
              <a:rPr lang="en-US" sz="2400" spc="10" dirty="0"/>
              <a:t> </a:t>
            </a:r>
            <a:r>
              <a:rPr lang="en-US" sz="2400" dirty="0"/>
              <a:t>5”</a:t>
            </a:r>
            <a:r>
              <a:rPr lang="en-US" sz="2400" spc="10" dirty="0"/>
              <a:t> </a:t>
            </a:r>
            <a:r>
              <a:rPr lang="en-US" sz="2400" dirty="0"/>
              <a:t>is not</a:t>
            </a:r>
            <a:r>
              <a:rPr lang="en-US" sz="2400" spc="-10" dirty="0"/>
              <a:t> </a:t>
            </a:r>
            <a:r>
              <a:rPr lang="en-US" sz="2400" dirty="0"/>
              <a:t>a</a:t>
            </a:r>
            <a:r>
              <a:rPr lang="en-US" sz="2400" spc="10" dirty="0"/>
              <a:t> </a:t>
            </a:r>
            <a:r>
              <a:rPr lang="en-US" sz="2400" spc="-69" dirty="0"/>
              <a:t>proposition</a:t>
            </a:r>
            <a:r>
              <a:rPr lang="en-US" sz="2400" spc="10" dirty="0"/>
              <a:t> </a:t>
            </a:r>
            <a:r>
              <a:rPr lang="en-US" sz="2400" spc="-109" dirty="0"/>
              <a:t>unless</a:t>
            </a:r>
            <a:r>
              <a:rPr lang="en-US" sz="2400" dirty="0"/>
              <a:t> x</a:t>
            </a:r>
            <a:r>
              <a:rPr lang="en-US" sz="2400" spc="10" dirty="0"/>
              <a:t> </a:t>
            </a:r>
            <a:r>
              <a:rPr lang="en-US" sz="2400" dirty="0"/>
              <a:t>is </a:t>
            </a:r>
            <a:r>
              <a:rPr lang="en-US" sz="2400" spc="-20" dirty="0"/>
              <a:t>known.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47843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AF23-FD43-87DF-C36F-B65C6E4B6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3144BA8D-0270-7311-93D5-BC86E221898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6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93552FE0-AA20-9946-EC68-A096811D32D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F42DA2-410D-FF3D-F7C0-A0A14393DC5C}"/>
              </a:ext>
            </a:extLst>
          </p:cNvPr>
          <p:cNvSpPr txBox="1"/>
          <p:nvPr/>
        </p:nvSpPr>
        <p:spPr>
          <a:xfrm>
            <a:off x="3080779" y="228600"/>
            <a:ext cx="55298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44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Introduction to Propositions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DD4A1D-6EC2-D652-55A2-9458409CE936}"/>
              </a:ext>
            </a:extLst>
          </p:cNvPr>
          <p:cNvSpPr txBox="1"/>
          <p:nvPr/>
        </p:nvSpPr>
        <p:spPr>
          <a:xfrm>
            <a:off x="685800" y="2024420"/>
            <a:ext cx="7924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cs typeface="Arial" panose="020B0604020202020204" pitchFamily="34" charset="0"/>
              </a:rPr>
              <a:t>The </a:t>
            </a:r>
            <a:r>
              <a:rPr lang="en-US" sz="2400" b="1" dirty="0">
                <a:latin typeface="+mj-lt"/>
                <a:cs typeface="Arial" panose="020B0604020202020204" pitchFamily="34" charset="0"/>
              </a:rPr>
              <a:t>truth value 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of a proposition is true, denoted by </a:t>
            </a:r>
            <a:r>
              <a:rPr lang="en-US" sz="2400" b="1" dirty="0">
                <a:latin typeface="+mj-lt"/>
                <a:cs typeface="Arial" panose="020B0604020202020204" pitchFamily="34" charset="0"/>
              </a:rPr>
              <a:t>T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, if it is a </a:t>
            </a:r>
            <a:r>
              <a:rPr lang="en-US" sz="2400" b="1" dirty="0">
                <a:latin typeface="+mj-lt"/>
                <a:cs typeface="Arial" panose="020B0604020202020204" pitchFamily="34" charset="0"/>
              </a:rPr>
              <a:t>true proposition.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+mj-lt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cs typeface="Arial" panose="020B0604020202020204" pitchFamily="34" charset="0"/>
              </a:rPr>
              <a:t>The </a:t>
            </a:r>
            <a:r>
              <a:rPr lang="en-US" sz="2400" b="1" dirty="0">
                <a:latin typeface="+mj-lt"/>
                <a:cs typeface="Arial" panose="020B0604020202020204" pitchFamily="34" charset="0"/>
              </a:rPr>
              <a:t>truth value 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of a proposition is false, denoted by </a:t>
            </a:r>
            <a:r>
              <a:rPr lang="en-US" sz="2400" b="1" dirty="0">
                <a:latin typeface="+mj-lt"/>
                <a:cs typeface="Arial" panose="020B0604020202020204" pitchFamily="34" charset="0"/>
              </a:rPr>
              <a:t>F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, if it is a </a:t>
            </a:r>
            <a:r>
              <a:rPr lang="en-US" sz="2400" b="1" dirty="0">
                <a:latin typeface="+mj-lt"/>
                <a:cs typeface="Arial" panose="020B0604020202020204" pitchFamily="34" charset="0"/>
              </a:rPr>
              <a:t>false proposition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+mj-lt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cs typeface="Arial" panose="020B0604020202020204" pitchFamily="34" charset="0"/>
              </a:rPr>
              <a:t>The area of logic that deals with propositions is called the </a:t>
            </a:r>
            <a:r>
              <a:rPr lang="en-US" sz="2400" b="1" dirty="0">
                <a:latin typeface="+mj-lt"/>
                <a:cs typeface="Arial" panose="020B0604020202020204" pitchFamily="34" charset="0"/>
              </a:rPr>
              <a:t>propositional calculus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 (or </a:t>
            </a:r>
            <a:r>
              <a:rPr lang="en-US" sz="2400" b="1" dirty="0">
                <a:latin typeface="+mj-lt"/>
                <a:cs typeface="Arial" panose="020B0604020202020204" pitchFamily="34" charset="0"/>
              </a:rPr>
              <a:t>propositional </a:t>
            </a:r>
            <a:r>
              <a:rPr lang="en-IN" sz="2400" b="1" dirty="0">
                <a:latin typeface="+mj-lt"/>
                <a:cs typeface="Arial" panose="020B0604020202020204" pitchFamily="34" charset="0"/>
              </a:rPr>
              <a:t>logic</a:t>
            </a:r>
            <a:r>
              <a:rPr lang="en-IN" sz="2400" dirty="0">
                <a:latin typeface="+mj-lt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52352796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8E51-C8E3-DB31-CD91-C9E43997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455E2022-5EC9-2B83-BD2F-68BF2CCC4507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7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FA7E0F3-DD09-1E0C-0BD6-23540248219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F01EBD-3AD4-87B1-2791-0A21231F6FE7}"/>
              </a:ext>
            </a:extLst>
          </p:cNvPr>
          <p:cNvSpPr txBox="1"/>
          <p:nvPr/>
        </p:nvSpPr>
        <p:spPr>
          <a:xfrm>
            <a:off x="3080779" y="228600"/>
            <a:ext cx="55298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44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Introduction to Propositions</a:t>
            </a:r>
            <a:endParaRPr lang="en-IN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E46440C-26AB-D808-2A1E-C742D4A02464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2514600"/>
          <a:ext cx="7162801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956">
                  <a:extLst>
                    <a:ext uri="{9D8B030D-6E8A-4147-A177-3AD203B41FA5}">
                      <a16:colId xmlns:a16="http://schemas.microsoft.com/office/drawing/2014/main" val="3880790550"/>
                    </a:ext>
                  </a:extLst>
                </a:gridCol>
                <a:gridCol w="3475845">
                  <a:extLst>
                    <a:ext uri="{9D8B030D-6E8A-4147-A177-3AD203B41FA5}">
                      <a16:colId xmlns:a16="http://schemas.microsoft.com/office/drawing/2014/main" val="339524484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Propositions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Non-Propositions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78679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Times-Roman"/>
                          <a:ea typeface="+mn-ea"/>
                          <a:cs typeface="+mn-cs"/>
                        </a:rPr>
                        <a:t>5 is an even number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imes-Roman"/>
                        </a:rPr>
                        <a:t>W</a:t>
                      </a:r>
                      <a:r>
                        <a:rPr lang="en-US" sz="1800" b="0" u="none" strike="noStrike" baseline="0" dirty="0">
                          <a:latin typeface="Times-Roman"/>
                        </a:rPr>
                        <a:t>hat time is it?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62129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Times-Roman"/>
                          <a:ea typeface="+mn-ea"/>
                          <a:cs typeface="+mn-cs"/>
                        </a:rPr>
                        <a:t>Paris is the capital of France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Times-Roman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u="none" strike="noStrike" baseline="0" dirty="0">
                          <a:latin typeface="Times-Roman"/>
                        </a:rPr>
                        <a:t>Read this carefully.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83799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dk1"/>
                          </a:solidFill>
                          <a:latin typeface="Times-Roman"/>
                          <a:ea typeface="+mn-ea"/>
                          <a:cs typeface="+mn-cs"/>
                        </a:rPr>
                        <a:t>The Earth is 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u="none" strike="noStrike" baseline="0" dirty="0">
                          <a:latin typeface="MTMI"/>
                        </a:rPr>
                        <a:t>x </a:t>
                      </a:r>
                      <a:r>
                        <a:rPr lang="en-IN" sz="1800" b="0" u="none" strike="noStrike" baseline="0" dirty="0">
                          <a:latin typeface="MTSYN"/>
                        </a:rPr>
                        <a:t>+ </a:t>
                      </a:r>
                      <a:r>
                        <a:rPr lang="en-IN" sz="1800" b="0" u="none" strike="noStrike" baseline="0" dirty="0">
                          <a:latin typeface="Times-Roman"/>
                        </a:rPr>
                        <a:t>1 </a:t>
                      </a:r>
                      <a:r>
                        <a:rPr lang="en-IN" sz="1800" b="0" u="none" strike="noStrike" baseline="0" dirty="0">
                          <a:latin typeface="MTSYN"/>
                        </a:rPr>
                        <a:t>= </a:t>
                      </a:r>
                      <a:r>
                        <a:rPr lang="en-IN" sz="1800" b="0" u="none" strike="noStrike" baseline="0" dirty="0">
                          <a:latin typeface="Times-Roman"/>
                        </a:rPr>
                        <a:t>2.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6615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Times-Roman"/>
                          <a:ea typeface="+mn-ea"/>
                          <a:cs typeface="+mn-cs"/>
                        </a:rPr>
                        <a:t>The Sun rises in the 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u="none" strike="noStrike" baseline="0" dirty="0">
                          <a:latin typeface="MTMI"/>
                        </a:rPr>
                        <a:t>x </a:t>
                      </a:r>
                      <a:r>
                        <a:rPr lang="en-IN" sz="1800" b="0" u="none" strike="noStrike" baseline="0" dirty="0">
                          <a:latin typeface="MTSYN"/>
                        </a:rPr>
                        <a:t>+ </a:t>
                      </a:r>
                      <a:r>
                        <a:rPr lang="en-IN" sz="1800" b="0" u="none" strike="noStrike" baseline="0" dirty="0">
                          <a:latin typeface="MTMI"/>
                        </a:rPr>
                        <a:t>y </a:t>
                      </a:r>
                      <a:r>
                        <a:rPr lang="en-IN" sz="1800" b="0" u="none" strike="noStrike" baseline="0" dirty="0">
                          <a:latin typeface="MTSYN"/>
                        </a:rPr>
                        <a:t>= </a:t>
                      </a:r>
                      <a:r>
                        <a:rPr lang="en-IN" sz="1800" b="0" u="none" strike="noStrike" baseline="0" dirty="0">
                          <a:latin typeface="MTMI"/>
                        </a:rPr>
                        <a:t>z.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53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498720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53F74-4BDB-0114-8718-32B722A6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B0EEAC62-AD70-74DC-8594-7B8FB8E66928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8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D4E756A8-5191-4F9A-FABF-ADA4B427382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C98CE3-27A2-B5DB-5577-2C4181A25E77}"/>
              </a:ext>
            </a:extLst>
          </p:cNvPr>
          <p:cNvSpPr txBox="1"/>
          <p:nvPr/>
        </p:nvSpPr>
        <p:spPr>
          <a:xfrm>
            <a:off x="3080779" y="228600"/>
            <a:ext cx="55298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44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Compound Propositions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6D610-0931-837C-F3EB-4C6F7D3F27F2}"/>
              </a:ext>
            </a:extLst>
          </p:cNvPr>
          <p:cNvSpPr txBox="1"/>
          <p:nvPr/>
        </p:nvSpPr>
        <p:spPr>
          <a:xfrm>
            <a:off x="533400" y="2140464"/>
            <a:ext cx="8153401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cs typeface="Arial" panose="020B0604020202020204" pitchFamily="34" charset="0"/>
              </a:rPr>
              <a:t>Many mathematical statements are constructed by combining one or more propositions. </a:t>
            </a:r>
          </a:p>
          <a:p>
            <a:pPr algn="just"/>
            <a:endParaRPr lang="en-US" sz="2400" dirty="0"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cs typeface="Arial" panose="020B0604020202020204" pitchFamily="34" charset="0"/>
              </a:rPr>
              <a:t>New propositions formed from existing propositions </a:t>
            </a:r>
            <a:r>
              <a:rPr lang="en-IN" sz="2400" i="1" dirty="0">
                <a:cs typeface="Arial" panose="020B0604020202020204" pitchFamily="34" charset="0"/>
              </a:rPr>
              <a:t>p, q, r, s, . . . .</a:t>
            </a:r>
            <a:r>
              <a:rPr lang="en-US" sz="2400" b="0" i="0" u="none" strike="noStrike" baseline="0" dirty="0">
                <a:cs typeface="Arial" panose="020B0604020202020204" pitchFamily="34" charset="0"/>
              </a:rPr>
              <a:t> using logical operators</a:t>
            </a:r>
            <a:r>
              <a:rPr lang="en-US" sz="2400" dirty="0">
                <a:cs typeface="Arial" panose="020B0604020202020204" pitchFamily="34" charset="0"/>
              </a:rPr>
              <a:t> (called </a:t>
            </a:r>
            <a:r>
              <a:rPr lang="en-IN" sz="2400" b="1" u="sng" dirty="0">
                <a:solidFill>
                  <a:srgbClr val="FF0000"/>
                </a:solidFill>
                <a:cs typeface="Arial" panose="020B0604020202020204" pitchFamily="34" charset="0"/>
              </a:rPr>
              <a:t>connectives</a:t>
            </a:r>
            <a:r>
              <a:rPr lang="en-IN" sz="2400" dirty="0">
                <a:cs typeface="Arial" panose="020B0604020202020204" pitchFamily="34" charset="0"/>
              </a:rPr>
              <a:t>) are </a:t>
            </a:r>
            <a:r>
              <a:rPr lang="en-US" sz="2400" b="0" i="0" u="none" strike="noStrike" baseline="0" dirty="0">
                <a:cs typeface="Arial" panose="020B0604020202020204" pitchFamily="34" charset="0"/>
              </a:rPr>
              <a:t>called </a:t>
            </a:r>
            <a:r>
              <a:rPr lang="en-US" sz="2400" b="1" i="0" u="sng" strike="noStrike" baseline="0" dirty="0">
                <a:solidFill>
                  <a:srgbClr val="FF0000"/>
                </a:solidFill>
                <a:cs typeface="Arial" panose="020B0604020202020204" pitchFamily="34" charset="0"/>
              </a:rPr>
              <a:t>compound propositions</a:t>
            </a:r>
            <a:r>
              <a:rPr lang="en-US" sz="2400" dirty="0"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69777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4200" y="152400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pc="-20" dirty="0">
                <a:solidFill>
                  <a:srgbClr val="FF0000"/>
                </a:solidFill>
                <a:latin typeface="+mj-lt"/>
              </a:rPr>
              <a:t>Logical</a:t>
            </a:r>
            <a:r>
              <a:rPr spc="-159" dirty="0">
                <a:solidFill>
                  <a:srgbClr val="FF0000"/>
                </a:solidFill>
                <a:latin typeface="+mj-lt"/>
              </a:rPr>
              <a:t> </a:t>
            </a:r>
            <a:r>
              <a:rPr spc="-79" dirty="0">
                <a:solidFill>
                  <a:srgbClr val="FF0000"/>
                </a:solidFill>
                <a:latin typeface="+mj-lt"/>
              </a:rPr>
              <a:t>Connectives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9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8200" y="2242964"/>
            <a:ext cx="7543800" cy="2292359"/>
          </a:xfrm>
          <a:prstGeom prst="rect">
            <a:avLst/>
          </a:prstGeom>
        </p:spPr>
        <p:txBody>
          <a:bodyPr vert="horz" wrap="square" lIns="0" tIns="109474" rIns="0" bIns="0" rtlCol="0">
            <a:spAutoFit/>
          </a:bodyPr>
          <a:lstStyle/>
          <a:p>
            <a:pPr marL="368068" indent="-342900" defTabSz="1812066"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sz="2400" kern="0" spc="-69" dirty="0">
                <a:solidFill>
                  <a:sysClr val="windowText" lastClr="000000"/>
                </a:solidFill>
                <a:latin typeface="+mj-lt"/>
                <a:cs typeface="Lucida Sans Unicode"/>
              </a:rPr>
              <a:t>¬</a:t>
            </a:r>
            <a:r>
              <a:rPr sz="2400" i="1" kern="0" spc="-69" dirty="0">
                <a:solidFill>
                  <a:sysClr val="windowText" lastClr="000000"/>
                </a:solidFill>
                <a:latin typeface="+mj-lt"/>
                <a:cs typeface="Arial"/>
              </a:rPr>
              <a:t>p</a:t>
            </a:r>
            <a:r>
              <a:rPr sz="2400" kern="0" spc="-69" dirty="0">
                <a:solidFill>
                  <a:sysClr val="windowText" lastClr="000000"/>
                </a:solidFill>
                <a:latin typeface="+mj-lt"/>
                <a:cs typeface="Tahoma"/>
              </a:rPr>
              <a:t>:</a:t>
            </a:r>
            <a:r>
              <a:rPr sz="2400" kern="0" spc="40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kern="0" spc="-50" dirty="0">
                <a:solidFill>
                  <a:sysClr val="windowText" lastClr="000000"/>
                </a:solidFill>
                <a:latin typeface="+mj-lt"/>
                <a:cs typeface="Tahoma"/>
              </a:rPr>
              <a:t>Negation</a:t>
            </a:r>
            <a:r>
              <a:rPr sz="2400" kern="0" spc="-129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(not</a:t>
            </a:r>
            <a:r>
              <a:rPr sz="2400" kern="0" spc="-139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i="1" kern="0" spc="-50" dirty="0">
                <a:solidFill>
                  <a:sysClr val="windowText" lastClr="000000"/>
                </a:solidFill>
                <a:latin typeface="+mj-lt"/>
                <a:cs typeface="Arial"/>
              </a:rPr>
              <a:t>p</a:t>
            </a:r>
            <a:r>
              <a:rPr sz="2400" kern="0" spc="-50" dirty="0">
                <a:solidFill>
                  <a:sysClr val="windowText" lastClr="000000"/>
                </a:solidFill>
                <a:latin typeface="+mj-lt"/>
                <a:cs typeface="Tahoma"/>
              </a:rPr>
              <a:t>)</a:t>
            </a:r>
            <a:endParaRPr sz="2400" kern="0" dirty="0">
              <a:solidFill>
                <a:sysClr val="windowText" lastClr="000000"/>
              </a:solidFill>
              <a:latin typeface="+mj-lt"/>
              <a:cs typeface="Tahoma"/>
            </a:endParaRPr>
          </a:p>
          <a:p>
            <a:pPr marL="368068" marR="425330" indent="-342900" defTabSz="1812066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sz="2400" i="1" kern="0" spc="-119" dirty="0">
                <a:solidFill>
                  <a:sysClr val="windowText" lastClr="000000"/>
                </a:solidFill>
                <a:latin typeface="+mj-lt"/>
                <a:cs typeface="Arial"/>
              </a:rPr>
              <a:t>p</a:t>
            </a:r>
            <a:r>
              <a:rPr sz="2400" i="1" kern="0" spc="-40" dirty="0">
                <a:solidFill>
                  <a:sysClr val="windowText" lastClr="000000"/>
                </a:solidFill>
                <a:latin typeface="+mj-lt"/>
                <a:cs typeface="Arial"/>
              </a:rPr>
              <a:t> </a:t>
            </a:r>
            <a:r>
              <a:rPr sz="2400" kern="0" spc="-307" dirty="0">
                <a:solidFill>
                  <a:sysClr val="windowText" lastClr="000000"/>
                </a:solidFill>
                <a:latin typeface="+mj-lt"/>
                <a:cs typeface="Lucida Sans Unicode"/>
              </a:rPr>
              <a:t>∧</a:t>
            </a:r>
            <a:r>
              <a:rPr sz="2400" kern="0" spc="-208" dirty="0">
                <a:solidFill>
                  <a:sysClr val="windowText" lastClr="000000"/>
                </a:solidFill>
                <a:latin typeface="+mj-lt"/>
                <a:cs typeface="Lucida Sans Unicode"/>
              </a:rPr>
              <a:t> </a:t>
            </a:r>
            <a:r>
              <a:rPr lang="en-IN" sz="2400" kern="0" spc="-208" dirty="0">
                <a:solidFill>
                  <a:sysClr val="windowText" lastClr="000000"/>
                </a:solidFill>
                <a:latin typeface="+mj-lt"/>
                <a:cs typeface="Lucida Sans Unicode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+mj-lt"/>
                <a:cs typeface="Arial"/>
              </a:rPr>
              <a:t>q</a:t>
            </a:r>
            <a:r>
              <a:rPr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:</a:t>
            </a:r>
            <a:r>
              <a:rPr sz="2400" kern="0" spc="69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kern="0" spc="-50" dirty="0">
                <a:solidFill>
                  <a:sysClr val="windowText" lastClr="000000"/>
                </a:solidFill>
                <a:latin typeface="+mj-lt"/>
                <a:cs typeface="Tahoma"/>
              </a:rPr>
              <a:t>Conjunction</a:t>
            </a:r>
            <a:r>
              <a:rPr sz="2400" kern="0" spc="-40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(</a:t>
            </a:r>
            <a:r>
              <a:rPr sz="2400" i="1" kern="0" dirty="0">
                <a:solidFill>
                  <a:sysClr val="windowText" lastClr="000000"/>
                </a:solidFill>
                <a:latin typeface="+mj-lt"/>
                <a:cs typeface="Arial"/>
              </a:rPr>
              <a:t>p</a:t>
            </a:r>
            <a:r>
              <a:rPr sz="2400" i="1" kern="0" spc="119" dirty="0">
                <a:solidFill>
                  <a:sysClr val="windowText" lastClr="000000"/>
                </a:solidFill>
                <a:latin typeface="+mj-lt"/>
                <a:cs typeface="Arial"/>
              </a:rPr>
              <a:t> </a:t>
            </a:r>
            <a:r>
              <a:rPr sz="2400" kern="0" spc="-69" dirty="0">
                <a:solidFill>
                  <a:sysClr val="windowText" lastClr="000000"/>
                </a:solidFill>
                <a:latin typeface="+mj-lt"/>
                <a:cs typeface="Tahoma"/>
              </a:rPr>
              <a:t>and</a:t>
            </a:r>
            <a:r>
              <a:rPr sz="2400" kern="0" spc="-40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i="1" kern="0" spc="-69" dirty="0">
                <a:solidFill>
                  <a:sysClr val="windowText" lastClr="000000"/>
                </a:solidFill>
                <a:latin typeface="+mj-lt"/>
                <a:cs typeface="Arial"/>
              </a:rPr>
              <a:t>q</a:t>
            </a:r>
            <a:r>
              <a:rPr sz="2400" kern="0" spc="-69" dirty="0">
                <a:solidFill>
                  <a:sysClr val="windowText" lastClr="000000"/>
                </a:solidFill>
                <a:latin typeface="+mj-lt"/>
                <a:cs typeface="Tahoma"/>
              </a:rPr>
              <a:t>) </a:t>
            </a:r>
            <a:endParaRPr lang="en-IN" sz="2400" kern="0" spc="-69" dirty="0">
              <a:solidFill>
                <a:sysClr val="windowText" lastClr="000000"/>
              </a:solidFill>
              <a:latin typeface="+mj-lt"/>
              <a:cs typeface="Tahoma"/>
            </a:endParaRPr>
          </a:p>
          <a:p>
            <a:pPr marL="368068" marR="425330" indent="-342900" defTabSz="1812066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sz="2400" i="1" kern="0" spc="-119" dirty="0">
                <a:solidFill>
                  <a:sysClr val="windowText" lastClr="000000"/>
                </a:solidFill>
                <a:latin typeface="+mj-lt"/>
                <a:cs typeface="Arial"/>
              </a:rPr>
              <a:t>p</a:t>
            </a:r>
            <a:r>
              <a:rPr sz="2400" i="1" kern="0" spc="-40" dirty="0">
                <a:solidFill>
                  <a:sysClr val="windowText" lastClr="000000"/>
                </a:solidFill>
                <a:latin typeface="+mj-lt"/>
                <a:cs typeface="Arial"/>
              </a:rPr>
              <a:t> </a:t>
            </a:r>
            <a:r>
              <a:rPr sz="2400" kern="0" spc="-307" dirty="0">
                <a:solidFill>
                  <a:sysClr val="windowText" lastClr="000000"/>
                </a:solidFill>
                <a:latin typeface="+mj-lt"/>
                <a:cs typeface="Lucida Sans Unicode"/>
              </a:rPr>
              <a:t>∨</a:t>
            </a:r>
            <a:r>
              <a:rPr sz="2400" kern="0" spc="-208" dirty="0">
                <a:solidFill>
                  <a:sysClr val="windowText" lastClr="000000"/>
                </a:solidFill>
                <a:latin typeface="+mj-lt"/>
                <a:cs typeface="Lucida Sans Unicode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+mj-lt"/>
                <a:cs typeface="Arial"/>
              </a:rPr>
              <a:t>q</a:t>
            </a:r>
            <a:r>
              <a:rPr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:</a:t>
            </a:r>
            <a:r>
              <a:rPr sz="2400" kern="0" spc="50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kern="0" spc="-50" dirty="0">
                <a:solidFill>
                  <a:sysClr val="windowText" lastClr="000000"/>
                </a:solidFill>
                <a:latin typeface="+mj-lt"/>
                <a:cs typeface="Tahoma"/>
              </a:rPr>
              <a:t>Disjunction</a:t>
            </a:r>
            <a:r>
              <a:rPr sz="2400" kern="0" spc="-40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(</a:t>
            </a:r>
            <a:r>
              <a:rPr sz="2400" i="1" kern="0" dirty="0">
                <a:solidFill>
                  <a:sysClr val="windowText" lastClr="000000"/>
                </a:solidFill>
                <a:latin typeface="+mj-lt"/>
                <a:cs typeface="Arial"/>
              </a:rPr>
              <a:t>p</a:t>
            </a:r>
            <a:r>
              <a:rPr sz="2400" i="1" kern="0" spc="119" dirty="0">
                <a:solidFill>
                  <a:sysClr val="windowText" lastClr="000000"/>
                </a:solidFill>
                <a:latin typeface="+mj-lt"/>
                <a:cs typeface="Arial"/>
              </a:rPr>
              <a:t> </a:t>
            </a:r>
            <a:r>
              <a:rPr sz="2400" kern="0" spc="-40" dirty="0">
                <a:solidFill>
                  <a:sysClr val="windowText" lastClr="000000"/>
                </a:solidFill>
                <a:latin typeface="+mj-lt"/>
                <a:cs typeface="Tahoma"/>
              </a:rPr>
              <a:t>or </a:t>
            </a:r>
            <a:r>
              <a:rPr sz="2400" i="1" kern="0" spc="-50" dirty="0">
                <a:solidFill>
                  <a:sysClr val="windowText" lastClr="000000"/>
                </a:solidFill>
                <a:latin typeface="+mj-lt"/>
                <a:cs typeface="Arial"/>
              </a:rPr>
              <a:t>q</a:t>
            </a:r>
            <a:r>
              <a:rPr sz="2400" kern="0" spc="-50" dirty="0">
                <a:solidFill>
                  <a:sysClr val="windowText" lastClr="000000"/>
                </a:solidFill>
                <a:latin typeface="+mj-lt"/>
                <a:cs typeface="Tahoma"/>
              </a:rPr>
              <a:t>)</a:t>
            </a:r>
            <a:endParaRPr sz="2400" kern="0" dirty="0">
              <a:solidFill>
                <a:sysClr val="windowText" lastClr="000000"/>
              </a:solidFill>
              <a:latin typeface="+mj-lt"/>
              <a:cs typeface="Tahoma"/>
            </a:endParaRPr>
          </a:p>
          <a:p>
            <a:pPr marL="368068" marR="10067" indent="-342900" defTabSz="1812066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sz="2400" i="1" kern="0" dirty="0">
                <a:solidFill>
                  <a:sysClr val="windowText" lastClr="000000"/>
                </a:solidFill>
                <a:latin typeface="+mj-lt"/>
                <a:cs typeface="Arial"/>
              </a:rPr>
              <a:t>p </a:t>
            </a:r>
            <a:r>
              <a:rPr sz="2400" kern="0" dirty="0">
                <a:solidFill>
                  <a:sysClr val="windowText" lastClr="000000"/>
                </a:solidFill>
                <a:latin typeface="+mj-lt"/>
                <a:cs typeface="Lucida Sans Unicode"/>
              </a:rPr>
              <a:t>→</a:t>
            </a:r>
            <a:r>
              <a:rPr sz="2400" kern="0" spc="-159" dirty="0">
                <a:solidFill>
                  <a:sysClr val="windowText" lastClr="000000"/>
                </a:solidFill>
                <a:latin typeface="+mj-lt"/>
                <a:cs typeface="Lucida Sans Unicode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+mj-lt"/>
                <a:cs typeface="Arial"/>
              </a:rPr>
              <a:t>q</a:t>
            </a:r>
            <a:r>
              <a:rPr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:</a:t>
            </a:r>
            <a:r>
              <a:rPr sz="2400" kern="0" spc="168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kern="0" spc="-59" dirty="0">
                <a:solidFill>
                  <a:sysClr val="windowText" lastClr="000000"/>
                </a:solidFill>
                <a:latin typeface="+mj-lt"/>
                <a:cs typeface="Tahoma"/>
              </a:rPr>
              <a:t>Implication</a:t>
            </a:r>
            <a:r>
              <a:rPr sz="2400" kern="0" spc="-40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(if</a:t>
            </a:r>
            <a:r>
              <a:rPr sz="2400" kern="0" spc="-59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+mj-lt"/>
                <a:cs typeface="Arial"/>
              </a:rPr>
              <a:t>p</a:t>
            </a:r>
            <a:r>
              <a:rPr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,</a:t>
            </a:r>
            <a:r>
              <a:rPr sz="2400" kern="0" spc="-40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kern="0" spc="-50" dirty="0">
                <a:solidFill>
                  <a:sysClr val="windowText" lastClr="000000"/>
                </a:solidFill>
                <a:latin typeface="+mj-lt"/>
                <a:cs typeface="Tahoma"/>
              </a:rPr>
              <a:t>then </a:t>
            </a:r>
            <a:r>
              <a:rPr sz="2400" i="1" kern="0" spc="-50" dirty="0">
                <a:solidFill>
                  <a:sysClr val="windowText" lastClr="000000"/>
                </a:solidFill>
                <a:latin typeface="+mj-lt"/>
                <a:cs typeface="Arial"/>
              </a:rPr>
              <a:t>q</a:t>
            </a:r>
            <a:r>
              <a:rPr sz="2400" kern="0" spc="-50" dirty="0">
                <a:solidFill>
                  <a:sysClr val="windowText" lastClr="000000"/>
                </a:solidFill>
                <a:latin typeface="+mj-lt"/>
                <a:cs typeface="Tahoma"/>
              </a:rPr>
              <a:t>)</a:t>
            </a:r>
            <a:endParaRPr lang="en-IN" sz="2400" kern="0" spc="-50" dirty="0">
              <a:solidFill>
                <a:sysClr val="windowText" lastClr="000000"/>
              </a:solidFill>
              <a:latin typeface="+mj-lt"/>
              <a:cs typeface="Tahoma"/>
            </a:endParaRPr>
          </a:p>
          <a:p>
            <a:pPr marL="368068" marR="10067" indent="-342900" defTabSz="1812066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sz="2400" kern="0" spc="-50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+mj-lt"/>
                <a:cs typeface="Arial"/>
              </a:rPr>
              <a:t>p</a:t>
            </a:r>
            <a:r>
              <a:rPr sz="2400" i="1" kern="0" spc="-69" dirty="0">
                <a:solidFill>
                  <a:sysClr val="windowText" lastClr="000000"/>
                </a:solidFill>
                <a:latin typeface="+mj-lt"/>
                <a:cs typeface="Arial"/>
              </a:rPr>
              <a:t> </a:t>
            </a:r>
            <a:r>
              <a:rPr sz="2400" kern="0" spc="-486" dirty="0">
                <a:solidFill>
                  <a:sysClr val="windowText" lastClr="000000"/>
                </a:solidFill>
                <a:latin typeface="+mj-lt"/>
                <a:cs typeface="Lucida Sans Unicode"/>
              </a:rPr>
              <a:t>↔</a:t>
            </a:r>
            <a:r>
              <a:rPr sz="2400" kern="0" spc="-89" dirty="0">
                <a:solidFill>
                  <a:sysClr val="windowText" lastClr="000000"/>
                </a:solidFill>
                <a:latin typeface="+mj-lt"/>
                <a:cs typeface="Lucida Sans Unicode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+mj-lt"/>
                <a:cs typeface="Arial"/>
              </a:rPr>
              <a:t>q</a:t>
            </a:r>
            <a:r>
              <a:rPr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:</a:t>
            </a:r>
            <a:r>
              <a:rPr sz="2400" kern="0" spc="168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kern="0" spc="-40" dirty="0">
                <a:solidFill>
                  <a:sysClr val="windowText" lastClr="000000"/>
                </a:solidFill>
                <a:latin typeface="+mj-lt"/>
                <a:cs typeface="Tahoma"/>
              </a:rPr>
              <a:t>Biconditional </a:t>
            </a:r>
            <a:r>
              <a:rPr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(</a:t>
            </a:r>
            <a:r>
              <a:rPr sz="2400" i="1" kern="0" dirty="0">
                <a:solidFill>
                  <a:sysClr val="windowText" lastClr="000000"/>
                </a:solidFill>
                <a:latin typeface="+mj-lt"/>
                <a:cs typeface="Arial"/>
              </a:rPr>
              <a:t>p</a:t>
            </a:r>
            <a:r>
              <a:rPr sz="2400" i="1" kern="0" spc="109" dirty="0">
                <a:solidFill>
                  <a:sysClr val="windowText" lastClr="000000"/>
                </a:solidFill>
                <a:latin typeface="+mj-lt"/>
                <a:cs typeface="Arial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iff</a:t>
            </a:r>
            <a:r>
              <a:rPr sz="2400" kern="0" spc="-40" dirty="0">
                <a:solidFill>
                  <a:sysClr val="windowText" lastClr="000000"/>
                </a:solidFill>
                <a:latin typeface="+mj-lt"/>
                <a:cs typeface="Tahoma"/>
              </a:rPr>
              <a:t> </a:t>
            </a:r>
            <a:r>
              <a:rPr sz="2400" i="1" kern="0" spc="-50" dirty="0">
                <a:solidFill>
                  <a:sysClr val="windowText" lastClr="000000"/>
                </a:solidFill>
                <a:latin typeface="+mj-lt"/>
                <a:cs typeface="Arial"/>
              </a:rPr>
              <a:t>q</a:t>
            </a:r>
            <a:r>
              <a:rPr sz="2400" kern="0" spc="-50" dirty="0">
                <a:solidFill>
                  <a:sysClr val="windowText" lastClr="000000"/>
                </a:solidFill>
                <a:latin typeface="+mj-lt"/>
                <a:cs typeface="Tahoma"/>
              </a:rPr>
              <a:t>)</a:t>
            </a:r>
            <a:endParaRPr sz="2400" kern="0" dirty="0">
              <a:solidFill>
                <a:sysClr val="windowText" lastClr="000000"/>
              </a:solidFill>
              <a:latin typeface="+mj-lt"/>
              <a:cs typeface="Tahoma"/>
            </a:endParaRP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092581148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0EC16-317E-89E1-7568-E282A9E81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6B4D3BC-20E0-5ED5-E116-E201E5F7C9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152400"/>
            <a:ext cx="5791200" cy="138852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Table for </a:t>
            </a:r>
            <a:r>
              <a:rPr spc="-20" dirty="0">
                <a:solidFill>
                  <a:srgbClr val="FF0000"/>
                </a:solidFill>
                <a:latin typeface="+mj-lt"/>
              </a:rPr>
              <a:t>Logical</a:t>
            </a:r>
            <a:r>
              <a:rPr spc="-159" dirty="0">
                <a:solidFill>
                  <a:srgbClr val="FF0000"/>
                </a:solidFill>
                <a:latin typeface="+mj-lt"/>
              </a:rPr>
              <a:t> </a:t>
            </a:r>
            <a:r>
              <a:rPr spc="-79" dirty="0">
                <a:solidFill>
                  <a:srgbClr val="FF0000"/>
                </a:solidFill>
                <a:latin typeface="+mj-lt"/>
              </a:rPr>
              <a:t>Connectives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AF7317D-401F-D46E-0594-4D2830A41D60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10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BF0F72D5-C7C1-E252-BEC3-C58B16D261B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F0F8702-C3B2-434D-3337-CB58F79765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7732427"/>
                  </p:ext>
                </p:extLst>
              </p:nvPr>
            </p:nvGraphicFramePr>
            <p:xfrm>
              <a:off x="685800" y="1600200"/>
              <a:ext cx="7848600" cy="457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79993">
                      <a:extLst>
                        <a:ext uri="{9D8B030D-6E8A-4147-A177-3AD203B41FA5}">
                          <a16:colId xmlns:a16="http://schemas.microsoft.com/office/drawing/2014/main" val="812558538"/>
                        </a:ext>
                      </a:extLst>
                    </a:gridCol>
                    <a:gridCol w="1127919">
                      <a:extLst>
                        <a:ext uri="{9D8B030D-6E8A-4147-A177-3AD203B41FA5}">
                          <a16:colId xmlns:a16="http://schemas.microsoft.com/office/drawing/2014/main" val="2875705971"/>
                        </a:ext>
                      </a:extLst>
                    </a:gridCol>
                    <a:gridCol w="5140688">
                      <a:extLst>
                        <a:ext uri="{9D8B030D-6E8A-4147-A177-3AD203B41FA5}">
                          <a16:colId xmlns:a16="http://schemas.microsoft.com/office/drawing/2014/main" val="3031082328"/>
                        </a:ext>
                      </a:extLst>
                    </a:gridCol>
                  </a:tblGrid>
                  <a:tr h="7285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latin typeface="+mj-lt"/>
                              <a:cs typeface="Arial" panose="020B0604020202020204" pitchFamily="34" charset="0"/>
                            </a:rPr>
                            <a:t>logical operators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j-lt"/>
                            </a:rPr>
                            <a:t>notation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j-lt"/>
                            </a:rPr>
                            <a:t>definition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4303913"/>
                      </a:ext>
                    </a:extLst>
                  </a:tr>
                  <a:tr h="6125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Negation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¬</m:t>
                              </m:r>
                            </m:oMath>
                          </a14:m>
                          <a:r>
                            <a:rPr lang="en-IN" sz="2000" dirty="0">
                              <a:latin typeface="+mj-lt"/>
                              <a:cs typeface="Arial" panose="020B0604020202020204" pitchFamily="34" charset="0"/>
                            </a:rPr>
                            <a:t>p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not p </a:t>
                          </a:r>
                          <a:r>
                            <a:rPr lang="en-IN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(the opposite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of the truth value of p)</a:t>
                          </a:r>
                          <a:endParaRPr lang="en-IN" sz="2000" i="0" dirty="0"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7344"/>
                      </a:ext>
                    </a:extLst>
                  </a:tr>
                  <a:tr h="7285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Conjunction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latin typeface="+mj-lt"/>
                              <a:cs typeface="Arial" panose="020B0604020202020204" pitchFamily="34" charset="0"/>
                            </a:rPr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en-IN" sz="2000" dirty="0">
                              <a:latin typeface="+mj-lt"/>
                              <a:cs typeface="Arial" panose="020B0604020202020204" pitchFamily="34" charset="0"/>
                            </a:rPr>
                            <a:t>q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p and q </a:t>
                          </a:r>
                          <a:r>
                            <a:rPr lang="en-IN" sz="2000" dirty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(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T when both p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and q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are T and is F otherwise</a:t>
                          </a:r>
                          <a:r>
                            <a:rPr lang="en-IN" sz="2000" dirty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)</a:t>
                          </a:r>
                          <a:endParaRPr lang="en-IN" sz="200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8614190"/>
                      </a:ext>
                    </a:extLst>
                  </a:tr>
                  <a:tr h="7285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Disjunction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latin typeface="+mj-lt"/>
                              <a:cs typeface="Arial" panose="020B0604020202020204" pitchFamily="34" charset="0"/>
                            </a:rPr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en-IN" sz="2000" dirty="0">
                              <a:latin typeface="+mj-lt"/>
                              <a:cs typeface="Arial" panose="020B0604020202020204" pitchFamily="34" charset="0"/>
                            </a:rPr>
                            <a:t>q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p or q </a:t>
                          </a:r>
                          <a:r>
                            <a:rPr lang="en-IN" sz="2000" dirty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(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F when both p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and q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are F and is T otherwise</a:t>
                          </a:r>
                          <a:r>
                            <a:rPr lang="en-IN" sz="2000" dirty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)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821393"/>
                      </a:ext>
                    </a:extLst>
                  </a:tr>
                  <a:tr h="7285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Conditional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latin typeface="+mj-lt"/>
                              <a:cs typeface="Arial" panose="020B0604020202020204" pitchFamily="34" charset="0"/>
                            </a:rPr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IN" sz="2000" dirty="0">
                              <a:latin typeface="+mj-lt"/>
                              <a:cs typeface="Arial" panose="020B0604020202020204" pitchFamily="34" charset="0"/>
                            </a:rPr>
                            <a:t>q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000" kern="1200" dirty="0">
                              <a:solidFill>
                                <a:srgbClr val="FF0000"/>
                              </a:solidFill>
                              <a:latin typeface="+mj-lt"/>
                              <a:ea typeface="+mn-ea"/>
                              <a:cs typeface="Arial" panose="020B0604020202020204" pitchFamily="34" charset="0"/>
                            </a:rPr>
                            <a:t>if p then q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(F when p is T and q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is F, and T otherwise)</a:t>
                          </a:r>
                          <a:endParaRPr lang="en-IN" sz="2000" kern="1200" dirty="0">
                            <a:solidFill>
                              <a:srgbClr val="FF0000"/>
                            </a:solidFill>
                            <a:latin typeface="+mj-lt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0820960"/>
                      </a:ext>
                    </a:extLst>
                  </a:tr>
                  <a:tr h="10452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Biconditional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latin typeface="+mj-lt"/>
                              <a:cs typeface="Arial" panose="020B0604020202020204" pitchFamily="34" charset="0"/>
                            </a:rPr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↔</m:t>
                              </m:r>
                            </m:oMath>
                          </a14:m>
                          <a:r>
                            <a:rPr lang="en-IN" sz="2000" dirty="0">
                              <a:latin typeface="+mj-lt"/>
                              <a:cs typeface="Arial" panose="020B0604020202020204" pitchFamily="34" charset="0"/>
                            </a:rPr>
                            <a:t>q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rgbClr val="FF0000"/>
                              </a:solidFill>
                              <a:latin typeface="+mj-lt"/>
                              <a:ea typeface="+mn-ea"/>
                              <a:cs typeface="Arial" panose="020B0604020202020204" pitchFamily="34" charset="0"/>
                            </a:rPr>
                            <a:t>p if and only if q </a:t>
                          </a:r>
                          <a:r>
                            <a:rPr lang="en-US" sz="2000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Arial" panose="020B0604020202020204" pitchFamily="34" charset="0"/>
                            </a:rPr>
                            <a:t>(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T when p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and q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have the same truth</a:t>
                          </a:r>
                        </a:p>
                        <a:p>
                          <a:pPr algn="ctr"/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values, and is F otherwise)</a:t>
                          </a:r>
                          <a:endParaRPr lang="en-IN" sz="2000" kern="1200" dirty="0">
                            <a:solidFill>
                              <a:srgbClr val="FF0000"/>
                            </a:solidFill>
                            <a:latin typeface="+mj-lt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9005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F0F8702-C3B2-434D-3337-CB58F79765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7732427"/>
                  </p:ext>
                </p:extLst>
              </p:nvPr>
            </p:nvGraphicFramePr>
            <p:xfrm>
              <a:off x="685800" y="1600200"/>
              <a:ext cx="7848600" cy="457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79993">
                      <a:extLst>
                        <a:ext uri="{9D8B030D-6E8A-4147-A177-3AD203B41FA5}">
                          <a16:colId xmlns:a16="http://schemas.microsoft.com/office/drawing/2014/main" val="812558538"/>
                        </a:ext>
                      </a:extLst>
                    </a:gridCol>
                    <a:gridCol w="1127919">
                      <a:extLst>
                        <a:ext uri="{9D8B030D-6E8A-4147-A177-3AD203B41FA5}">
                          <a16:colId xmlns:a16="http://schemas.microsoft.com/office/drawing/2014/main" val="2875705971"/>
                        </a:ext>
                      </a:extLst>
                    </a:gridCol>
                    <a:gridCol w="5140688">
                      <a:extLst>
                        <a:ext uri="{9D8B030D-6E8A-4147-A177-3AD203B41FA5}">
                          <a16:colId xmlns:a16="http://schemas.microsoft.com/office/drawing/2014/main" val="3031082328"/>
                        </a:ext>
                      </a:extLst>
                    </a:gridCol>
                  </a:tblGrid>
                  <a:tr h="7285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latin typeface="+mj-lt"/>
                              <a:cs typeface="Arial" panose="020B0604020202020204" pitchFamily="34" charset="0"/>
                            </a:rPr>
                            <a:t>logical operators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j-lt"/>
                            </a:rPr>
                            <a:t>notation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+mj-lt"/>
                            </a:rPr>
                            <a:t>definition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4303913"/>
                      </a:ext>
                    </a:extLst>
                  </a:tr>
                  <a:tr h="6125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Negation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0541" t="-125000" r="-458919" b="-54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not p </a:t>
                          </a:r>
                          <a:r>
                            <a:rPr lang="en-IN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(the opposite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of the truth value of p)</a:t>
                          </a:r>
                          <a:endParaRPr lang="en-IN" sz="2000" i="0" dirty="0"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2927344"/>
                      </a:ext>
                    </a:extLst>
                  </a:tr>
                  <a:tr h="7285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Conjunction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0541" t="-187500" r="-458919" b="-35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p and q </a:t>
                          </a:r>
                          <a:r>
                            <a:rPr lang="en-IN" sz="2000" dirty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(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T when both p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and q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are T and is F otherwise</a:t>
                          </a:r>
                          <a:r>
                            <a:rPr lang="en-IN" sz="2000" dirty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)</a:t>
                          </a:r>
                          <a:endParaRPr lang="en-IN" sz="200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8614190"/>
                      </a:ext>
                    </a:extLst>
                  </a:tr>
                  <a:tr h="7285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Disjunction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0541" t="-287500" r="-458919" b="-25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p or q </a:t>
                          </a:r>
                          <a:r>
                            <a:rPr lang="en-IN" sz="2000" dirty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(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F when both p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and q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are F and is T otherwise</a:t>
                          </a:r>
                          <a:r>
                            <a:rPr lang="en-IN" sz="2000" dirty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)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821393"/>
                      </a:ext>
                    </a:extLst>
                  </a:tr>
                  <a:tr h="7285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Conditional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0541" t="-390756" r="-458919" b="-1537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000" kern="1200" dirty="0">
                              <a:solidFill>
                                <a:srgbClr val="FF0000"/>
                              </a:solidFill>
                              <a:latin typeface="+mj-lt"/>
                              <a:ea typeface="+mn-ea"/>
                              <a:cs typeface="Arial" panose="020B0604020202020204" pitchFamily="34" charset="0"/>
                            </a:rPr>
                            <a:t>if p then q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(F when p is T and q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is F, and T otherwise)</a:t>
                          </a:r>
                          <a:endParaRPr lang="en-IN" sz="2000" kern="1200" dirty="0">
                            <a:solidFill>
                              <a:srgbClr val="FF0000"/>
                            </a:solidFill>
                            <a:latin typeface="+mj-lt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0820960"/>
                      </a:ext>
                    </a:extLst>
                  </a:tr>
                  <a:tr h="10452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solidFill>
                                <a:srgbClr val="FF0000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a:t>Biconditional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0541" t="-339535" r="-458919" b="-6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rgbClr val="FF0000"/>
                              </a:solidFill>
                              <a:latin typeface="+mj-lt"/>
                              <a:ea typeface="+mn-ea"/>
                              <a:cs typeface="Arial" panose="020B0604020202020204" pitchFamily="34" charset="0"/>
                            </a:rPr>
                            <a:t>p if and only if q </a:t>
                          </a:r>
                          <a:r>
                            <a:rPr lang="en-US" sz="2000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Arial" panose="020B0604020202020204" pitchFamily="34" charset="0"/>
                            </a:rPr>
                            <a:t>(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T when p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and q</a:t>
                          </a:r>
                          <a:r>
                            <a:rPr lang="en-US" sz="2000" b="0" i="1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have the same truth</a:t>
                          </a:r>
                        </a:p>
                        <a:p>
                          <a:pPr algn="ctr"/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values, and is F otherwise)</a:t>
                          </a:r>
                          <a:endParaRPr lang="en-IN" sz="2000" kern="1200" dirty="0">
                            <a:solidFill>
                              <a:srgbClr val="FF0000"/>
                            </a:solidFill>
                            <a:latin typeface="+mj-lt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190057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71781255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11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AAAFDC-16BA-7773-438B-D81E32C3A1B2}"/>
              </a:ext>
            </a:extLst>
          </p:cNvPr>
          <p:cNvSpPr txBox="1"/>
          <p:nvPr/>
        </p:nvSpPr>
        <p:spPr>
          <a:xfrm>
            <a:off x="3429000" y="381000"/>
            <a:ext cx="51755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Truth Tables </a:t>
            </a:r>
          </a:p>
        </p:txBody>
      </p:sp>
      <p:pic>
        <p:nvPicPr>
          <p:cNvPr id="11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42511B-C2DE-9F45-15B9-F1C4DB85F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2843212" cy="32327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A9A409-99DE-B43B-E937-A537D6577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05"/>
          <a:stretch>
            <a:fillRect/>
          </a:stretch>
        </p:blipFill>
        <p:spPr>
          <a:xfrm>
            <a:off x="4376453" y="1981200"/>
            <a:ext cx="3776947" cy="315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58324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1E6C8-D0F7-C7E9-217C-476A372BE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>
            <a:extLst>
              <a:ext uri="{FF2B5EF4-FFF2-40B4-BE49-F238E27FC236}">
                <a16:creationId xmlns:a16="http://schemas.microsoft.com/office/drawing/2014/main" id="{F2F99BED-9929-E0FD-4F2A-056F189EBCDA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12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3C5FB1-3782-DC36-37B8-82AC6B9E252E}"/>
              </a:ext>
            </a:extLst>
          </p:cNvPr>
          <p:cNvSpPr txBox="1"/>
          <p:nvPr/>
        </p:nvSpPr>
        <p:spPr>
          <a:xfrm>
            <a:off x="3429000" y="381000"/>
            <a:ext cx="51755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Truth Tables </a:t>
            </a:r>
          </a:p>
        </p:txBody>
      </p:sp>
      <p:pic>
        <p:nvPicPr>
          <p:cNvPr id="11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826ECE3-8424-05FE-E852-12AE99F0C09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D5966F-6DD0-A02A-CD28-1B79F5F00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86000"/>
            <a:ext cx="8127481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75337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6E9FB-B0E7-58E1-FDE3-4EEFBF898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>
            <a:extLst>
              <a:ext uri="{FF2B5EF4-FFF2-40B4-BE49-F238E27FC236}">
                <a16:creationId xmlns:a16="http://schemas.microsoft.com/office/drawing/2014/main" id="{44567CDE-6F0E-4ECB-294C-E97D5DEEDD6A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13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CDE995-84E2-31DE-232B-6673C377B918}"/>
              </a:ext>
            </a:extLst>
          </p:cNvPr>
          <p:cNvSpPr txBox="1"/>
          <p:nvPr/>
        </p:nvSpPr>
        <p:spPr>
          <a:xfrm>
            <a:off x="3429000" y="381000"/>
            <a:ext cx="51755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Truth Tables </a:t>
            </a:r>
          </a:p>
        </p:txBody>
      </p:sp>
      <p:pic>
        <p:nvPicPr>
          <p:cNvPr id="11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1324C90-D6B8-5561-2DFE-7BAC01A0796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EBD443-0707-A394-2E96-D05A6377D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57701"/>
              </p:ext>
            </p:extLst>
          </p:nvPr>
        </p:nvGraphicFramePr>
        <p:xfrm>
          <a:off x="1295400" y="2743200"/>
          <a:ext cx="6400800" cy="36576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123174056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88689729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196140109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</a:rPr>
                        <a:t>p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</a:rPr>
                        <a:t>q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</a:rPr>
                        <a:t>p ⇔ q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46743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42174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883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7296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79998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F8A06ED-2659-2D18-F73F-4DE3DCBC7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24000"/>
            <a:ext cx="7918788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+mj-lt"/>
              </a:rPr>
              <a:t>If and only if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+mj-lt"/>
              </a:rPr>
              <a:t>⇔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+mj-lt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+mj-lt"/>
              </a:rPr>
              <a:t> − A⇔B is bi-conditional logical connective which is true when p and q are same, i.e. both are false or both are true.</a:t>
            </a:r>
            <a:r>
              <a:rPr lang="en-US" altLang="en-US" sz="2400" dirty="0">
                <a:latin typeface="+mj-lt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+mj-lt"/>
              </a:rPr>
              <a:t>The truth table is as follows −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42567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E3292-67B3-C37F-E876-7E8F61802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BFAC461-BAAC-57BD-D258-585D7D732A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152400"/>
            <a:ext cx="5791200" cy="138852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Table for </a:t>
            </a:r>
            <a:r>
              <a:rPr spc="-20" dirty="0">
                <a:solidFill>
                  <a:srgbClr val="FF0000"/>
                </a:solidFill>
                <a:latin typeface="+mj-lt"/>
              </a:rPr>
              <a:t>Logical</a:t>
            </a:r>
            <a:r>
              <a:rPr spc="-159" dirty="0">
                <a:solidFill>
                  <a:srgbClr val="FF0000"/>
                </a:solidFill>
                <a:latin typeface="+mj-lt"/>
              </a:rPr>
              <a:t> </a:t>
            </a:r>
            <a:r>
              <a:rPr spc="-79" dirty="0">
                <a:solidFill>
                  <a:srgbClr val="FF0000"/>
                </a:solidFill>
                <a:latin typeface="+mj-lt"/>
              </a:rPr>
              <a:t>Connectives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E24F5E6-635B-816E-3B33-EB4C905C09D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14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D08035D-A8CF-252D-09D3-95A18E3B1BE1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86DC3B-AC5F-2FE9-1DD9-EC8DB45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818708" y="2813554"/>
            <a:ext cx="7715692" cy="2591588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AAF37D-5DBB-BEF5-D7A8-DF7AF3127602}"/>
              </a:ext>
            </a:extLst>
          </p:cNvPr>
          <p:cNvSpPr txBox="1"/>
          <p:nvPr/>
        </p:nvSpPr>
        <p:spPr>
          <a:xfrm>
            <a:off x="714154" y="2362200"/>
            <a:ext cx="62962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spc="-20" dirty="0">
                <a:latin typeface="+mj-lt"/>
              </a:rPr>
              <a:t>Example of Truth Table for Logical</a:t>
            </a:r>
            <a:r>
              <a:rPr lang="en-IN" sz="2400" spc="-159" dirty="0">
                <a:latin typeface="+mj-lt"/>
              </a:rPr>
              <a:t> </a:t>
            </a:r>
            <a:r>
              <a:rPr lang="en-IN" sz="2400" spc="-79" dirty="0">
                <a:latin typeface="+mj-lt"/>
              </a:rPr>
              <a:t>Connectives: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58645394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914400" y="1817829"/>
                <a:ext cx="7543800" cy="772971"/>
              </a:xfrm>
              <a:prstGeom prst="rect">
                <a:avLst/>
              </a:prstGeom>
            </p:spPr>
            <p:txBody>
              <a:bodyPr vert="horz" wrap="square" lIns="0" tIns="33975" rIns="0" bIns="0" rtlCol="0">
                <a:spAutoFit/>
              </a:bodyPr>
              <a:lstStyle/>
              <a:p>
                <a:pPr marL="25168" algn="l">
                  <a:spcBef>
                    <a:spcPts val="268"/>
                  </a:spcBef>
                </a:pPr>
                <a:r>
                  <a:rPr lang="en-IN" sz="2400" spc="-69" dirty="0">
                    <a:solidFill>
                      <a:srgbClr val="FF0000"/>
                    </a:solidFill>
                    <a:latin typeface="+mj-lt"/>
                  </a:rPr>
                  <a:t>Example: </a:t>
                </a:r>
                <a:r>
                  <a:rPr lang="en-IN" sz="2400" spc="-69" dirty="0">
                    <a:solidFill>
                      <a:schemeClr val="tx1"/>
                    </a:solidFill>
                    <a:latin typeface="+mj-lt"/>
                  </a:rPr>
                  <a:t>Construct the truth table for the logical operations:  </a:t>
                </a:r>
                <a14:m>
                  <m:oMath xmlns:m="http://schemas.openxmlformats.org/officeDocument/2006/math">
                    <m:r>
                      <a:rPr lang="en-IN" sz="2400" b="1" i="1" spc="-69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1" i="1" spc="-69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IN" sz="2400" b="1" i="1" spc="-69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sz="2400" b="1" i="1" spc="-69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IN" sz="2400" b="1" i="1" spc="-69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b="1" i="1" spc="-69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∨(</m:t>
                    </m:r>
                    <m:r>
                      <a:rPr lang="en-IN" sz="2400" b="1" i="1" spc="-69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IN" sz="2400" b="1" i="1" spc="-69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sz="2400" b="1" i="1" spc="-69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IN" sz="2400" b="1" i="1" spc="-69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sz="2400" spc="-69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" name="object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4400" y="1817829"/>
                <a:ext cx="7543800" cy="772971"/>
              </a:xfrm>
              <a:prstGeom prst="rect">
                <a:avLst/>
              </a:prstGeom>
              <a:blipFill>
                <a:blip r:embed="rId2"/>
                <a:stretch>
                  <a:fillRect l="-2100" t="-7874" b="-157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15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812066">
              <a:lnSpc>
                <a:spcPts val="1139"/>
              </a:lnSpc>
            </a:pPr>
            <a:r>
              <a:rPr sz="1189" kern="0" spc="-129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ns</a:t>
            </a:r>
            <a:endParaRPr sz="118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A16876-EE21-AE89-709E-D214762851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705053"/>
            <a:ext cx="7543800" cy="361954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2AA26FD3-7BB9-D03B-332F-DBBE35CEA927}"/>
              </a:ext>
            </a:extLst>
          </p:cNvPr>
          <p:cNvSpPr txBox="1">
            <a:spLocks/>
          </p:cNvSpPr>
          <p:nvPr/>
        </p:nvSpPr>
        <p:spPr>
          <a:xfrm>
            <a:off x="3360132" y="228600"/>
            <a:ext cx="4488468" cy="1142302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pPr marL="25168">
              <a:spcBef>
                <a:spcPts val="268"/>
              </a:spcBef>
            </a:pPr>
            <a:r>
              <a:rPr lang="en-IN" sz="3600" spc="-20" dirty="0">
                <a:solidFill>
                  <a:srgbClr val="FF0000"/>
                </a:solidFill>
              </a:rPr>
              <a:t>Table for Logical</a:t>
            </a:r>
            <a:r>
              <a:rPr lang="en-IN" sz="3600" spc="-159" dirty="0">
                <a:solidFill>
                  <a:srgbClr val="FF0000"/>
                </a:solidFill>
              </a:rPr>
              <a:t> </a:t>
            </a:r>
            <a:r>
              <a:rPr lang="en-IN" sz="3600" spc="-79" dirty="0">
                <a:solidFill>
                  <a:srgbClr val="FF0000"/>
                </a:solidFill>
              </a:rPr>
              <a:t>Connectives</a:t>
            </a:r>
            <a:endParaRPr lang="en-IN" sz="3600" spc="-20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4CBA3-B30C-27A5-3E1D-932819D4D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DAF5F78C-28A5-3118-7B4A-2DE9602B2AB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16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9A185AB-195B-0EF9-BE46-19DDC0D369B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D47B4AB0-BE30-4B6B-1DFF-D7A803DF2E7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068F02-6FD0-7FF8-C116-5FD782E85E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362200"/>
            <a:ext cx="7924800" cy="3970459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B9177E14-981F-9891-6C27-9BA5EDBFDE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0132" y="228600"/>
            <a:ext cx="4488468" cy="1142302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z="3600" spc="-20" dirty="0">
                <a:solidFill>
                  <a:srgbClr val="FF0000"/>
                </a:solidFill>
              </a:rPr>
              <a:t>Table for Logical</a:t>
            </a:r>
            <a:r>
              <a:rPr lang="en-IN" sz="3600" spc="-159" dirty="0">
                <a:solidFill>
                  <a:srgbClr val="FF0000"/>
                </a:solidFill>
              </a:rPr>
              <a:t> </a:t>
            </a:r>
            <a:r>
              <a:rPr lang="en-IN" sz="3600" spc="-79" dirty="0">
                <a:solidFill>
                  <a:srgbClr val="FF0000"/>
                </a:solidFill>
              </a:rPr>
              <a:t>Connectives</a:t>
            </a:r>
            <a:endParaRPr sz="3600" spc="-20" dirty="0">
              <a:solidFill>
                <a:srgbClr val="FF000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555F6250-724B-0156-5C04-109C30381C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600200"/>
                <a:ext cx="7543800" cy="772971"/>
              </a:xfrm>
              <a:prstGeom prst="rect">
                <a:avLst/>
              </a:prstGeom>
            </p:spPr>
            <p:txBody>
              <a:bodyPr vert="horz" wrap="square" lIns="0" tIns="33975" rIns="0" bIns="0" rtlCol="0">
                <a:sp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b="1" kern="1200">
                    <a:solidFill>
                      <a:schemeClr val="tx1"/>
                    </a:solidFill>
                    <a:latin typeface="Cambria" pitchFamily="18" charset="0"/>
                    <a:ea typeface="+mj-ea"/>
                    <a:cs typeface="+mj-cs"/>
                  </a:defRPr>
                </a:lvl1pPr>
              </a:lstStyle>
              <a:p>
                <a:pPr marL="25168" algn="l">
                  <a:spcBef>
                    <a:spcPts val="268"/>
                  </a:spcBef>
                </a:pPr>
                <a:r>
                  <a:rPr lang="en-US" sz="2400" spc="-69" dirty="0">
                    <a:solidFill>
                      <a:srgbClr val="FF0000"/>
                    </a:solidFill>
                    <a:latin typeface="+mj-lt"/>
                  </a:rPr>
                  <a:t>Example: </a:t>
                </a:r>
                <a:r>
                  <a:rPr lang="en-US" sz="2400" spc="-69" dirty="0">
                    <a:latin typeface="+mj-lt"/>
                  </a:rPr>
                  <a:t>Construct the truth table for the logical operations:  not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pc="-69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pc="-69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i="1" spc="-69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sz="2400" i="1" spc="-69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2400" i="1" spc="-69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∧(</m:t>
                    </m:r>
                    <m:r>
                      <a:rPr lang="en-US" sz="2400" i="1" spc="-69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sz="2400" i="1" spc="-69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sz="2400" b="1" i="1" spc="-69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n-US" sz="2400" i="1" spc="-69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spc="-69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555F6250-724B-0156-5C04-109C30381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0200"/>
                <a:ext cx="7543800" cy="772971"/>
              </a:xfrm>
              <a:prstGeom prst="rect">
                <a:avLst/>
              </a:prstGeom>
              <a:blipFill>
                <a:blip r:embed="rId4"/>
                <a:stretch>
                  <a:fillRect l="-2100" t="-7937" b="-238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81374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8A616-CE88-2694-B5DF-E48535AE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2CD91C3-4665-2526-C014-12134D7992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152400"/>
            <a:ext cx="5791200" cy="138852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Table for </a:t>
            </a:r>
            <a:r>
              <a:rPr spc="-20" dirty="0">
                <a:solidFill>
                  <a:srgbClr val="FF0000"/>
                </a:solidFill>
                <a:latin typeface="+mj-lt"/>
              </a:rPr>
              <a:t>Logical</a:t>
            </a:r>
            <a:r>
              <a:rPr spc="-159" dirty="0">
                <a:solidFill>
                  <a:srgbClr val="FF0000"/>
                </a:solidFill>
                <a:latin typeface="+mj-lt"/>
              </a:rPr>
              <a:t> </a:t>
            </a:r>
            <a:r>
              <a:rPr spc="-79" dirty="0">
                <a:solidFill>
                  <a:srgbClr val="FF0000"/>
                </a:solidFill>
                <a:latin typeface="+mj-lt"/>
              </a:rPr>
              <a:t>Connectives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6BBA908-6C2C-2BBD-C41E-E47292CE968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17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122D00D1-C605-3601-B398-67C07EC9DB3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BA665C-4D87-D3B8-2AEB-E961CC4AF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362200"/>
            <a:ext cx="6477000" cy="3710781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70C9BB-B8E1-7579-C160-CD01734CEB61}"/>
              </a:ext>
            </a:extLst>
          </p:cNvPr>
          <p:cNvSpPr txBox="1"/>
          <p:nvPr/>
        </p:nvSpPr>
        <p:spPr>
          <a:xfrm>
            <a:off x="914400" y="1828800"/>
            <a:ext cx="62962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spc="-20" dirty="0">
                <a:latin typeface="+mj-lt"/>
              </a:rPr>
              <a:t>Example of Truth Table for Logical</a:t>
            </a:r>
            <a:r>
              <a:rPr lang="en-IN" sz="2400" spc="-159" dirty="0">
                <a:latin typeface="+mj-lt"/>
              </a:rPr>
              <a:t> </a:t>
            </a:r>
            <a:r>
              <a:rPr lang="en-IN" sz="2400" spc="-79" dirty="0">
                <a:latin typeface="+mj-lt"/>
              </a:rPr>
              <a:t>Connectives: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20399697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26001-C7FC-CF17-6EEC-4BD747C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11537D0-8E5E-5B6B-7901-9EB28256B8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152400"/>
            <a:ext cx="5791200" cy="138852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Table for </a:t>
            </a:r>
            <a:r>
              <a:rPr spc="-20" dirty="0">
                <a:solidFill>
                  <a:srgbClr val="FF0000"/>
                </a:solidFill>
                <a:latin typeface="+mj-lt"/>
              </a:rPr>
              <a:t>Logical</a:t>
            </a:r>
            <a:r>
              <a:rPr spc="-159" dirty="0">
                <a:solidFill>
                  <a:srgbClr val="FF0000"/>
                </a:solidFill>
                <a:latin typeface="+mj-lt"/>
              </a:rPr>
              <a:t> </a:t>
            </a:r>
            <a:r>
              <a:rPr spc="-79" dirty="0">
                <a:solidFill>
                  <a:srgbClr val="FF0000"/>
                </a:solidFill>
                <a:latin typeface="+mj-lt"/>
              </a:rPr>
              <a:t>Connectives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AEC2B9E-33B4-EF58-714D-D4095A44F39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18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36A37532-8B85-77DC-688A-C945A00C56F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B667D3-4C46-B3A1-9C48-9C9A043FB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86" y="1943874"/>
            <a:ext cx="7614214" cy="4152126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972240139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8845-DC03-4B73-D8B8-2A6CA63DA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1D83212-B57E-5255-2071-D678658E9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152400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Activity-1</a:t>
            </a:r>
            <a:endParaRPr spc="-7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9087238-14A1-F737-3E64-8A7A9D5D4615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19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1EE60186-3906-BE5D-2810-F8F904D5CAA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F9CD415D-E839-DF27-7D6D-77005CA001F7}"/>
              </a:ext>
            </a:extLst>
          </p:cNvPr>
          <p:cNvSpPr txBox="1">
            <a:spLocks/>
          </p:cNvSpPr>
          <p:nvPr/>
        </p:nvSpPr>
        <p:spPr>
          <a:xfrm>
            <a:off x="457200" y="1828800"/>
            <a:ext cx="8305800" cy="4038600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9600" dirty="0">
                <a:latin typeface="+mj-lt"/>
              </a:rPr>
              <a:t>1. Construct the truth table of the given compound proposition:</a:t>
            </a:r>
          </a:p>
          <a:p>
            <a:pPr marL="0" indent="0" algn="ctr">
              <a:buFont typeface="Arial" pitchFamily="34" charset="0"/>
              <a:buNone/>
            </a:pPr>
            <a:endParaRPr lang="en-US" sz="7400" dirty="0">
              <a:latin typeface="+mj-lt"/>
            </a:endParaRPr>
          </a:p>
          <a:p>
            <a:pPr marL="0" indent="0" algn="just">
              <a:buNone/>
            </a:pPr>
            <a:endParaRPr lang="en-US" sz="7400" dirty="0">
              <a:latin typeface="+mj-lt"/>
            </a:endParaRPr>
          </a:p>
          <a:p>
            <a:pPr marL="0" indent="0" algn="just">
              <a:buNone/>
            </a:pPr>
            <a:endParaRPr lang="en-US" sz="7400" dirty="0">
              <a:latin typeface="+mj-lt"/>
            </a:endParaRPr>
          </a:p>
          <a:p>
            <a:pPr marL="0" indent="0" algn="just">
              <a:buNone/>
            </a:pPr>
            <a:r>
              <a:rPr lang="en-US" sz="9600" dirty="0">
                <a:latin typeface="+mj-lt"/>
              </a:rPr>
              <a:t>2. A restaurant has a special offer on two food items: Pizza and Burger.</a:t>
            </a:r>
          </a:p>
          <a:p>
            <a:pPr algn="just"/>
            <a:r>
              <a:rPr lang="en-US" sz="9600" dirty="0">
                <a:solidFill>
                  <a:srgbClr val="FF0000"/>
                </a:solidFill>
                <a:latin typeface="+mj-lt"/>
              </a:rPr>
              <a:t>A customer can get a free drink if they order either a pizza or a burger, but not both.</a:t>
            </a:r>
          </a:p>
          <a:p>
            <a:pPr algn="just"/>
            <a:r>
              <a:rPr lang="en-US" sz="9600" dirty="0">
                <a:solidFill>
                  <a:srgbClr val="FF0000"/>
                </a:solidFill>
                <a:latin typeface="+mj-lt"/>
              </a:rPr>
              <a:t>If they order both items or neither, they do not get a free drink.</a:t>
            </a:r>
          </a:p>
          <a:p>
            <a:pPr marL="0" indent="0" algn="just">
              <a:buNone/>
            </a:pPr>
            <a:r>
              <a:rPr lang="en-US" sz="9600" dirty="0">
                <a:solidFill>
                  <a:srgbClr val="FF0000"/>
                </a:solidFill>
              </a:rPr>
              <a:t>Question: </a:t>
            </a:r>
            <a:r>
              <a:rPr lang="en-US" sz="9600" dirty="0"/>
              <a:t>Construct a truth table to determine when a customer will receive a free drink based on their order choices.</a:t>
            </a:r>
          </a:p>
          <a:p>
            <a:pPr algn="just"/>
            <a:endParaRPr lang="en-US" sz="9600" dirty="0">
              <a:latin typeface="+mj-lt"/>
            </a:endParaRPr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02143-1CFD-F200-B02B-DA31A6301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088" y="2286000"/>
            <a:ext cx="2881312" cy="62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64897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381000"/>
            <a:ext cx="44196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pc="-69" dirty="0">
                <a:solidFill>
                  <a:srgbClr val="FF0000"/>
                </a:solidFill>
                <a:latin typeface="+mj-lt"/>
              </a:rPr>
              <a:t>Conclusion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20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2666" y="2548705"/>
            <a:ext cx="7332397" cy="1900264"/>
          </a:xfrm>
          <a:prstGeom prst="rect">
            <a:avLst/>
          </a:prstGeom>
        </p:spPr>
        <p:txBody>
          <a:bodyPr vert="horz" wrap="square" lIns="0" tIns="109474" rIns="0" bIns="0" rtlCol="0">
            <a:spAutoFit/>
          </a:bodyPr>
          <a:lstStyle/>
          <a:p>
            <a:pPr marL="368068" indent="-342900" defTabSz="1812066"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Propositions have been discussed. </a:t>
            </a:r>
          </a:p>
          <a:p>
            <a:pPr marL="368068" indent="-342900" defTabSz="1812066"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Logical connections have been presented. </a:t>
            </a:r>
          </a:p>
          <a:p>
            <a:pPr marL="368068" indent="-342900" defTabSz="1812066"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Truth Table has been presented. </a:t>
            </a:r>
          </a:p>
          <a:p>
            <a:pPr marL="368068" indent="-342900" defTabSz="1812066">
              <a:spcBef>
                <a:spcPts val="860"/>
              </a:spcBef>
              <a:buFont typeface="Arial" panose="020B0604020202020204" pitchFamily="34" charset="0"/>
              <a:buChar char="•"/>
            </a:pPr>
            <a:endParaRPr sz="2180" kern="0" dirty="0">
              <a:solidFill>
                <a:sysClr val="windowText" lastClr="000000"/>
              </a:solidFill>
              <a:latin typeface="+mj-lt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812066">
              <a:lnSpc>
                <a:spcPts val="1139"/>
              </a:lnSpc>
            </a:pPr>
            <a:r>
              <a:rPr sz="1189" kern="0" spc="-129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ns</a:t>
            </a:r>
            <a:endParaRPr sz="118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9" y="228600"/>
            <a:ext cx="5334131" cy="106680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Video Links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403E28-F907-57DD-5046-9F8F7D0E6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7530B-3F21-DBFA-7A79-54A7A98F0EB3}"/>
              </a:ext>
            </a:extLst>
          </p:cNvPr>
          <p:cNvSpPr txBox="1"/>
          <p:nvPr/>
        </p:nvSpPr>
        <p:spPr>
          <a:xfrm>
            <a:off x="1219331" y="1902083"/>
            <a:ext cx="57909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https://www.youtube.com/watch?v=zhKu0lQW0a8&amp;list=PLFW6lRTa1g83LYdhDkUQfkXs7EbMBwYuF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hlinkClick r:id="rId4"/>
              </a:rPr>
              <a:t>https://youtu.be/E40r8DWgG40?si=xdQYxAO2ykEdTx9h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4736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</a:rPr>
              <a:t>References</a:t>
            </a:r>
            <a:endParaRPr dirty="0">
              <a:solidFill>
                <a:srgbClr val="FF0000"/>
              </a:solidFill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1565534609"/>
              </p:ext>
            </p:extLst>
          </p:nvPr>
        </p:nvGraphicFramePr>
        <p:xfrm>
          <a:off x="685800" y="1560813"/>
          <a:ext cx="7772401" cy="444396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47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5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7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52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i="1" dirty="0">
                <a:solidFill>
                  <a:srgbClr val="FF0000"/>
                </a:solidFill>
              </a:rPr>
              <a:t>Thanks!!!</a:t>
            </a:r>
            <a:endParaRPr lang="en-IN" sz="8000" b="1" i="1" dirty="0">
              <a:solidFill>
                <a:srgbClr val="FF0000"/>
              </a:solidFill>
            </a:endParaRPr>
          </a:p>
        </p:txBody>
      </p:sp>
      <p:pic>
        <p:nvPicPr>
          <p:cNvPr id="3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95131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1801</TotalTime>
  <Words>919</Words>
  <Application>Microsoft Office PowerPoint</Application>
  <PresentationFormat>On-screen Show (4:3)</PresentationFormat>
  <Paragraphs>198</Paragraphs>
  <Slides>23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8" baseType="lpstr">
      <vt:lpstr>Arial</vt:lpstr>
      <vt:lpstr>Arial Black</vt:lpstr>
      <vt:lpstr>Arial MT</vt:lpstr>
      <vt:lpstr>Calibri</vt:lpstr>
      <vt:lpstr>Cambria</vt:lpstr>
      <vt:lpstr>Cambria Math</vt:lpstr>
      <vt:lpstr>Casper</vt:lpstr>
      <vt:lpstr>MTMI</vt:lpstr>
      <vt:lpstr>MTSYN</vt:lpstr>
      <vt:lpstr>Times New Roman</vt:lpstr>
      <vt:lpstr>Times-Roman</vt:lpstr>
      <vt:lpstr>Wingdings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PowerPoint Presentation</vt:lpstr>
      <vt:lpstr>PowerPoint Presentation</vt:lpstr>
      <vt:lpstr>PowerPoint Presentation</vt:lpstr>
      <vt:lpstr>PowerPoint Presentation</vt:lpstr>
      <vt:lpstr>Logical Connectives</vt:lpstr>
      <vt:lpstr>Table for Logical Connectives</vt:lpstr>
      <vt:lpstr>PowerPoint Presentation</vt:lpstr>
      <vt:lpstr>PowerPoint Presentation</vt:lpstr>
      <vt:lpstr>PowerPoint Presentation</vt:lpstr>
      <vt:lpstr>Table for Logical Connectives</vt:lpstr>
      <vt:lpstr>Example: Construct the truth table for the logical operations:  (p→q)∨(q→p)</vt:lpstr>
      <vt:lpstr>Table for Logical Connectives</vt:lpstr>
      <vt:lpstr>Table for Logical Connectives</vt:lpstr>
      <vt:lpstr>Table for Logical Connectives</vt:lpstr>
      <vt:lpstr>Activity-1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OPERATING SYSTEM</dc:title>
  <dc:creator>student</dc:creator>
  <cp:lastModifiedBy>MOHD SARTAJ</cp:lastModifiedBy>
  <cp:revision>262</cp:revision>
  <dcterms:created xsi:type="dcterms:W3CDTF">2006-08-16T00:00:00Z</dcterms:created>
  <dcterms:modified xsi:type="dcterms:W3CDTF">2026-07-20T05:39:10Z</dcterms:modified>
</cp:coreProperties>
</file>