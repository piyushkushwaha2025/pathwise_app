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  <p:sldMasterId id="2147483829" r:id="rId2"/>
  </p:sldMasterIdLst>
  <p:notesMasterIdLst>
    <p:notesMasterId r:id="rId19"/>
  </p:notesMasterIdLst>
  <p:sldIdLst>
    <p:sldId id="328" r:id="rId3"/>
    <p:sldId id="404" r:id="rId4"/>
    <p:sldId id="391" r:id="rId5"/>
    <p:sldId id="403" r:id="rId6"/>
    <p:sldId id="398" r:id="rId7"/>
    <p:sldId id="270" r:id="rId8"/>
    <p:sldId id="406" r:id="rId9"/>
    <p:sldId id="405" r:id="rId10"/>
    <p:sldId id="407" r:id="rId11"/>
    <p:sldId id="408" r:id="rId12"/>
    <p:sldId id="400" r:id="rId13"/>
    <p:sldId id="399" r:id="rId14"/>
    <p:sldId id="411" r:id="rId15"/>
    <p:sldId id="387" r:id="rId16"/>
    <p:sldId id="266" r:id="rId17"/>
    <p:sldId id="39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1067" autoAdjust="0"/>
  </p:normalViewPr>
  <p:slideViewPr>
    <p:cSldViewPr>
      <p:cViewPr varScale="1">
        <p:scale>
          <a:sx n="60" d="100"/>
          <a:sy n="60" d="100"/>
        </p:scale>
        <p:origin x="14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2D1800-8745-41CE-98C4-1A8E9683EFA4}" type="datetimeFigureOut">
              <a:rPr lang="en-US" smtClean="0"/>
              <a:pPr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1827B-6B51-4CBA-A430-640550FD21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19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ln w="19050" cap="sq" cmpd="thinThick">
            <a:solidFill>
              <a:schemeClr val="tx1"/>
            </a:solidFill>
            <a:bevel/>
          </a:ln>
          <a:scene3d>
            <a:camera prst="orthographicFront"/>
            <a:lightRig rig="threePt" dir="t"/>
          </a:scene3d>
          <a:sp3d extrusionH="76200">
            <a:bevelT prst="relaxedInset"/>
            <a:extrusionClr>
              <a:schemeClr val="tx1"/>
            </a:extrusionClr>
          </a:sp3d>
        </p:spPr>
        <p:txBody>
          <a:bodyPr anchor="ctr"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3B47FB-1014-4E3F-A202-97CAF294BBFC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9"/>
          <p:cNvSpPr txBox="1">
            <a:spLocks noChangeArrowheads="1"/>
          </p:cNvSpPr>
          <p:nvPr/>
        </p:nvSpPr>
        <p:spPr bwMode="auto">
          <a:xfrm>
            <a:off x="2804329" y="0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9"/>
          <p:cNvSpPr txBox="1">
            <a:spLocks noChangeArrowheads="1"/>
          </p:cNvSpPr>
          <p:nvPr/>
        </p:nvSpPr>
        <p:spPr bwMode="auto">
          <a:xfrm>
            <a:off x="2804329" y="87868"/>
            <a:ext cx="61872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and Communication Engineering (CCE)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9FE22BF-3A22-45C1-BADC-3612C6923252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137160" indent="-137160">
              <a:defRPr sz="2000"/>
            </a:lvl1pPr>
            <a:lvl2pPr marL="320040" indent="-182880">
              <a:buFont typeface="Wingdings" pitchFamily="2" charset="2"/>
              <a:buChar char="§"/>
              <a:defRPr sz="1800"/>
            </a:lvl2pPr>
            <a:lvl3pPr marL="502920" indent="-182880"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3009795" y="0"/>
            <a:ext cx="6058005" cy="35394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Department of Computer and </a:t>
            </a:r>
            <a:r>
              <a:rPr lang="en-US" sz="1700" b="1" dirty="0" err="1">
                <a:solidFill>
                  <a:schemeClr val="bg1"/>
                </a:solidFill>
                <a:latin typeface="Calibri" pitchFamily="34" charset="0"/>
              </a:rPr>
              <a:t>Communicationq</a:t>
            </a:r>
            <a:r>
              <a:rPr lang="en-US" sz="1700" b="1" dirty="0">
                <a:solidFill>
                  <a:schemeClr val="bg1"/>
                </a:solidFill>
                <a:latin typeface="Calibri" pitchFamily="34" charset="0"/>
              </a:rPr>
              <a:t> Engineering (CCE)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A8FBA39-DF72-4994-AE3E-EC956397032E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04328" y="87868"/>
            <a:ext cx="6339671" cy="369332"/>
          </a:xfrm>
          <a:prstGeom prst="rect">
            <a:avLst/>
          </a:prstGeom>
          <a:noFill/>
          <a:ln w="50800" cmpd="dbl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800" b="0" dirty="0">
                <a:solidFill>
                  <a:schemeClr val="tx1"/>
                </a:solidFill>
                <a:latin typeface="Calibri" pitchFamily="34" charset="0"/>
              </a:rPr>
              <a:t>Department of Computer Science and Engineering (CSE)</a:t>
            </a:r>
            <a:endParaRPr lang="en-US" sz="1700" b="0" dirty="0">
              <a:solidFill>
                <a:schemeClr val="tx1"/>
              </a:solidFill>
              <a:latin typeface="Calibri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1EAA8C2-AD78-4A08-97C1-7880ACA86760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9941DD2-BE40-42EF-BE9B-37235D106842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2209800"/>
            <a:ext cx="8229600" cy="42672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A3FED77-7F8B-42FB-90D9-9BA3AA4B5ED2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BE70A9A-FC41-4977-87E1-5137B94BBBE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clip art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B01BE1-5921-4F4D-BEEE-4110B37F70CF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87529B5-CB12-4891-8714-5395C4349968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85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19828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18114-92B6-485C-9D7C-33C0F2D19E32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97420-AE2F-46C2-A51D-EA322C534D4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3D806-A92A-4227-9EBD-5B09BCC1B63A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1BACD-3D2D-4E8C-BFC9-781CD37DA74B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B2B6-0301-42A6-AAC9-3B4B3CDB7139}" type="datetime1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56920-A8BE-44DD-AD21-3EDBA244350E}" type="datetime1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0E573-BDBB-443C-AF66-523F61CBD3C1}" type="datetime1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69C94-3EFE-4BF8-9DAB-DB051961D6B6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03AA5-C9EF-42E8-BEBB-2D7415ACA616}" type="datetime1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F760F-EA06-476B-88E2-C8C883D1FBCF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809D6-FB21-4FF6-A094-05A48687AB18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400800"/>
            <a:ext cx="9144000" cy="0"/>
          </a:xfrm>
          <a:prstGeom prst="line">
            <a:avLst/>
          </a:prstGeom>
          <a:ln w="88900" cmpd="thickThin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420" name="Picture 4" descr="https://encrypted-tbn3.gstatic.com/images?q=tbn:ANd9GcTyg3Gq4WoxkxO75aZWNEjYFvavmMfWdiMvs57jpDF8YRR3yCybqQ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52400" y="152400"/>
            <a:ext cx="768000" cy="1219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41" r:id="rId12"/>
    <p:sldLayoutId id="2147483842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Cambria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185A7-633E-4B7E-B771-6D7F5F578687}" type="datetime1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E7EB-DACC-46A4-AA97-3CCBEE9E1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" Target="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YYQfYBNlfZg?si=bzEHNN2yciHgzZjb" TargetMode="External"/><Relationship Id="rId2" Type="http://schemas.openxmlformats.org/officeDocument/2006/relationships/hyperlink" Target="https://www.youtube.com/watch?v=PJRSu0Vf0r0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jpg"/><Relationship Id="rId5" Type="http://schemas.openxmlformats.org/officeDocument/2006/relationships/hyperlink" Target="https://youtu.be/UN6Hd4UlrnM?si=aM2OinkT-XDvYiL8" TargetMode="External"/><Relationship Id="rId4" Type="http://schemas.openxmlformats.org/officeDocument/2006/relationships/hyperlink" Target="https://youtu.be/x4dr53P1Fm0?si=Xh6mSos07OhSBRC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16787"/>
              </p:ext>
            </p:extLst>
          </p:nvPr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353293"/>
            <a:ext cx="7551419" cy="4873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3600" b="1" dirty="0">
                <a:solidFill>
                  <a:srgbClr val="FF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dirty="0">
              <a:solidFill>
                <a:srgbClr val="FF0000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B.Tech. CSE (Core/DS/IT/CC)</a:t>
            </a:r>
          </a:p>
          <a:p>
            <a:pPr lvl="0"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Semester-3</a:t>
            </a:r>
            <a:endParaRPr lang="en-US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Discrete Mathematics</a:t>
            </a:r>
            <a:endParaRPr lang="en-US" sz="2800" dirty="0">
              <a:solidFill>
                <a:srgbClr val="002060"/>
              </a:solidFill>
              <a:ea typeface="Cambria" panose="02040503050406030204" pitchFamily="18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800" dirty="0">
                <a:solidFill>
                  <a:srgbClr val="002060"/>
                </a:solidFill>
                <a:ea typeface="Cambria" panose="02040503050406030204" pitchFamily="18" charset="0"/>
                <a:cs typeface="Calibri" panose="020F0502020204030204" pitchFamily="34" charset="0"/>
                <a:sym typeface="Arial"/>
              </a:rPr>
              <a:t>Chapter:</a:t>
            </a:r>
            <a:r>
              <a:rPr lang="en-US" sz="2000" b="1" kern="0" dirty="0">
                <a:solidFill>
                  <a:srgbClr val="00206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1.1.2</a:t>
            </a:r>
            <a:endParaRPr lang="en-US" sz="2800" kern="100" dirty="0">
              <a:solidFill>
                <a:srgbClr val="002060"/>
              </a:solidFill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8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rgbClr val="002060"/>
                </a:solidFill>
                <a:cs typeface="Times New Roman" panose="02020603050405020304" pitchFamily="18" charset="0"/>
              </a:rPr>
              <a:t>Dr. SARTAJ</a:t>
            </a: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676400"/>
            <a:ext cx="8534400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112441" cy="6096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+mj-lt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86868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6" y="1676400"/>
            <a:ext cx="8805044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35413" y="228600"/>
            <a:ext cx="5651387" cy="58830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GB" sz="3600" spc="-69" dirty="0">
                <a:solidFill>
                  <a:srgbClr val="FF0000"/>
                </a:solidFill>
                <a:latin typeface="+mj-lt"/>
              </a:rPr>
              <a:t>Topics Covered</a:t>
            </a:r>
            <a:endParaRPr sz="3600" spc="-2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0" y="6642100"/>
            <a:ext cx="3052763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r>
              <a:rPr kern="0" dirty="0">
                <a:solidFill>
                  <a:prstClr val="white"/>
                </a:solidFill>
              </a:rPr>
              <a:t>Dr.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Shyam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S.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Das</a:t>
            </a:r>
            <a:r>
              <a:rPr kern="0" spc="149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(School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dirty="0">
                <a:solidFill>
                  <a:prstClr val="white"/>
                </a:solidFill>
              </a:rPr>
              <a:t>of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20" dirty="0">
                <a:solidFill>
                  <a:prstClr val="white"/>
                </a:solidFill>
              </a:rPr>
              <a:t>Basic</a:t>
            </a:r>
            <a:r>
              <a:rPr kern="0" spc="50" dirty="0">
                <a:solidFill>
                  <a:prstClr val="white"/>
                </a:solidFill>
              </a:rPr>
              <a:t> </a:t>
            </a:r>
            <a:r>
              <a:rPr kern="0" spc="-40" dirty="0">
                <a:solidFill>
                  <a:prstClr val="white"/>
                </a:solidFill>
              </a:rPr>
              <a:t>Sciences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5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64BE0-B5FE-416B-C8AC-E482358E482D}"/>
              </a:ext>
            </a:extLst>
          </p:cNvPr>
          <p:cNvSpPr txBox="1"/>
          <p:nvPr/>
        </p:nvSpPr>
        <p:spPr>
          <a:xfrm>
            <a:off x="838200" y="1873589"/>
            <a:ext cx="7467600" cy="257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Tautologies, </a:t>
            </a:r>
            <a:r>
              <a:rPr lang="en-US" sz="2400" dirty="0"/>
              <a:t>Contradictions, Contingency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Conclusions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Video links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  <a:ea typeface="Cambria" panose="02040503050406030204" pitchFamily="18" charset="0"/>
              </a:rPr>
              <a:t>References </a:t>
            </a:r>
            <a:endParaRPr lang="en-US" sz="2400" dirty="0">
              <a:effectLst/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17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79522457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6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812066">
              <a:lnSpc>
                <a:spcPts val="1139"/>
              </a:lnSpc>
            </a:pPr>
            <a:r>
              <a:rPr sz="1189" kern="0" spc="-129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ns</a:t>
            </a:r>
            <a:endParaRPr sz="118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AA26FD3-7BB9-D03B-332F-DBBE35CEA927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16963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+mj-lt"/>
              </a:rPr>
              <a:t>Tautologies, 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Contradictions, Contingency</a:t>
            </a:r>
          </a:p>
          <a:p>
            <a:endParaRPr lang="en-IN" sz="36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607B5D-F206-1071-A6C1-5FADA1F67833}"/>
              </a:ext>
            </a:extLst>
          </p:cNvPr>
          <p:cNvSpPr txBox="1"/>
          <p:nvPr/>
        </p:nvSpPr>
        <p:spPr>
          <a:xfrm>
            <a:off x="685800" y="1600200"/>
            <a:ext cx="73914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  <a:latin typeface="+mj-lt"/>
              </a:rPr>
              <a:t>Tautologies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A Tautology is a formula which is always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T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 for every value of its propositional variables.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solidFill>
                <a:srgbClr val="374151"/>
              </a:solidFill>
              <a:latin typeface="+mj-lt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+mj-lt"/>
              </a:rPr>
              <a:t>Contradictions</a:t>
            </a:r>
          </a:p>
          <a:p>
            <a:pPr algn="just"/>
            <a:r>
              <a:rPr lang="en-US" sz="2400" dirty="0">
                <a:latin typeface="+mj-lt"/>
              </a:rPr>
              <a:t>A Contradiction is a formula which is always </a:t>
            </a:r>
            <a:r>
              <a:rPr lang="en-US" sz="2400" b="1" dirty="0">
                <a:latin typeface="+mj-lt"/>
              </a:rPr>
              <a:t>F</a:t>
            </a:r>
            <a:r>
              <a:rPr lang="en-US" sz="2400" dirty="0">
                <a:latin typeface="+mj-lt"/>
              </a:rPr>
              <a:t> for every value of its propositional variables.</a:t>
            </a:r>
          </a:p>
          <a:p>
            <a:pPr algn="just"/>
            <a:endParaRPr lang="en-US" sz="2400" dirty="0">
              <a:latin typeface="+mj-lt"/>
            </a:endParaRPr>
          </a:p>
          <a:p>
            <a:pPr algn="just"/>
            <a:r>
              <a:rPr lang="en-US" sz="2400" b="1" dirty="0">
                <a:solidFill>
                  <a:srgbClr val="FF0000"/>
                </a:solidFill>
                <a:latin typeface="+mj-lt"/>
              </a:rPr>
              <a:t>Contingency</a:t>
            </a:r>
          </a:p>
          <a:p>
            <a:pPr algn="just"/>
            <a:r>
              <a:rPr lang="en-US" sz="2400" dirty="0">
                <a:latin typeface="+mj-lt"/>
              </a:rPr>
              <a:t>A Contingency is a formula which has </a:t>
            </a:r>
            <a:r>
              <a:rPr lang="en-US" sz="2400" b="1" dirty="0">
                <a:latin typeface="+mj-lt"/>
              </a:rPr>
              <a:t>both some T and some F values</a:t>
            </a:r>
            <a:r>
              <a:rPr lang="en-US" sz="2400" dirty="0">
                <a:latin typeface="+mj-lt"/>
              </a:rPr>
              <a:t> for every value of its propositional variables.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1C2C8-EAFA-202B-D528-B804BF30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6F493634-D9ED-E81C-464D-9D010B56AAF7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7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3BF074F-296A-07AC-CDCA-EEF03C89F232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812066">
              <a:lnSpc>
                <a:spcPts val="1139"/>
              </a:lnSpc>
            </a:pPr>
            <a:r>
              <a:rPr sz="1189" kern="0" spc="-129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ns</a:t>
            </a:r>
            <a:endParaRPr sz="118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C8F0CA9-4C55-AAF0-0BA0-DF1E39D8B71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9407A102-4AA1-AC6F-329F-BA9E8376BFF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DB2C61C-2999-22C3-ABF2-227AF5CB6882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1696300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+mj-lt"/>
              </a:rPr>
              <a:t>Tautologies, 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Contradictions, Contingency</a:t>
            </a:r>
          </a:p>
          <a:p>
            <a:endParaRPr lang="en-IN" sz="36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86D8D-7A31-1D08-F570-1CD4D72F0A78}"/>
              </a:ext>
            </a:extLst>
          </p:cNvPr>
          <p:cNvSpPr txBox="1"/>
          <p:nvPr/>
        </p:nvSpPr>
        <p:spPr>
          <a:xfrm>
            <a:off x="685800" y="1600200"/>
            <a:ext cx="73914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0000"/>
                </a:solidFill>
                <a:latin typeface="+mj-lt"/>
              </a:rPr>
              <a:t>Example of Tautologies: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rgbClr val="374151"/>
                </a:solidFill>
                <a:latin typeface="+mj-lt"/>
              </a:rPr>
              <a:t>Proposition [(A→B)∧ A]→B is tautology.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 dirty="0">
              <a:solidFill>
                <a:srgbClr val="374151"/>
              </a:solidFill>
              <a:latin typeface="+mj-lt"/>
            </a:endParaRPr>
          </a:p>
          <a:p>
            <a:pPr algn="just"/>
            <a:r>
              <a:rPr lang="en-IN" sz="2400" b="1" dirty="0">
                <a:solidFill>
                  <a:srgbClr val="FF0000"/>
                </a:solidFill>
                <a:latin typeface="+mj-lt"/>
              </a:rPr>
              <a:t>Example of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Contradictions</a:t>
            </a:r>
          </a:p>
          <a:p>
            <a:pPr algn="just"/>
            <a:r>
              <a:rPr lang="en-US" altLang="en-US" sz="2400" dirty="0">
                <a:solidFill>
                  <a:srgbClr val="374151"/>
                </a:solidFill>
                <a:latin typeface="+mj-lt"/>
              </a:rPr>
              <a:t>Proposition (A∨B)∧[(¬A) ∧ (¬B)] is  contradiction.</a:t>
            </a:r>
          </a:p>
          <a:p>
            <a:pPr algn="just"/>
            <a:endParaRPr lang="en-US" sz="2400" dirty="0">
              <a:latin typeface="+mj-lt"/>
            </a:endParaRPr>
          </a:p>
          <a:p>
            <a:pPr algn="just"/>
            <a:r>
              <a:rPr lang="en-IN" sz="2400" b="1" dirty="0">
                <a:solidFill>
                  <a:srgbClr val="FF0000"/>
                </a:solidFill>
                <a:latin typeface="+mj-lt"/>
              </a:rPr>
              <a:t>Example of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Contingency</a:t>
            </a:r>
          </a:p>
          <a:p>
            <a:pPr algn="just"/>
            <a:r>
              <a:rPr lang="en-US" altLang="en-US" sz="2400" dirty="0">
                <a:solidFill>
                  <a:srgbClr val="374151"/>
                </a:solidFill>
                <a:latin typeface="+mj-lt"/>
              </a:rPr>
              <a:t>Proposition (A∨B)∧(¬A) is contingency.</a:t>
            </a:r>
            <a:endParaRPr lang="en-US" sz="2400" b="1" dirty="0">
              <a:solidFill>
                <a:srgbClr val="FF0000"/>
              </a:solidFill>
              <a:latin typeface="+mj-lt"/>
            </a:endParaRPr>
          </a:p>
          <a:p>
            <a:pPr algn="just"/>
            <a:endParaRPr lang="en-US" sz="2400" b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85918898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F021D-49C7-396C-4CE7-F0115EE7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9FE361C1-892A-AE58-6411-A8CC4A9071D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8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60DA83E-F534-1C3C-23F4-3675AE346225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812066">
              <a:lnSpc>
                <a:spcPts val="1139"/>
              </a:lnSpc>
            </a:pPr>
            <a:r>
              <a:rPr sz="1189" kern="0" spc="-129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ns</a:t>
            </a:r>
            <a:endParaRPr sz="118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1BC03618-93CD-A6AB-18B4-CD90A9C6CDA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F534E71F-944C-473F-6D7A-6CA987B581F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7F41BC-5AD1-B516-91F4-0B2FB1868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4423303"/>
              </p:ext>
            </p:extLst>
          </p:nvPr>
        </p:nvGraphicFramePr>
        <p:xfrm>
          <a:off x="685800" y="2590800"/>
          <a:ext cx="8001001" cy="3007358"/>
        </p:xfrm>
        <a:graphic>
          <a:graphicData uri="http://schemas.openxmlformats.org/drawingml/2006/table">
            <a:tbl>
              <a:tblPr/>
              <a:tblGrid>
                <a:gridCol w="1185333">
                  <a:extLst>
                    <a:ext uri="{9D8B030D-6E8A-4147-A177-3AD203B41FA5}">
                      <a16:colId xmlns:a16="http://schemas.microsoft.com/office/drawing/2014/main" val="3138146027"/>
                    </a:ext>
                  </a:extLst>
                </a:gridCol>
                <a:gridCol w="1481667">
                  <a:extLst>
                    <a:ext uri="{9D8B030D-6E8A-4147-A177-3AD203B41FA5}">
                      <a16:colId xmlns:a16="http://schemas.microsoft.com/office/drawing/2014/main" val="3548375858"/>
                    </a:ext>
                  </a:extLst>
                </a:gridCol>
                <a:gridCol w="1703917">
                  <a:extLst>
                    <a:ext uri="{9D8B030D-6E8A-4147-A177-3AD203B41FA5}">
                      <a16:colId xmlns:a16="http://schemas.microsoft.com/office/drawing/2014/main" val="2064955103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3312087878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469596800"/>
                    </a:ext>
                  </a:extLst>
                </a:gridCol>
              </a:tblGrid>
              <a:tr h="9078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>
                          <a:effectLst/>
                        </a:rPr>
                        <a:t>A → 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(A → B) ∧ 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>
                          <a:effectLst/>
                        </a:rPr>
                        <a:t>[( A → B ) ∧ A] → 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6760234"/>
                  </a:ext>
                </a:extLst>
              </a:tr>
              <a:tr h="524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465022"/>
                  </a:ext>
                </a:extLst>
              </a:tr>
              <a:tr h="524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923027"/>
                  </a:ext>
                </a:extLst>
              </a:tr>
              <a:tr h="524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0119828"/>
                  </a:ext>
                </a:extLst>
              </a:tr>
              <a:tr h="5248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96597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BD0863D3-ED5C-93F5-DBE3-7D8409179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1" y="1607403"/>
            <a:ext cx="8001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As we can see every value of [(A→B) ∧ A]→B is "T", it is a tautology.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9D5D842E-D19E-56ED-80D5-745A1F8F5DFF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+mj-lt"/>
              </a:rPr>
              <a:t>Tautologies, 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Contradictions, Contingency</a:t>
            </a:r>
          </a:p>
        </p:txBody>
      </p:sp>
    </p:spTree>
    <p:extLst>
      <p:ext uri="{BB962C8B-B14F-4D97-AF65-F5344CB8AC3E}">
        <p14:creationId xmlns:p14="http://schemas.microsoft.com/office/powerpoint/2010/main" val="663459990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FD05E-9B4E-D2A4-A5A9-63B447EEB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A86A9A5A-789B-0B42-4F25-D79CA21261C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9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568A890-EAAD-E1B1-AF7D-F2A7F80044E5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812066">
              <a:lnSpc>
                <a:spcPts val="1139"/>
              </a:lnSpc>
            </a:pPr>
            <a:r>
              <a:rPr sz="1189" kern="0" spc="-129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ns</a:t>
            </a:r>
            <a:endParaRPr sz="118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48E1B455-1EAB-DA23-66F5-B544E0286E1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65696B4-3C4B-1222-71E9-D4D6011EB44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255F76E-22B9-DC59-21FC-C7AD41AFF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658881"/>
              </p:ext>
            </p:extLst>
          </p:nvPr>
        </p:nvGraphicFramePr>
        <p:xfrm>
          <a:off x="762000" y="2787174"/>
          <a:ext cx="7543800" cy="2775425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66170865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66949453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72020677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103167241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1497651672"/>
                    </a:ext>
                  </a:extLst>
                </a:gridCol>
              </a:tblGrid>
              <a:tr h="555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 ∨ 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¬ 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(A ∨ B) ∧ (¬ 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082967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68314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73821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281027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989139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6A1733EE-D1DB-3036-FC0B-CB66F3A12243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+mj-lt"/>
              </a:rPr>
              <a:t>Tautologies, 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Contradictions, Contingency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F2F48F-925E-6EAA-A3B4-E538FA55F25F}"/>
              </a:ext>
            </a:extLst>
          </p:cNvPr>
          <p:cNvSpPr txBox="1"/>
          <p:nvPr/>
        </p:nvSpPr>
        <p:spPr>
          <a:xfrm>
            <a:off x="762000" y="1905000"/>
            <a:ext cx="754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As we can see every value of (A∨B)∧[(¬A)∧(¬B)] is F, it is a contradiction.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672157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882AF-9E4E-1EF9-5546-AF2108CE7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6020FBBB-F707-1CD9-21A3-1486D45A538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10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A6BF6878-D6A0-ADB6-D1BF-30C7584B6C1E}"/>
              </a:ext>
            </a:extLst>
          </p:cNvPr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defTabSz="1812066">
              <a:lnSpc>
                <a:spcPts val="1139"/>
              </a:lnSpc>
            </a:pPr>
            <a:r>
              <a:rPr sz="1189" kern="0" spc="-129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ns</a:t>
            </a:r>
            <a:endParaRPr sz="1189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354863B6-2655-C366-9E14-133D6962A3B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DBCA0659-A619-3C24-1B43-957C30BFF3D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7D9554-293D-EE93-A815-74521C31A0BD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787174"/>
          <a:ext cx="7543800" cy="2775425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66170865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66949453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72020677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103167241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1497651672"/>
                    </a:ext>
                  </a:extLst>
                </a:gridCol>
              </a:tblGrid>
              <a:tr h="555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A ∨ B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¬ A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>
                          <a:effectLst/>
                        </a:rPr>
                        <a:t>(A ∨ B) ∧ (¬ A)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5082967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9068314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673821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281027"/>
                  </a:ext>
                </a:extLst>
              </a:tr>
              <a:tr h="555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T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F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9989139"/>
                  </a:ext>
                </a:extLst>
              </a:tr>
            </a:tbl>
          </a:graphicData>
        </a:graphic>
      </p:graphicFrame>
      <p:sp>
        <p:nvSpPr>
          <p:cNvPr id="7" name="object 3">
            <a:extLst>
              <a:ext uri="{FF2B5EF4-FFF2-40B4-BE49-F238E27FC236}">
                <a16:creationId xmlns:a16="http://schemas.microsoft.com/office/drawing/2014/main" id="{3CB4C9C8-1ABD-1060-E4B1-4A916AF2B189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+mj-lt"/>
              </a:rPr>
              <a:t>Tautologies, 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Contradictions, Contingency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7E4D47-BA84-95AD-14DE-9D5A28632ADA}"/>
              </a:ext>
            </a:extLst>
          </p:cNvPr>
          <p:cNvSpPr txBox="1"/>
          <p:nvPr/>
        </p:nvSpPr>
        <p:spPr>
          <a:xfrm>
            <a:off x="762000" y="1676400"/>
            <a:ext cx="7543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374151"/>
                </a:solidFill>
                <a:effectLst/>
                <a:latin typeface="+mj-lt"/>
              </a:rPr>
              <a:t>As we can see every value of (A∨B)∧(¬A) has both T and F, it is a contingency.</a:t>
            </a:r>
            <a:endParaRPr lang="en-IN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4109829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4CBA3-B30C-27A5-3E1D-932819D4D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>
            <a:extLst>
              <a:ext uri="{FF2B5EF4-FFF2-40B4-BE49-F238E27FC236}">
                <a16:creationId xmlns:a16="http://schemas.microsoft.com/office/drawing/2014/main" id="{DAF5F78C-28A5-3118-7B4A-2DE9602B2AB6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11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9A185AB-195B-0EF9-BE46-19DDC0D369B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D47B4AB0-BE30-4B6B-1DFF-D7A803DF2E7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068F02-6FD0-7FF8-C116-5FD782E85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362200"/>
            <a:ext cx="7543800" cy="3970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55F6250-724B-0156-5C04-109C30381C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" y="1600200"/>
                <a:ext cx="7543800" cy="811443"/>
              </a:xfrm>
              <a:prstGeom prst="rect">
                <a:avLst/>
              </a:prstGeom>
            </p:spPr>
            <p:txBody>
              <a:bodyPr vert="horz" wrap="square" lIns="0" tIns="33975" rIns="0" bIns="0" rtlCol="0">
                <a:sp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4400" b="1" kern="1200">
                    <a:solidFill>
                      <a:schemeClr val="tx1"/>
                    </a:solidFill>
                    <a:latin typeface="Cambria" pitchFamily="18" charset="0"/>
                    <a:ea typeface="+mj-ea"/>
                    <a:cs typeface="+mj-cs"/>
                  </a:defRPr>
                </a:lvl1pPr>
              </a:lstStyle>
              <a:p>
                <a:pPr marL="25168" algn="l">
                  <a:spcBef>
                    <a:spcPts val="268"/>
                  </a:spcBef>
                </a:pPr>
                <a:r>
                  <a:rPr lang="en-US" sz="2400" spc="-69" dirty="0">
                    <a:solidFill>
                      <a:srgbClr val="FF0000"/>
                    </a:solidFill>
                    <a:latin typeface="+mj-lt"/>
                  </a:rPr>
                  <a:t>Example: </a:t>
                </a:r>
                <a:r>
                  <a:rPr lang="en-US" sz="2400" b="0" spc="-69" dirty="0">
                    <a:latin typeface="+mj-lt"/>
                  </a:rPr>
                  <a:t>Construct the truth table for the logical operations:  </a:t>
                </a:r>
              </a:p>
              <a:p>
                <a:pPr marL="25168" algn="l">
                  <a:spcBef>
                    <a:spcPts val="268"/>
                  </a:spcBef>
                </a:pPr>
                <a:r>
                  <a:rPr lang="en-IN" sz="2400" dirty="0"/>
                  <a:t>¬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pc="-69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pc="-69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i="1" spc="-69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US" sz="2400" i="1" spc="-69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i="1" spc="-69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400" i="1" spc="-69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pc="-69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n-US" sz="2400" i="1" spc="-69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IN" sz="2400" b="1" i="1" spc="-69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r>
                  <a:rPr lang="en-US" sz="2400" b="0" spc="-69" dirty="0">
                    <a:solidFill>
                      <a:srgbClr val="FF0000"/>
                    </a:solidFill>
                    <a:latin typeface="+mj-lt"/>
                  </a:rPr>
                  <a:t> and show that </a:t>
                </a:r>
                <a:r>
                  <a:rPr lang="en-US" altLang="en-US" sz="2400" b="0" dirty="0">
                    <a:solidFill>
                      <a:srgbClr val="FF0000"/>
                    </a:solidFill>
                  </a:rPr>
                  <a:t>it is a contingency.</a:t>
                </a:r>
                <a:r>
                  <a:rPr lang="en-US" sz="2400" b="0" spc="-69" dirty="0">
                    <a:solidFill>
                      <a:srgbClr val="FF0000"/>
                    </a:solidFill>
                    <a:latin typeface="+mj-lt"/>
                  </a:rPr>
                  <a:t> </a:t>
                </a:r>
              </a:p>
            </p:txBody>
          </p:sp>
        </mc:Choice>
        <mc:Fallback xmlns="">
          <p:sp>
            <p:nvSpPr>
              <p:cNvPr id="7" name="object 2">
                <a:extLst>
                  <a:ext uri="{FF2B5EF4-FFF2-40B4-BE49-F238E27FC236}">
                    <a16:creationId xmlns:a16="http://schemas.microsoft.com/office/drawing/2014/main" id="{555F6250-724B-0156-5C04-109C30381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600200"/>
                <a:ext cx="7543800" cy="811443"/>
              </a:xfrm>
              <a:prstGeom prst="rect">
                <a:avLst/>
              </a:prstGeom>
              <a:blipFill>
                <a:blip r:embed="rId4"/>
                <a:stretch>
                  <a:fillRect l="-2100" t="-7519" b="-21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3">
            <a:extLst>
              <a:ext uri="{FF2B5EF4-FFF2-40B4-BE49-F238E27FC236}">
                <a16:creationId xmlns:a16="http://schemas.microsoft.com/office/drawing/2014/main" id="{A0E4C93F-EBD8-FF68-4EC4-31C189FBB648}"/>
              </a:ext>
            </a:extLst>
          </p:cNvPr>
          <p:cNvSpPr txBox="1">
            <a:spLocks/>
          </p:cNvSpPr>
          <p:nvPr/>
        </p:nvSpPr>
        <p:spPr>
          <a:xfrm>
            <a:off x="3360131" y="228600"/>
            <a:ext cx="5280631" cy="1142302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</a:lstStyle>
          <a:p>
            <a:r>
              <a:rPr lang="en-IN" sz="3600" dirty="0">
                <a:solidFill>
                  <a:srgbClr val="FF0000"/>
                </a:solidFill>
                <a:latin typeface="+mj-lt"/>
              </a:rPr>
              <a:t>Tautologies, </a:t>
            </a:r>
            <a:r>
              <a:rPr lang="en-US" sz="3600" dirty="0">
                <a:solidFill>
                  <a:srgbClr val="FF0000"/>
                </a:solidFill>
                <a:latin typeface="+mj-lt"/>
              </a:rPr>
              <a:t>Contradictions, Contingency</a:t>
            </a:r>
          </a:p>
        </p:txBody>
      </p:sp>
    </p:spTree>
    <p:extLst>
      <p:ext uri="{BB962C8B-B14F-4D97-AF65-F5344CB8AC3E}">
        <p14:creationId xmlns:p14="http://schemas.microsoft.com/office/powerpoint/2010/main" val="399581374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0740-E796-9314-DA84-BDEFF731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E858C6-1A6F-72D5-43AB-955168B14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304800"/>
            <a:ext cx="44196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lang="en-IN" spc="-69" dirty="0">
                <a:solidFill>
                  <a:srgbClr val="FF0000"/>
                </a:solidFill>
                <a:latin typeface="+mj-lt"/>
              </a:rPr>
              <a:t>Activity</a:t>
            </a:r>
            <a:endParaRPr spc="-69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72149860-0B8D-0011-8D03-B86A77BFB551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12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8FC3131-36E1-1909-EA4D-0C67969A3173}"/>
              </a:ext>
            </a:extLst>
          </p:cNvPr>
          <p:cNvSpPr txBox="1"/>
          <p:nvPr/>
        </p:nvSpPr>
        <p:spPr>
          <a:xfrm>
            <a:off x="936730" y="1905000"/>
            <a:ext cx="7198333" cy="849207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r>
              <a:rPr lang="en-US" sz="2400" dirty="0"/>
              <a:t>1. Construct the truth table for (p ↔ q) ∨ (¬p ∧ q) and classify the result.</a:t>
            </a: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5B9D715-014E-D508-F395-0693D151CA0B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61438776-3DBB-583A-B897-56E0F7B9D45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164BE9-2E18-A491-14C1-04144A2EDD07}"/>
              </a:ext>
            </a:extLst>
          </p:cNvPr>
          <p:cNvSpPr txBox="1"/>
          <p:nvPr/>
        </p:nvSpPr>
        <p:spPr>
          <a:xfrm>
            <a:off x="802666" y="2855417"/>
            <a:ext cx="71983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2.Determine whether the following statements are tautologies or contradiction ns statements. Justify using truth tables.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23305D-F72F-4212-66CB-3B07F39BA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3860842"/>
            <a:ext cx="3390900" cy="246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50743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48B8-F4DB-EBAD-3050-FD1C84081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E5C098B-02B8-BC9E-EB5A-F47F08266A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81400" y="304800"/>
            <a:ext cx="4419600" cy="711415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pc="-69" dirty="0">
                <a:solidFill>
                  <a:srgbClr val="FF0000"/>
                </a:solidFill>
                <a:latin typeface="+mj-lt"/>
              </a:rPr>
              <a:t>Conclusion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CBB4344-5463-0FB9-A041-36B1C55C106F}"/>
              </a:ext>
            </a:extLst>
          </p:cNvPr>
          <p:cNvSpPr txBox="1">
            <a:spLocks noGrp="1"/>
          </p:cNvSpPr>
          <p:nvPr>
            <p:ph type="sldNum" sz="quarter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168" defTabSz="1812066">
              <a:lnSpc>
                <a:spcPts val="1338"/>
              </a:lnSpc>
            </a:pPr>
            <a:fld id="{81D60167-4931-47E6-BA6A-407CBD079E47}" type="slidenum">
              <a:rPr kern="0" spc="-59" dirty="0">
                <a:solidFill>
                  <a:prstClr val="white"/>
                </a:solidFill>
              </a:rPr>
              <a:pPr marL="25168" defTabSz="1812066">
                <a:lnSpc>
                  <a:spcPts val="1338"/>
                </a:lnSpc>
              </a:pPr>
              <a:t>13</a:t>
            </a:fld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297" dirty="0">
                <a:solidFill>
                  <a:prstClr val="white"/>
                </a:solidFill>
              </a:rPr>
              <a:t>/</a:t>
            </a:r>
            <a:r>
              <a:rPr kern="0" spc="-109" dirty="0">
                <a:solidFill>
                  <a:prstClr val="white"/>
                </a:solidFill>
              </a:rPr>
              <a:t> </a:t>
            </a:r>
            <a:r>
              <a:rPr kern="0" spc="-69" dirty="0">
                <a:solidFill>
                  <a:prstClr val="white"/>
                </a:solidFill>
              </a:rPr>
              <a:t>15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EAA9F6DA-99BF-F43C-101B-E855ADC513B9}"/>
              </a:ext>
            </a:extLst>
          </p:cNvPr>
          <p:cNvSpPr txBox="1"/>
          <p:nvPr/>
        </p:nvSpPr>
        <p:spPr>
          <a:xfrm>
            <a:off x="990599" y="2548705"/>
            <a:ext cx="7010401" cy="2338845"/>
          </a:xfrm>
          <a:prstGeom prst="rect">
            <a:avLst/>
          </a:prstGeom>
        </p:spPr>
        <p:txBody>
          <a:bodyPr vert="horz" wrap="square" lIns="0" tIns="109474" rIns="0" bIns="0" rtlCol="0">
            <a:spAutoFit/>
          </a:bodyPr>
          <a:lstStyle/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IN" sz="2400" dirty="0"/>
              <a:t>Tautologies, </a:t>
            </a:r>
            <a:r>
              <a:rPr lang="en-US" sz="2400" dirty="0"/>
              <a:t>Contradictions, Contingency h</a:t>
            </a:r>
            <a:r>
              <a:rPr lang="en-US" sz="2400" kern="0" dirty="0">
                <a:latin typeface="+mj-lt"/>
                <a:cs typeface="Tahoma"/>
              </a:rPr>
              <a:t>ave been discussed. </a:t>
            </a:r>
          </a:p>
          <a:p>
            <a:pPr marL="368068" indent="-342900" defTabSz="1812066">
              <a:lnSpc>
                <a:spcPct val="150000"/>
              </a:lnSpc>
              <a:spcBef>
                <a:spcPts val="860"/>
              </a:spcBef>
              <a:buFont typeface="Arial" panose="020B0604020202020204" pitchFamily="34" charset="0"/>
              <a:buChar char="•"/>
            </a:pPr>
            <a:r>
              <a:rPr lang="en-US" sz="2400" kern="0" dirty="0">
                <a:latin typeface="+mj-lt"/>
                <a:cs typeface="Tahoma"/>
              </a:rPr>
              <a:t>Related examples are presented. </a:t>
            </a:r>
          </a:p>
          <a:p>
            <a:pPr marL="25168" defTabSz="1812066">
              <a:spcBef>
                <a:spcPts val="860"/>
              </a:spcBef>
            </a:pPr>
            <a:endParaRPr sz="2180" kern="0" dirty="0">
              <a:solidFill>
                <a:sysClr val="windowText" lastClr="000000"/>
              </a:solidFill>
              <a:latin typeface="+mj-lt"/>
              <a:cs typeface="Tahoma"/>
            </a:endParaRPr>
          </a:p>
        </p:txBody>
      </p:sp>
      <p:pic>
        <p:nvPicPr>
          <p:cNvPr id="14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0B679144-46B1-3231-7D6F-78A544DC4AD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pic>
        <p:nvPicPr>
          <p:cNvPr id="15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890EB7FB-4AC7-D216-82E6-7B60AB2AEC1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42513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692316611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24199" y="304800"/>
            <a:ext cx="5410331" cy="1066801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Video Links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403E28-F907-57DD-5046-9F8F7D0E6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hlinkClick r:id="rId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Arial" panose="020B0604020202020204" pitchFamily="34" charset="0"/>
              <a:hlinkClick r:id="rId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7530B-3F21-DBFA-7A79-54A7A98F0EB3}"/>
              </a:ext>
            </a:extLst>
          </p:cNvPr>
          <p:cNvSpPr txBox="1"/>
          <p:nvPr/>
        </p:nvSpPr>
        <p:spPr>
          <a:xfrm>
            <a:off x="1219331" y="1902083"/>
            <a:ext cx="57909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u="sng" dirty="0">
                <a:hlinkClick r:id="rId3"/>
              </a:rPr>
              <a:t>https://youtu.be/YYQfYBNlfZg?si=bzEHNN2yciHgzZjb</a:t>
            </a:r>
            <a:endParaRPr lang="en-IN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https://youtu.be/x4dr53P1Fm0?si=Xh6mSos07OhSBRCS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5"/>
              </a:rPr>
              <a:t>https://youtu.be/UN6Hd4UlrnM?si=aM2OinkT-XDvYiL8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4736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81001"/>
            <a:ext cx="5334000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dirty="0">
                <a:solidFill>
                  <a:srgbClr val="FF0000"/>
                </a:solidFill>
              </a:rPr>
              <a:t>References</a:t>
            </a:r>
            <a:endParaRPr dirty="0">
              <a:solidFill>
                <a:srgbClr val="FF0000"/>
              </a:solidFill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835461178"/>
              </p:ext>
            </p:extLst>
          </p:nvPr>
        </p:nvGraphicFramePr>
        <p:xfrm>
          <a:off x="609600" y="1560813"/>
          <a:ext cx="7848600" cy="452088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53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8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5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734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Year of Publication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608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Kenneth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Rosen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Mathematics and Its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2019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 marL="444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C.</a:t>
                      </a:r>
                      <a:r>
                        <a:rPr lang="en-IN" sz="1600" spc="-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L.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Liu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Elements of Discrete Mathematics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6675">
                        <a:spcBef>
                          <a:spcPts val="815"/>
                        </a:spcBef>
                        <a:buNone/>
                      </a:pP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McGraw-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635" algn="ctr">
                        <a:spcBef>
                          <a:spcPts val="815"/>
                        </a:spcBef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1996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   3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J.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Tremblay,</a:t>
                      </a:r>
                      <a:r>
                        <a:rPr lang="en-IN" sz="1600" spc="-1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R.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Manohar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 Mathematical Structures with Applications to Computer Science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R="171450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marR="171450" algn="ctr">
                        <a:lnSpc>
                          <a:spcPct val="115000"/>
                        </a:lnSpc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Tata</a:t>
                      </a:r>
                      <a:r>
                        <a:rPr lang="en-IN" sz="1600" spc="-7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McGraw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Hill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Bef>
                          <a:spcPts val="480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Kolman,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Busby,</a:t>
                      </a:r>
                      <a:r>
                        <a:rPr lang="en-IN" sz="1600" spc="-1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Ross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Discrete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Mathematical Structures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2001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7341"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4445" algn="ctr">
                        <a:buNone/>
                      </a:pPr>
                      <a:r>
                        <a:rPr lang="en-IN" sz="1600" spc="-5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Narsingh</a:t>
                      </a:r>
                      <a:r>
                        <a:rPr lang="en-IN" sz="1600" spc="-2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Deo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Graph Theory with Applications to</a:t>
                      </a:r>
                    </a:p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Engineering and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6675">
                        <a:buNone/>
                      </a:pPr>
                      <a:r>
                        <a:rPr lang="en-IN" sz="1600" spc="-25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PHI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235"/>
                        </a:spcBef>
                        <a:buNone/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635" algn="ctr">
                        <a:buNone/>
                      </a:pPr>
                      <a:r>
                        <a:rPr lang="en-IN" sz="1600" spc="-2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2017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b="1" i="1" dirty="0">
                <a:solidFill>
                  <a:srgbClr val="FF0000"/>
                </a:solidFill>
              </a:rPr>
              <a:t>Thanks!!!</a:t>
            </a:r>
            <a:endParaRPr lang="en-IN" sz="8000" b="1" i="1" dirty="0">
              <a:solidFill>
                <a:srgbClr val="FF0000"/>
              </a:solidFill>
            </a:endParaRPr>
          </a:p>
        </p:txBody>
      </p:sp>
      <p:pic>
        <p:nvPicPr>
          <p:cNvPr id="3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0951317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3288</TotalTime>
  <Words>677</Words>
  <Application>Microsoft Office PowerPoint</Application>
  <PresentationFormat>On-screen Show (4:3)</PresentationFormat>
  <Paragraphs>206</Paragraphs>
  <Slides>16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Arial MT</vt:lpstr>
      <vt:lpstr>Calibri</vt:lpstr>
      <vt:lpstr>Cambria</vt:lpstr>
      <vt:lpstr>Cambria Math</vt:lpstr>
      <vt:lpstr>Casper</vt:lpstr>
      <vt:lpstr>Times New Roman</vt:lpstr>
      <vt:lpstr>Wingdings</vt:lpstr>
      <vt:lpstr>Theme1</vt:lpstr>
      <vt:lpstr>Custom Design</vt:lpstr>
      <vt:lpstr>CorelDRAW</vt:lpstr>
      <vt:lpstr>PowerPoint Presentation</vt:lpstr>
      <vt:lpstr>CO mappings</vt:lpstr>
      <vt:lpstr>CO-PO mappings</vt:lpstr>
      <vt:lpstr>CO mappings</vt:lpstr>
      <vt:lpstr>Topics Covered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OPERATING SYSTEM</dc:title>
  <dc:creator>student</dc:creator>
  <cp:lastModifiedBy>MOHD SARTAJ</cp:lastModifiedBy>
  <cp:revision>267</cp:revision>
  <dcterms:created xsi:type="dcterms:W3CDTF">2006-08-16T00:00:00Z</dcterms:created>
  <dcterms:modified xsi:type="dcterms:W3CDTF">2026-07-23T04:38:32Z</dcterms:modified>
</cp:coreProperties>
</file>