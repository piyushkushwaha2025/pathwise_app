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0"/>
  </p:notesMasterIdLst>
  <p:sldIdLst>
    <p:sldId id="328" r:id="rId3"/>
    <p:sldId id="397" r:id="rId4"/>
    <p:sldId id="391" r:id="rId5"/>
    <p:sldId id="259" r:id="rId6"/>
    <p:sldId id="403" r:id="rId7"/>
    <p:sldId id="411" r:id="rId8"/>
    <p:sldId id="418" r:id="rId9"/>
    <p:sldId id="421" r:id="rId10"/>
    <p:sldId id="419" r:id="rId11"/>
    <p:sldId id="420" r:id="rId12"/>
    <p:sldId id="410" r:id="rId13"/>
    <p:sldId id="422" r:id="rId14"/>
    <p:sldId id="423" r:id="rId15"/>
    <p:sldId id="264" r:id="rId16"/>
    <p:sldId id="265" r:id="rId17"/>
    <p:sldId id="398" r:id="rId18"/>
    <p:sldId id="267" r:id="rId19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B740EBA4-EF4C-E2D2-24AC-6061BEB6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CE92E3F-18D4-933A-FFA5-37E2D5865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3FA31079-FBA7-9337-2B4D-83EB0C4C8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057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EDEA09A-318A-4ECB-8FA3-AFC23D3D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1A11D878-CBA3-06DD-D28B-055C39724F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E5D0098F-2356-2E38-5627-F8A6741360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2579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F1C6C416-91E6-54C3-11B8-03B50A01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D5C762D9-AA01-5D2F-D629-F9B604174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B9B4B44E-A94A-6C63-521B-42D042DF25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0237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E1E34D69-3097-E194-D821-CAAA5D1F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5D1C822-D7EE-99DD-C359-4DDA87211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BAA9A7FD-A73D-2707-9497-308F8EB2A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9266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EF95AC1D-4C2B-C5B2-BD0E-68B00FFD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1DACC265-38F5-2499-19C5-7F42B4A50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07D9E761-09AF-733C-9569-6DA5930FE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8060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83D9D3E2-A1D9-ACEA-C08C-BCE222ED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1DEFB031-54B6-FC46-2121-0A2A4D3DC6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A909F6C3-23A5-2641-79D0-74FA801EF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698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E961E17-20D9-3A62-FF51-489CB03C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B0626C33-2961-D937-76B1-9700F6EFC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F96A0A4E-17A8-083B-CFE9-4F6CE247F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6339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970EF943-25D6-2202-21A6-697FD75B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EEFA5188-2F5E-6BEE-C506-B0F36E962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D270344B-0614-E8CA-5D1C-E754262CF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064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4AB84573-C594-F934-E50A-D44C9AE5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72A57E03-A5CD-E9D9-EB64-240B44C75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6FF8C1EF-F5A1-DE83-51B0-31E6406A6F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0503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zm_o2dthNGIi-OXsgP8McUz4SUlb9q3p/view?usp=sharing" TargetMode="External"/><Relationship Id="rId5" Type="http://schemas.openxmlformats.org/officeDocument/2006/relationships/hyperlink" Target="https://youtu.be/ryzPoDr2KPs?si=UEUAJnV-SvVpNqlK" TargetMode="External"/><Relationship Id="rId4" Type="http://schemas.openxmlformats.org/officeDocument/2006/relationships/hyperlink" Target="https://youtu.be/kKoIABvlmfY?si=5FyQVGkAYS8eS5uQ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</a:t>
            </a:r>
            <a:r>
              <a:rPr lang="en-US" sz="240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- 5 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(</a:t>
            </a:r>
            <a:r>
              <a:rPr lang="en-US" sz="240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Chapter</a:t>
            </a:r>
            <a:r>
              <a:rPr lang="en-US" sz="240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5.3.1)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Planar graph, Chromatic number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481C08A3-E52C-EB8B-30BC-0D000C95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CF3D663D-597B-50F8-7CA6-CFBC67F11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Planar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8179EFD9-4F32-CC12-84A2-9922326284D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A847BCC-1299-3525-C49F-DAA2222224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E8E95-C5FF-5966-F01C-F4FC6F7BC059}"/>
              </a:ext>
            </a:extLst>
          </p:cNvPr>
          <p:cNvSpPr txBox="1"/>
          <p:nvPr/>
        </p:nvSpPr>
        <p:spPr>
          <a:xfrm>
            <a:off x="636994" y="1594762"/>
            <a:ext cx="80035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Planar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graph is planar if it can be drawn in the plane without crossing edges.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Here are some graphs and their planar representations.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4D95DD-D579-F61D-1041-39C0A810D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6173" y="3624629"/>
            <a:ext cx="3263195" cy="107964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0C1B75-BEE0-70B6-8BC4-4A0A9C781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66365" y="3547335"/>
            <a:ext cx="2089573" cy="11098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A83507-1BCE-FF30-DEA3-D76082C34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22172" y="5263238"/>
            <a:ext cx="2150266" cy="99926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8A8240-8B94-939F-AF3B-EF79BAE64E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54717" y="4746496"/>
            <a:ext cx="546313" cy="32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9457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3DAFA049-720C-44BB-3A89-6F48005F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31C70BFE-5C1C-F785-F306-8EEA45F604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037C9B9D-E852-93B9-5F84-B58CBE84AA81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992DCDD-ADDB-881F-37D6-E8D64202A0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CC6743-62CB-ADCE-38D9-69D8DB8229B1}"/>
              </a:ext>
            </a:extLst>
          </p:cNvPr>
          <p:cNvSpPr txBox="1"/>
          <p:nvPr/>
        </p:nvSpPr>
        <p:spPr>
          <a:xfrm>
            <a:off x="678094" y="1861260"/>
            <a:ext cx="78905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smallest number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colors needed to color the vertices of the graph such that no two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adjacent vertices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(having an edge between them) share the same color.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1) The chromatic number of a graph G is denoted by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χ(G)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(Here χ is the Greek letter chi.)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If the chromatic number of a graph is n, then we say that graph is n-colorable.</a:t>
            </a:r>
          </a:p>
        </p:txBody>
      </p:sp>
    </p:spTree>
    <p:extLst>
      <p:ext uri="{BB962C8B-B14F-4D97-AF65-F5344CB8AC3E}">
        <p14:creationId xmlns:p14="http://schemas.microsoft.com/office/powerpoint/2010/main" val="278283258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C448E621-DF88-348F-08A8-640138BB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00A25DFE-B24C-AEE9-7539-8776E008AA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C529468-717C-3067-BC6A-96423BCA174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2F6DC1E-2E53-8332-E56C-1F27D94AFE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993E39-B96B-DF43-199B-A15C0B2D7AD8}"/>
              </a:ext>
            </a:extLst>
          </p:cNvPr>
          <p:cNvSpPr txBox="1"/>
          <p:nvPr/>
        </p:nvSpPr>
        <p:spPr>
          <a:xfrm>
            <a:off x="678094" y="1861260"/>
            <a:ext cx="78905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results related to Chromatic Number: 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62CD-36CD-D664-FDEF-EB42A78D75AD}"/>
              </a:ext>
            </a:extLst>
          </p:cNvPr>
          <p:cNvSpPr/>
          <p:nvPr/>
        </p:nvSpPr>
        <p:spPr>
          <a:xfrm>
            <a:off x="534260" y="2398380"/>
            <a:ext cx="795527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vertices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Bipartite Graph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at least one edge is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Graph is equal to                                      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72DA4-C261-9527-7526-3125BCAEF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041" y="5147493"/>
            <a:ext cx="4033811" cy="71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19921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F61CAA8C-213F-3C3C-C182-3AEA0AD7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B76307C9-138E-83AF-985F-4E839C414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4928AA7F-4B9B-C8B4-B9AF-CCE5863855AD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C59D6D0-E304-B5D6-F642-F61B752D80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48E19B-CE7F-8FB7-D079-AE93B450429B}"/>
              </a:ext>
            </a:extLst>
          </p:cNvPr>
          <p:cNvSpPr/>
          <p:nvPr/>
        </p:nvSpPr>
        <p:spPr>
          <a:xfrm>
            <a:off x="534260" y="1802480"/>
            <a:ext cx="795527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for finding the Chromatic Number:</a:t>
            </a:r>
          </a:p>
          <a:p>
            <a:pPr algn="just"/>
            <a:endParaRPr lang="en-IN" sz="2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the number of vertices in a graph be 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Arrange the  vertices in some order.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the first vertex and color it with first color.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the next vertex and color it with the lowest numbered color that hasn’t been colored on any vertex adjacent to it.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all the adjacent vertices are colored with this color, then assign a new color.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until the coloring is done.  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72854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5AC756C8-4E9D-4E5C-BAAB-2B1FFF8A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D308366D-304F-F809-7797-A64AFD243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3588A78E-9BBE-C266-1E7E-FA97EE7F5386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5099FE6-075B-A4B4-5F06-6EAD13B8CE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F31D53-6FB8-D8C4-BE70-1E5339596267}"/>
              </a:ext>
            </a:extLst>
          </p:cNvPr>
          <p:cNvSpPr txBox="1"/>
          <p:nvPr/>
        </p:nvSpPr>
        <p:spPr>
          <a:xfrm>
            <a:off x="678094" y="1861260"/>
            <a:ext cx="78905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Chromatic number of this graph is 2.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261A8-AC1D-3186-FCB4-CFC21E371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48" y="2510433"/>
            <a:ext cx="2982767" cy="2030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4EAD25-0E61-14E1-D5FD-AACC97DB86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489" y="2546175"/>
            <a:ext cx="2943161" cy="201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84491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6907F191-165F-D484-B83E-9E051E13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E36C481A-87FF-09C3-B104-1A92619DA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01A4CB5D-27E3-1AB3-0E1B-13BE505DC773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B04E653-F276-E6AB-5FDA-B288218410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3D0D95-E149-2EDA-4ADA-65B9AE099C75}"/>
              </a:ext>
            </a:extLst>
          </p:cNvPr>
          <p:cNvSpPr txBox="1"/>
          <p:nvPr/>
        </p:nvSpPr>
        <p:spPr>
          <a:xfrm>
            <a:off x="678094" y="1583860"/>
            <a:ext cx="78905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Chromatic number of the following graphs: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B8649D-954C-8C41-DFFA-C05BA046A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37" y="2081662"/>
            <a:ext cx="7738390" cy="3279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B59D8E-6E37-D9DC-7515-4BB7694E8C84}"/>
              </a:ext>
            </a:extLst>
          </p:cNvPr>
          <p:cNvSpPr txBox="1"/>
          <p:nvPr/>
        </p:nvSpPr>
        <p:spPr>
          <a:xfrm>
            <a:off x="706351" y="5476504"/>
            <a:ext cx="7738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chromatic number of the above graphs is 3, 2, 4, 3, 5, 2, 3 respectively.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41326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8A011950-EDC5-2C4F-E105-71A57DA6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9B127889-CB1C-84C3-69E4-5DECF99D4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B8F08B94-CE84-93C1-9C64-A9A36C6D8D0B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A739CE8-566D-AC12-1804-E824F62B49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9E41C-02B6-647F-8BAA-EC941171AF1A}"/>
              </a:ext>
            </a:extLst>
          </p:cNvPr>
          <p:cNvSpPr txBox="1"/>
          <p:nvPr/>
        </p:nvSpPr>
        <p:spPr>
          <a:xfrm>
            <a:off x="636995" y="1533124"/>
            <a:ext cx="8003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chromatic number of the graph. 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DB117A-A97A-D45D-2A1E-605D7E9EE6A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807" y="2425095"/>
            <a:ext cx="5731510" cy="29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89512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151DF4BB-8C40-CBBD-CF4B-48C46B7E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B14E87F0-CF7E-7EF9-5E6E-BAC7A1018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Acticity-2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B68ADD4F-7463-E99C-771D-79269DF8970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0AEBD36-9E64-A22E-9015-47FA15E3A1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331B73-87A8-E253-8439-C928E679FE69}"/>
              </a:ext>
            </a:extLst>
          </p:cNvPr>
          <p:cNvSpPr txBox="1"/>
          <p:nvPr/>
        </p:nvSpPr>
        <p:spPr>
          <a:xfrm>
            <a:off x="636995" y="1533124"/>
            <a:ext cx="8003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chromatic number of the graph. 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E989D9-600C-18CA-35CB-F43E70296E7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745" y="2540579"/>
            <a:ext cx="513461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55359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D976039D-E76D-74C7-6A45-D7E754D1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42FA8D22-A3DB-3A0E-8C64-4343E99874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Acticity-3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FBE8E9AD-C772-3E0E-77DF-1668EB653F86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E855895-5C76-8E9A-DC96-31CF42AAE7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8C1B2-04C3-9821-BCA8-541152FE945D}"/>
              </a:ext>
            </a:extLst>
          </p:cNvPr>
          <p:cNvSpPr txBox="1"/>
          <p:nvPr/>
        </p:nvSpPr>
        <p:spPr>
          <a:xfrm>
            <a:off x="636995" y="1533124"/>
            <a:ext cx="8003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graphs is planar?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9D96CE-E35A-ADF5-C2DB-CDB5ECB220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45" y="2689528"/>
            <a:ext cx="2143424" cy="2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ACC870-3EA7-76D3-F89C-00C0C5990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369" y="2836548"/>
            <a:ext cx="2254079" cy="1951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A99E9A-3738-FE9E-9EC5-9E1424D7BD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159" y="2836548"/>
            <a:ext cx="1841812" cy="173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80257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03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indent="-342900" algn="just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Planar graph, Chromatic number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https://youtu.be/kKoIABvlmfY?si=5FyQVGkAYS8eS5uQ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https://youtu.be/ryzPoDr2KPs?si=UEUAJnV-SvVpNqlK</a:t>
            </a:r>
            <a:endParaRPr lang="en-US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627</Words>
  <Application>Microsoft Office PowerPoint</Application>
  <PresentationFormat>On-screen Show (4:3)</PresentationFormat>
  <Paragraphs>134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Calibri</vt:lpstr>
      <vt:lpstr>Arial</vt:lpstr>
      <vt:lpstr>Arial Black</vt:lpstr>
      <vt:lpstr>Casper</vt:lpstr>
      <vt:lpstr>Noto Sans Symbols</vt:lpstr>
      <vt:lpstr>Cambria</vt:lpstr>
      <vt:lpstr>Times New Roman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Planar Graphs</vt:lpstr>
      <vt:lpstr>Chromatic Number of a Graph</vt:lpstr>
      <vt:lpstr>Chromatic Number of a Graph</vt:lpstr>
      <vt:lpstr>Chromatic Number of a Graph</vt:lpstr>
      <vt:lpstr>Chromatic Number of a Graph</vt:lpstr>
      <vt:lpstr>Chromatic Number of a Graph</vt:lpstr>
      <vt:lpstr>Acticity-1</vt:lpstr>
      <vt:lpstr>Acticity-2</vt:lpstr>
      <vt:lpstr>Acticity-3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16</cp:revision>
  <dcterms:created xsi:type="dcterms:W3CDTF">2006-08-16T00:00:00Z</dcterms:created>
  <dcterms:modified xsi:type="dcterms:W3CDTF">2026-07-24T10:21:28Z</dcterms:modified>
</cp:coreProperties>
</file>