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6"/>
  </p:notesMasterIdLst>
  <p:sldIdLst>
    <p:sldId id="328" r:id="rId3"/>
    <p:sldId id="397" r:id="rId4"/>
    <p:sldId id="391" r:id="rId5"/>
    <p:sldId id="259" r:id="rId6"/>
    <p:sldId id="260" r:id="rId7"/>
    <p:sldId id="261" r:id="rId8"/>
    <p:sldId id="262" r:id="rId9"/>
    <p:sldId id="268" r:id="rId10"/>
    <p:sldId id="270" r:id="rId11"/>
    <p:sldId id="264" r:id="rId12"/>
    <p:sldId id="265" r:id="rId13"/>
    <p:sldId id="398" r:id="rId14"/>
    <p:sldId id="267" r:id="rId15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Cambria Math" panose="02040503050406030204" pitchFamily="18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custSel addSld delSld modSld">
      <pc:chgData name="MOHD SARTAJ" userId="0be50391adb133e1" providerId="LiveId" clId="{849D2220-9185-4955-8F14-CE40930C4662}" dt="2026-07-01T06:57:32.121" v="771" actId="1037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1T04:52:27.544" v="597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1T04:52:19.554" v="596" actId="20577"/>
          <ac:spMkLst>
            <pc:docMk/>
            <pc:sldMk cId="0" sldId="259"/>
            <ac:spMk id="198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4:52:38.231" v="598" actId="255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1T04:52:38.231" v="598" actId="255"/>
          <ac:spMkLst>
            <pc:docMk/>
            <pc:sldMk cId="0" sldId="260"/>
            <ac:spMk id="204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6:51:34.612" v="641" actId="1038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1T04:52:53.594" v="607" actId="1036"/>
          <ac:spMkLst>
            <pc:docMk/>
            <pc:sldMk cId="0" sldId="261"/>
            <ac:spMk id="226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51:14.848" v="616" actId="14100"/>
          <ac:spMkLst>
            <pc:docMk/>
            <pc:sldMk cId="0" sldId="261"/>
            <ac:spMk id="227" creationId="{00000000-0000-0000-0000-000000000000}"/>
          </ac:spMkLst>
        </pc:spChg>
        <pc:picChg chg="mod">
          <ac:chgData name="MOHD SARTAJ" userId="0be50391adb133e1" providerId="LiveId" clId="{849D2220-9185-4955-8F14-CE40930C4662}" dt="2026-07-01T06:51:34.612" v="641" actId="1038"/>
          <ac:picMkLst>
            <pc:docMk/>
            <pc:sldMk cId="0" sldId="261"/>
            <ac:picMk id="235" creationId="{00000000-0000-0000-0000-000000000000}"/>
          </ac:picMkLst>
        </pc:picChg>
      </pc:sldChg>
      <pc:sldChg chg="delSp modSp mod">
        <pc:chgData name="MOHD SARTAJ" userId="0be50391adb133e1" providerId="LiveId" clId="{849D2220-9185-4955-8F14-CE40930C4662}" dt="2026-07-01T04:53:00.913" v="608" actId="255"/>
        <pc:sldMkLst>
          <pc:docMk/>
          <pc:sldMk cId="0" sldId="262"/>
        </pc:sldMkLst>
        <pc:spChg chg="mod">
          <ac:chgData name="MOHD SARTAJ" userId="0be50391adb133e1" providerId="LiveId" clId="{849D2220-9185-4955-8F14-CE40930C4662}" dt="2026-07-01T04:53:00.913" v="608" actId="255"/>
          <ac:spMkLst>
            <pc:docMk/>
            <pc:sldMk cId="0" sldId="262"/>
            <ac:spMk id="241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6-30T10:40:01.621" v="460" actId="20577"/>
          <ac:spMkLst>
            <pc:docMk/>
            <pc:sldMk cId="0" sldId="263"/>
            <ac:spMk id="3" creationId="{F21E7CE3-3C3D-F46A-83E9-1EE634A32ECE}"/>
          </ac:spMkLst>
        </pc:spChg>
        <pc:picChg chg="mod">
          <ac:chgData name="MOHD SARTAJ" userId="0be50391adb133e1" providerId="LiveId" clId="{849D2220-9185-4955-8F14-CE40930C4662}" dt="2026-06-30T10:39:33.677" v="427" actId="14100"/>
          <ac:picMkLst>
            <pc:docMk/>
            <pc:sldMk cId="0" sldId="263"/>
            <ac:picMk id="5" creationId="{FF149627-15DC-2D6D-74E1-A522CCD83539}"/>
          </ac:picMkLst>
        </pc:picChg>
      </pc:sldChg>
      <pc:sldChg chg="delSp modSp mod">
        <pc:chgData name="MOHD SARTAJ" userId="0be50391adb133e1" providerId="LiveId" clId="{849D2220-9185-4955-8F14-CE40930C4662}" dt="2026-07-01T04:53:24.897" v="611" actId="255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1T04:50:58.052" v="583" actId="20577"/>
          <ac:spMkLst>
            <pc:docMk/>
            <pc:sldMk cId="0" sldId="264"/>
            <ac:spMk id="28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4:53:32.565" v="612" actId="255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1T04:51:33.229" v="586" actId="255"/>
          <ac:spMkLst>
            <pc:docMk/>
            <pc:sldMk cId="0" sldId="265"/>
            <ac:spMk id="300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mod">
        <pc:chgData name="MOHD SARTAJ" userId="0be50391adb133e1" providerId="LiveId" clId="{849D2220-9185-4955-8F14-CE40930C4662}" dt="2026-07-01T06:52:58.165" v="658" actId="2710"/>
        <pc:sldMkLst>
          <pc:docMk/>
          <pc:sldMk cId="3128174871" sldId="268"/>
        </pc:sldMkLst>
        <pc:spChg chg="mod">
          <ac:chgData name="MOHD SARTAJ" userId="0be50391adb133e1" providerId="LiveId" clId="{849D2220-9185-4955-8F14-CE40930C4662}" dt="2026-07-01T04:53:09.776" v="609" actId="255"/>
          <ac:spMkLst>
            <pc:docMk/>
            <pc:sldMk cId="3128174871" sldId="268"/>
            <ac:spMk id="241" creationId="{02770888-5049-D4BF-E8B5-DFD3E827E413}"/>
          </ac:spMkLst>
        </pc:spChg>
        <pc:spChg chg="mod">
          <ac:chgData name="MOHD SARTAJ" userId="0be50391adb133e1" providerId="LiveId" clId="{849D2220-9185-4955-8F14-CE40930C4662}" dt="2026-07-01T06:52:58.165" v="658" actId="2710"/>
          <ac:spMkLst>
            <pc:docMk/>
            <pc:sldMk cId="3128174871" sldId="268"/>
            <ac:spMk id="244" creationId="{AB8A82F8-0A62-FD57-B3F8-501F964249E9}"/>
          </ac:spMkLst>
        </pc:spChg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  <pc:spChg chg="mod">
          <ac:chgData name="MOHD SARTAJ" userId="0be50391adb133e1" providerId="LiveId" clId="{849D2220-9185-4955-8F14-CE40930C4662}" dt="2026-06-30T10:39:18.769" v="425" actId="20577"/>
          <ac:spMkLst>
            <pc:docMk/>
            <pc:sldMk cId="1473610980" sldId="269"/>
            <ac:spMk id="244" creationId="{7F75AD7E-7A29-BB26-0E2B-AA399C484C67}"/>
          </ac:spMkLst>
        </pc:spChg>
      </pc:sldChg>
      <pc:sldChg chg="modSp mod">
        <pc:chgData name="MOHD SARTAJ" userId="0be50391adb133e1" providerId="LiveId" clId="{849D2220-9185-4955-8F14-CE40930C4662}" dt="2026-07-01T04:53:17.464" v="610" actId="25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1T04:50:13.240" v="529" actId="14100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</pc:sldChg>
      <pc:sldChg chg="modSp add mod">
        <pc:chgData name="MOHD SARTAJ" userId="0be50391adb133e1" providerId="LiveId" clId="{849D2220-9185-4955-8F14-CE40930C4662}" dt="2026-07-01T04:34:11.509" v="47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4:34:11.509" v="47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4F05171F-87BD-F26E-F928-C101DDFA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BA1E3701-3A48-F5F2-EAD3-CA08AF1B5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00959A50-7613-E067-A5FE-B3DAFD57A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886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www.youtube.com/watch?v=zDkD0liU_1g" TargetMode="External"/><Relationship Id="rId4" Type="http://schemas.openxmlformats.org/officeDocument/2006/relationships/hyperlink" Target="https://www.youtube.com/watch?v=zhKu0lQW0a8&amp;list=PLFW6lRTa1g83LYdhDkUQfkXs7EbMBwYu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Unit-2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2.1.1)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Sets,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ubsets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sets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Historical Introduction to Set Theory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5" descr="A person with a bear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3555" y="2086840"/>
            <a:ext cx="3047207" cy="334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4572000" y="5791200"/>
            <a:ext cx="45636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George Cantor ( Source: Wikipedia)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A4C4AB-0C4C-4275-179A-2481B83F6A21}"/>
              </a:ext>
            </a:extLst>
          </p:cNvPr>
          <p:cNvSpPr txBox="1"/>
          <p:nvPr/>
        </p:nvSpPr>
        <p:spPr>
          <a:xfrm>
            <a:off x="480407" y="2086840"/>
            <a:ext cx="4618434" cy="3256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068" marR="536070" lvl="0" indent="-342900" algn="l" rtl="0">
              <a:lnSpc>
                <a:spcPct val="1131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by Georg Cantor (1845–1918) Key Concepts:</a:t>
            </a:r>
          </a:p>
          <a:p>
            <a:pPr marL="573821" marR="0" lvl="0" indent="0" algn="l" rtl="0">
              <a:lnSpc>
                <a:spcPct val="99083"/>
              </a:lnSpc>
              <a:spcBef>
                <a:spcPts val="347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 Formal definition of a set</a:t>
            </a:r>
          </a:p>
          <a:p>
            <a:pPr marL="573821" marR="523486" lvl="0" indent="0" algn="l" rtl="0">
              <a:lnSpc>
                <a:spcPct val="99083"/>
              </a:lnSpc>
              <a:spcBef>
                <a:spcPts val="79"/>
              </a:spcBef>
              <a:spcAft>
                <a:spcPts val="0"/>
              </a:spcAft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II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Cardinality and different sizes of Finite vs infinite sets</a:t>
            </a:r>
          </a:p>
          <a:p>
            <a:pPr marL="368068" marR="0" lvl="0" indent="-342900" algn="l" rtl="0">
              <a:spcBef>
                <a:spcPts val="60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Foundation of modern mathematics and logic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>
            <a:spLocks noGrp="1"/>
          </p:cNvSpPr>
          <p:nvPr>
            <p:ph type="title"/>
          </p:nvPr>
        </p:nvSpPr>
        <p:spPr>
          <a:xfrm>
            <a:off x="3256908" y="324326"/>
            <a:ext cx="554804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Set ? 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7" name="Google Shape;227;p6"/>
          <p:cNvSpPr txBox="1">
            <a:spLocks noGrp="1"/>
          </p:cNvSpPr>
          <p:nvPr>
            <p:ph type="body" idx="1"/>
          </p:nvPr>
        </p:nvSpPr>
        <p:spPr>
          <a:xfrm>
            <a:off x="595901" y="2386221"/>
            <a:ext cx="5215595" cy="236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-251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set is a well-defined collection of distinct objects.</a:t>
            </a:r>
            <a:endParaRPr dirty="0"/>
          </a:p>
          <a:p>
            <a:pPr marL="25168" marR="0" lvl="0" indent="-25168" algn="l" rtl="0">
              <a:spcBef>
                <a:spcPts val="6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dirty="0"/>
          </a:p>
          <a:p>
            <a:pPr marL="573821" marR="0" lvl="0" indent="-342900" algn="l" rtl="0">
              <a:spcBef>
                <a:spcPts val="66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Vowels: 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e,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o, 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dirty="0"/>
          </a:p>
          <a:p>
            <a:pPr marL="573821" marR="0" lvl="0" indent="-342900" algn="l" rtl="0">
              <a:spcBef>
                <a:spcPts val="654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Naturals 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5: 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{1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4}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35" name="Google Shape;235;p6" descr="A white circle with blue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9142" y="2457918"/>
            <a:ext cx="3072170" cy="2566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6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 txBox="1">
            <a:spLocks noGrp="1"/>
          </p:cNvSpPr>
          <p:nvPr>
            <p:ph type="title"/>
          </p:nvPr>
        </p:nvSpPr>
        <p:spPr>
          <a:xfrm>
            <a:off x="3710501" y="326074"/>
            <a:ext cx="41148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Sets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Google Shape;244;p7"/>
              <p:cNvSpPr txBox="1"/>
              <p:nvPr/>
            </p:nvSpPr>
            <p:spPr>
              <a:xfrm>
                <a:off x="542925" y="1770662"/>
                <a:ext cx="8097838" cy="4173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09450" rIns="0" bIns="0" anchor="t" anchorCtr="0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/>
                    <a:ea typeface="Calibri"/>
                    <a:cs typeface="Calibri"/>
                    <a:sym typeface="Calibri"/>
                  </a:rPr>
                  <a:t> Empty Set: </a:t>
                </a:r>
                <a:r>
                  <a:rPr lang="en-US" sz="2400" dirty="0">
                    <a:latin typeface="Calibri"/>
                    <a:ea typeface="Calibri"/>
                    <a:cs typeface="Calibri"/>
                    <a:sym typeface="Calibri"/>
                  </a:rPr>
                  <a:t>∅ or {}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Subset (⊆):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all elements of A are in B, then A ⊆ B.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Proper Subset (⊂):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is a proper subset of B if A ⊆ B and A ≠ B.</a:t>
                </a:r>
              </a:p>
              <a:p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Power Set (P(A)):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set of all subsets of a given set or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P(</a:t>
                </a:r>
                <a:r>
                  <a:rPr lang="en-US" sz="2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) = {B: </a:t>
                </a:r>
                <a:r>
                  <a:rPr lang="en-US" sz="2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B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⊆ </a:t>
                </a:r>
                <a:r>
                  <a:rPr lang="en-US" sz="2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} = Set of all subsets 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Example: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A = {1,2}, then P(A) = {{}, {1}, {2}, {1,2}}</a:t>
                </a:r>
              </a:p>
              <a:p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Cardinality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No. of different elements in a set A denoted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4" name="Google Shape;244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1770662"/>
                <a:ext cx="8097838" cy="4173169"/>
              </a:xfrm>
              <a:prstGeom prst="rect">
                <a:avLst/>
              </a:prstGeom>
              <a:blipFill>
                <a:blip r:embed="rId3"/>
                <a:stretch>
                  <a:fillRect l="-2259" r="-1355" b="-35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Google Shape;254;p7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DF15FA75-284A-FC5A-CBA1-C61E0C461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>
            <a:extLst>
              <a:ext uri="{FF2B5EF4-FFF2-40B4-BE49-F238E27FC236}">
                <a16:creationId xmlns:a16="http://schemas.microsoft.com/office/drawing/2014/main" id="{02770888-5049-D4BF-E8B5-DFD3E827E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3794" y="428817"/>
            <a:ext cx="41148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Sets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884CF9E0-97A7-6DAE-429C-703A2180B4E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AB8A82F8-0A62-FD57-B3F8-501F964249E9}"/>
              </a:ext>
            </a:extLst>
          </p:cNvPr>
          <p:cNvSpPr txBox="1"/>
          <p:nvPr/>
        </p:nvSpPr>
        <p:spPr>
          <a:xfrm>
            <a:off x="842963" y="1971806"/>
            <a:ext cx="7372350" cy="259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418403" marR="0" lvl="0" indent="-342900" algn="l" rtl="0">
              <a:lnSpc>
                <a:spcPct val="150000"/>
              </a:lnSpc>
              <a:spcBef>
                <a:spcPts val="662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Finite/Infinite: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number of elements in a given set is finite/infinite.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18403" marR="0" lvl="0" indent="-342900" algn="l" rtl="0">
              <a:lnSpc>
                <a:spcPct val="150000"/>
              </a:lnSpc>
              <a:spcBef>
                <a:spcPts val="66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Universal Set: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Contains all elements under discussion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18403" marR="0" lvl="0" indent="-342900" algn="l" rtl="0">
              <a:lnSpc>
                <a:spcPct val="150000"/>
              </a:lnSpc>
              <a:spcBef>
                <a:spcPts val="662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Complement: </a:t>
            </a:r>
            <a:r>
              <a:rPr lang="en-US" sz="24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 i="1" baseline="30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′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4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4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8EF992BF-F5EB-73F6-C7B9-F700887DA9E1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E5F15828-5C9C-3B65-C4EC-D6552F041A03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75CEBDD-AFA2-88AD-3BC6-6144FA4A8F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174871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27547-09A0-F6A0-F8B5-8E5E280A9157}"/>
              </a:ext>
            </a:extLst>
          </p:cNvPr>
          <p:cNvSpPr txBox="1"/>
          <p:nvPr/>
        </p:nvSpPr>
        <p:spPr>
          <a:xfrm>
            <a:off x="821933" y="2114547"/>
            <a:ext cx="7207642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Find P(A) if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2, 3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a set S = {1, 2, 3}, list all its subsets. Also find its power set.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Find cardinality of a set A containing n-elements and P(A).</a:t>
            </a:r>
          </a:p>
        </p:txBody>
      </p:sp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8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Set theory provides foundation for all mathematics</a:t>
            </a:r>
            <a:endParaRPr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Types of sets and Venn diagrams 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In next topic we discuss cartesian product, union and intersection of two sets.</a:t>
            </a:r>
            <a:endParaRPr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1219331" y="1902083"/>
            <a:ext cx="5790939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u="sng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https://www.youtube.com/watch?v=zhKu0lQW0a8&amp;list=PLFW6lRTa1g83LYdhDkUQfkXs7EbMBwYuF</a:t>
            </a:r>
            <a:endParaRPr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https://www.youtube.com/watch?v=zDkD0liU_1g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dirty="0">
              <a:solidFill>
                <a:schemeClr val="bg2"/>
              </a:solidFill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623</Words>
  <Application>Microsoft Office PowerPoint</Application>
  <PresentationFormat>On-screen Show (4:3)</PresentationFormat>
  <Paragraphs>126</Paragraphs>
  <Slides>13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Casper</vt:lpstr>
      <vt:lpstr>Arial</vt:lpstr>
      <vt:lpstr>Cambria Math</vt:lpstr>
      <vt:lpstr>Noto Sans Symbols</vt:lpstr>
      <vt:lpstr>Arial Black</vt:lpstr>
      <vt:lpstr>Cambria</vt:lpstr>
      <vt:lpstr>Times New Roman</vt:lpstr>
      <vt:lpstr>Calibri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Historical Introduction to Set Theory</vt:lpstr>
      <vt:lpstr>What is a Set ? </vt:lpstr>
      <vt:lpstr>Types of Sets</vt:lpstr>
      <vt:lpstr>Types of Sets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4</cp:revision>
  <dcterms:created xsi:type="dcterms:W3CDTF">2006-08-16T00:00:00Z</dcterms:created>
  <dcterms:modified xsi:type="dcterms:W3CDTF">2026-07-01T06:57:45Z</dcterms:modified>
</cp:coreProperties>
</file>