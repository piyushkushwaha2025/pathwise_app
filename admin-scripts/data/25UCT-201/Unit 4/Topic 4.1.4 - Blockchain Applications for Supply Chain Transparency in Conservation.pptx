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Information Security Fundamentals. Today we explore how blockchain technology transforms supply chain transparency within the context of ecological behaviour. This session is designed to empower you with the knowledge to secure environmental data. Let us begin our journey of discovery and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4, which focuses on data analysis for environmental monitoring. By understanding blockchain, you learn how to verify the integrity of data used to assess ecosystem trends. This ensures that the data we analyze is trustworthy and not tampered with by bad actors. We will see how this leads to better predictions of future environmental impacts.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blockchain and its specific role in conservation. You will understand how distributed ledgers create transparency where it is needed most. We will also work through a numerical example to see the efficiency gains. Finally, we will discuss the pitfalls to avoid when implementing these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blockchain as a shared notebook where every page is locked and linked to the previous one. Once a page is written, no one can erase or change it without breaking the chain. In conservation, this means a record of a poaching incident or a species count cannot be faked later. This immutability is the foundation of trust in our ecological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supply chain, we use IoT sensors to capture data like temperature or location automatically. This data is immediately hashed and added to the blockchain, creating an unbreakable trail. For example, a shipment of timber gets a digital ID that tracks its journey from the forest to the factory. If the data is tampered with, the chain breaks, and the system alerts us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benefit here is data integrity. When we track endangered species, we cannot afford for someone to lie about the numbers. Blockchain ensures that once a count is recorded, it stays that way forever. This builds public trust because anyone can verify the data independently. It also automates compliance, ensuring that environmental laws are followed without manual oversight.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A traditional audit of a timber supply chain might take 50 hours of manual checking. With blockchain, the verification is automated and takes only 2 hours. The time saved is 48 hours, which is a 96% efficiency gain. This allows conservationists to react much faster to threats like illegal logging.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time, we save money. Manual verification costs about $5 per data entry. Blockchain reduces this to just $0.50 per entry. If a monitoring program processes 10,000 records a year, the savings are substantial. We calculate the savings as 10,000 × the difference of $4.50, resulting in $45,000 saved annually. This funds more conservation efforts.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contracts are like digital vending machines for conservation funding. They automatically release money when specific conditions are met. For instance, a donor might set a rule that funds are released only when satellite data confirms trees have been planted. This removes human bias and ensures money goes exactly where it is needed.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major pitfall is scalability. Public blockchains can get slow when many transactions happen at once. If you have thousands of sensors sending data, the network might lag. This delay could be critical if you are trying to stop an illegal activity in real-time. We must choose the right type of blockchain or use scaling solutions to handle the load.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pitfall is privacy. If we put everything on a public blockchain, anyone can see the data. This is dangerous for endangered species locations, as poachers could use it. We must use techniques like zero-knowledge proofs to verify the data without revealing the sensitive details. This balances transparency with the need for secrecy.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often harder than expected. Many existing systems are old and cannot easily talk to blockchain networks. Connecting IoT sensors requires specialized skills that might not be available in smaller teams. The initial cost and training required can be a barrier for smaller conservation groups. We must plan for these integration challenges carefully.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blockchain creates a trustworthy foundation for ecological data through immutability. It automates processes and saves significant time and money. However, we must be careful about scalability and privacy issues. Ultimately, this technology empowers us to analyze data more effectively and predict future impacts on our ecosystems.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 books you should consult for further reading on environmental science and engineering. They provide the foundational knowledge required to understand the ecological context of these security applications. Please review these texts to deepen your understanding of the subject matter.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Blockchain Applications for Supply Chain Transparency in Conservation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Ecological Behaviour and Knowledge Management</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Ecological Behaviour and Knowledge Management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blockchain technology and its core components for conservation applications.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how distributed ledgers ensure supply chain transparency in ecological monitoring.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key benefits of immutable records for tracking endangered species and resources.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a numerical example of data verification time reduction using blockchain.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Recognize common implementation pitfalls in environmental data management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Blockchain Definition for Conservation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Blockchain is a decentralized digital ledger recording transactions across many computers.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block contains a cryptographic hash linking it to the previous block.</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immutability ensures environmental records cannot be altered after verification.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Transparency allows all stakeholders to view the same verified ecological data.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Consensus mechanisms validate new entries without a central controlling authority.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Bitcoinwiki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Supply Chain Transparency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Smart contracts automatically execute rules when environmental conditions are met.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IoT sensors feed real-time data directly into the blockchain ledger.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step from source to consumer is recorded with a unique digital ID.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Stakeholders verify product origin without needing to trust a single intermediary.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Tamper-proof logs prevent illegal logging or fishing from being hidden.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Ecological Data Integrity Benefits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Immutable records prevent falsification of endangered species population counts.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Traceability ensures sustainable sourcing of materials like palm oil or timber.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Public trust increases when conservation data is verified by independent nodes.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Regulatory compliance is automated through smart contracts for environmental laws.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Historical data remains accurate for long-term trend analysis and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Verification Time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Traditional verification time (T_trad) = 50 hours for a full supply chain audit</a:t>
            </a:r>
          </a:p>
        </p:txBody>
      </p:sp>
      <p:sp>
        <p:nvSpPr>
          <p:cNvPr id="16" name="Rectangle 15"/>
          <p:cNvSpPr/>
          <p:nvPr/>
        </p:nvSpPr>
        <p:spPr>
          <a:xfrm>
            <a:off x="502920"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96% reduction in time required to verify ecological data integrity.</a:t>
            </a:r>
          </a:p>
        </p:txBody>
      </p:sp>
      <p:sp>
        <p:nvSpPr>
          <p:cNvPr id="19" name="Rectangle 18"/>
          <p:cNvSpPr/>
          <p:nvPr/>
        </p:nvSpPr>
        <p:spPr>
          <a:xfrm>
            <a:off x="6185916" y="2796032"/>
            <a:ext cx="5500116"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Blockchain verification time (T_block) = 2 hours due to automated consensus.</a:t>
            </a:r>
          </a:p>
          <a:p>
            <a:pPr algn="l">
              <a:lnSpc>
                <a:spcPct val="135000"/>
              </a:lnSpc>
            </a:pPr>
            <a:r>
              <a:rPr sz="1300">
                <a:solidFill>
                  <a:srgbClr val="1A1A1A"/>
                </a:solidFill>
                <a:latin typeface="Calibri"/>
              </a:rPr>
              <a:t>•  Time saved (ΔT) = T_trad − T_block = 50 − 2 = 48 hours.</a:t>
            </a:r>
          </a:p>
          <a:p>
            <a:pPr algn="l">
              <a:lnSpc>
                <a:spcPct val="135000"/>
              </a:lnSpc>
            </a:pPr>
            <a:r>
              <a:rPr sz="1300">
                <a:solidFill>
                  <a:srgbClr val="1A1A1A"/>
                </a:solidFill>
                <a:latin typeface="Calibri"/>
              </a:rPr>
              <a:t>•  Efficiency gain percentage = (ΔT / T_trad) × 100 = (48 / 50)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Cost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Cost per data entry (C_trad) = $5.00 for manual verification and storage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Cost per data entry (C_block) = $0.50 for automated hashing and storage.</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Cost saved per entry (ΔC) = C_trad − C_block = $5.00 − $0.50.</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entries in a year (N) = 10,000 records for a monitoring program.</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Total annual savings = N × ΔC = 10,000 × $4.50 = $45,000.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Smart Contracts in Conservation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Payment released only when satellite data confirms reforestation success.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Smart contracts are self-executing code with terms written directly into code.</a:t>
            </a:r>
          </a:p>
          <a:p>
            <a:pPr algn="l">
              <a:lnSpc>
                <a:spcPct val="135000"/>
              </a:lnSpc>
            </a:pPr>
            <a:r>
              <a:rPr sz="1300">
                <a:solidFill>
                  <a:srgbClr val="1A1A1A"/>
                </a:solidFill>
                <a:latin typeface="Calibri"/>
              </a:rPr>
              <a:t>•  They automatically release funds when environmental targets are verified on-chain.</a:t>
            </a:r>
          </a:p>
          <a:p>
            <a:pPr algn="l">
              <a:lnSpc>
                <a:spcPct val="135000"/>
              </a:lnSpc>
            </a:pPr>
            <a:r>
              <a:rPr sz="1300">
                <a:solidFill>
                  <a:srgbClr val="1A1A1A"/>
                </a:solidFill>
                <a:latin typeface="Calibri"/>
              </a:rPr>
              <a:t>•  Reduces administrative overhead and eliminates human bias in fund distribution.</a:t>
            </a:r>
          </a:p>
          <a:p>
            <a:pPr algn="l">
              <a:lnSpc>
                <a:spcPct val="135000"/>
              </a:lnSpc>
            </a:pPr>
            <a:r>
              <a:rPr sz="1300">
                <a:solidFill>
                  <a:srgbClr val="1A1A1A"/>
                </a:solidFill>
                <a:latin typeface="Calibri"/>
              </a:rPr>
              <a:t>•  Ensures funds are used strictly for intended ecological conservation purposes.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Scalability Issues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SOLUTION</a:t>
            </a:r>
          </a:p>
          <a:p>
            <a:pPr algn="l">
              <a:lnSpc>
                <a:spcPct val="135000"/>
              </a:lnSpc>
            </a:pPr>
            <a:r>
              <a:rPr sz="1300">
                <a:solidFill>
                  <a:srgbClr val="1A1A1A"/>
                </a:solidFill>
                <a:latin typeface="Calibri"/>
              </a:rPr>
              <a:t>Use Layer 2 scaling solutions or private blockchains for high frequency.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Public blockchains may have slow transaction speeds during high network traffic.</a:t>
            </a:r>
          </a:p>
          <a:p>
            <a:pPr algn="l">
              <a:lnSpc>
                <a:spcPct val="135000"/>
              </a:lnSpc>
            </a:pPr>
            <a:r>
              <a:rPr sz="1300">
                <a:solidFill>
                  <a:srgbClr val="1A1A1A"/>
                </a:solidFill>
                <a:latin typeface="Calibri"/>
              </a:rPr>
              <a:t>•  Large volumes of sensor data can overwhelm the network capacity limits.</a:t>
            </a:r>
          </a:p>
          <a:p>
            <a:pPr algn="l">
              <a:lnSpc>
                <a:spcPct val="135000"/>
              </a:lnSpc>
            </a:pPr>
            <a:r>
              <a:rPr sz="1300">
                <a:solidFill>
                  <a:srgbClr val="1A1A1A"/>
                </a:solidFill>
                <a:latin typeface="Calibri"/>
              </a:rPr>
              <a:t>•  Latency can delay critical alerts for immediate ecological threats or disasters.</a:t>
            </a:r>
          </a:p>
          <a:p>
            <a:pPr algn="l">
              <a:lnSpc>
                <a:spcPct val="135000"/>
              </a:lnSpc>
            </a:pPr>
            <a:r>
              <a:rPr sz="1300">
                <a:solidFill>
                  <a:srgbClr val="1A1A1A"/>
                </a:solidFill>
                <a:latin typeface="Calibri"/>
              </a:rPr>
              <a:t>•  Storage costs increase significantly if all raw data is stored on-chain.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community.librenms.org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Privacy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SOLUTION</a:t>
            </a:r>
          </a:p>
          <a:p>
            <a:pPr algn="l">
              <a:lnSpc>
                <a:spcPct val="135000"/>
              </a:lnSpc>
            </a:pPr>
            <a:r>
              <a:rPr sz="1300">
                <a:solidFill>
                  <a:srgbClr val="1A1A1A"/>
                </a:solidFill>
                <a:latin typeface="Calibri"/>
              </a:rPr>
              <a:t>Use zero-knowledge proofs to verify data without revealing details.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Public ledgers make all data visible to anyone, which may violate privacy.</a:t>
            </a:r>
          </a:p>
          <a:p>
            <a:pPr algn="l">
              <a:lnSpc>
                <a:spcPct val="135000"/>
              </a:lnSpc>
            </a:pPr>
            <a:r>
              <a:rPr sz="1300">
                <a:solidFill>
                  <a:srgbClr val="1A1A1A"/>
                </a:solidFill>
                <a:latin typeface="Calibri"/>
              </a:rPr>
              <a:t>•  Sensitive locations of endangered species should not be fully public.</a:t>
            </a:r>
          </a:p>
          <a:p>
            <a:pPr algn="l">
              <a:lnSpc>
                <a:spcPct val="135000"/>
              </a:lnSpc>
            </a:pPr>
            <a:r>
              <a:rPr sz="1300">
                <a:solidFill>
                  <a:srgbClr val="1A1A1A"/>
                </a:solidFill>
                <a:latin typeface="Calibri"/>
              </a:rPr>
              <a:t>•  Stakeholders may hesitate to share data if competitors can see their metrics.</a:t>
            </a:r>
          </a:p>
          <a:p>
            <a:pPr algn="l">
              <a:lnSpc>
                <a:spcPct val="135000"/>
              </a:lnSpc>
            </a:pPr>
            <a:r>
              <a:rPr sz="1300">
                <a:solidFill>
                  <a:srgbClr val="1A1A1A"/>
                </a:solidFill>
                <a:latin typeface="Calibri"/>
              </a:rPr>
              <a:t>•  Regulatory compliance requires careful handling of personal or sensitive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Integration Complexity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Legacy systems often lack the APIs needed to connect with blockchain networks.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Integrating IoT sensors with blockchain requires significant technical expertise.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 initial setup costs can deter small conservation organizations from adoption.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Standardization of data formats is often missing across different organizations.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Training staff to use new blockchain tools takes time and resources.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Blockchain provides immutable, transparent records essential for ecological data trust.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Smart contracts automate compliance and fund distribution based on verified data.</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Efficiency gains can reduce verification time by over 90% in case studies.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Scalability and privacy must be addressed to prevent implementation failures.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integrity is critical for analyzing trends and predicting ecosystem impacts.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Applications for Supply Chain Transparency in Conservation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