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our session on Noise Pollution. Today we will analyze how sound becomes a pollutant and the engineering solutions to mitigate it. This topic is critical for understanding environmental impacts in our ecosystems. Let us begin by defining the scope of noise as a form of pollution.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directly addresses Course Outcome 2. We will analyze how human activities like traffic and industry create noise that impacts various ecosystems. You will learn to connect these activities to specific environmental consequences. This analysis is the core of our learning objective today.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noise sources and their physical properties. You will evaluate how noise affects health and calculate sound levels mathematically. We will also focus on proposing and assessing engineering controls for remediation. These skills are essential for environmental engineering practice.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Noise is defined as unwanted sound that causes disturbance. Unlike chemical waste, it is energy that dissipates quickly. However, its impact is immediate and severe. For example, a sudden loud explosion can cause instant hearing damage. We measure this using the decibel scale which is logarithmic.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sources of noise are transportation and industry. Road traffic is the most common source in urban areas. Aircraft and railways contribute significantly to regional noise levels. Construction and recreational activities add intermittent high-intensity noise. Understanding these sources helps in planning effective remediation strategies.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Noise pollution has severe health implications beyond just hearing loss. It triggers stress responses that can lead to hypertension and heart disease. Sleep disruption is a major issue affecting cognitive performance. For instance, students near airports often show lower reading scores. Wildlife also suffers from altered communication and breeding patterns.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noise using a sound level meter in decibels. The scale is logarithmic, meaning a 10 dB increase represents a tenfold increase in intensity. For example, 60 dB is ten × more intense than 50 dB. We use A-weighting to match human hearing sensitivity. This helps us assess the actual impact on people.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work through a numerical example. If you have two machines each producing 80 dB, the total is not 160 dB. Using the formula, we add 10 × the log of the number of sources. So 80 plus 10 × log of 2 equals 83 dB. A common pitfall is adding decibels arithmetically which is incorrect. Always use the logarithmic addition formula.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noise barrier reducing sound from 90 dB to 75 dB. The reduction is 15 dB. This might seem small, but it represents a massive decrease in intensity. A 15 dB reduction means the intensity is 31.6 × lower. Students often confuse the decibel value with linear intensity. Remember that decibels are logarithmic.</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effective control is at the source. We can replace noisy equipment with quieter alternatives. Regular maintenance prevents noise from worn parts. Enclosing machines in soundproof housings is highly effective. Mufflers on exhaust systems reduce engine noise. Administrative controls like rotating shifts also help limit exposure.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source control is insufficient, we interrupt the path. Acoustic barriers block direct sound propagation effectively. Sound-absorbing materials reduce reverberation in enclosed spaces. Vegetation buffers can absorb and deflect sound waves. Double-glazed windows are essential for residential protection. A common pitfall is relying only on absorption without blocking direct paths.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other controls fail, we protect the receiver. Personal protective equipment like earplugs is essential. Hearing conservation programs with regular testing are mandatory. Remote monitoring reduces human presence in noisy areas. Soundproof booths provide safe workspaces. A critical pitfall is assuming protection replaces engineering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noise is energy pollution measured in decibels. It causes significant health impacts including hearing loss and stress. Remember that decibel addition is logarithmic, not arithmetic. Source reduction is the most effective control strategy. Always implement controls in a hierarchy of effectiveness.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provide comprehensive coverage of environmental pollution and noise control. Benny Joseph and R.C. Sharma offer detailed insights into environmental studies. C.S. Rao's work is particularly useful for engineering controls. Please consult these texts for deeper understanding of the topics covered today.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gif"/><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jp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Noise Pollution and Remediation</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Information Security Fundamentals | Environmental Pollution and Remediation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Information Security Fundamentals   |   Chapter: Environmental Pollution and Remediation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Recall, analyze and respond on fundamental environmental principles, such as ecological relationships and conservation strategies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the interconnections between human activities and environmental impacts across different ecosystems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Understand and analyze and apply environmental laws and policies to analyse and propose solutions for real-world environmental challenges.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Students will analyse data from environmental monitoring programs to assess trends and predict future impacts on ecosystems.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C62828"/>
                          </a:solidFill>
                          <a:latin typeface="Calibri"/>
                        </a:rPr>
                        <a:t>BT6</a:t>
                      </a:r>
                    </a:p>
                  </a:txBody>
                  <a:tcPr marL="109728" marR="109728">
                    <a:solidFill>
                      <a:srgbClr val="FFEBEE"/>
                    </a:solidFill>
                  </a:tcPr>
                </a:tc>
                <a:tc>
                  <a:txBody>
                    <a:bodyPr/>
                    <a:lstStyle/>
                    <a:p>
                      <a:pPr algn="l"/>
                      <a:r>
                        <a:rPr sz="1200" b="0">
                          <a:solidFill>
                            <a:srgbClr val="1A1A1A"/>
                          </a:solidFill>
                          <a:latin typeface="Calibri"/>
                        </a:rPr>
                        <a:t>Interpret, elaborate and propose various tools, design and innovative strategies for sustainable development and environmental conservation initiatives in securing the planet.</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physical characteristics and sources of noise pollution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the health impacts of noise on human and animal populations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Calculate noise levels using decibel addition and subtraction principles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Propose engineering controls for noise reduction in industrial settings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Assess the effectiveness of various noise remediation strategies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Defining Noise as Pollution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Noise is unwanted or harmful sound that disrupts normal activities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a form of energy pollution that does not leave physical residue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Unlike chemical pollutants, noise disappears immediately when the source stops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is measured in decibels (dB) which is a logarithmic scale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perception of noise varies based on frequency and duration</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Excessive noise is classified as pollution when it exceeds regulatory limits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causes both physical hearing loss and psychological stress in humans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Sources of Noise Pollution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Transportation sources include road traffic, aircraft, and railway operations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Industrial sources involve machinery, generators, and construction equipment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Recreational sources include loud music, fireworks, and sporting events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Domestic sources include household appliances and loud conversations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Urbanization increases noise levels by reducing natural sound barriers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High-density traffic creates continuous background noise in cities</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Construction activities generate intermittent but high-intensity noise bursts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Noise pollution: what it is, how it affects us and how to measure it (source: kunakair.com)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Health Impacts of Noise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Prolonged exposure causes permanent sensorineural hearing loss in humans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Noise induces stress responses leading to hypertension and heart disease</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 disrupts sleep patterns causing fatigue and reduced cognitive performance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Children suffer from impaired learning and reading comprehension due to noise</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Wildlife experiences altered communication and breeding patterns from noise</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Psychological effects include irritability, anxiety, and reduced quality of life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Acoustic trauma can occur from sudden extremely loud sounds</a:t>
            </a:r>
          </a:p>
        </p:txBody>
      </p:sp>
      <p:pic>
        <p:nvPicPr>
          <p:cNvPr id="27" name="Picture 26"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Noise pollution | Maps and charts | European Environment Agency (EEA) (source: www.eea.europa.eu)</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Measurement and Decibel Scale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Sound pressure level is measured in decibels (dB) using a sound level meter</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The decibel scale is logarithmic where 10 dB increase equals 10x intensity</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0 dB represents the threshold of human hearing at 1000 Hz</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120 dB is the threshold of pain for the human ear</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A-weighting (dBA) filters frequencies to match human hearing sensitivity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Leq represents the equivalent continuous sound level over a period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Lmax captures the maximum instantaneous sound level during an event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Decibel Addition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274320"/>
          </a:xfrm>
          <a:prstGeom prst="rect">
            <a:avLst/>
          </a:prstGeom>
          <a:noFill/>
        </p:spPr>
        <p:txBody>
          <a:bodyPr wrap="square">
            <a:spAutoFit/>
          </a:bodyPr>
          <a:lstStyle/>
          <a:p>
            <a:pPr algn="ctr"/>
            <a:r>
              <a:rPr b="1" sz="1800">
                <a:solidFill>
                  <a:srgbClr val="1A1A1A"/>
                </a:solidFill>
                <a:latin typeface="Cambria Math"/>
              </a:rPr>
              <a:t>Formula: L_total = L_single + 10 × log₁₀(n)</a:t>
            </a:r>
          </a:p>
        </p:txBody>
      </p:sp>
      <p:sp>
        <p:nvSpPr>
          <p:cNvPr id="16" name="TextBox 15"/>
          <p:cNvSpPr txBox="1"/>
          <p:nvPr/>
        </p:nvSpPr>
        <p:spPr>
          <a:xfrm>
            <a:off x="685800" y="2265680"/>
            <a:ext cx="10817352" cy="292608"/>
          </a:xfrm>
          <a:prstGeom prst="rect">
            <a:avLst/>
          </a:prstGeom>
          <a:noFill/>
        </p:spPr>
        <p:txBody>
          <a:bodyPr wrap="none">
            <a:spAutoFit/>
          </a:bodyPr>
          <a:lstStyle/>
          <a:p>
            <a:pPr algn="ctr"/>
            <a:r>
              <a:rPr i="1" sz="1100">
                <a:solidFill>
                  <a:srgbClr val="555555"/>
                </a:solidFill>
                <a:latin typeface="Calibri"/>
              </a:rPr>
              <a:t>n is number of sources</a:t>
            </a:r>
          </a:p>
        </p:txBody>
      </p:sp>
      <p:sp>
        <p:nvSpPr>
          <p:cNvPr id="17" name="Rectangle 16"/>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Two machines each producing 80 dB result in 83 dB total</a:t>
            </a:r>
          </a:p>
        </p:txBody>
      </p:sp>
      <p:sp>
        <p:nvSpPr>
          <p:cNvPr id="20" name="Rectangle 19"/>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80 + 10 × log₁₀(2) = 80 + 10 × 0.301 = 83.01 dB</a:t>
            </a:r>
          </a:p>
        </p:txBody>
      </p:sp>
      <p:sp>
        <p:nvSpPr>
          <p:cNvPr id="23" name="Rectangle 22"/>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600"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PITFALL</a:t>
            </a:r>
          </a:p>
          <a:p>
            <a:pPr algn="l">
              <a:lnSpc>
                <a:spcPct val="135000"/>
              </a:lnSpc>
            </a:pPr>
            <a:r>
              <a:rPr sz="1300">
                <a:solidFill>
                  <a:srgbClr val="1A1A1A"/>
                </a:solidFill>
                <a:latin typeface="Calibri"/>
              </a:rPr>
              <a:t>Students often incorrectly add decibels arithmetically (80 + 80 = 160)</a:t>
            </a:r>
          </a:p>
        </p:txBody>
      </p:sp>
      <p:sp>
        <p:nvSpPr>
          <p:cNvPr id="26" name="Rectangle 25"/>
          <p:cNvSpPr/>
          <p:nvPr/>
        </p:nvSpPr>
        <p:spPr>
          <a:xfrm>
            <a:off x="6185916"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85916"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19596" y="4749292"/>
            <a:ext cx="5083556"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Two identical noise sources do not double the decibel reading</a:t>
            </a:r>
          </a:p>
          <a:p>
            <a:pPr algn="l">
              <a:lnSpc>
                <a:spcPct val="135000"/>
              </a:lnSpc>
            </a:pPr>
            <a:r>
              <a:rPr sz="1300">
                <a:solidFill>
                  <a:srgbClr val="1A1A1A"/>
                </a:solidFill>
                <a:latin typeface="Calibri"/>
              </a:rPr>
              <a:t>•  Adding a third machine increases level to 84.77 dB</a:t>
            </a:r>
          </a:p>
          <a:p>
            <a:pPr algn="l">
              <a:lnSpc>
                <a:spcPct val="135000"/>
              </a:lnSpc>
            </a:pPr>
            <a:r>
              <a:rPr sz="1300">
                <a:solidFill>
                  <a:srgbClr val="1A1A1A"/>
                </a:solidFill>
                <a:latin typeface="Calibri"/>
              </a:rPr>
              <a:t>•  Adding a fourth machine increases level to 86.02 dB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Numerical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Noise Reduction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Formula: ΔL = L_initial - L_final</a:t>
            </a:r>
          </a:p>
        </p:txBody>
      </p:sp>
      <p:sp>
        <p:nvSpPr>
          <p:cNvPr id="16" name="Rectangle 15"/>
          <p:cNvSpPr/>
          <p:nvPr/>
        </p:nvSpPr>
        <p:spPr>
          <a:xfrm>
            <a:off x="502920"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EXAMPLE</a:t>
            </a:r>
          </a:p>
          <a:p>
            <a:pPr algn="l">
              <a:lnSpc>
                <a:spcPct val="135000"/>
              </a:lnSpc>
            </a:pPr>
            <a:r>
              <a:rPr sz="1300">
                <a:solidFill>
                  <a:srgbClr val="1A1A1A"/>
                </a:solidFill>
                <a:latin typeface="Calibri"/>
              </a:rPr>
              <a:t>A barrier reduces noise from 90 dB to 75 dB</a:t>
            </a:r>
          </a:p>
        </p:txBody>
      </p:sp>
      <p:sp>
        <p:nvSpPr>
          <p:cNvPr id="19" name="Rectangle 18"/>
          <p:cNvSpPr/>
          <p:nvPr/>
        </p:nvSpPr>
        <p:spPr>
          <a:xfrm>
            <a:off x="3669715" y="279603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90 - 75 = 15 dB reduction achieved</a:t>
            </a:r>
          </a:p>
        </p:txBody>
      </p:sp>
      <p:sp>
        <p:nvSpPr>
          <p:cNvPr id="22" name="Rectangle 21"/>
          <p:cNvSpPr/>
          <p:nvPr/>
        </p:nvSpPr>
        <p:spPr>
          <a:xfrm>
            <a:off x="502920"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Intensity ratio = 10^(15/10) = 10^1.5 ≈ 31.6</a:t>
            </a:r>
          </a:p>
        </p:txBody>
      </p:sp>
      <p:sp>
        <p:nvSpPr>
          <p:cNvPr id="25" name="Rectangle 24"/>
          <p:cNvSpPr/>
          <p:nvPr/>
        </p:nvSpPr>
        <p:spPr>
          <a:xfrm>
            <a:off x="3669715" y="4018957"/>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018957"/>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137829"/>
            <a:ext cx="2567355" cy="802301"/>
          </a:xfrm>
          <a:prstGeom prst="rect">
            <a:avLst/>
          </a:prstGeom>
          <a:noFill/>
        </p:spPr>
        <p:txBody>
          <a:bodyPr wrap="square" lIns="0" rIns="0" tIns="0" bIns="0">
            <a:spAutoFit/>
          </a:bodyPr>
          <a:lstStyle/>
          <a:p>
            <a:pPr algn="l">
              <a:spcAft>
                <a:spcPts val="400"/>
              </a:spcAft>
            </a:pPr>
            <a:r>
              <a:rPr b="1" sz="1100">
                <a:solidFill>
                  <a:srgbClr val="C8102E"/>
                </a:solidFill>
                <a:latin typeface="Calibri"/>
              </a:rPr>
              <a:t>PITFALL</a:t>
            </a:r>
          </a:p>
          <a:p>
            <a:pPr algn="l">
              <a:lnSpc>
                <a:spcPct val="135000"/>
              </a:lnSpc>
            </a:pPr>
            <a:r>
              <a:rPr sz="1300">
                <a:solidFill>
                  <a:srgbClr val="1A1A1A"/>
                </a:solidFill>
                <a:latin typeface="Calibri"/>
              </a:rPr>
              <a:t>Confusing decibel reduction with linear intensity reduction</a:t>
            </a:r>
          </a:p>
        </p:txBody>
      </p:sp>
      <p:sp>
        <p:nvSpPr>
          <p:cNvPr id="28" name="Rectangle 27"/>
          <p:cNvSpPr/>
          <p:nvPr/>
        </p:nvSpPr>
        <p:spPr>
          <a:xfrm>
            <a:off x="502920" y="5241882"/>
            <a:ext cx="2983915" cy="1040045"/>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02920" y="5241882"/>
            <a:ext cx="50800" cy="1040045"/>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6600" y="5360754"/>
            <a:ext cx="2567355" cy="802301"/>
          </a:xfrm>
          <a:prstGeom prst="rect">
            <a:avLst/>
          </a:prstGeom>
          <a:noFill/>
        </p:spPr>
        <p:txBody>
          <a:bodyPr wrap="square" lIns="0" rIns="0" tIns="0" bIns="0">
            <a:spAutoFit/>
          </a:bodyPr>
          <a:lstStyle/>
          <a:p>
            <a:pPr algn="l">
              <a:lnSpc>
                <a:spcPct val="135000"/>
              </a:lnSpc>
            </a:pPr>
            <a:r>
              <a:rPr sz="1300">
                <a:solidFill>
                  <a:srgbClr val="1A1A1A"/>
                </a:solidFill>
                <a:latin typeface="Calibri"/>
              </a:rPr>
              <a:t>•  Noise reduction is calculated as the difference between initial and final levels</a:t>
            </a:r>
          </a:p>
          <a:p>
            <a:pPr algn="l">
              <a:lnSpc>
                <a:spcPct val="135000"/>
              </a:lnSpc>
            </a:pPr>
            <a:r>
              <a:rPr sz="1300">
                <a:solidFill>
                  <a:srgbClr val="1A1A1A"/>
                </a:solidFill>
                <a:latin typeface="Calibri"/>
              </a:rPr>
              <a:t>•  A 15 dB reduction represents a 31.6 × decrease in sound intensity</a:t>
            </a:r>
          </a:p>
        </p:txBody>
      </p:sp>
      <p:pic>
        <p:nvPicPr>
          <p:cNvPr id="31" name="Picture 30"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32" name="TextBox 31"/>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Noise pollution: what it is, how it affects us and how to measure it (source: kunakair.com)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Engineering Controls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Source Reduction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Replace noisy equipment with quieter, modern technology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Maintain machinery regularly to prevent wear-induced noise generation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vibration isolators to prevent structure-borne noise transmission</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Enclose noisy machines in soundproof housings or enclosures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Install mufflers and silencers on exhaust and ventilation systems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Operate noisy equipment during non-sensitive hours to reduce impact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Implement administrative controls like rotating shifts to limit exposure</a:t>
            </a:r>
          </a:p>
        </p:txBody>
      </p:sp>
      <p:pic>
        <p:nvPicPr>
          <p:cNvPr id="27" name="Picture 26" descr="image.gif"/>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800nonoise.com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Engineering Controls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Path Interruption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PITFALL</a:t>
            </a:r>
          </a:p>
          <a:p>
            <a:pPr algn="l">
              <a:lnSpc>
                <a:spcPct val="135000"/>
              </a:lnSpc>
            </a:pPr>
            <a:r>
              <a:rPr sz="1300">
                <a:solidFill>
                  <a:srgbClr val="1A1A1A"/>
                </a:solidFill>
                <a:latin typeface="Calibri"/>
              </a:rPr>
              <a:t>Relying solely on absorption without blocking direct paths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Install acoustic barriers and walls to block direct sound propagation</a:t>
            </a:r>
          </a:p>
          <a:p>
            <a:pPr algn="l">
              <a:lnSpc>
                <a:spcPct val="135000"/>
              </a:lnSpc>
            </a:pPr>
            <a:r>
              <a:rPr sz="1300">
                <a:solidFill>
                  <a:srgbClr val="1A1A1A"/>
                </a:solidFill>
                <a:latin typeface="Calibri"/>
              </a:rPr>
              <a:t>•  Use sound-absorbing materials on walls and ceilings in enclosed spaces</a:t>
            </a:r>
          </a:p>
          <a:p>
            <a:pPr algn="l">
              <a:lnSpc>
                <a:spcPct val="135000"/>
              </a:lnSpc>
            </a:pPr>
            <a:r>
              <a:rPr sz="1300">
                <a:solidFill>
                  <a:srgbClr val="1A1A1A"/>
                </a:solidFill>
                <a:latin typeface="Calibri"/>
              </a:rPr>
              <a:t>•  Create buffer zones with vegetation to absorb and deflect sound waves</a:t>
            </a:r>
          </a:p>
          <a:p>
            <a:pPr algn="l">
              <a:lnSpc>
                <a:spcPct val="135000"/>
              </a:lnSpc>
            </a:pPr>
            <a:r>
              <a:rPr sz="1300">
                <a:solidFill>
                  <a:srgbClr val="1A1A1A"/>
                </a:solidFill>
                <a:latin typeface="Calibri"/>
              </a:rPr>
              <a:t>•  Design building layouts to place sensitive areas away from noise sources</a:t>
            </a:r>
          </a:p>
          <a:p>
            <a:pPr algn="l">
              <a:lnSpc>
                <a:spcPct val="135000"/>
              </a:lnSpc>
            </a:pPr>
            <a:r>
              <a:rPr sz="1300">
                <a:solidFill>
                  <a:srgbClr val="1A1A1A"/>
                </a:solidFill>
                <a:latin typeface="Calibri"/>
              </a:rPr>
              <a:t>•  Use double-glazed windows to reduce noise transmission into buildings</a:t>
            </a:r>
          </a:p>
          <a:p>
            <a:pPr algn="l">
              <a:lnSpc>
                <a:spcPct val="135000"/>
              </a:lnSpc>
            </a:pPr>
            <a:r>
              <a:rPr sz="1300">
                <a:solidFill>
                  <a:srgbClr val="1A1A1A"/>
                </a:solidFill>
                <a:latin typeface="Calibri"/>
              </a:rPr>
              <a:t>•  Install acoustic curtains and baffles in industrial halls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Engineering Controls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Receiver Protection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PITFALL</a:t>
            </a:r>
          </a:p>
          <a:p>
            <a:pPr algn="l">
              <a:lnSpc>
                <a:spcPct val="135000"/>
              </a:lnSpc>
            </a:pPr>
            <a:r>
              <a:rPr sz="1300">
                <a:solidFill>
                  <a:srgbClr val="1A1A1A"/>
                </a:solidFill>
                <a:latin typeface="Calibri"/>
              </a:rPr>
              <a:t>Assuming hearing protection is a substitute for engineering controls</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Provide personal protective equipment like earplugs and earmuffs</a:t>
            </a:r>
          </a:p>
          <a:p>
            <a:pPr algn="l">
              <a:lnSpc>
                <a:spcPct val="135000"/>
              </a:lnSpc>
            </a:pPr>
            <a:r>
              <a:rPr sz="1300">
                <a:solidFill>
                  <a:srgbClr val="1A1A1A"/>
                </a:solidFill>
                <a:latin typeface="Calibri"/>
              </a:rPr>
              <a:t>•  Designate quiet zones for rest and recovery from noise exposure</a:t>
            </a:r>
          </a:p>
          <a:p>
            <a:pPr algn="l">
              <a:lnSpc>
                <a:spcPct val="135000"/>
              </a:lnSpc>
            </a:pPr>
            <a:r>
              <a:rPr sz="1300">
                <a:solidFill>
                  <a:srgbClr val="1A1A1A"/>
                </a:solidFill>
                <a:latin typeface="Calibri"/>
              </a:rPr>
              <a:t>•  Implement hearing conservation programs with regular audiometric testing</a:t>
            </a:r>
          </a:p>
          <a:p>
            <a:pPr algn="l">
              <a:lnSpc>
                <a:spcPct val="135000"/>
              </a:lnSpc>
            </a:pPr>
            <a:r>
              <a:rPr sz="1300">
                <a:solidFill>
                  <a:srgbClr val="1A1A1A"/>
                </a:solidFill>
                <a:latin typeface="Calibri"/>
              </a:rPr>
              <a:t>•  Use remote monitoring to reduce human presence in noisy areas</a:t>
            </a:r>
          </a:p>
          <a:p>
            <a:pPr algn="l">
              <a:lnSpc>
                <a:spcPct val="135000"/>
              </a:lnSpc>
            </a:pPr>
            <a:r>
              <a:rPr sz="1300">
                <a:solidFill>
                  <a:srgbClr val="1A1A1A"/>
                </a:solidFill>
                <a:latin typeface="Calibri"/>
              </a:rPr>
              <a:t>•  Install soundproof booths for operators in high-noise environments</a:t>
            </a:r>
          </a:p>
          <a:p>
            <a:pPr algn="l">
              <a:lnSpc>
                <a:spcPct val="135000"/>
              </a:lnSpc>
            </a:pPr>
            <a:r>
              <a:rPr sz="1300">
                <a:solidFill>
                  <a:srgbClr val="1A1A1A"/>
                </a:solidFill>
                <a:latin typeface="Calibri"/>
              </a:rPr>
              <a:t>•  Educate workers on proper use and limitations of hearing protection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Noise is energy pollution measured on a logarithmic decibel scale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Health impacts include hearing loss, stress, and sleep disruption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Decibel addition requires logarithmic calculation not arithmetic addition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Source reduction is the most effective remediation strategy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Engineering controls must be implemented in a hierarchy of effectiveness</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img.magnific.com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ENVIRONMENTAL STUDIES</a:t>
            </a:r>
          </a:p>
          <a:p>
            <a:pPr algn="l">
              <a:lnSpc>
                <a:spcPct val="135000"/>
              </a:lnSpc>
            </a:pPr>
            <a:r>
              <a:rPr sz="1300">
                <a:solidFill>
                  <a:srgbClr val="1A1A1A"/>
                </a:solidFill>
                <a:latin typeface="Calibri"/>
              </a:rPr>
              <a:t>From Crisis to Cure — R. Rajagopalan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Environmental Science and Engineering — Benny Joseph</a:t>
            </a:r>
          </a:p>
          <a:p>
            <a:pPr algn="l">
              <a:lnSpc>
                <a:spcPct val="135000"/>
              </a:lnSpc>
            </a:pPr>
            <a:r>
              <a:rPr sz="1300">
                <a:solidFill>
                  <a:srgbClr val="1A1A1A"/>
                </a:solidFill>
                <a:latin typeface="Calibri"/>
              </a:rPr>
              <a:t>•  Environmental Studies — R.C. Sharma and D. Gurbir Sangha</a:t>
            </a:r>
          </a:p>
          <a:p>
            <a:pPr algn="l">
              <a:lnSpc>
                <a:spcPct val="135000"/>
              </a:lnSpc>
            </a:pPr>
            <a:r>
              <a:rPr sz="1300">
                <a:solidFill>
                  <a:srgbClr val="1A1A1A"/>
                </a:solidFill>
                <a:latin typeface="Calibri"/>
              </a:rPr>
              <a:t>•  Introduction to Environmental Science — Anjaneyulu, Y.</a:t>
            </a:r>
          </a:p>
          <a:p>
            <a:pPr algn="l">
              <a:lnSpc>
                <a:spcPct val="135000"/>
              </a:lnSpc>
            </a:pPr>
            <a:r>
              <a:rPr sz="1300">
                <a:solidFill>
                  <a:srgbClr val="1A1A1A"/>
                </a:solidFill>
                <a:latin typeface="Calibri"/>
              </a:rPr>
              <a:t>•  Environmental Pollution Control Engineering — C.S. Rao</a:t>
            </a:r>
          </a:p>
          <a:p>
            <a:pPr algn="l">
              <a:lnSpc>
                <a:spcPct val="135000"/>
              </a:lnSpc>
            </a:pPr>
            <a:r>
              <a:rPr sz="1300">
                <a:solidFill>
                  <a:srgbClr val="1A1A1A"/>
                </a:solidFill>
                <a:latin typeface="Calibri"/>
              </a:rPr>
              <a:t>•  Textbook of Environmental Studies for undergraduate courses — E. Bharucha</a:t>
            </a:r>
          </a:p>
          <a:p>
            <a:pPr algn="l">
              <a:lnSpc>
                <a:spcPct val="135000"/>
              </a:lnSpc>
            </a:pPr>
            <a:r>
              <a:rPr sz="1300">
                <a:solidFill>
                  <a:srgbClr val="1A1A1A"/>
                </a:solidFill>
                <a:latin typeface="Calibri"/>
              </a:rPr>
              <a:t>•  Environmental Science — S.C. Santra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Noise Pollution and Remediation</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