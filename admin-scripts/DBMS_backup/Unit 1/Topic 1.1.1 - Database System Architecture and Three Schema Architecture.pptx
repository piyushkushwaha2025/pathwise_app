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83" r:id="rId3"/>
    <p:sldId id="293" r:id="rId4"/>
    <p:sldId id="292" r:id="rId5"/>
    <p:sldId id="259" r:id="rId6"/>
    <p:sldId id="275" r:id="rId7"/>
    <p:sldId id="289" r:id="rId8"/>
    <p:sldId id="290" r:id="rId9"/>
    <p:sldId id="291" r:id="rId10"/>
    <p:sldId id="277" r:id="rId11"/>
    <p:sldId id="278" r:id="rId12"/>
    <p:sldId id="280" r:id="rId13"/>
    <p:sldId id="279" r:id="rId14"/>
    <p:sldId id="284" r:id="rId15"/>
    <p:sldId id="276" r:id="rId16"/>
    <p:sldId id="288" r:id="rId17"/>
    <p:sldId id="28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65" autoAdjust="0"/>
    <p:restoredTop sz="94456" autoAdjust="0"/>
  </p:normalViewPr>
  <p:slideViewPr>
    <p:cSldViewPr snapToGrid="0">
      <p:cViewPr varScale="1">
        <p:scale>
          <a:sx n="82" d="100"/>
          <a:sy n="82" d="100"/>
        </p:scale>
        <p:origin x="135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82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1319D-6B02-4BE5-BD0B-BA1AF3EC16E9}" type="datetimeFigureOut">
              <a:rPr lang="en-IN" smtClean="0"/>
              <a:t>01/07/26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AE0A6-0A7F-4B72-99F5-962827FB0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36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AE0A6-0A7F-4B72-99F5-962827FB0B5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071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AE0A6-0A7F-4B72-99F5-962827FB0B5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769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AE0A6-0A7F-4B72-99F5-962827FB0B5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035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7DBA-7F34-492C-D94C-80C6F913A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3E8E0-7CAA-3545-4F08-3F8197241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61588-BB95-037C-820A-076F7F45B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98B9-F178-4E2D-840B-758A04C95AAC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6A36A-ACB0-7423-9B4D-31FBD7C9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E5204-B5B8-6A73-49AC-459CD3A3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52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A13C-974B-5BDB-AC66-6D1EE5FE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4FD79-3DDE-7351-2093-1C4152930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A0EF6-E7DE-7EDA-5BA0-05BFB6D5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EBD-27FE-48A6-8A8F-9E0116DEAB8B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44745-C57A-F9DF-791D-A82614BE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43961-F090-624A-876E-1BA184B7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07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0CF5E-FD44-5CA2-14F9-2EE17400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C1CB6-BA13-BF4B-5F98-865285E53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936E1-DD1F-B865-4A8E-7956484AD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FE36-8733-497D-B010-B44B1997D72F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22756-C261-2A10-9A73-A7383115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4D68B-5B15-6FF8-8932-4E6581DD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1E95-F462-CDC0-45A6-A1A33343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F7390-FF38-9996-90AC-7912AF61C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9C138-E25E-464E-8E73-77D84A4BF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AE6C7-06BB-2F78-FA0A-96AF51AC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72B-82D8-46E1-A05B-EE32ADA7E980}" type="datetime1">
              <a:rPr lang="en-IN" smtClean="0"/>
              <a:t>01/07/26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048CB-DC70-28D5-330A-5DD72D7A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03C54-3F16-73A9-B572-A68A385A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58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069E-43EC-F497-357B-77D76B86A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BBED1-A5F4-C0DB-163A-0B4140D3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1B065-FE9F-B134-7892-FA72F7B04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BCD4F-2E5D-65E6-A1A0-111EF0C16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FCD33-F677-9886-F4E6-3438DB4F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D9E6BF-C601-88FB-3996-68D46FAB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925C-AD82-4F1A-97E4-43E9F0B7E63F}" type="datetime1">
              <a:rPr lang="en-IN" smtClean="0"/>
              <a:t>01/07/26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09F761-230E-508A-811B-3D52BEB4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F4592-E588-5621-A6B0-E6D5E67C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152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6AAF-BB03-F442-05C2-474B6938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E7430-C703-D0F9-6951-9DC5E3359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D8A6-A508-4F5C-B37C-C0C807C13CD8}" type="datetime1">
              <a:rPr lang="en-IN" smtClean="0"/>
              <a:t>01/07/26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62FD0-8637-85DF-D699-CCC269C6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5C394-EC0F-0FA6-B5DA-7584B64A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95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2D607-562D-A848-8FC8-927236668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8B42-9039-40E2-AD2E-81CAD04884DD}" type="datetime1">
              <a:rPr lang="en-IN" smtClean="0"/>
              <a:t>01/07/26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3897A-B984-956A-4011-1F881CF5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518C1-7BE3-FAAC-F77B-BB9434AC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83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7E67-B377-B9BE-CB43-9096DD78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66A9-EC52-3305-00D9-1E47D41C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7B95B-E844-1841-1BA2-562D6C51F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2601E-ED1B-7AC2-5544-9A21EAA6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F3F7-CB24-460F-93CB-F74E429BBED8}" type="datetime1">
              <a:rPr lang="en-IN" smtClean="0"/>
              <a:t>01/07/26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26D71-59F7-7FD8-2271-DDED4C9F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A8F2E-06B5-02AE-29AF-7A44C0DE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4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81B1-2071-3805-4AA7-2BA153B4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F0CAD-A21D-B118-F21C-90A8784CD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B4B3F-4651-9252-8C96-57A392920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BFB62-BC6F-9A83-21BA-0429B9AA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0E3D-842B-40DF-9AAF-13461DBF6A92}" type="datetime1">
              <a:rPr lang="en-IN" smtClean="0"/>
              <a:t>01/07/26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21176-7239-9370-2031-DA25A7331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59DC4-CE6C-C171-EDAA-579AF675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4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66DF-93F4-9F7A-B5A4-85063E85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5F30B-C27A-180E-976C-041057F8B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B61EF-0675-599A-C423-BDE69A32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AAC2-A559-4960-A4B1-8EDA6E06E30D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AB6C-6D74-12D6-A835-46435B3A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71497-D7BE-0B60-9963-B07DF664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57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588C77-EE4F-3BAE-79F7-6A12F1849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51490-C372-D70A-6104-06533600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6A039-552F-508C-C9B6-85DC3A60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7CFB-11AB-4612-A48B-EFA6C5B8BC89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B2684-B1E0-B2FF-6361-E8B40901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4C6FD-0607-0C1B-49EE-86630A51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662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42797-7714-83B7-92A8-500F36E1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3DE9A-63B7-92A0-74E5-2B09DB77A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73BD9-9472-77A7-808B-C85B66167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1E097-E8DA-407D-8F90-3C2EBE9ABE23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A65A6-AAC3-DBB8-6DFB-374C50538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2739-7172-6AB9-A96B-F7B48F781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60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C23F60-A37C-2F47-770F-0EBACF620B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D0EA300-7053-370F-8485-ED270243C234}"/>
              </a:ext>
            </a:extLst>
          </p:cNvPr>
          <p:cNvSpPr/>
          <p:nvPr/>
        </p:nvSpPr>
        <p:spPr>
          <a:xfrm>
            <a:off x="236698" y="6214187"/>
            <a:ext cx="11753138" cy="541177"/>
          </a:xfrm>
          <a:prstGeom prst="rect">
            <a:avLst/>
          </a:prstGeom>
          <a:solidFill>
            <a:srgbClr val="ED1B24"/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233E72-0AEC-DD25-2D75-2FBA7C3380F3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348AC-7D23-C9C8-9DC5-BE9E05A9D4DF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78D321-5727-09E7-D111-D63D99ED7CE9}"/>
              </a:ext>
            </a:extLst>
          </p:cNvPr>
          <p:cNvSpPr txBox="1"/>
          <p:nvPr/>
        </p:nvSpPr>
        <p:spPr>
          <a:xfrm>
            <a:off x="95806" y="698545"/>
            <a:ext cx="11894030" cy="5438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School of 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Computer Science &amp; Engg.</a:t>
            </a:r>
            <a:endParaRPr lang="en-US" sz="1000" b="0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Offered in All Engineering U.G. Programs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lvl="0"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400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		</a:t>
            </a:r>
            <a:r>
              <a:rPr lang="en-US" sz="2400" b="1" i="0" u="none" strike="noStrike" cap="none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Semester-</a:t>
            </a:r>
            <a:r>
              <a:rPr lang="en-US" sz="2400" i="0" u="none" strike="noStrike" cap="none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3</a:t>
            </a:r>
            <a:r>
              <a:rPr lang="en-US" sz="2000" baseline="30000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rd</a:t>
            </a:r>
            <a:r>
              <a:rPr lang="en-US" sz="2400" i="0" u="none" strike="noStrike" cap="none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				</a:t>
            </a: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Subject Code- </a:t>
            </a:r>
            <a:r>
              <a:rPr lang="en-IN" sz="2000" dirty="0"/>
              <a:t>25CSH-211</a:t>
            </a:r>
          </a:p>
          <a:p>
            <a:pPr algn="ctr"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ym typeface="Times New Roman"/>
              </a:rPr>
              <a:t> </a:t>
            </a:r>
            <a:r>
              <a:rPr lang="en-US" sz="2400" b="1" i="0" u="none" strike="noStrike" cap="none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Subject Name- </a:t>
            </a:r>
            <a:r>
              <a:rPr lang="en-IN" sz="2400" i="1" dirty="0"/>
              <a:t>Database Management System</a:t>
            </a:r>
          </a:p>
          <a:p>
            <a:pPr algn="ctr"/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Unit -1 </a:t>
            </a:r>
            <a:r>
              <a:rPr lang="en-IN" sz="2000" dirty="0"/>
              <a:t>Relational Model and Formal Query Languages</a:t>
            </a: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Chapter 1.1.1 – 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Database System Architecture and Three Schema Architecture.</a:t>
            </a: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cs typeface="Times New Roman" panose="02020603050405020304" pitchFamily="18" charset="0"/>
            </a:endParaRP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cs typeface="Times New Roman" panose="02020603050405020304" pitchFamily="18" charset="0"/>
              </a:rPr>
              <a:t>Master Subject Coordinator</a:t>
            </a: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cs typeface="Times New Roman" panose="02020603050405020304" pitchFamily="18" charset="0"/>
              </a:rPr>
              <a:t>Mr. Vinod Vishwakarma</a:t>
            </a: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(Assistant Professor)</a:t>
            </a: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School of Computer Science and Engineering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098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21B59F-A127-EAE8-E1F9-C13C6B4A8343}"/>
              </a:ext>
            </a:extLst>
          </p:cNvPr>
          <p:cNvSpPr txBox="1"/>
          <p:nvPr/>
        </p:nvSpPr>
        <p:spPr>
          <a:xfrm>
            <a:off x="156768" y="1146272"/>
            <a:ext cx="11894028" cy="647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Introduction to Database Systems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Three-Schema Architecture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Data Independence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 of Three- Schema Architecture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Architecture Diagram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Practice Questions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133267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 of Contents</a:t>
            </a:r>
            <a:endParaRPr lang="en-US" sz="3600" i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2FD3D9-F352-EA46-BBA3-306238B615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7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33E8BAB-60BD-CF4A-8426-5ECD0A30A9BE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0DF13-5363-5F4C-98B3-158C6AB162F8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311D4B-2F03-1246-8B86-BC7FD6FCAA53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E8384E0-1A9B-2B4E-890B-B93CCD6AAD9A}"/>
              </a:ext>
            </a:extLst>
          </p:cNvPr>
          <p:cNvSpPr txBox="1">
            <a:spLocks/>
          </p:cNvSpPr>
          <p:nvPr/>
        </p:nvSpPr>
        <p:spPr>
          <a:xfrm>
            <a:off x="0" y="257251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Outcome</a:t>
            </a:r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D11ABE0C-2502-B84B-92E1-21E6777E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A172279-B3B6-4A72-9EF6-4BC6AEB91CC5}" type="slidenum">
              <a:rPr lang="en-IN" smtClean="0"/>
              <a:t>3</a:t>
            </a:fld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5E15C1-D026-D14D-BEEB-3866C261D2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6F1B23-0F58-CB4C-BF90-27D42188BA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56" y="1125402"/>
            <a:ext cx="11586880" cy="502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68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AF8A08D-7AF2-3D45-94ED-37A3A9DB20A6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80CF9B-EB6B-6442-B639-7B010B863F77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9C8CEA-24BE-A64F-BDCD-5B4E9C500808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0F8855-262E-0240-8E2A-436535EB8EEA}"/>
              </a:ext>
            </a:extLst>
          </p:cNvPr>
          <p:cNvSpPr txBox="1">
            <a:spLocks/>
          </p:cNvSpPr>
          <p:nvPr/>
        </p:nvSpPr>
        <p:spPr>
          <a:xfrm>
            <a:off x="0" y="288248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Mapping Of COs and POs</a:t>
            </a:r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9EA42F4F-4E0E-054E-9544-ABE2B2CC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A172279-B3B6-4A72-9EF6-4BC6AEB91CC5}" type="slidenum">
              <a:rPr lang="en-IN" smtClean="0"/>
              <a:t>4</a:t>
            </a:fld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91A5BF8-6D7D-8E4F-8521-0543CE155B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4B1AAD-BD1E-E748-91A2-FB790F356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31" y="893956"/>
            <a:ext cx="11753138" cy="495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25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48A3-7088-C3F0-EE45-05C3FF3C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133267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1. Introduction To Database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8810" y="5366611"/>
            <a:ext cx="184731" cy="4001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5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8F040-273B-674F-8622-7549F90F6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76" y="1271238"/>
            <a:ext cx="10592574" cy="48438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2BC8D5-8917-9542-98EA-97D4D4320A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94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A375AA-789D-2745-A72E-D97F2BC57602}"/>
              </a:ext>
            </a:extLst>
          </p:cNvPr>
          <p:cNvSpPr txBox="1"/>
          <p:nvPr/>
        </p:nvSpPr>
        <p:spPr>
          <a:xfrm>
            <a:off x="552661" y="452176"/>
            <a:ext cx="8410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C00000"/>
              </a:solidFill>
              <a:ea typeface="ＭＳ Ｐゴシック" pitchFamily="34" charset="-128"/>
            </a:endParaRPr>
          </a:p>
          <a:p>
            <a:endParaRPr lang="en-US" sz="2400" dirty="0">
              <a:solidFill>
                <a:srgbClr val="C00000"/>
              </a:solidFill>
              <a:ea typeface="ＭＳ Ｐゴシック" pitchFamily="34" charset="-128"/>
            </a:endParaRPr>
          </a:p>
          <a:p>
            <a:r>
              <a:rPr lang="en-US" sz="2400" dirty="0">
                <a:solidFill>
                  <a:srgbClr val="C00000"/>
                </a:solidFill>
                <a:ea typeface="ＭＳ Ｐゴシック" pitchFamily="34" charset="-128"/>
              </a:rPr>
              <a:t>Database Applications Examples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7D630E-73CC-8F47-ACDA-C40C9211F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61" y="1742674"/>
            <a:ext cx="9438833" cy="44070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962411-E024-F348-BC63-79191BFEFB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3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72F7B-1B51-1041-AC89-F1AD3192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7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006A1-4C9B-8241-9DAE-55CF84E32EE3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B012A-B7E5-974C-BB01-1D39DD1CDF36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FD8107-9341-8C40-8072-94F6FF8A1408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D939E053-D183-664E-8FB8-A4C67F4EA37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C71EEC-FB7F-844B-BDDE-BB75666EBC1E}"/>
              </a:ext>
            </a:extLst>
          </p:cNvPr>
          <p:cNvSpPr txBox="1"/>
          <p:nvPr/>
        </p:nvSpPr>
        <p:spPr>
          <a:xfrm>
            <a:off x="552661" y="452176"/>
            <a:ext cx="84104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C00000"/>
              </a:solidFill>
              <a:ea typeface="ＭＳ Ｐゴシック" pitchFamily="34" charset="-128"/>
            </a:endParaRPr>
          </a:p>
          <a:p>
            <a:endParaRPr lang="en-US" sz="2400" dirty="0">
              <a:solidFill>
                <a:srgbClr val="C00000"/>
              </a:solidFill>
              <a:ea typeface="ＭＳ Ｐゴシック" pitchFamily="34" charset="-128"/>
            </a:endParaRPr>
          </a:p>
          <a:p>
            <a:r>
              <a:rPr lang="en-US" sz="2400" dirty="0">
                <a:solidFill>
                  <a:srgbClr val="C00000"/>
                </a:solidFill>
                <a:ea typeface="ＭＳ Ｐゴシック" pitchFamily="34" charset="-128"/>
              </a:rPr>
              <a:t>Database Applications Examples(Cont.)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37A51EE-7569-924E-A4B8-D3153E9D8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50" y="1742674"/>
            <a:ext cx="10375900" cy="38884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32E7A6-224E-2541-B21E-0E4500E280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22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A94C1-4C4C-E44C-8171-97D46803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8</a:t>
            </a:fld>
            <a:endParaRPr lang="en-IN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57BA52-D1DA-684C-97F6-530F7DA86E1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73640-AD18-F84C-9BDA-CDFD2F631F76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AF9CB-9E41-CA4C-A635-8D1102F6F4C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03EDB6-BCF6-E245-8676-F7F060B566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E40B3C-DF4E-734D-9CA3-FBFCB7D662C9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4D70A2D-FF1E-AF40-9F79-4E300D77699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D74A6-53C4-7F46-B1C8-55FEE961F849}"/>
              </a:ext>
            </a:extLst>
          </p:cNvPr>
          <p:cNvSpPr txBox="1"/>
          <p:nvPr/>
        </p:nvSpPr>
        <p:spPr>
          <a:xfrm>
            <a:off x="944544" y="452176"/>
            <a:ext cx="8772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C00000"/>
              </a:solidFill>
              <a:ea typeface="ＭＳ Ｐゴシック" pitchFamily="34" charset="-128"/>
            </a:endParaRPr>
          </a:p>
          <a:p>
            <a:endParaRPr lang="en-US" sz="2400" dirty="0">
              <a:solidFill>
                <a:srgbClr val="C00000"/>
              </a:solidFill>
              <a:ea typeface="ＭＳ Ｐゴシック" pitchFamily="34" charset="-128"/>
            </a:endParaRPr>
          </a:p>
          <a:p>
            <a:r>
              <a:rPr lang="en-US" sz="2400" dirty="0">
                <a:solidFill>
                  <a:srgbClr val="C00000"/>
                </a:solidFill>
                <a:ea typeface="ＭＳ Ｐゴシック" pitchFamily="34" charset="-128"/>
              </a:rPr>
              <a:t>Purpose of Database Systems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3880F5-73F1-F84C-886C-4624BC2B7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61" y="1742674"/>
            <a:ext cx="10801139" cy="45171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C156E32-382F-2248-A692-71110C87E0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6" y="2637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31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47A3B-6D8E-6048-A207-ADD83EA4B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9</a:t>
            </a:fld>
            <a:endParaRPr lang="en-IN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805B2B9A-27EE-824F-9058-63ED8090867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8D609E50-56E9-1146-8F47-8DEDD473E5A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E07670-C9E1-C14B-8559-464E641595C5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1B5FF9-4CE9-AC48-9C42-4A87BDDE6787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325D3E-F881-5E4C-9740-C127599251AE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AD4C8083-AD92-7E42-B61D-A2F0F590BAA0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4D93D7-E6FF-594E-9F5B-ED8709B7236B}"/>
              </a:ext>
            </a:extLst>
          </p:cNvPr>
          <p:cNvSpPr txBox="1"/>
          <p:nvPr/>
        </p:nvSpPr>
        <p:spPr>
          <a:xfrm>
            <a:off x="944544" y="452176"/>
            <a:ext cx="8772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C00000"/>
              </a:solidFill>
              <a:ea typeface="ＭＳ Ｐゴシック" pitchFamily="34" charset="-128"/>
            </a:endParaRPr>
          </a:p>
          <a:p>
            <a:endParaRPr lang="en-US" sz="2400" dirty="0">
              <a:solidFill>
                <a:srgbClr val="C00000"/>
              </a:solidFill>
              <a:ea typeface="ＭＳ Ｐゴシック" pitchFamily="34" charset="-128"/>
            </a:endParaRPr>
          </a:p>
          <a:p>
            <a:r>
              <a:rPr lang="en-US" sz="2400" dirty="0">
                <a:solidFill>
                  <a:srgbClr val="C00000"/>
                </a:solidFill>
                <a:ea typeface="ＭＳ Ｐゴシック" pitchFamily="34" charset="-128"/>
              </a:rPr>
              <a:t>Purpose of Database Systems(Cont.)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BEF75A1-6F2E-C146-B375-808D67CF8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50" y="1652504"/>
            <a:ext cx="9521581" cy="448604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55881FE-2907-BB45-88EC-DA0D90ADB4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19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48A3-7088-C3F0-EE45-05C3FF3C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133267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Three-Schema Architecture</a:t>
            </a:r>
          </a:p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6278" y="5368742"/>
            <a:ext cx="184731" cy="4001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10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FB3483-8A6F-FA4D-A22D-D8746ACAB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1" y="1248937"/>
            <a:ext cx="11396548" cy="45199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E396E52-3D6C-9249-AD27-B2EFDF5DB1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46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48A3-7088-C3F0-EE45-05C3FF3C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133267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38158" y="5536382"/>
            <a:ext cx="184731" cy="4001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0B421D-E2CE-B547-ABF0-A8DD6DA93A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105" y="851170"/>
            <a:ext cx="7405635" cy="43171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97B358-1C86-7A44-9570-3DD31F99C88D}"/>
              </a:ext>
            </a:extLst>
          </p:cNvPr>
          <p:cNvSpPr txBox="1"/>
          <p:nvPr/>
        </p:nvSpPr>
        <p:spPr>
          <a:xfrm>
            <a:off x="4039009" y="5493695"/>
            <a:ext cx="3527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Fig.1.1. Three- Schema Architecture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5FC436-56B3-0B4C-9D38-F5E33B1C79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99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133267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 Data Independence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12</a:t>
            </a:fld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BCB0EB-954E-0348-BC34-377C836E6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7436"/>
            <a:ext cx="12192000" cy="51913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8C828B1-3827-CA40-8CA4-468D29BC23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78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261257"/>
            <a:ext cx="12192000" cy="7561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4. Advantages of Three-Schema Architecture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13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EACFE-BB8C-5C43-BF1B-0CED6F464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77" y="1219199"/>
            <a:ext cx="10392937" cy="46017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82B857E-B98F-7A41-BA81-9EA89ED695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56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DD20CAB-3941-DA4D-BBA2-26994D83D065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A37443-6EF1-6E4F-82AF-E6CFD5AD6A1A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FE9B341-E8CE-3F4D-9291-B6E7824328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114114B-0663-854D-A5D9-FB881856CDDC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E03B5D93-AA19-0046-8AD0-9EAB2340C4B4}"/>
              </a:ext>
            </a:extLst>
          </p:cNvPr>
          <p:cNvSpPr txBox="1">
            <a:spLocks/>
          </p:cNvSpPr>
          <p:nvPr/>
        </p:nvSpPr>
        <p:spPr>
          <a:xfrm>
            <a:off x="0" y="261257"/>
            <a:ext cx="12192000" cy="7561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 Architecture Diagram</a:t>
            </a:r>
          </a:p>
        </p:txBody>
      </p: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8B769980-1ACF-E141-96FD-FDE9232E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A172279-B3B6-4A72-9EF6-4BC6AEB91CC5}" type="slidenum">
              <a:rPr lang="en-IN" smtClean="0"/>
              <a:t>14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BBDB6-CD9E-1F4D-9CE3-E563ED886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59" y="1107606"/>
            <a:ext cx="9787095" cy="492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55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C54F9-CE5C-B3D7-C7E3-343335372BFD}"/>
              </a:ext>
            </a:extLst>
          </p:cNvPr>
          <p:cNvSpPr txBox="1">
            <a:spLocks/>
          </p:cNvSpPr>
          <p:nvPr/>
        </p:nvSpPr>
        <p:spPr>
          <a:xfrm>
            <a:off x="0" y="311499"/>
            <a:ext cx="12192000" cy="8885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6. Conclusion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15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71AD2D-55DE-334B-8435-012784B7A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50" y="852426"/>
            <a:ext cx="10274300" cy="55900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22946D-A7B5-154F-90BC-98A2EC6098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57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64C596-E248-3CA5-477A-6FF65DED6C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C54F9-CE5C-B3D7-C7E3-343335372BFD}"/>
              </a:ext>
            </a:extLst>
          </p:cNvPr>
          <p:cNvSpPr txBox="1">
            <a:spLocks/>
          </p:cNvSpPr>
          <p:nvPr/>
        </p:nvSpPr>
        <p:spPr>
          <a:xfrm>
            <a:off x="0" y="133266"/>
            <a:ext cx="12192000" cy="10668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7. Practice Question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16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C5C8AD-6EDF-B048-87C2-9A2739455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50" y="1651000"/>
            <a:ext cx="10274300" cy="327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1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64C596-E248-3CA5-477A-6FF65DED6C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C54F9-CE5C-B3D7-C7E3-343335372BFD}"/>
              </a:ext>
            </a:extLst>
          </p:cNvPr>
          <p:cNvSpPr txBox="1">
            <a:spLocks/>
          </p:cNvSpPr>
          <p:nvPr/>
        </p:nvSpPr>
        <p:spPr>
          <a:xfrm>
            <a:off x="0" y="133266"/>
            <a:ext cx="12192000" cy="10668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5806" y="1299907"/>
            <a:ext cx="11993100" cy="1676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 err="1"/>
              <a:t>Elmasri</a:t>
            </a:r>
            <a:r>
              <a:rPr lang="en-IN" dirty="0"/>
              <a:t>, R., &amp; </a:t>
            </a:r>
            <a:r>
              <a:rPr lang="en-IN" dirty="0" err="1"/>
              <a:t>Navathe</a:t>
            </a:r>
            <a:r>
              <a:rPr lang="en-IN" dirty="0"/>
              <a:t>, S. B. (2017). </a:t>
            </a:r>
            <a:r>
              <a:rPr lang="en-IN" i="1" dirty="0"/>
              <a:t>Fundamentals of database systems</a:t>
            </a:r>
            <a:r>
              <a:rPr lang="en-IN" dirty="0"/>
              <a:t> (7th ed.). Pearson.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 err="1"/>
              <a:t>Silberschatz</a:t>
            </a:r>
            <a:r>
              <a:rPr lang="en-IN" dirty="0"/>
              <a:t>, A., </a:t>
            </a:r>
            <a:r>
              <a:rPr lang="en-IN" dirty="0" err="1"/>
              <a:t>Korth</a:t>
            </a:r>
            <a:r>
              <a:rPr lang="en-IN" dirty="0"/>
              <a:t>, H. F., &amp; Sudarshan, S. (2019). </a:t>
            </a:r>
            <a:r>
              <a:rPr lang="en-IN" i="1" dirty="0"/>
              <a:t>Database system concepts</a:t>
            </a:r>
            <a:r>
              <a:rPr lang="en-IN" dirty="0"/>
              <a:t> (7th ed.). McGraw-Hill..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17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106337"/>
      </p:ext>
    </p:extLst>
  </p:cSld>
  <p:clrMapOvr>
    <a:masterClrMapping/>
  </p:clrMapOvr>
</p:sld>
</file>

<file path=ppt/theme/theme1.xml><?xml version="1.0" encoding="utf-8"?>
<a:theme xmlns:a="http://schemas.openxmlformats.org/drawingml/2006/main" name="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" id="{DA9FD078-2B42-4965-B6AF-07359C656AC0}" vid="{576062B0-8E11-418A-95B5-1F1982A2C3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</Template>
  <TotalTime>5507</TotalTime>
  <Words>368</Words>
  <Application>Microsoft Macintosh PowerPoint</Application>
  <PresentationFormat>Widescreen</PresentationFormat>
  <Paragraphs>117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Times New Roman</vt:lpstr>
      <vt:lpstr>CU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INSPECTION.BHOPAL</dc:creator>
  <cp:lastModifiedBy>Microsoft Office User</cp:lastModifiedBy>
  <cp:revision>137</cp:revision>
  <dcterms:created xsi:type="dcterms:W3CDTF">2025-06-17T09:23:05Z</dcterms:created>
  <dcterms:modified xsi:type="dcterms:W3CDTF">2026-07-01T09:31:14Z</dcterms:modified>
</cp:coreProperties>
</file>