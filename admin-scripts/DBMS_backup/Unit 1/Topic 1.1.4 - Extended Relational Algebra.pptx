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Extended Relational Algebra. This topic builds directly upon the basic operators we learned earlier. We will explore how to make our queries more powerful and expressive. Remember, mastering this is key to writing efficient database queries.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supports our Course Outcomes. CO3 focuses on schema design and normalization, which relies on understanding relational operations. CO4 deals with transaction schedules, where extended algebra helps define complex query behaviors. These outcomes ensure you can design robust and correct database systems.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why we need extended operators. We will analyze specific operators like division and assignment that are not in the basic set. You will also evaluate how aggregation functions help summarize data. Finally, you will apply these concepts to real-world query scenarios.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Basic relational algebra is powerful but limited. For instance, finding students who have taken ALL courses requires the division operator. Without assignment, complex queries become unreadable chains of operations. Aggregation is crucial for business intelligence, like calculating total sales per region.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division operator. If R is a student-course table and S is a list of course IDs, R ÷ S gives students who took every course in S. For example, if S contains courses 101 and 102, the result is students who took both. This is the standard way to handle 'for all' queries.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table R with student IDs and course names. Let S be a list of required courses. We want students who took every course in S. If a student took Math but not Physics, they are excluded. The division operator effectively filters the student list to only those with complete coverage of 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assignment operator is a practical tool for writing cleaner queries. Instead of nesting five layers of joins, we can name intermediate results. For example, we can first find all active users, then join them with orders. This makes the logic easier to follow and debug.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Aggregation functions are vital for reporting. They take a set of values and return a single summary number. For instance, COUNT(*) gives the total number of records. SUM(Salary) gives the total payroll. These are fundamental for generating reports and dashboards in any database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calculate the average salary per department. We group the employee records by their department ID. Then, for each group, we sum the salaries and divide by the count of employees. This gives us the average salary for each department, which is crucial for HR analysis.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 joins only return matching rows. Outer joins are different; they preserve unmatched rows. A Left Outer Join keeps all rows from the left table, filling missing matches with NULLs. This is essential for finding customers who have never placed an order, for example.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Basic projection just lists columns. Generalized projection lets us compute new columns. For example, we can calculate a 10% raise by multiplying the salary by 1.1. We can also rename the resulting column to 'NewSalary'. This makes the query more powerful and self-contained.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common pitfalls with division. If the divisor is empty, the result might be all tuples or empty, depending on the specific definition used. Null values can also cause issues. Always check that the attributes match correctly. Also, be aware that division can be slow on large tables.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extended relational algebra significantly enhances our query capabilities. Division handles 'for all' conditions, while aggregation summarizes data. Assignment makes complex queries readable. Outer joins help us find missing data. Generalized projection allows us to compute new values. Mastering these is essential for advanced database work.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standard textbooks listed here. Elmasri and Navathe provide a comprehensive foundation. Silberschatz offers deep theoretical insights. Ramakrishnan is excellent for practical implementation details. Oracle documentation is essential for specific syntax in Oracle and MySQL environments.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Extended Relational Algebra</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Database Management System | Relational Model and Formal Query Languages</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   Chapter: Relational Model and Formal Query Languages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purpose of extended relational algebra operators in query processing.</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how division and assignment operators extend basic relational capabilities.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role of aggregation functions in summarizing large datasets.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generalized projection to select and rename attributes dynamically.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the use of outer joins to handle missing data gracefully.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Need for Extended Operators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Basic algebra cannot express all queries required in practical applications.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Division operator is essential for queries involving 'for all' conditions.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Assignment operator allows naming intermediate results for complex queries.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Aggregation functions enable summarization like sum, count, and average.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Outer joins preserve tuples from one relation even without matches.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Generalized projection supports arithmetic expressions and renaming in output.</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Introduction to Relational Algebra in DBMS - GeeksforGeeks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Relational Division Operator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Find students who have enrolled in every course offered.</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Division R ÷ S returns tuples from R that match every tuple in S.</a:t>
            </a:r>
          </a:p>
          <a:p>
            <a:pPr algn="l">
              <a:lnSpc>
                <a:spcPct val="135000"/>
              </a:lnSpc>
            </a:pPr>
            <a:r>
              <a:rPr sz="1300">
                <a:solidFill>
                  <a:srgbClr val="1A1A1A"/>
                </a:solidFill>
                <a:latin typeface="Calibri"/>
              </a:rPr>
              <a:t>•  It is used to answer queries containing the phrase 'for all' or 'every'.</a:t>
            </a:r>
          </a:p>
          <a:p>
            <a:pPr algn="l">
              <a:lnSpc>
                <a:spcPct val="135000"/>
              </a:lnSpc>
            </a:pPr>
            <a:r>
              <a:rPr sz="1300">
                <a:solidFill>
                  <a:srgbClr val="1A1A1A"/>
                </a:solidFill>
                <a:latin typeface="Calibri"/>
              </a:rPr>
              <a:t>•  The result contains attributes from R that are not in S.</a:t>
            </a:r>
          </a:p>
          <a:p>
            <a:pPr algn="l">
              <a:lnSpc>
                <a:spcPct val="135000"/>
              </a:lnSpc>
            </a:pPr>
            <a:r>
              <a:rPr sz="1300">
                <a:solidFill>
                  <a:srgbClr val="1A1A1A"/>
                </a:solidFill>
                <a:latin typeface="Calibri"/>
              </a:rPr>
              <a:t>•  Mathematically, it finds tuples t such that for all s in S, (t, s) exists in R.</a:t>
            </a:r>
          </a:p>
          <a:p>
            <a:pPr algn="l">
              <a:lnSpc>
                <a:spcPct val="135000"/>
              </a:lnSpc>
            </a:pPr>
            <a:r>
              <a:rPr sz="1300">
                <a:solidFill>
                  <a:srgbClr val="1A1A1A"/>
                </a:solidFill>
                <a:latin typeface="Calibri"/>
              </a:rPr>
              <a:t>•  This operator is computationally expensive and often optimized by the DBMS.</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corporate-assets.lucid.co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Division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1</a:t>
            </a:r>
          </a:p>
          <a:p>
            <a:pPr algn="l">
              <a:lnSpc>
                <a:spcPct val="135000"/>
              </a:lnSpc>
            </a:pPr>
            <a:r>
              <a:rPr sz="1300">
                <a:solidFill>
                  <a:srgbClr val="1A1A1A"/>
                </a:solidFill>
                <a:latin typeface="Calibri"/>
              </a:rPr>
              <a:t>Identify unique students in R who have taken Math.</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2</a:t>
            </a:r>
          </a:p>
          <a:p>
            <a:pPr algn="l">
              <a:lnSpc>
                <a:spcPct val="135000"/>
              </a:lnSpc>
            </a:pPr>
            <a:r>
              <a:rPr sz="1300">
                <a:solidFill>
                  <a:srgbClr val="1A1A1A"/>
                </a:solidFill>
                <a:latin typeface="Calibri"/>
              </a:rPr>
              <a:t>Filter those students to ensure they also took Physics.</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RESULT</a:t>
            </a:r>
          </a:p>
          <a:p>
            <a:pPr algn="l">
              <a:lnSpc>
                <a:spcPct val="135000"/>
              </a:lnSpc>
            </a:pPr>
            <a:r>
              <a:rPr sz="1300">
                <a:solidFill>
                  <a:srgbClr val="1A1A1A"/>
                </a:solidFill>
                <a:latin typeface="Calibri"/>
              </a:rPr>
              <a:t>A list of student IDs who satisfy the 'for all' condition.</a:t>
            </a:r>
          </a:p>
        </p:txBody>
      </p:sp>
      <p:sp>
        <p:nvSpPr>
          <p:cNvPr id="22" name="Rectangle 21"/>
          <p:cNvSpPr/>
          <p:nvPr/>
        </p:nvSpPr>
        <p:spPr>
          <a:xfrm>
            <a:off x="6185916"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85916"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596"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Relation R(Student, Course) contains pairs of students and courses taken.</a:t>
            </a:r>
          </a:p>
          <a:p>
            <a:pPr algn="l">
              <a:lnSpc>
                <a:spcPct val="135000"/>
              </a:lnSpc>
            </a:pPr>
            <a:r>
              <a:rPr sz="1300">
                <a:solidFill>
                  <a:srgbClr val="1A1A1A"/>
                </a:solidFill>
                <a:latin typeface="Calibri"/>
              </a:rPr>
              <a:t>•  Relation S(Course) contains a list of required courses, e.g., {Math, Physics}.</a:t>
            </a:r>
          </a:p>
          <a:p>
            <a:pPr algn="l">
              <a:lnSpc>
                <a:spcPct val="135000"/>
              </a:lnSpc>
            </a:pPr>
            <a:r>
              <a:rPr sz="1300">
                <a:solidFill>
                  <a:srgbClr val="1A1A1A"/>
                </a:solidFill>
                <a:latin typeface="Calibri"/>
              </a:rPr>
              <a:t>•  We compute R ÷ S to find students who took both Math and Physics.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Assignment Operator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SYNTAX</a:t>
            </a:r>
          </a:p>
          <a:p>
            <a:pPr algn="l">
              <a:lnSpc>
                <a:spcPct val="135000"/>
              </a:lnSpc>
            </a:pPr>
            <a:r>
              <a:rPr sz="1300">
                <a:solidFill>
                  <a:srgbClr val="1A1A1A"/>
                </a:solidFill>
                <a:latin typeface="Calibri"/>
              </a:rPr>
              <a:t>TempName ← QueryExpression assigns the result to TempName.</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The assignment operator (←) allows naming intermediate query results.</a:t>
            </a:r>
          </a:p>
          <a:p>
            <a:pPr algn="l">
              <a:lnSpc>
                <a:spcPct val="135000"/>
              </a:lnSpc>
            </a:pPr>
            <a:r>
              <a:rPr sz="1300">
                <a:solidFill>
                  <a:srgbClr val="1A1A1A"/>
                </a:solidFill>
                <a:latin typeface="Calibri"/>
              </a:rPr>
              <a:t>•  It improves readability by breaking complex queries into logical steps.</a:t>
            </a:r>
          </a:p>
          <a:p>
            <a:pPr algn="l">
              <a:lnSpc>
                <a:spcPct val="135000"/>
              </a:lnSpc>
            </a:pPr>
            <a:r>
              <a:rPr sz="1300">
                <a:solidFill>
                  <a:srgbClr val="1A1A1A"/>
                </a:solidFill>
                <a:latin typeface="Calibri"/>
              </a:rPr>
              <a:t>•  This is not part of the formal algebra but a practical extension.</a:t>
            </a:r>
          </a:p>
          <a:p>
            <a:pPr algn="l">
              <a:lnSpc>
                <a:spcPct val="135000"/>
              </a:lnSpc>
            </a:pPr>
            <a:r>
              <a:rPr sz="1300">
                <a:solidFill>
                  <a:srgbClr val="1A1A1A"/>
                </a:solidFill>
                <a:latin typeface="Calibri"/>
              </a:rPr>
              <a:t>•  It prevents repeating complex sub-queries multiple × in a single statement.</a:t>
            </a:r>
          </a:p>
          <a:p>
            <a:pPr algn="l">
              <a:lnSpc>
                <a:spcPct val="135000"/>
              </a:lnSpc>
            </a:pPr>
            <a:r>
              <a:rPr sz="1300">
                <a:solidFill>
                  <a:srgbClr val="1A1A1A"/>
                </a:solidFill>
                <a:latin typeface="Calibri"/>
              </a:rPr>
              <a:t>•  Essential for managing large, multi-step analytical queries efficiently.</a:t>
            </a:r>
          </a:p>
        </p:txBody>
      </p:sp>
      <p:pic>
        <p:nvPicPr>
          <p:cNvPr id="19" name="Picture 18"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danischnider.wordpress.com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Aggregation Functions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SYNTAX</a:t>
            </a:r>
          </a:p>
          <a:p>
            <a:pPr algn="l">
              <a:lnSpc>
                <a:spcPct val="135000"/>
              </a:lnSpc>
            </a:pPr>
            <a:r>
              <a:rPr sz="1300">
                <a:solidFill>
                  <a:srgbClr val="1A1A1A"/>
                </a:solidFill>
                <a:latin typeface="Calibri"/>
              </a:rPr>
              <a:t>F(Attribute) where F is the function and Attribute is the column.</a:t>
            </a:r>
          </a:p>
        </p:txBody>
      </p:sp>
      <p:sp>
        <p:nvSpPr>
          <p:cNvPr id="16" name="Rectangle 15"/>
          <p:cNvSpPr/>
          <p:nvPr/>
        </p:nvSpPr>
        <p:spPr>
          <a:xfrm>
            <a:off x="3669715"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SUM(Salary) calculates the total payroll for a department.</a:t>
            </a:r>
          </a:p>
        </p:txBody>
      </p:sp>
      <p:sp>
        <p:nvSpPr>
          <p:cNvPr id="19" name="Rectangle 18"/>
          <p:cNvSpPr/>
          <p:nvPr/>
        </p:nvSpPr>
        <p:spPr>
          <a:xfrm>
            <a:off x="502920"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2567355"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Aggregation functions perform calculations on a set of values to return a single value.</a:t>
            </a:r>
          </a:p>
          <a:p>
            <a:pPr algn="l">
              <a:lnSpc>
                <a:spcPct val="135000"/>
              </a:lnSpc>
            </a:pPr>
            <a:r>
              <a:rPr sz="1300">
                <a:solidFill>
                  <a:srgbClr val="1A1A1A"/>
                </a:solidFill>
                <a:latin typeface="Calibri"/>
              </a:rPr>
              <a:t>•  Common functions include SUM, AVG, COUNT, MAX, and MIN.</a:t>
            </a:r>
          </a:p>
          <a:p>
            <a:pPr algn="l">
              <a:lnSpc>
                <a:spcPct val="135000"/>
              </a:lnSpc>
            </a:pPr>
            <a:r>
              <a:rPr sz="1300">
                <a:solidFill>
                  <a:srgbClr val="1A1A1A"/>
                </a:solidFill>
                <a:latin typeface="Calibri"/>
              </a:rPr>
              <a:t>•  They are typically used with the GROUP BY clause in SQL.</a:t>
            </a:r>
          </a:p>
          <a:p>
            <a:pPr algn="l">
              <a:lnSpc>
                <a:spcPct val="135000"/>
              </a:lnSpc>
            </a:pPr>
            <a:r>
              <a:rPr sz="1300">
                <a:solidFill>
                  <a:srgbClr val="1A1A1A"/>
                </a:solidFill>
                <a:latin typeface="Calibri"/>
              </a:rPr>
              <a:t>•  These functions transform row-level data into summary statistics.</a:t>
            </a:r>
          </a:p>
        </p:txBody>
      </p:sp>
      <p:pic>
        <p:nvPicPr>
          <p:cNvPr id="22" name="Picture 21"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3" name="TextBox 22"/>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cdn.educba.com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Aggregation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QUERY</a:t>
            </a:r>
          </a:p>
          <a:p>
            <a:pPr algn="l">
              <a:lnSpc>
                <a:spcPct val="135000"/>
              </a:lnSpc>
            </a:pPr>
            <a:r>
              <a:rPr sz="1300">
                <a:solidFill>
                  <a:srgbClr val="1A1A1A"/>
                </a:solidFill>
                <a:latin typeface="Calibri"/>
              </a:rPr>
              <a:t>Find the average salary for each department.</a:t>
            </a:r>
          </a:p>
        </p:txBody>
      </p:sp>
      <p:sp>
        <p:nvSpPr>
          <p:cNvPr id="16" name="Rectangle 15"/>
          <p:cNvSpPr/>
          <p:nvPr/>
        </p:nvSpPr>
        <p:spPr>
          <a:xfrm>
            <a:off x="3669715"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OPERATION</a:t>
            </a:r>
          </a:p>
          <a:p>
            <a:pPr algn="l">
              <a:lnSpc>
                <a:spcPct val="135000"/>
              </a:lnSpc>
            </a:pPr>
            <a:r>
              <a:rPr sz="1300">
                <a:solidFill>
                  <a:srgbClr val="1A1A1A"/>
                </a:solidFill>
                <a:latin typeface="Calibri"/>
              </a:rPr>
              <a:t>GROUP BY DeptID, then apply AVG(Salary).</a:t>
            </a:r>
          </a:p>
        </p:txBody>
      </p:sp>
      <p:sp>
        <p:nvSpPr>
          <p:cNvPr id="19" name="Rectangle 18"/>
          <p:cNvSpPr/>
          <p:nvPr/>
        </p:nvSpPr>
        <p:spPr>
          <a:xfrm>
            <a:off x="502920"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1</a:t>
            </a:r>
          </a:p>
          <a:p>
            <a:pPr algn="l">
              <a:lnSpc>
                <a:spcPct val="135000"/>
              </a:lnSpc>
            </a:pPr>
            <a:r>
              <a:rPr sz="1300">
                <a:solidFill>
                  <a:srgbClr val="1A1A1A"/>
                </a:solidFill>
                <a:latin typeface="Calibri"/>
              </a:rPr>
              <a:t>Group rows by Department ID.</a:t>
            </a:r>
          </a:p>
        </p:txBody>
      </p:sp>
      <p:sp>
        <p:nvSpPr>
          <p:cNvPr id="22" name="Rectangle 21"/>
          <p:cNvSpPr/>
          <p:nvPr/>
        </p:nvSpPr>
        <p:spPr>
          <a:xfrm>
            <a:off x="3669715"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69715"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03395"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2</a:t>
            </a:r>
          </a:p>
          <a:p>
            <a:pPr algn="l">
              <a:lnSpc>
                <a:spcPct val="135000"/>
              </a:lnSpc>
            </a:pPr>
            <a:r>
              <a:rPr sz="1300">
                <a:solidFill>
                  <a:srgbClr val="1A1A1A"/>
                </a:solidFill>
                <a:latin typeface="Calibri"/>
              </a:rPr>
              <a:t>Calculate the average of the Salary column for each group.</a:t>
            </a:r>
          </a:p>
        </p:txBody>
      </p:sp>
      <p:sp>
        <p:nvSpPr>
          <p:cNvPr id="25" name="Rectangle 24"/>
          <p:cNvSpPr/>
          <p:nvPr/>
        </p:nvSpPr>
        <p:spPr>
          <a:xfrm>
            <a:off x="502920" y="4851738"/>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4851738"/>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6600" y="4970610"/>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RESULT</a:t>
            </a:r>
          </a:p>
          <a:p>
            <a:pPr algn="l">
              <a:lnSpc>
                <a:spcPct val="135000"/>
              </a:lnSpc>
            </a:pPr>
            <a:r>
              <a:rPr sz="1300">
                <a:solidFill>
                  <a:srgbClr val="1A1A1A"/>
                </a:solidFill>
                <a:latin typeface="Calibri"/>
              </a:rPr>
              <a:t>A table with DeptID and corresponding Average Salary.</a:t>
            </a:r>
          </a:p>
        </p:txBody>
      </p:sp>
      <p:sp>
        <p:nvSpPr>
          <p:cNvPr id="28" name="Rectangle 27"/>
          <p:cNvSpPr/>
          <p:nvPr/>
        </p:nvSpPr>
        <p:spPr>
          <a:xfrm>
            <a:off x="3669715" y="4851738"/>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69715" y="4851738"/>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903395" y="4970610"/>
            <a:ext cx="2567355" cy="1192445"/>
          </a:xfrm>
          <a:prstGeom prst="rect">
            <a:avLst/>
          </a:prstGeom>
          <a:noFill/>
        </p:spPr>
        <p:txBody>
          <a:bodyPr wrap="square" lIns="0" rIns="0" tIns="0" bIns="0">
            <a:spAutoFit/>
          </a:bodyPr>
          <a:lstStyle/>
          <a:p>
            <a:pPr algn="l">
              <a:lnSpc>
                <a:spcPct val="135000"/>
              </a:lnSpc>
            </a:pPr>
            <a:r>
              <a:rPr sz="1300">
                <a:solidFill>
                  <a:srgbClr val="1A1A1A"/>
                </a:solidFill>
                <a:latin typeface="Calibri"/>
              </a:rPr>
              <a:t>•  Relation Employee(EmpID, DeptID, Salary) stores employee salary data.</a:t>
            </a:r>
          </a:p>
        </p:txBody>
      </p:sp>
      <p:pic>
        <p:nvPicPr>
          <p:cNvPr id="31" name="Picture 30"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32" name="TextBox 31"/>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www.cs.utexas.edu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Outer Joins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Outer joins return matching tuples plus non-matching tuples from one or both sides.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Left Outer Join keeps all tuples from the left relation.</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Right Outer Join keeps all tuples from the right relation.</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Full Outer Join keeps all tuples from both relations.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Non-matching tuples are padded with NULL values for missing attributes.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Crucial for identifying missing data or orphaned records in databases.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Generalized Projection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SYNTAX</a:t>
            </a:r>
          </a:p>
          <a:p>
            <a:pPr algn="l">
              <a:lnSpc>
                <a:spcPct val="135000"/>
              </a:lnSpc>
            </a:pPr>
            <a:r>
              <a:rPr sz="1300">
                <a:solidFill>
                  <a:srgbClr val="1A1A1A"/>
                </a:solidFill>
                <a:latin typeface="Calibri"/>
              </a:rPr>
              <a:t>π F1, F2, ... (R) where Fi are expressions.</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π Name, Salary × 1.1 (Employee) calculates a 10% raise.</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Generalized projection allows arithmetic expressions in the output list.</a:t>
            </a:r>
          </a:p>
          <a:p>
            <a:pPr algn="l">
              <a:lnSpc>
                <a:spcPct val="135000"/>
              </a:lnSpc>
            </a:pPr>
            <a:r>
              <a:rPr sz="1300">
                <a:solidFill>
                  <a:srgbClr val="1A1A1A"/>
                </a:solidFill>
                <a:latin typeface="Calibri"/>
              </a:rPr>
              <a:t>•  It supports renaming attributes using the AS keyword or syntax.</a:t>
            </a:r>
          </a:p>
          <a:p>
            <a:pPr algn="l">
              <a:lnSpc>
                <a:spcPct val="135000"/>
              </a:lnSpc>
            </a:pPr>
            <a:r>
              <a:rPr sz="1300">
                <a:solidFill>
                  <a:srgbClr val="1A1A1A"/>
                </a:solidFill>
                <a:latin typeface="Calibri"/>
              </a:rPr>
              <a:t>•  Enables dynamic calculation of derived attributes during query execution.</a:t>
            </a:r>
          </a:p>
          <a:p>
            <a:pPr algn="l">
              <a:lnSpc>
                <a:spcPct val="135000"/>
              </a:lnSpc>
            </a:pPr>
            <a:r>
              <a:rPr sz="1300">
                <a:solidFill>
                  <a:srgbClr val="1A1A1A"/>
                </a:solidFill>
                <a:latin typeface="Calibri"/>
              </a:rPr>
              <a:t>•  Extends the basic projection operator to handle computations.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Division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Division requires the divisor relation to contain only attributes from the dividend.</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Empty divisor relation results in an empty set or all tuples depending on definition.</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Null values in the divisor can lead to unexpected or incorrect results.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Ensure the dividend contains all necessary attributes for the division logic.</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Performance can degrade significantly on large datasets without proper indexing.</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Always verify the schema compatibility before applying the division operator.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Extended algebra adds division, assignment, aggregation, and outer joins to basic operators.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Division is the primary tool for handling 'for all' type queries effectively.</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Assignment operators improve readability by naming intermediate query results.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Aggregation functions summarize data using SUM, AVG, COUNT, MAX, and MIN.</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Outer joins preserve unmatched tuples, essential for finding missing data.</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Generalized projection enables arithmetic calculations and attribute renaming in queries.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Extended Relational Algebra</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