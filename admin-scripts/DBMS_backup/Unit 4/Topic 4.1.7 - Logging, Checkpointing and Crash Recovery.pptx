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this advanced session on crash recovery. We are diving deep into how databases survive power failures and disk crashes. Today we focus specifically on the mechanisms that ensure data integrity after a disaster. Remember, without these mechanisms, our database would be unreliable.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directly addresses our Course Outcomes. CO1 is covered as we explain the architectural necessity of logging for data consistency. CO5 is addressed because recovery mechanisms are critical for the reliability and scalability of our storage systems. We will evaluate how these techniques optimize performance during recovery.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how the log buffer acts as a safety net. You will evaluate why we cannot checkpoint too often without hurting performance. We will construct recovery plans that handle both committed and uncommitted transactions correctly.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the Write-Ahead Log as a flight recorder on an airplane. If the plane crashes, the log tells us exactly what happened. The rule is simple: write the log entry before you write the actual data page to the disk. This guarantees that if a crash happens, we can always reconstruct the state of the database.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anatomy of a log record. It has a unique ID, a sequence number, and links to the previous record. Crucially, it holds both the old and new values. This allows us to undo a change if needed or redo it if the system crashed before the update was written to disk.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a log file that never stops growing. Eventually, it fills up the disk, and recovery takes hours instead of minutes. We need a way to say, 'We have processed this far, we can delete the old logs.' This is where checkpointing comes in to reset the log and manage space efficiently.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checkpoint is like a save point in a video game. It forces the system to write everything currently in memory to the disk. It also records which transactions were running at that exact moment. This allows us to skip scanning the entire log history during a crash recovery.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main ways to do this. Coordinated checkpointing stops everything, which is slow. Fuzzy checkpointing lets transactions keep running while we record the state. We prefer fuzzy checkpoints because they minimize the impact on system performance, though they require more complex logic to handle.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system restarts, the Recovery Manager takes charge. It scans the log to see what happened. It identifies transactions that were in progress when the crash occurred. These are the ones we must undo. It also checks for committed transactions that might not have been written to disk yet, which we must redo.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Redo is about making sure committed work is saved. If a transaction committed but the data didn't hit the disk, we redo it. Undo is about rolling back. If a transaction was halfway through when the power went out, we use the old values to reverse its changes. This keeps the database consistent.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concrete example. Suppose T1 commits, then T2 starts and updates data, but then the system crashes. T2 is uncommitted. During recovery, we redo T1 to ensure its data is safe. Then we undo T2 because it never finished. The result is a clean database with only T1's changes.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many ways to get this wrong. The most common pitfall is writing the data to disk before the log record. This violates the WAL protocol and can lead to permanent data loss. Another issue is not flushing the log buffer before declaring a transaction committed. This breaks the durability guarantee.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the Write-Ahead Log is the foundation of recovery. Checkpoints are essential for performance. Redo and Undo are the two pillars of the recovery process. Together, they ensure that your database remains reliable even after a catastrophic failure.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I recommend the textbooks by Elmasri and Navathe, as well as Silberschatz. These resources provide deep insights into the theoretical and practical aspects of transaction management. The Oracle documentation is also excellent for understanding real-world implementation details.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Logging, Checkpointing and Crash Recovery</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Database Management System | Transaction Management and Scheduling</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   Chapter: Transaction Management and Scheduling   |   Program: B.TECH-CSE, B.TECH CSE - CYBER SECURITY, B.TECH CSE - DATA</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role of the Log Buffer in ensuring atomicity during transactions.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trade-offs between frequent and infrequent checkpointing strategies.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Construct a recovery algorithm using the ARIES protocol principles.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Redo and Undo operations in crash scenarios.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Synthesize a recovery plan for a system failure occurring mid-transaction.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The Role of the Write-Ahead Log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WAL protocol mandates writing log records before data pages reach disk.</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Log records contain the old value (before image) and new value (after image).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 log record is written to stable storage before the corresponding data update.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ensures that no committed transaction data is lost during a crash.</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log acts as the single source of truth for recovery operations.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Without WAL, a crash could leave the database in an inconsistent state.</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log buffer is flushed to disk periodically to ensure durability.</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MySQL with Diagrams Part Three: The Life Story of the Writing Process -  Percona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Log Record Structure and Fields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Each log record includes a Transaction ID (TID) identifying the source.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record contains a Log Sequence Number (LSN) for ordering operations.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'prevLSN' field links records to form a chain for each transaction.</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'type' field specifies if the record is a START, UPDATE, or COMMIT.</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'offset' field points to the specific data page being modified.</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'beforeImage' stores the data value before the transaction changed it.</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'afterImage' stores the new data value after the transaction changes it.</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rusanu.com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The Problem of Unbounded Log Growth</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Continuous logging causes the log file to grow indefinitely over time.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An unbounded log consumes excessive disk space and degrades performance.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Recovery time increases linearly with the size of the log file.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We need a mechanism to truncate the log after processing completed transactions.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Checkpointing is the standard technique to manage log file size effectively.</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Without checkpoints, the system cannot reclaim space from old log records.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log must be truncated only after ensuring all data is on disk.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Checkpointing</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and Purpose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 checkpoint is a synchronization point where all active transactions are recorded.</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forces all dirty pages (modified data) to be written to stable storage.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checkpoint record includes a list of all active transactions at that moment.</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allows the recovery system to ignore log records older than the checkpoint.</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Checkpointing reduces the amount of log scanning required during recovery.</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effectively splits the log into a 'pre-checkpoint' and 'post-checkpoint' section.</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system state is consistent at the exact moment the checkpoint completes.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Types of Checkpointing Strategies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Fuzzy Checkpointing allows transactions to continue while the checkpoint is taken.</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Fuzzy checkpoints record the state of the database without stopping execution.</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Coordinated Checkpointing requires all transactions to pause during the checkpoint.</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Coordinated checkpoints are simpler but cause significant performance degradation.</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Fuzzy checkpoints are preferred in high-performance production database systems.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fuzzy approach requires careful handling of the log to ensure consistency.</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choice depends on the trade-off between recovery time and throughput.</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Crash Recovery</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The Recovery Manager</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IT OPERATES IN TWO PHASES</a:t>
            </a:r>
          </a:p>
          <a:p>
            <a:pPr algn="l">
              <a:lnSpc>
                <a:spcPct val="135000"/>
              </a:lnSpc>
            </a:pPr>
            <a:r>
              <a:rPr sz="1300">
                <a:solidFill>
                  <a:srgbClr val="1A1A1A"/>
                </a:solidFill>
                <a:latin typeface="Calibri"/>
              </a:rPr>
              <a:t>Analysis and Recovery (Redo/Undo).</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The Recovery Manager is responsible for restoring the database after a crash.</a:t>
            </a:r>
          </a:p>
          <a:p>
            <a:pPr algn="l">
              <a:lnSpc>
                <a:spcPct val="135000"/>
              </a:lnSpc>
            </a:pPr>
            <a:r>
              <a:rPr sz="1300">
                <a:solidFill>
                  <a:srgbClr val="1A1A1A"/>
                </a:solidFill>
                <a:latin typeface="Calibri"/>
              </a:rPr>
              <a:t>•  It uses the log to determine which transactions need to be redone.</a:t>
            </a:r>
          </a:p>
          <a:p>
            <a:pPr algn="l">
              <a:lnSpc>
                <a:spcPct val="135000"/>
              </a:lnSpc>
            </a:pPr>
            <a:r>
              <a:rPr sz="1300">
                <a:solidFill>
                  <a:srgbClr val="1A1A1A"/>
                </a:solidFill>
                <a:latin typeface="Calibri"/>
              </a:rPr>
              <a:t>•  It identifies transactions that were active but not committed at the time of crash.</a:t>
            </a:r>
          </a:p>
          <a:p>
            <a:pPr algn="l">
              <a:lnSpc>
                <a:spcPct val="135000"/>
              </a:lnSpc>
            </a:pPr>
            <a:r>
              <a:rPr sz="1300">
                <a:solidFill>
                  <a:srgbClr val="1A1A1A"/>
                </a:solidFill>
                <a:latin typeface="Calibri"/>
              </a:rPr>
              <a:t>•  These uncommitted transactions must be undone to maintain atomicity.</a:t>
            </a:r>
          </a:p>
          <a:p>
            <a:pPr algn="l">
              <a:lnSpc>
                <a:spcPct val="135000"/>
              </a:lnSpc>
            </a:pPr>
            <a:r>
              <a:rPr sz="1300">
                <a:solidFill>
                  <a:srgbClr val="1A1A1A"/>
                </a:solidFill>
                <a:latin typeface="Calibri"/>
              </a:rPr>
              <a:t>•  The recovery process ensures the database returns to a consistent state.</a:t>
            </a:r>
          </a:p>
          <a:p>
            <a:pPr algn="l">
              <a:lnSpc>
                <a:spcPct val="135000"/>
              </a:lnSpc>
            </a:pPr>
            <a:r>
              <a:rPr sz="1300">
                <a:solidFill>
                  <a:srgbClr val="1A1A1A"/>
                </a:solidFill>
                <a:latin typeface="Calibri"/>
              </a:rPr>
              <a:t>•  The process is automatic and transparent to the end-user applications.</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Redo and Undo Operations Explained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Redo operation reapplies changes for committed transactions that were not written.</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Undo operation reverses changes for uncommitted transactions that were partially applied.</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Redo ensures durability of committed data despite disk failures.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Undo ensures atomicity by rolling back incomplete transactions.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system uses the 'beforeImage' to perform the Undo operation.</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system uses the 'afterImage' to perform the Redo operation.</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Both operations are applied sequentially to restore the database state.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Recovery Scenario</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102692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102692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789178"/>
          </a:xfrm>
          <a:prstGeom prst="rect">
            <a:avLst/>
          </a:prstGeom>
          <a:noFill/>
        </p:spPr>
        <p:txBody>
          <a:bodyPr wrap="square" lIns="0" rIns="0" tIns="0" bIns="0">
            <a:spAutoFit/>
          </a:bodyPr>
          <a:lstStyle/>
          <a:p>
            <a:pPr algn="l">
              <a:spcAft>
                <a:spcPts val="400"/>
              </a:spcAft>
            </a:pPr>
            <a:r>
              <a:rPr b="1" sz="1100">
                <a:solidFill>
                  <a:srgbClr val="C8102E"/>
                </a:solidFill>
                <a:latin typeface="Calibri"/>
              </a:rPr>
              <a:t>SCENARIO</a:t>
            </a:r>
          </a:p>
          <a:p>
            <a:pPr algn="l">
              <a:lnSpc>
                <a:spcPct val="135000"/>
              </a:lnSpc>
            </a:pPr>
            <a:r>
              <a:rPr sz="1300">
                <a:solidFill>
                  <a:srgbClr val="1A1A1A"/>
                </a:solidFill>
                <a:latin typeface="Calibri"/>
              </a:rPr>
              <a:t>T1 commits, T2 crashes before commit, T3 is active.</a:t>
            </a:r>
          </a:p>
        </p:txBody>
      </p:sp>
      <p:sp>
        <p:nvSpPr>
          <p:cNvPr id="16" name="Rectangle 15"/>
          <p:cNvSpPr/>
          <p:nvPr/>
        </p:nvSpPr>
        <p:spPr>
          <a:xfrm>
            <a:off x="6185916" y="1625600"/>
            <a:ext cx="5500116" cy="102692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102692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789178"/>
          </a:xfrm>
          <a:prstGeom prst="rect">
            <a:avLst/>
          </a:prstGeom>
          <a:noFill/>
        </p:spPr>
        <p:txBody>
          <a:bodyPr wrap="square" lIns="0" rIns="0" tIns="0" bIns="0">
            <a:spAutoFit/>
          </a:bodyPr>
          <a:lstStyle/>
          <a:p>
            <a:pPr algn="l">
              <a:spcAft>
                <a:spcPts val="400"/>
              </a:spcAft>
            </a:pPr>
            <a:r>
              <a:rPr b="1" sz="1100">
                <a:solidFill>
                  <a:srgbClr val="C8102E"/>
                </a:solidFill>
                <a:latin typeface="Calibri"/>
              </a:rPr>
              <a:t>LOG SEQUENCE</a:t>
            </a:r>
          </a:p>
          <a:p>
            <a:pPr algn="l">
              <a:lnSpc>
                <a:spcPct val="135000"/>
              </a:lnSpc>
            </a:pPr>
            <a:r>
              <a:rPr sz="1300">
                <a:solidFill>
                  <a:srgbClr val="1A1A1A"/>
                </a:solidFill>
                <a:latin typeface="Calibri"/>
              </a:rPr>
              <a:t>START(T1), UPDATE(T1), COMMIT(T1), START(T2), UPDATE(T2), CRASH.</a:t>
            </a:r>
          </a:p>
        </p:txBody>
      </p:sp>
      <p:sp>
        <p:nvSpPr>
          <p:cNvPr id="19" name="Rectangle 18"/>
          <p:cNvSpPr/>
          <p:nvPr/>
        </p:nvSpPr>
        <p:spPr>
          <a:xfrm>
            <a:off x="502920" y="2835402"/>
            <a:ext cx="5500116" cy="102692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2835402"/>
            <a:ext cx="50800" cy="102692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2954274"/>
            <a:ext cx="5083556" cy="789178"/>
          </a:xfrm>
          <a:prstGeom prst="rect">
            <a:avLst/>
          </a:prstGeom>
          <a:noFill/>
        </p:spPr>
        <p:txBody>
          <a:bodyPr wrap="square" lIns="0" rIns="0" tIns="0" bIns="0">
            <a:spAutoFit/>
          </a:bodyPr>
          <a:lstStyle/>
          <a:p>
            <a:pPr algn="l">
              <a:spcAft>
                <a:spcPts val="400"/>
              </a:spcAft>
            </a:pPr>
            <a:r>
              <a:rPr b="1" sz="1100">
                <a:solidFill>
                  <a:srgbClr val="C8102E"/>
                </a:solidFill>
                <a:latin typeface="Calibri"/>
              </a:rPr>
              <a:t>RECOVERY ANALYSIS</a:t>
            </a:r>
          </a:p>
          <a:p>
            <a:pPr algn="l">
              <a:lnSpc>
                <a:spcPct val="135000"/>
              </a:lnSpc>
            </a:pPr>
            <a:r>
              <a:rPr sz="1300">
                <a:solidFill>
                  <a:srgbClr val="1A1A1A"/>
                </a:solidFill>
                <a:latin typeface="Calibri"/>
              </a:rPr>
              <a:t>T1 is committed, T2 is uncommitted, T3 is active.</a:t>
            </a:r>
          </a:p>
        </p:txBody>
      </p:sp>
      <p:sp>
        <p:nvSpPr>
          <p:cNvPr id="22" name="Rectangle 21"/>
          <p:cNvSpPr/>
          <p:nvPr/>
        </p:nvSpPr>
        <p:spPr>
          <a:xfrm>
            <a:off x="6185916" y="2835402"/>
            <a:ext cx="5500116" cy="102692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85916" y="2835402"/>
            <a:ext cx="50800" cy="102692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596" y="2954274"/>
            <a:ext cx="5083556" cy="789178"/>
          </a:xfrm>
          <a:prstGeom prst="rect">
            <a:avLst/>
          </a:prstGeom>
          <a:noFill/>
        </p:spPr>
        <p:txBody>
          <a:bodyPr wrap="square" lIns="0" rIns="0" tIns="0" bIns="0">
            <a:spAutoFit/>
          </a:bodyPr>
          <a:lstStyle/>
          <a:p>
            <a:pPr algn="l">
              <a:spcAft>
                <a:spcPts val="400"/>
              </a:spcAft>
            </a:pPr>
            <a:r>
              <a:rPr b="1" sz="1100">
                <a:solidFill>
                  <a:srgbClr val="C8102E"/>
                </a:solidFill>
                <a:latin typeface="Calibri"/>
              </a:rPr>
              <a:t>REDO PHASE</a:t>
            </a:r>
          </a:p>
          <a:p>
            <a:pPr algn="l">
              <a:lnSpc>
                <a:spcPct val="135000"/>
              </a:lnSpc>
            </a:pPr>
            <a:r>
              <a:rPr sz="1300">
                <a:solidFill>
                  <a:srgbClr val="1A1A1A"/>
                </a:solidFill>
                <a:latin typeface="Calibri"/>
              </a:rPr>
              <a:t>Reapply T1 updates to ensure they are on disk.</a:t>
            </a:r>
          </a:p>
        </p:txBody>
      </p:sp>
      <p:sp>
        <p:nvSpPr>
          <p:cNvPr id="25" name="Rectangle 24"/>
          <p:cNvSpPr/>
          <p:nvPr/>
        </p:nvSpPr>
        <p:spPr>
          <a:xfrm>
            <a:off x="502920" y="4045204"/>
            <a:ext cx="5500116" cy="102692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4045204"/>
            <a:ext cx="50800" cy="102692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6600" y="4164076"/>
            <a:ext cx="5083556" cy="789178"/>
          </a:xfrm>
          <a:prstGeom prst="rect">
            <a:avLst/>
          </a:prstGeom>
          <a:noFill/>
        </p:spPr>
        <p:txBody>
          <a:bodyPr wrap="square" lIns="0" rIns="0" tIns="0" bIns="0">
            <a:spAutoFit/>
          </a:bodyPr>
          <a:lstStyle/>
          <a:p>
            <a:pPr algn="l">
              <a:spcAft>
                <a:spcPts val="400"/>
              </a:spcAft>
            </a:pPr>
            <a:r>
              <a:rPr b="1" sz="1100">
                <a:solidFill>
                  <a:srgbClr val="C8102E"/>
                </a:solidFill>
                <a:latin typeface="Calibri"/>
              </a:rPr>
              <a:t>UNDO PHASE</a:t>
            </a:r>
          </a:p>
          <a:p>
            <a:pPr algn="l">
              <a:lnSpc>
                <a:spcPct val="135000"/>
              </a:lnSpc>
            </a:pPr>
            <a:r>
              <a:rPr sz="1300">
                <a:solidFill>
                  <a:srgbClr val="1A1A1A"/>
                </a:solidFill>
                <a:latin typeface="Calibri"/>
              </a:rPr>
              <a:t>Reverse T2 updates using the beforeImage values.</a:t>
            </a:r>
          </a:p>
        </p:txBody>
      </p:sp>
      <p:sp>
        <p:nvSpPr>
          <p:cNvPr id="28" name="Rectangle 27"/>
          <p:cNvSpPr/>
          <p:nvPr/>
        </p:nvSpPr>
        <p:spPr>
          <a:xfrm>
            <a:off x="6185916" y="4045204"/>
            <a:ext cx="5500116" cy="102692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85916" y="4045204"/>
            <a:ext cx="50800" cy="102692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596" y="4164076"/>
            <a:ext cx="5083556" cy="789178"/>
          </a:xfrm>
          <a:prstGeom prst="rect">
            <a:avLst/>
          </a:prstGeom>
          <a:noFill/>
        </p:spPr>
        <p:txBody>
          <a:bodyPr wrap="square" lIns="0" rIns="0" tIns="0" bIns="0">
            <a:spAutoFit/>
          </a:bodyPr>
          <a:lstStyle/>
          <a:p>
            <a:pPr algn="l">
              <a:spcAft>
                <a:spcPts val="400"/>
              </a:spcAft>
            </a:pPr>
            <a:r>
              <a:rPr b="1" sz="1100">
                <a:solidFill>
                  <a:srgbClr val="C8102E"/>
                </a:solidFill>
                <a:latin typeface="Calibri"/>
              </a:rPr>
              <a:t>RESULT</a:t>
            </a:r>
          </a:p>
          <a:p>
            <a:pPr algn="l">
              <a:lnSpc>
                <a:spcPct val="135000"/>
              </a:lnSpc>
            </a:pPr>
            <a:r>
              <a:rPr sz="1300">
                <a:solidFill>
                  <a:srgbClr val="1A1A1A"/>
                </a:solidFill>
                <a:latin typeface="Calibri"/>
              </a:rPr>
              <a:t>T1 changes are permanent, T2 changes are removed.</a:t>
            </a:r>
          </a:p>
        </p:txBody>
      </p:sp>
      <p:sp>
        <p:nvSpPr>
          <p:cNvPr id="31" name="Rectangle 30"/>
          <p:cNvSpPr/>
          <p:nvPr/>
        </p:nvSpPr>
        <p:spPr>
          <a:xfrm>
            <a:off x="502920" y="5255006"/>
            <a:ext cx="5500116" cy="102692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2920" y="5255006"/>
            <a:ext cx="50800" cy="102692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6600" y="5373878"/>
            <a:ext cx="5083556" cy="789178"/>
          </a:xfrm>
          <a:prstGeom prst="rect">
            <a:avLst/>
          </a:prstGeom>
          <a:noFill/>
        </p:spPr>
        <p:txBody>
          <a:bodyPr wrap="square" lIns="0" rIns="0" tIns="0" bIns="0">
            <a:spAutoFit/>
          </a:bodyPr>
          <a:lstStyle/>
          <a:p>
            <a:pPr algn="l">
              <a:spcAft>
                <a:spcPts val="400"/>
              </a:spcAft>
            </a:pPr>
            <a:r>
              <a:rPr b="1" sz="1100">
                <a:solidFill>
                  <a:srgbClr val="C8102E"/>
                </a:solidFill>
                <a:latin typeface="Calibri"/>
              </a:rPr>
              <a:t>FINAL STATE</a:t>
            </a:r>
          </a:p>
          <a:p>
            <a:pPr algn="l">
              <a:lnSpc>
                <a:spcPct val="135000"/>
              </a:lnSpc>
            </a:pPr>
            <a:r>
              <a:rPr sz="1300">
                <a:solidFill>
                  <a:srgbClr val="1A1A1A"/>
                </a:solidFill>
                <a:latin typeface="Calibri"/>
              </a:rPr>
              <a:t>Database reflects only the committed transaction T1.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Recovery Implementation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write the log record before the data page causes data loss.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Not flushing the log buffer to disk before a commit violates durability.</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Incorrectly identifying active transactions leads to lost or partial data.</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Skipping the checkpoint process results in excessively long recovery ×.</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the 'prevLSN' chain can break the transaction history linkage.</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all data is on disk without checking dirty page lists.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Overlooking the need to restart uncommitted transactions after a crash.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Write-Ahead Logging ensures data integrity by logging before writing data.</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Checkpointing manages log size and significantly reduces recovery time.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Redo operations restore committed data lost during a crash.</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Undo operations reverse uncommitted changes to maintain atomicity.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Recovery Manager orchestrates the entire process automatically.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Logging, Checkpointing and Crash Recovery</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